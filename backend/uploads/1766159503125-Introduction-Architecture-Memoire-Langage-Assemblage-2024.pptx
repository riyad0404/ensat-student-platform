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99"/>
  </p:notesMasterIdLst>
  <p:sldIdLst>
    <p:sldId id="256" r:id="rId2"/>
    <p:sldId id="619" r:id="rId3"/>
    <p:sldId id="620" r:id="rId4"/>
    <p:sldId id="621" r:id="rId5"/>
    <p:sldId id="257" r:id="rId6"/>
    <p:sldId id="259" r:id="rId7"/>
    <p:sldId id="622" r:id="rId8"/>
    <p:sldId id="623" r:id="rId9"/>
    <p:sldId id="260" r:id="rId10"/>
    <p:sldId id="624" r:id="rId11"/>
    <p:sldId id="264" r:id="rId12"/>
    <p:sldId id="265" r:id="rId13"/>
    <p:sldId id="267" r:id="rId14"/>
    <p:sldId id="268" r:id="rId15"/>
    <p:sldId id="269" r:id="rId16"/>
    <p:sldId id="270" r:id="rId17"/>
    <p:sldId id="271" r:id="rId18"/>
    <p:sldId id="304" r:id="rId19"/>
    <p:sldId id="625" r:id="rId20"/>
    <p:sldId id="279" r:id="rId21"/>
    <p:sldId id="280" r:id="rId22"/>
    <p:sldId id="626" r:id="rId23"/>
    <p:sldId id="627" r:id="rId24"/>
    <p:sldId id="628" r:id="rId25"/>
    <p:sldId id="629" r:id="rId26"/>
    <p:sldId id="630" r:id="rId27"/>
    <p:sldId id="631" r:id="rId28"/>
    <p:sldId id="632" r:id="rId29"/>
    <p:sldId id="633" r:id="rId30"/>
    <p:sldId id="634" r:id="rId31"/>
    <p:sldId id="284" r:id="rId32"/>
    <p:sldId id="295" r:id="rId33"/>
    <p:sldId id="449" r:id="rId34"/>
    <p:sldId id="296" r:id="rId35"/>
    <p:sldId id="635" r:id="rId36"/>
    <p:sldId id="636" r:id="rId37"/>
    <p:sldId id="389" r:id="rId38"/>
    <p:sldId id="441" r:id="rId39"/>
    <p:sldId id="442" r:id="rId40"/>
    <p:sldId id="400" r:id="rId41"/>
    <p:sldId id="402" r:id="rId42"/>
    <p:sldId id="404" r:id="rId43"/>
    <p:sldId id="405" r:id="rId44"/>
    <p:sldId id="443" r:id="rId45"/>
    <p:sldId id="444" r:id="rId46"/>
    <p:sldId id="456" r:id="rId47"/>
    <p:sldId id="445" r:id="rId48"/>
    <p:sldId id="446" r:id="rId49"/>
    <p:sldId id="447" r:id="rId50"/>
    <p:sldId id="448" r:id="rId51"/>
    <p:sldId id="452" r:id="rId52"/>
    <p:sldId id="453" r:id="rId53"/>
    <p:sldId id="454" r:id="rId54"/>
    <p:sldId id="410" r:id="rId55"/>
    <p:sldId id="411" r:id="rId56"/>
    <p:sldId id="412" r:id="rId57"/>
    <p:sldId id="413" r:id="rId58"/>
    <p:sldId id="415" r:id="rId59"/>
    <p:sldId id="416" r:id="rId60"/>
    <p:sldId id="457" r:id="rId61"/>
    <p:sldId id="418" r:id="rId62"/>
    <p:sldId id="419" r:id="rId63"/>
    <p:sldId id="458" r:id="rId64"/>
    <p:sldId id="459" r:id="rId65"/>
    <p:sldId id="460" r:id="rId66"/>
    <p:sldId id="461" r:id="rId67"/>
    <p:sldId id="464" r:id="rId68"/>
    <p:sldId id="465" r:id="rId69"/>
    <p:sldId id="466" r:id="rId70"/>
    <p:sldId id="467" r:id="rId71"/>
    <p:sldId id="468" r:id="rId72"/>
    <p:sldId id="469" r:id="rId73"/>
    <p:sldId id="470" r:id="rId74"/>
    <p:sldId id="471" r:id="rId75"/>
    <p:sldId id="472" r:id="rId76"/>
    <p:sldId id="473" r:id="rId77"/>
    <p:sldId id="474" r:id="rId78"/>
    <p:sldId id="475" r:id="rId79"/>
    <p:sldId id="476" r:id="rId80"/>
    <p:sldId id="477" r:id="rId81"/>
    <p:sldId id="478" r:id="rId82"/>
    <p:sldId id="479" r:id="rId83"/>
    <p:sldId id="480" r:id="rId84"/>
    <p:sldId id="481" r:id="rId85"/>
    <p:sldId id="482" r:id="rId86"/>
    <p:sldId id="483" r:id="rId87"/>
    <p:sldId id="485" r:id="rId88"/>
    <p:sldId id="484" r:id="rId89"/>
    <p:sldId id="486" r:id="rId90"/>
    <p:sldId id="489" r:id="rId91"/>
    <p:sldId id="493" r:id="rId92"/>
    <p:sldId id="495" r:id="rId93"/>
    <p:sldId id="490" r:id="rId94"/>
    <p:sldId id="492" r:id="rId95"/>
    <p:sldId id="494" r:id="rId96"/>
    <p:sldId id="491" r:id="rId97"/>
    <p:sldId id="488"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7347" autoAdjust="0"/>
  </p:normalViewPr>
  <p:slideViewPr>
    <p:cSldViewPr snapToGrid="0" snapToObjects="1">
      <p:cViewPr varScale="1">
        <p:scale>
          <a:sx n="127" d="100"/>
          <a:sy n="127" d="100"/>
        </p:scale>
        <p:origin x="1200"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9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BD4120-6136-7845-AD5E-13C47D144740}" type="datetimeFigureOut">
              <a:rPr lang="en-US" smtClean="0"/>
              <a:t>12/6/24</a:t>
            </a:fld>
            <a:endParaRPr lang="fr-F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3FE75D-A46F-6B4E-8594-2D9D54A9B614}" type="slidenum">
              <a:rPr lang="fr-FR" smtClean="0"/>
              <a:t>‹N°›</a:t>
            </a:fld>
            <a:endParaRPr lang="fr-FR"/>
          </a:p>
        </p:txBody>
      </p:sp>
    </p:spTree>
    <p:extLst>
      <p:ext uri="{BB962C8B-B14F-4D97-AF65-F5344CB8AC3E}">
        <p14:creationId xmlns:p14="http://schemas.microsoft.com/office/powerpoint/2010/main" val="31322740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fr.wikipedia.org/wiki/Bo%C3%AEtier_de_circuit_int%C3%A9gr%C3%A9"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fr.wikipedia.org/wiki/%C3%89lectronique"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fr.wikipedia.org/wiki/Oscillation" TargetMode="External"/><Relationship Id="rId4" Type="http://schemas.openxmlformats.org/officeDocument/2006/relationships/hyperlink" Target="https://fr.wikipedia.org/wiki/Composant_%C3%A9lectronique"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4</a:t>
            </a:fld>
            <a:endParaRPr lang="fr-FR"/>
          </a:p>
        </p:txBody>
      </p:sp>
    </p:spTree>
    <p:extLst>
      <p:ext uri="{BB962C8B-B14F-4D97-AF65-F5344CB8AC3E}">
        <p14:creationId xmlns:p14="http://schemas.microsoft.com/office/powerpoint/2010/main" val="4059919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Entre deux</a:t>
            </a:r>
            <a:r>
              <a:rPr lang="fr-FR" baseline="0" dirty="0"/>
              <a:t> domaines </a:t>
            </a:r>
          </a:p>
          <a:p>
            <a:r>
              <a:rPr lang="fr-FR" baseline="0" dirty="0"/>
              <a:t>Le numérique: deux grandes familles analogique et numérique</a:t>
            </a:r>
          </a:p>
          <a:p>
            <a:r>
              <a:rPr lang="fr-FR" baseline="0" dirty="0"/>
              <a:t>Nous dans le numérique</a:t>
            </a:r>
          </a:p>
          <a:p>
            <a:r>
              <a:rPr lang="fr-FR" baseline="0" dirty="0"/>
              <a:t>Double casquette développeur avec une bonne connaissance des processeurs le matériel le hardware</a:t>
            </a:r>
          </a:p>
          <a:p>
            <a:endParaRPr lang="fr-FR" dirty="0"/>
          </a:p>
        </p:txBody>
      </p:sp>
      <p:sp>
        <p:nvSpPr>
          <p:cNvPr id="4" name="Slide Number Placeholder 3"/>
          <p:cNvSpPr>
            <a:spLocks noGrp="1"/>
          </p:cNvSpPr>
          <p:nvPr>
            <p:ph type="sldNum" sz="quarter" idx="10"/>
          </p:nvPr>
        </p:nvSpPr>
        <p:spPr/>
        <p:txBody>
          <a:bodyPr/>
          <a:lstStyle/>
          <a:p>
            <a:fld id="{EB3FE75D-A46F-6B4E-8594-2D9D54A9B614}" type="slidenum">
              <a:rPr lang="fr-FR" smtClean="0"/>
              <a:t>5</a:t>
            </a:fld>
            <a:endParaRPr lang="fr-FR"/>
          </a:p>
        </p:txBody>
      </p:sp>
    </p:spTree>
    <p:extLst>
      <p:ext uri="{BB962C8B-B14F-4D97-AF65-F5344CB8AC3E}">
        <p14:creationId xmlns:p14="http://schemas.microsoft.com/office/powerpoint/2010/main" val="2566792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Deux familles</a:t>
            </a:r>
            <a:r>
              <a:rPr lang="fr-FR" baseline="0" dirty="0"/>
              <a:t> </a:t>
            </a:r>
          </a:p>
          <a:p>
            <a:r>
              <a:rPr lang="fr-FR" baseline="0" dirty="0"/>
              <a:t>Analogique condensateurs résistance, transistor la base de l’électronique</a:t>
            </a:r>
            <a:r>
              <a:rPr lang="is-IS" baseline="0" dirty="0"/>
              <a:t>… ensuite des composants plus complexe</a:t>
            </a:r>
          </a:p>
          <a:p>
            <a:r>
              <a:rPr lang="is-IS" baseline="0" dirty="0"/>
              <a:t>1 Tolérance des </a:t>
            </a:r>
            <a:r>
              <a:rPr lang="fr-FR" baseline="0" dirty="0"/>
              <a:t> composants une résistance de 410 Ohm sera seulement sur le papier la vraie valeur est différente</a:t>
            </a:r>
          </a:p>
          <a:p>
            <a:r>
              <a:rPr lang="fr-FR" baseline="0" dirty="0"/>
              <a:t>2 sensibilité à la température conçu pour 25 une petite variation fera que le composant ne fonctionnera pas pareil</a:t>
            </a:r>
          </a:p>
          <a:p>
            <a:r>
              <a:rPr lang="fr-FR" baseline="0" dirty="0"/>
              <a:t>3 cout microprocesseur ce n est pas le plus cher mais c est surtout les composants analogiques qui l entoure  </a:t>
            </a:r>
          </a:p>
          <a:p>
            <a:r>
              <a:rPr lang="fr-FR" baseline="0" dirty="0"/>
              <a:t>4 encombrement</a:t>
            </a:r>
          </a:p>
          <a:p>
            <a:r>
              <a:rPr lang="fr-FR" baseline="0" dirty="0"/>
              <a:t>5 perturbation ambiante les fils sont des antennes qui capte les parasites facilement</a:t>
            </a:r>
          </a:p>
          <a:p>
            <a:r>
              <a:rPr lang="fr-FR" baseline="0" dirty="0"/>
              <a:t>Nécessaire mais pas suffisant </a:t>
            </a:r>
          </a:p>
          <a:p>
            <a:r>
              <a:rPr lang="fr-FR" baseline="0" dirty="0"/>
              <a:t>Nous on parlera du numérique </a:t>
            </a:r>
          </a:p>
          <a:p>
            <a:endParaRPr lang="fr-FR" dirty="0"/>
          </a:p>
          <a:p>
            <a:pPr marL="171450" indent="-171450">
              <a:buFont typeface="Arial"/>
              <a:buChar char="•"/>
            </a:pPr>
            <a:r>
              <a:rPr lang="fr-FR" dirty="0"/>
              <a:t>Numérique composants qui se </a:t>
            </a:r>
            <a:r>
              <a:rPr lang="fr-FR" dirty="0" err="1"/>
              <a:t>resemblent</a:t>
            </a:r>
            <a:r>
              <a:rPr lang="fr-FR" dirty="0"/>
              <a:t> puce noir avec broche : l’intérieur est </a:t>
            </a:r>
            <a:r>
              <a:rPr lang="fr-FR" dirty="0" err="1"/>
              <a:t>tres</a:t>
            </a:r>
            <a:r>
              <a:rPr lang="fr-FR" dirty="0"/>
              <a:t> </a:t>
            </a:r>
            <a:r>
              <a:rPr lang="fr-FR" dirty="0" err="1"/>
              <a:t>tres</a:t>
            </a:r>
            <a:r>
              <a:rPr lang="fr-FR" dirty="0"/>
              <a:t> différents</a:t>
            </a:r>
          </a:p>
          <a:p>
            <a:pPr marL="171450" indent="-171450">
              <a:buFont typeface="Arial"/>
              <a:buChar char="•"/>
            </a:pPr>
            <a:r>
              <a:rPr lang="fr-FR" dirty="0"/>
              <a:t>Dépannage</a:t>
            </a:r>
            <a:r>
              <a:rPr lang="fr-FR" baseline="0" dirty="0"/>
              <a:t> et amélioration : reprogrammer ou ajouter de  nouveau fichier  de nouveau </a:t>
            </a:r>
            <a:r>
              <a:rPr lang="fr-FR" baseline="0" dirty="0" err="1"/>
              <a:t>firmware</a:t>
            </a:r>
            <a:r>
              <a:rPr lang="fr-FR" baseline="0" dirty="0"/>
              <a:t> comme mise à jour de notre système d’exploitation </a:t>
            </a:r>
          </a:p>
          <a:p>
            <a:pPr marL="171450" indent="-171450">
              <a:buFont typeface="Arial"/>
              <a:buChar char="•"/>
            </a:pPr>
            <a:r>
              <a:rPr lang="fr-FR" dirty="0"/>
              <a:t>Intégrer énormément d’</a:t>
            </a:r>
            <a:r>
              <a:rPr lang="fr-FR" dirty="0" err="1"/>
              <a:t>inteligence</a:t>
            </a:r>
            <a:r>
              <a:rPr lang="fr-FR" dirty="0"/>
              <a:t> sur peu de silicium</a:t>
            </a:r>
          </a:p>
          <a:p>
            <a:endParaRPr lang="fr-FR" dirty="0"/>
          </a:p>
          <a:p>
            <a:r>
              <a:rPr lang="fr-FR" dirty="0"/>
              <a:t>On est dans entre</a:t>
            </a:r>
            <a:r>
              <a:rPr lang="fr-FR" baseline="0" dirty="0"/>
              <a:t> l’électronique et informatique voir les grande familles des processeurs et s’intéresser à ceux sur notre PC</a:t>
            </a:r>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6</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7</a:t>
            </a:fld>
            <a:endParaRPr lang="fr-FR"/>
          </a:p>
        </p:txBody>
      </p:sp>
    </p:spTree>
    <p:extLst>
      <p:ext uri="{BB962C8B-B14F-4D97-AF65-F5344CB8AC3E}">
        <p14:creationId xmlns:p14="http://schemas.microsoft.com/office/powerpoint/2010/main" val="3555345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8</a:t>
            </a:fld>
            <a:endParaRPr lang="fr-FR"/>
          </a:p>
        </p:txBody>
      </p:sp>
    </p:spTree>
    <p:extLst>
      <p:ext uri="{BB962C8B-B14F-4D97-AF65-F5344CB8AC3E}">
        <p14:creationId xmlns:p14="http://schemas.microsoft.com/office/powerpoint/2010/main" val="886147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Vdd</a:t>
            </a:r>
            <a:r>
              <a:rPr lang="fr-FR" dirty="0"/>
              <a:t> , désignation de la broche d'alimentation positive d'un </a:t>
            </a:r>
            <a:r>
              <a:rPr lang="fr-FR" dirty="0">
                <a:hlinkClick r:id="rId3" tooltip="Boîtier de circuit intégré"/>
              </a:rPr>
              <a:t>circuit intégré</a:t>
            </a:r>
            <a:r>
              <a:rPr lang="fr-FR" dirty="0"/>
              <a:t>.</a:t>
            </a:r>
          </a:p>
          <a:p>
            <a:r>
              <a:rPr lang="fr-FR" dirty="0" err="1"/>
              <a:t>Vss</a:t>
            </a:r>
            <a:r>
              <a:rPr lang="fr-FR" dirty="0"/>
              <a:t>  , désignation de la broche d'alimentation </a:t>
            </a:r>
            <a:r>
              <a:rPr lang="fr-FR" dirty="0" err="1"/>
              <a:t>negative</a:t>
            </a:r>
            <a:r>
              <a:rPr lang="fr-FR" dirty="0"/>
              <a:t> d'un </a:t>
            </a:r>
            <a:r>
              <a:rPr lang="fr-FR" dirty="0">
                <a:hlinkClick r:id="rId3" tooltip="Boîtier de circuit intégré"/>
              </a:rPr>
              <a:t>circuit intégré</a:t>
            </a:r>
            <a:r>
              <a:rPr lang="fr-FR" dirty="0"/>
              <a:t>.</a:t>
            </a:r>
          </a:p>
          <a:p>
            <a:r>
              <a:rPr lang="fr-FR" dirty="0"/>
              <a:t>Un processeur ce n est </a:t>
            </a:r>
            <a:r>
              <a:rPr lang="fr-FR" dirty="0" err="1"/>
              <a:t>qu</a:t>
            </a:r>
            <a:r>
              <a:rPr lang="fr-FR" baseline="0" dirty="0"/>
              <a:t> un assemblage de portes logiques et de  bascules</a:t>
            </a:r>
          </a:p>
          <a:p>
            <a:r>
              <a:rPr lang="fr-FR" baseline="0" dirty="0"/>
              <a:t>Un wafer une galette un disque </a:t>
            </a:r>
            <a:r>
              <a:rPr lang="fr-FR" baseline="0" dirty="0" err="1"/>
              <a:t>tres</a:t>
            </a:r>
            <a:r>
              <a:rPr lang="fr-FR" baseline="0" dirty="0"/>
              <a:t> fin de matériaux semi conducteur</a:t>
            </a:r>
          </a:p>
          <a:p>
            <a:r>
              <a:rPr lang="fr-FR" baseline="0" dirty="0"/>
              <a:t>Micro-électronique</a:t>
            </a:r>
          </a:p>
          <a:p>
            <a:r>
              <a:rPr lang="fr-FR" baseline="0" dirty="0"/>
              <a:t>Chaque petit carré est un composant numérique</a:t>
            </a:r>
          </a:p>
          <a:p>
            <a:r>
              <a:rPr lang="fr-FR" baseline="0" dirty="0"/>
              <a:t>Découper et mis en boitier avec broches</a:t>
            </a:r>
          </a:p>
          <a:p>
            <a:r>
              <a:rPr lang="fr-FR" baseline="0" dirty="0"/>
              <a:t>Développer des applications</a:t>
            </a:r>
          </a:p>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9</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10</a:t>
            </a:fld>
            <a:endParaRPr lang="fr-FR"/>
          </a:p>
        </p:txBody>
      </p:sp>
    </p:spTree>
    <p:extLst>
      <p:ext uri="{BB962C8B-B14F-4D97-AF65-F5344CB8AC3E}">
        <p14:creationId xmlns:p14="http://schemas.microsoft.com/office/powerpoint/2010/main" val="4130965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Logique programmable:</a:t>
            </a:r>
            <a:r>
              <a:rPr lang="fr-FR" baseline="0" dirty="0"/>
              <a:t> les composant vierges, avec des milliers voir des milliards de portes logiques et de bascules à câbler pour faire la fonction souhaitée. Avec une large possibilité de traitement parallèle. Programmable en </a:t>
            </a:r>
            <a:r>
              <a:rPr lang="fr-FR" baseline="0" dirty="0" err="1"/>
              <a:t>vhdl</a:t>
            </a:r>
            <a:r>
              <a:rPr lang="fr-FR" baseline="0" dirty="0"/>
              <a:t> ou </a:t>
            </a:r>
            <a:r>
              <a:rPr lang="fr-FR" baseline="0" dirty="0" err="1"/>
              <a:t>verilog</a:t>
            </a:r>
            <a:r>
              <a:rPr lang="fr-FR" baseline="0" dirty="0"/>
              <a:t>. </a:t>
            </a:r>
          </a:p>
          <a:p>
            <a:endParaRPr lang="fr-FR" baseline="0" dirty="0"/>
          </a:p>
          <a:p>
            <a:r>
              <a:rPr lang="fr-FR" baseline="0" dirty="0"/>
              <a:t>Les autres: acheter tel </a:t>
            </a:r>
            <a:r>
              <a:rPr lang="fr-FR" baseline="0" dirty="0" err="1"/>
              <a:t>qu</a:t>
            </a:r>
            <a:r>
              <a:rPr lang="fr-FR" baseline="0" dirty="0"/>
              <a:t> ils sont et on langage de description  les utilise d’ou plusieurs sous famille</a:t>
            </a:r>
          </a:p>
          <a:p>
            <a:endParaRPr lang="fr-FR" baseline="0" dirty="0"/>
          </a:p>
          <a:p>
            <a:r>
              <a:rPr lang="fr-FR" baseline="0" dirty="0"/>
              <a:t>1- Spécialisés dans une fonction particulière: </a:t>
            </a:r>
            <a:r>
              <a:rPr lang="fr-FR" baseline="0" dirty="0" err="1"/>
              <a:t>Graphical</a:t>
            </a:r>
            <a:r>
              <a:rPr lang="fr-FR" baseline="0" dirty="0"/>
              <a:t> PU </a:t>
            </a:r>
          </a:p>
          <a:p>
            <a:r>
              <a:rPr lang="fr-FR" baseline="0" dirty="0"/>
              <a:t>Dans les cartes des jeux vidéo accélérateur graphique</a:t>
            </a:r>
          </a:p>
          <a:p>
            <a:r>
              <a:rPr lang="fr-FR" b="1" baseline="0" dirty="0"/>
              <a:t>GPGPU</a:t>
            </a:r>
            <a:r>
              <a:rPr lang="fr-FR" baseline="0" dirty="0"/>
              <a:t> coprocesseur pour un GPP pour </a:t>
            </a:r>
            <a:r>
              <a:rPr lang="fr-FR" baseline="0" dirty="0" err="1"/>
              <a:t>accélaration</a:t>
            </a:r>
            <a:r>
              <a:rPr lang="fr-FR" baseline="0" dirty="0"/>
              <a:t> graphique</a:t>
            </a:r>
          </a:p>
          <a:p>
            <a:r>
              <a:rPr lang="fr-FR" b="1" baseline="0" dirty="0"/>
              <a:t>APU</a:t>
            </a:r>
            <a:r>
              <a:rPr lang="fr-FR" baseline="0" dirty="0"/>
              <a:t> accélérateur matériel pour une fonction particulière </a:t>
            </a:r>
          </a:p>
          <a:p>
            <a:endParaRPr lang="fr-FR" baseline="0" dirty="0"/>
          </a:p>
          <a:p>
            <a:r>
              <a:rPr lang="fr-FR" baseline="0" dirty="0"/>
              <a:t>2- Pour une télécommande le micro </a:t>
            </a:r>
            <a:r>
              <a:rPr lang="fr-FR" baseline="0" dirty="0" err="1"/>
              <a:t>processuer</a:t>
            </a:r>
            <a:r>
              <a:rPr lang="fr-FR" baseline="0" dirty="0"/>
              <a:t> est différent de celui </a:t>
            </a:r>
            <a:r>
              <a:rPr lang="fr-FR" baseline="0" dirty="0" err="1"/>
              <a:t>dun</a:t>
            </a:r>
            <a:r>
              <a:rPr lang="fr-FR" baseline="0" dirty="0"/>
              <a:t> desktop</a:t>
            </a:r>
          </a:p>
          <a:p>
            <a:r>
              <a:rPr lang="fr-FR" b="1" baseline="0" dirty="0">
                <a:solidFill>
                  <a:srgbClr val="FF0000"/>
                </a:solidFill>
              </a:rPr>
              <a:t>GPP</a:t>
            </a:r>
            <a:r>
              <a:rPr lang="fr-FR" baseline="0" dirty="0"/>
              <a:t> sait tout faire ce </a:t>
            </a:r>
            <a:r>
              <a:rPr lang="fr-FR" baseline="0" dirty="0" err="1"/>
              <a:t>qu</a:t>
            </a:r>
            <a:r>
              <a:rPr lang="fr-FR" baseline="0" dirty="0"/>
              <a:t> on a dans les PC </a:t>
            </a:r>
          </a:p>
          <a:p>
            <a:r>
              <a:rPr lang="fr-FR" b="1" baseline="0" dirty="0"/>
              <a:t>MCU</a:t>
            </a:r>
            <a:r>
              <a:rPr lang="fr-FR" baseline="0" dirty="0"/>
              <a:t> peut encombrant mais peu de calcul donc moins couteux (une </a:t>
            </a:r>
            <a:r>
              <a:rPr lang="fr-FR" baseline="0" dirty="0" err="1"/>
              <a:t>telecommande</a:t>
            </a:r>
            <a:r>
              <a:rPr lang="fr-FR" baseline="0" dirty="0"/>
              <a:t>) machine à laver</a:t>
            </a:r>
          </a:p>
          <a:p>
            <a:r>
              <a:rPr lang="fr-FR" b="1" baseline="0" dirty="0"/>
              <a:t>DSP</a:t>
            </a:r>
            <a:r>
              <a:rPr lang="fr-FR" baseline="0" dirty="0"/>
              <a:t> traitement numérique du signal de grand calculateur numérique moins couteux   </a:t>
            </a:r>
          </a:p>
          <a:p>
            <a:r>
              <a:rPr lang="fr-FR" baseline="0" dirty="0"/>
              <a:t>( lecteur mp3)</a:t>
            </a:r>
          </a:p>
          <a:p>
            <a:r>
              <a:rPr lang="fr-FR" baseline="0" dirty="0"/>
              <a:t>  </a:t>
            </a:r>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11</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Une représentation fonctionnelle</a:t>
            </a:r>
          </a:p>
          <a:p>
            <a:r>
              <a:rPr lang="fr-FR" dirty="0"/>
              <a:t>Les bloc sont des</a:t>
            </a:r>
            <a:r>
              <a:rPr lang="fr-FR" baseline="0" dirty="0"/>
              <a:t> puces en silicium</a:t>
            </a:r>
          </a:p>
          <a:p>
            <a:r>
              <a:rPr lang="fr-FR" baseline="0" dirty="0"/>
              <a:t>Les buses des réseau de fils pour faire communiquer les éléments entre eux </a:t>
            </a:r>
          </a:p>
          <a:p>
            <a:r>
              <a:rPr lang="fr-FR" baseline="0" dirty="0"/>
              <a:t>Ces composant sont programmables et reprogrammables (les mises à jour installation d’un nouveau système)</a:t>
            </a:r>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12</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a:p>
            <a:r>
              <a:rPr lang="fr-FR" dirty="0"/>
              <a:t>Le </a:t>
            </a:r>
            <a:r>
              <a:rPr lang="fr-FR" dirty="0" err="1"/>
              <a:t>cpu</a:t>
            </a:r>
            <a:r>
              <a:rPr lang="fr-FR" dirty="0"/>
              <a:t> travaille d une manière séquentielle</a:t>
            </a:r>
            <a:r>
              <a:rPr lang="fr-FR" baseline="0" dirty="0"/>
              <a:t> </a:t>
            </a:r>
          </a:p>
          <a:p>
            <a:r>
              <a:rPr lang="fr-FR" baseline="0" dirty="0"/>
              <a:t>Physiquement les données et les programmes ne sont pas rangées au même endroit </a:t>
            </a:r>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13</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14</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D’autre périphérique pour soulager le</a:t>
            </a:r>
            <a:r>
              <a:rPr lang="fr-FR" baseline="0" dirty="0"/>
              <a:t> CPU</a:t>
            </a:r>
            <a:r>
              <a:rPr lang="fr-FR" dirty="0"/>
              <a:t> </a:t>
            </a:r>
          </a:p>
          <a:p>
            <a:r>
              <a:rPr lang="fr-FR" dirty="0"/>
              <a:t>DMA direct </a:t>
            </a:r>
            <a:r>
              <a:rPr lang="fr-FR" dirty="0" err="1"/>
              <a:t>access</a:t>
            </a:r>
            <a:r>
              <a:rPr lang="fr-FR" dirty="0"/>
              <a:t> </a:t>
            </a:r>
            <a:r>
              <a:rPr lang="fr-FR" dirty="0" err="1"/>
              <a:t>memory</a:t>
            </a:r>
            <a:r>
              <a:rPr lang="fr-FR" dirty="0"/>
              <a:t>:</a:t>
            </a:r>
            <a:r>
              <a:rPr lang="fr-FR" baseline="0" dirty="0"/>
              <a:t> pour les transfert </a:t>
            </a:r>
            <a:r>
              <a:rPr lang="fr-FR" baseline="0" dirty="0" err="1"/>
              <a:t>memoire</a:t>
            </a:r>
            <a:r>
              <a:rPr lang="fr-FR" baseline="0" dirty="0"/>
              <a:t> afin de soulager le </a:t>
            </a:r>
            <a:r>
              <a:rPr lang="fr-FR" baseline="0" dirty="0" err="1"/>
              <a:t>cpu</a:t>
            </a:r>
            <a:endParaRPr lang="fr-FR" baseline="0" dirty="0"/>
          </a:p>
          <a:p>
            <a:r>
              <a:rPr lang="fr-FR" baseline="0" dirty="0"/>
              <a:t>De </a:t>
            </a:r>
            <a:r>
              <a:rPr lang="fr-FR" baseline="0" dirty="0" err="1"/>
              <a:t>memoire</a:t>
            </a:r>
            <a:r>
              <a:rPr lang="fr-FR" baseline="0" dirty="0"/>
              <a:t> en </a:t>
            </a:r>
            <a:r>
              <a:rPr lang="fr-FR" baseline="0" dirty="0" err="1"/>
              <a:t>memoire</a:t>
            </a:r>
            <a:r>
              <a:rPr lang="fr-FR" baseline="0" dirty="0"/>
              <a:t> le but </a:t>
            </a:r>
            <a:r>
              <a:rPr lang="fr-FR" baseline="0" dirty="0" err="1"/>
              <a:t>liberer</a:t>
            </a:r>
            <a:r>
              <a:rPr lang="fr-FR" baseline="0" dirty="0"/>
              <a:t> le </a:t>
            </a:r>
            <a:r>
              <a:rPr lang="fr-FR" baseline="0" dirty="0" err="1"/>
              <a:t>cpu</a:t>
            </a:r>
            <a:endParaRPr lang="fr-FR" baseline="0" dirty="0"/>
          </a:p>
          <a:p>
            <a:r>
              <a:rPr lang="fr-FR" baseline="0" dirty="0" err="1"/>
              <a:t>Plutot</a:t>
            </a:r>
            <a:r>
              <a:rPr lang="fr-FR" baseline="0" dirty="0"/>
              <a:t> que le </a:t>
            </a:r>
            <a:r>
              <a:rPr lang="fr-FR" baseline="0" dirty="0" err="1"/>
              <a:t>cpu</a:t>
            </a:r>
            <a:r>
              <a:rPr lang="fr-FR" baseline="0" dirty="0"/>
              <a:t> compte le temps </a:t>
            </a:r>
            <a:r>
              <a:rPr lang="fr-FR" baseline="0" dirty="0" err="1"/>
              <a:t>qq</a:t>
            </a:r>
            <a:r>
              <a:rPr lang="fr-FR" baseline="0" dirty="0"/>
              <a:t> d’autres le fera</a:t>
            </a:r>
          </a:p>
          <a:p>
            <a:r>
              <a:rPr lang="fr-FR" baseline="0" dirty="0"/>
              <a:t>Bus pour interconnecter ces différents éléments.</a:t>
            </a:r>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15</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16</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Contrairement</a:t>
            </a:r>
            <a:r>
              <a:rPr lang="fr-FR" baseline="0" dirty="0"/>
              <a:t> à un </a:t>
            </a:r>
            <a:r>
              <a:rPr lang="fr-FR" baseline="0" dirty="0" err="1"/>
              <a:t>mcu</a:t>
            </a:r>
            <a:r>
              <a:rPr lang="fr-FR" baseline="0" dirty="0"/>
              <a:t> ou </a:t>
            </a:r>
            <a:r>
              <a:rPr lang="fr-FR" baseline="0" dirty="0" err="1"/>
              <a:t>dsp</a:t>
            </a:r>
            <a:r>
              <a:rPr lang="fr-FR" baseline="0" dirty="0"/>
              <a:t> tous mémoire et périphérique est on </a:t>
            </a:r>
            <a:r>
              <a:rPr lang="fr-FR" baseline="0" dirty="0" err="1"/>
              <a:t>ship</a:t>
            </a:r>
            <a:endParaRPr lang="fr-FR" baseline="0" dirty="0"/>
          </a:p>
          <a:p>
            <a:r>
              <a:rPr lang="fr-FR" baseline="0" dirty="0"/>
              <a:t>GPP sur la carte mère</a:t>
            </a:r>
          </a:p>
          <a:p>
            <a:endParaRPr lang="fr-FR" baseline="0" dirty="0"/>
          </a:p>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17</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Une vue de dessus d une carte mère  (services</a:t>
            </a:r>
            <a:r>
              <a:rPr lang="fr-FR" baseline="0" dirty="0"/>
              <a:t> matériels offerts par une carte mère) </a:t>
            </a:r>
            <a:endParaRPr lang="fr-FR" dirty="0"/>
          </a:p>
          <a:p>
            <a:r>
              <a:rPr lang="fr-FR" dirty="0"/>
              <a:t>Voir ce qui est</a:t>
            </a:r>
            <a:r>
              <a:rPr lang="fr-FR" baseline="0" dirty="0"/>
              <a:t> dessus ensuite rentrer en détail dans un </a:t>
            </a:r>
            <a:r>
              <a:rPr lang="fr-FR" baseline="0" dirty="0" err="1"/>
              <a:t>gpp</a:t>
            </a:r>
            <a:endParaRPr lang="fr-FR" baseline="0" dirty="0"/>
          </a:p>
          <a:p>
            <a:r>
              <a:rPr lang="fr-FR" baseline="0" dirty="0"/>
              <a:t>Une grande partie répartition de l alimentation et des signaux d horloges</a:t>
            </a:r>
            <a:endParaRPr lang="fr-FR" dirty="0"/>
          </a:p>
        </p:txBody>
      </p:sp>
      <p:sp>
        <p:nvSpPr>
          <p:cNvPr id="4" name="Slide Number Placeholder 3"/>
          <p:cNvSpPr>
            <a:spLocks noGrp="1"/>
          </p:cNvSpPr>
          <p:nvPr>
            <p:ph type="sldNum" sz="quarter" idx="10"/>
          </p:nvPr>
        </p:nvSpPr>
        <p:spPr/>
        <p:txBody>
          <a:bodyPr/>
          <a:lstStyle/>
          <a:p>
            <a:fld id="{EB3FE75D-A46F-6B4E-8594-2D9D54A9B614}" type="slidenum">
              <a:rPr lang="fr-FR" smtClean="0"/>
              <a:t>18</a:t>
            </a:fld>
            <a:endParaRPr lang="fr-FR"/>
          </a:p>
        </p:txBody>
      </p:sp>
    </p:spTree>
    <p:extLst>
      <p:ext uri="{BB962C8B-B14F-4D97-AF65-F5344CB8AC3E}">
        <p14:creationId xmlns:p14="http://schemas.microsoft.com/office/powerpoint/2010/main" val="2003624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MA" b="1" dirty="0"/>
              <a:t>LGA (Land </a:t>
            </a:r>
            <a:r>
              <a:rPr lang="fr-MA" b="1" dirty="0" err="1"/>
              <a:t>Grid</a:t>
            </a:r>
            <a:r>
              <a:rPr lang="fr-MA" b="1" dirty="0"/>
              <a:t> </a:t>
            </a:r>
            <a:r>
              <a:rPr lang="fr-MA" b="1" dirty="0" err="1"/>
              <a:t>Array</a:t>
            </a:r>
            <a:r>
              <a:rPr lang="fr-MA" b="1" dirty="0"/>
              <a:t>)</a:t>
            </a:r>
            <a:r>
              <a:rPr lang="fr-MA" dirty="0"/>
              <a:t> et </a:t>
            </a:r>
            <a:r>
              <a:rPr lang="fr-MA" b="1" dirty="0"/>
              <a:t>PGA (Pin </a:t>
            </a:r>
            <a:r>
              <a:rPr lang="fr-MA" b="1" dirty="0" err="1"/>
              <a:t>Grid</a:t>
            </a:r>
            <a:r>
              <a:rPr lang="fr-MA" b="1" dirty="0"/>
              <a:t> </a:t>
            </a:r>
            <a:r>
              <a:rPr lang="fr-MA" b="1" dirty="0" err="1"/>
              <a:t>Array</a:t>
            </a:r>
            <a:r>
              <a:rPr lang="fr-MA" b="1" dirty="0"/>
              <a:t>)</a:t>
            </a:r>
            <a:r>
              <a:rPr lang="fr-MA" dirty="0"/>
              <a:t> sont deux types de technologies de montage de processeurs sur une carte mère. Ces technologies se distinguent par la manière dont les connexions électriques sont établies entre le processeur et le socket de la carte mère.</a:t>
            </a:r>
          </a:p>
          <a:p>
            <a:r>
              <a:rPr lang="fr-MA" b="1" dirty="0"/>
              <a:t>DDR</a:t>
            </a:r>
            <a:r>
              <a:rPr lang="fr-MA" dirty="0"/>
              <a:t> (Double Data Rate) : Une technologie qui double la vitesse de transfert des données en effectuant des transferts sur les fronts montant et descendant du signal d'</a:t>
            </a:r>
            <a:r>
              <a:rPr lang="fr-MA" dirty="0" err="1"/>
              <a:t>horloge.Chaque</a:t>
            </a:r>
            <a:r>
              <a:rPr lang="fr-MA" dirty="0"/>
              <a:t> nouvelle génération (DDR2, DDR3, DDR4, DDR5) apporte des améliorations en termes de performances, de consommation d'énergie et de densité.</a:t>
            </a:r>
          </a:p>
          <a:p>
            <a:r>
              <a:rPr lang="fr-MA" b="1" dirty="0"/>
              <a:t>Port M.2</a:t>
            </a:r>
          </a:p>
          <a:p>
            <a:r>
              <a:rPr lang="fr-MA" b="1" dirty="0"/>
              <a:t>Caractéristiques principales</a:t>
            </a:r>
          </a:p>
          <a:p>
            <a:pPr>
              <a:buFont typeface="Arial" panose="020B0604020202020204" pitchFamily="34" charset="0"/>
              <a:buChar char="•"/>
            </a:pPr>
            <a:r>
              <a:rPr lang="fr-MA" b="1" dirty="0"/>
              <a:t>Signification</a:t>
            </a:r>
            <a:r>
              <a:rPr lang="fr-MA" dirty="0"/>
              <a:t> : M.2 est un format compact conçu pour connecter des SSD directement sur la carte mère sans câbles.</a:t>
            </a:r>
          </a:p>
          <a:p>
            <a:endParaRPr lang="fr-FR" dirty="0"/>
          </a:p>
        </p:txBody>
      </p:sp>
      <p:sp>
        <p:nvSpPr>
          <p:cNvPr id="4" name="Slide Number Placeholder 3"/>
          <p:cNvSpPr>
            <a:spLocks noGrp="1"/>
          </p:cNvSpPr>
          <p:nvPr>
            <p:ph type="sldNum" sz="quarter" idx="10"/>
          </p:nvPr>
        </p:nvSpPr>
        <p:spPr/>
        <p:txBody>
          <a:bodyPr/>
          <a:lstStyle/>
          <a:p>
            <a:fld id="{EB3FE75D-A46F-6B4E-8594-2D9D54A9B614}" type="slidenum">
              <a:rPr lang="fr-FR" smtClean="0"/>
              <a:t>19</a:t>
            </a:fld>
            <a:endParaRPr lang="fr-FR"/>
          </a:p>
        </p:txBody>
      </p:sp>
    </p:spTree>
    <p:extLst>
      <p:ext uri="{BB962C8B-B14F-4D97-AF65-F5344CB8AC3E}">
        <p14:creationId xmlns:p14="http://schemas.microsoft.com/office/powerpoint/2010/main" val="2588829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20</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21</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En </a:t>
            </a:r>
            <a:r>
              <a:rPr lang="en-US" dirty="0">
                <a:hlinkClick r:id="rId3" tooltip="Électronique"/>
              </a:rPr>
              <a:t>électronique</a:t>
            </a:r>
            <a:r>
              <a:rPr lang="en-US" dirty="0"/>
              <a:t>, un </a:t>
            </a:r>
            <a:r>
              <a:rPr lang="en-US" b="1" dirty="0"/>
              <a:t>quartz</a:t>
            </a:r>
            <a:r>
              <a:rPr lang="en-US" dirty="0"/>
              <a:t> </a:t>
            </a:r>
            <a:r>
              <a:rPr lang="en-US" dirty="0" err="1"/>
              <a:t>est</a:t>
            </a:r>
            <a:r>
              <a:rPr lang="en-US" dirty="0"/>
              <a:t> un </a:t>
            </a:r>
            <a:r>
              <a:rPr lang="en-US" dirty="0">
                <a:hlinkClick r:id="rId4" tooltip="Composant électronique"/>
              </a:rPr>
              <a:t>composant</a:t>
            </a:r>
            <a:r>
              <a:rPr lang="en-US" dirty="0"/>
              <a:t> qui </a:t>
            </a:r>
            <a:r>
              <a:rPr lang="en-US" dirty="0" err="1"/>
              <a:t>possède</a:t>
            </a:r>
            <a:r>
              <a:rPr lang="en-US" dirty="0"/>
              <a:t> </a:t>
            </a:r>
            <a:r>
              <a:rPr lang="en-US" dirty="0" err="1"/>
              <a:t>comme</a:t>
            </a:r>
            <a:r>
              <a:rPr lang="en-US" dirty="0"/>
              <a:t> </a:t>
            </a:r>
            <a:r>
              <a:rPr lang="en-US" dirty="0" err="1"/>
              <a:t>propriété</a:t>
            </a:r>
            <a:r>
              <a:rPr lang="en-US" dirty="0"/>
              <a:t> utile </a:t>
            </a:r>
            <a:r>
              <a:rPr lang="en-US" dirty="0" err="1"/>
              <a:t>d'</a:t>
            </a:r>
            <a:r>
              <a:rPr lang="en-US" dirty="0" err="1">
                <a:hlinkClick r:id="rId5" tooltip="Oscillation"/>
              </a:rPr>
              <a:t>osciller</a:t>
            </a:r>
            <a:r>
              <a:rPr lang="en-US" dirty="0"/>
              <a:t> </a:t>
            </a:r>
            <a:r>
              <a:rPr lang="en-US" dirty="0" err="1"/>
              <a:t>à</a:t>
            </a:r>
            <a:r>
              <a:rPr lang="en-US" dirty="0"/>
              <a:t> </a:t>
            </a:r>
            <a:r>
              <a:rPr lang="en-US" dirty="0" err="1"/>
              <a:t>une</a:t>
            </a:r>
            <a:r>
              <a:rPr lang="en-US" dirty="0"/>
              <a:t> </a:t>
            </a:r>
            <a:r>
              <a:rPr lang="en-US" dirty="0" err="1"/>
              <a:t>fréquence</a:t>
            </a:r>
            <a:r>
              <a:rPr lang="en-US" dirty="0"/>
              <a:t> stable </a:t>
            </a:r>
            <a:r>
              <a:rPr lang="en-US" dirty="0" err="1"/>
              <a:t>lorsqu'il</a:t>
            </a:r>
            <a:r>
              <a:rPr lang="en-US" dirty="0"/>
              <a:t> </a:t>
            </a:r>
            <a:r>
              <a:rPr lang="en-US" dirty="0" err="1"/>
              <a:t>est</a:t>
            </a:r>
            <a:r>
              <a:rPr lang="en-US" dirty="0"/>
              <a:t> </a:t>
            </a:r>
            <a:r>
              <a:rPr lang="en-US" dirty="0" err="1"/>
              <a:t>stimulé</a:t>
            </a:r>
            <a:r>
              <a:rPr lang="en-US" dirty="0"/>
              <a:t> </a:t>
            </a:r>
            <a:r>
              <a:rPr lang="en-US" dirty="0" err="1"/>
              <a:t>électriquement</a:t>
            </a:r>
            <a:r>
              <a:rPr lang="en-US" dirty="0"/>
              <a:t>.</a:t>
            </a:r>
            <a:endParaRPr lang="fr-FR" dirty="0"/>
          </a:p>
          <a:p>
            <a:endParaRPr lang="fr-FR" dirty="0"/>
          </a:p>
        </p:txBody>
      </p:sp>
      <p:sp>
        <p:nvSpPr>
          <p:cNvPr id="4" name="Slide Number Placeholder 3"/>
          <p:cNvSpPr>
            <a:spLocks noGrp="1"/>
          </p:cNvSpPr>
          <p:nvPr>
            <p:ph type="sldNum" sz="quarter" idx="10"/>
          </p:nvPr>
        </p:nvSpPr>
        <p:spPr/>
        <p:txBody>
          <a:bodyPr/>
          <a:lstStyle/>
          <a:p>
            <a:fld id="{EB3FE75D-A46F-6B4E-8594-2D9D54A9B614}" type="slidenum">
              <a:rPr lang="fr-FR" smtClean="0"/>
              <a:t>22</a:t>
            </a:fld>
            <a:endParaRPr lang="fr-FR"/>
          </a:p>
        </p:txBody>
      </p:sp>
    </p:spTree>
    <p:extLst>
      <p:ext uri="{BB962C8B-B14F-4D97-AF65-F5344CB8AC3E}">
        <p14:creationId xmlns:p14="http://schemas.microsoft.com/office/powerpoint/2010/main" val="2886902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23</a:t>
            </a:fld>
            <a:endParaRPr lang="fr-FR"/>
          </a:p>
        </p:txBody>
      </p:sp>
    </p:spTree>
    <p:extLst>
      <p:ext uri="{BB962C8B-B14F-4D97-AF65-F5344CB8AC3E}">
        <p14:creationId xmlns:p14="http://schemas.microsoft.com/office/powerpoint/2010/main" val="2601660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a:t>
            </a:r>
            <a:r>
              <a:rPr lang="fr-FR" dirty="0" err="1"/>
              <a:t>www.courstechinfo.be</a:t>
            </a:r>
            <a:r>
              <a:rPr lang="fr-FR" dirty="0"/>
              <a:t>/Techno/</a:t>
            </a:r>
            <a:r>
              <a:rPr lang="fr-FR" dirty="0" err="1"/>
              <a:t>ArchMat.html</a:t>
            </a:r>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24</a:t>
            </a:fld>
            <a:endParaRPr lang="fr-FR"/>
          </a:p>
        </p:txBody>
      </p:sp>
    </p:spTree>
    <p:extLst>
      <p:ext uri="{BB962C8B-B14F-4D97-AF65-F5344CB8AC3E}">
        <p14:creationId xmlns:p14="http://schemas.microsoft.com/office/powerpoint/2010/main" val="36208526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27</a:t>
            </a:fld>
            <a:endParaRPr lang="fr-FR"/>
          </a:p>
        </p:txBody>
      </p:sp>
    </p:spTree>
    <p:extLst>
      <p:ext uri="{BB962C8B-B14F-4D97-AF65-F5344CB8AC3E}">
        <p14:creationId xmlns:p14="http://schemas.microsoft.com/office/powerpoint/2010/main" val="68166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a:t>
            </a:r>
            <a:r>
              <a:rPr lang="fr-FR" dirty="0" err="1"/>
              <a:t>www.courstechinfo.be</a:t>
            </a:r>
            <a:r>
              <a:rPr lang="fr-FR" dirty="0"/>
              <a:t>/Hard/</a:t>
            </a:r>
            <a:r>
              <a:rPr lang="fr-FR" dirty="0" err="1"/>
              <a:t>Bus.html</a:t>
            </a:r>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29</a:t>
            </a:fld>
            <a:endParaRPr lang="fr-FR"/>
          </a:p>
        </p:txBody>
      </p:sp>
    </p:spTree>
    <p:extLst>
      <p:ext uri="{BB962C8B-B14F-4D97-AF65-F5344CB8AC3E}">
        <p14:creationId xmlns:p14="http://schemas.microsoft.com/office/powerpoint/2010/main" val="98727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3FE75D-A46F-6B4E-8594-2D9D54A9B614}" type="slidenum">
              <a:rPr lang="fr-FR" smtClean="0"/>
              <a:t>30</a:t>
            </a:fld>
            <a:endParaRPr lang="fr-FR"/>
          </a:p>
        </p:txBody>
      </p:sp>
    </p:spTree>
    <p:extLst>
      <p:ext uri="{BB962C8B-B14F-4D97-AF65-F5344CB8AC3E}">
        <p14:creationId xmlns:p14="http://schemas.microsoft.com/office/powerpoint/2010/main" val="1470402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Contrôleur de </a:t>
            </a:r>
            <a:r>
              <a:rPr lang="fr-FR" dirty="0" err="1"/>
              <a:t>ethernet</a:t>
            </a:r>
            <a:r>
              <a:rPr lang="fr-FR" dirty="0"/>
              <a:t> </a:t>
            </a:r>
            <a:r>
              <a:rPr lang="fr-FR" dirty="0" err="1"/>
              <a:t>usb</a:t>
            </a:r>
            <a:r>
              <a:rPr lang="fr-FR" dirty="0"/>
              <a:t> sont embarqué dans</a:t>
            </a:r>
            <a:r>
              <a:rPr lang="fr-FR" baseline="0" dirty="0"/>
              <a:t> le </a:t>
            </a:r>
            <a:r>
              <a:rPr lang="fr-FR" baseline="0" dirty="0" err="1"/>
              <a:t>south</a:t>
            </a:r>
            <a:r>
              <a:rPr lang="fr-FR" baseline="0" dirty="0"/>
              <a:t> bridge </a:t>
            </a:r>
          </a:p>
          <a:p>
            <a:r>
              <a:rPr lang="fr-FR" baseline="0" dirty="0" err="1"/>
              <a:t>Core</a:t>
            </a:r>
            <a:r>
              <a:rPr lang="fr-FR" baseline="0" dirty="0"/>
              <a:t> i2</a:t>
            </a:r>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31</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Interface PCI expresse </a:t>
            </a:r>
          </a:p>
          <a:p>
            <a:r>
              <a:rPr lang="fr-FR" dirty="0"/>
              <a:t>DDR directement sur le processeur </a:t>
            </a:r>
          </a:p>
        </p:txBody>
      </p:sp>
      <p:sp>
        <p:nvSpPr>
          <p:cNvPr id="4" name="Slide Number Placeholder 3"/>
          <p:cNvSpPr>
            <a:spLocks noGrp="1"/>
          </p:cNvSpPr>
          <p:nvPr>
            <p:ph type="sldNum" sz="quarter" idx="10"/>
          </p:nvPr>
        </p:nvSpPr>
        <p:spPr/>
        <p:txBody>
          <a:bodyPr/>
          <a:lstStyle/>
          <a:p>
            <a:fld id="{D95D36FF-BDF5-49A8-BCA1-FBFB7AB8C877}" type="slidenum">
              <a:rPr lang="fr-FR" smtClean="0"/>
              <a:t>32</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D95D36FF-BDF5-49A8-BCA1-FBFB7AB8C877}" type="slidenum">
              <a:rPr lang="fr-FR" smtClean="0"/>
              <a:t>34</a:t>
            </a:fld>
            <a:endParaRPr lang="fr-FR"/>
          </a:p>
        </p:txBody>
      </p:sp>
    </p:spTree>
    <p:extLst>
      <p:ext uri="{BB962C8B-B14F-4D97-AF65-F5344CB8AC3E}">
        <p14:creationId xmlns:p14="http://schemas.microsoft.com/office/powerpoint/2010/main" val="1155373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Disques magnétiques : mémoire de masse </a:t>
            </a:r>
          </a:p>
          <a:p>
            <a:r>
              <a:rPr lang="fr-FR" dirty="0"/>
              <a:t>Bandes</a:t>
            </a:r>
            <a:r>
              <a:rPr lang="fr-FR" baseline="0" dirty="0"/>
              <a:t> magnétiques : </a:t>
            </a:r>
            <a:r>
              <a:rPr lang="fr-FR" dirty="0"/>
              <a:t>magnétoscope pour lecture </a:t>
            </a:r>
          </a:p>
        </p:txBody>
      </p:sp>
      <p:sp>
        <p:nvSpPr>
          <p:cNvPr id="4" name="Slide Number Placeholder 3"/>
          <p:cNvSpPr>
            <a:spLocks noGrp="1"/>
          </p:cNvSpPr>
          <p:nvPr>
            <p:ph type="sldNum" sz="quarter" idx="10"/>
          </p:nvPr>
        </p:nvSpPr>
        <p:spPr/>
        <p:txBody>
          <a:bodyPr/>
          <a:lstStyle/>
          <a:p>
            <a:fld id="{EB3FE75D-A46F-6B4E-8594-2D9D54A9B614}" type="slidenum">
              <a:rPr lang="fr-FR" smtClean="0"/>
              <a:t>48</a:t>
            </a:fld>
            <a:endParaRPr lang="fr-FR"/>
          </a:p>
        </p:txBody>
      </p:sp>
    </p:spTree>
    <p:extLst>
      <p:ext uri="{BB962C8B-B14F-4D97-AF65-F5344CB8AC3E}">
        <p14:creationId xmlns:p14="http://schemas.microsoft.com/office/powerpoint/2010/main" val="1970484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0D2C25DF-3176-F84F-B50D-262E41CD019A}" type="slidenum">
              <a:rPr lang="fr-FR" smtClean="0"/>
              <a:t>75</a:t>
            </a:fld>
            <a:endParaRPr lang="fr-FR"/>
          </a:p>
        </p:txBody>
      </p:sp>
    </p:spTree>
    <p:extLst>
      <p:ext uri="{BB962C8B-B14F-4D97-AF65-F5344CB8AC3E}">
        <p14:creationId xmlns:p14="http://schemas.microsoft.com/office/powerpoint/2010/main" val="3698284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A785DBFA-8853-3B4F-869C-5FD45ED2C2B8}" type="datetimeFigureOut">
              <a:rPr lang="en-US" smtClean="0"/>
              <a:t>12/6/24</a:t>
            </a:fld>
            <a:endParaRPr lang="fr-FR"/>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8538A7A9-6220-1446-90DB-8B7369FFA6B5}" type="slidenum">
              <a:rPr lang="fr-FR" smtClean="0"/>
              <a:t>‹N°›</a:t>
            </a:fld>
            <a:endParaRPr lang="fr-FR"/>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fr-FR"/>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fr-FR"/>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4" name="Date Placeholder 3"/>
          <p:cNvSpPr>
            <a:spLocks noGrp="1"/>
          </p:cNvSpPr>
          <p:nvPr>
            <p:ph type="dt" sz="half" idx="10"/>
          </p:nvPr>
        </p:nvSpPr>
        <p:spPr/>
        <p:txBody>
          <a:bodyPr/>
          <a:lstStyle/>
          <a:p>
            <a:fld id="{A785DBFA-8853-3B4F-869C-5FD45ED2C2B8}" type="datetimeFigureOut">
              <a:rPr lang="en-US" smtClean="0"/>
              <a:t>12/6/24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538A7A9-6220-1446-90DB-8B7369FFA6B5}" type="slidenum">
              <a:rPr lang="fr-FR" smtClean="0"/>
              <a:t>‹N°›</a:t>
            </a:fld>
            <a:endParaRPr lang="fr-FR"/>
          </a:p>
        </p:txBody>
      </p:sp>
      <p:sp>
        <p:nvSpPr>
          <p:cNvPr id="7" name="Title 6"/>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A785DBFA-8853-3B4F-869C-5FD45ED2C2B8}" type="datetimeFigureOut">
              <a:rPr lang="en-US" smtClean="0"/>
              <a:t>12/6/24</a:t>
            </a:fld>
            <a:endParaRPr lang="fr-FR"/>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8538A7A9-6220-1446-90DB-8B7369FFA6B5}" type="slidenum">
              <a:rPr lang="fr-FR" smtClean="0"/>
              <a:t>‹N°›</a:t>
            </a:fld>
            <a:endParaRPr lang="fr-FR"/>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fr-FR"/>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fr-FR"/>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5" name="Date Placeholder 4"/>
          <p:cNvSpPr>
            <a:spLocks noGrp="1"/>
          </p:cNvSpPr>
          <p:nvPr>
            <p:ph type="dt" sz="half" idx="10"/>
          </p:nvPr>
        </p:nvSpPr>
        <p:spPr/>
        <p:txBody>
          <a:bodyPr/>
          <a:lstStyle/>
          <a:p>
            <a:fld id="{A785DBFA-8853-3B4F-869C-5FD45ED2C2B8}" type="datetimeFigureOut">
              <a:rPr lang="en-US" smtClean="0"/>
              <a:t>12/6/24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538A7A9-6220-1446-90DB-8B7369FFA6B5}" type="slidenum">
              <a:rPr lang="fr-FR" smtClean="0"/>
              <a:t>‹N°›</a:t>
            </a:fld>
            <a:endParaRPr lang="fr-FR"/>
          </a:p>
        </p:txBody>
      </p:sp>
      <p:sp>
        <p:nvSpPr>
          <p:cNvPr id="8" name="Title 7"/>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7" name="Date Placeholder 6"/>
          <p:cNvSpPr>
            <a:spLocks noGrp="1"/>
          </p:cNvSpPr>
          <p:nvPr>
            <p:ph type="dt" sz="half" idx="10"/>
          </p:nvPr>
        </p:nvSpPr>
        <p:spPr/>
        <p:txBody>
          <a:bodyPr/>
          <a:lstStyle/>
          <a:p>
            <a:fld id="{A785DBFA-8853-3B4F-869C-5FD45ED2C2B8}" type="datetimeFigureOut">
              <a:rPr lang="en-US" smtClean="0"/>
              <a:t>12/6/24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538A7A9-6220-1446-90DB-8B7369FFA6B5}" type="slidenum">
              <a:rPr lang="fr-FR" smtClean="0"/>
              <a:t>‹N°›</a:t>
            </a:fld>
            <a:endParaRPr lang="fr-FR"/>
          </a:p>
        </p:txBody>
      </p:sp>
      <p:sp>
        <p:nvSpPr>
          <p:cNvPr id="10" name="Title 9"/>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85DBFA-8853-3B4F-869C-5FD45ED2C2B8}" type="datetimeFigureOut">
              <a:rPr lang="en-US" smtClean="0"/>
              <a:t>12/6/24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538A7A9-6220-1446-90DB-8B7369FFA6B5}" type="slidenum">
              <a:rPr lang="fr-FR" smtClean="0"/>
              <a:t>‹N°›</a:t>
            </a:fld>
            <a:endParaRPr lang="fr-FR"/>
          </a:p>
        </p:txBody>
      </p:sp>
      <p:sp>
        <p:nvSpPr>
          <p:cNvPr id="6" name="Title 5"/>
          <p:cNvSpPr>
            <a:spLocks noGrp="1"/>
          </p:cNvSpPr>
          <p:nvPr>
            <p:ph type="title"/>
          </p:nvPr>
        </p:nvSpPr>
        <p:spPr/>
        <p:txBody>
          <a:bodyPr/>
          <a:lstStyle/>
          <a:p>
            <a:r>
              <a:rPr lang="fr-FR"/>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A785DBFA-8853-3B4F-869C-5FD45ED2C2B8}" type="datetimeFigureOut">
              <a:rPr lang="en-US" smtClean="0"/>
              <a:t>12/6/24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538A7A9-6220-1446-90DB-8B7369FFA6B5}"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4"/>
          <p:cNvSpPr>
            <a:spLocks noGrp="1"/>
          </p:cNvSpPr>
          <p:nvPr>
            <p:ph type="dt" sz="half" idx="10"/>
          </p:nvPr>
        </p:nvSpPr>
        <p:spPr/>
        <p:txBody>
          <a:bodyPr/>
          <a:lstStyle/>
          <a:p>
            <a:fld id="{A785DBFA-8853-3B4F-869C-5FD45ED2C2B8}" type="datetimeFigureOut">
              <a:rPr lang="en-US" smtClean="0"/>
              <a:t>12/6/24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8538A7A9-6220-1446-90DB-8B7369FFA6B5}" type="slidenum">
              <a:rPr lang="fr-FR" smtClean="0"/>
              <a:t>‹N°›</a:t>
            </a:fld>
            <a:endParaRPr lang="fr-FR"/>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fr-FR"/>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Drag picture to placeholder or click icon to add</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Click to edit Master text styles</a:t>
            </a:r>
          </a:p>
        </p:txBody>
      </p:sp>
      <p:sp>
        <p:nvSpPr>
          <p:cNvPr id="5" name="Date Placeholder 4"/>
          <p:cNvSpPr>
            <a:spLocks noGrp="1"/>
          </p:cNvSpPr>
          <p:nvPr>
            <p:ph type="dt" sz="half" idx="10"/>
          </p:nvPr>
        </p:nvSpPr>
        <p:spPr/>
        <p:txBody>
          <a:bodyPr/>
          <a:lstStyle/>
          <a:p>
            <a:fld id="{A785DBFA-8853-3B4F-869C-5FD45ED2C2B8}" type="datetimeFigureOut">
              <a:rPr lang="en-US" smtClean="0"/>
              <a:t>12/6/24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538A7A9-6220-1446-90DB-8B7369FFA6B5}" type="slidenum">
              <a:rPr lang="fr-FR" smtClean="0"/>
              <a:t>‹N°›</a:t>
            </a:fld>
            <a:endParaRPr lang="fr-FR"/>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fr-FR"/>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a:p>
        </p:txBody>
      </p:sp>
      <p:sp>
        <p:nvSpPr>
          <p:cNvPr id="4" name="Date Placeholder 3"/>
          <p:cNvSpPr>
            <a:spLocks noGrp="1"/>
          </p:cNvSpPr>
          <p:nvPr>
            <p:ph type="dt" sz="half" idx="10"/>
          </p:nvPr>
        </p:nvSpPr>
        <p:spPr/>
        <p:txBody>
          <a:bodyPr/>
          <a:lstStyle/>
          <a:p>
            <a:fld id="{A785DBFA-8853-3B4F-869C-5FD45ED2C2B8}" type="datetimeFigureOut">
              <a:rPr lang="en-US" smtClean="0"/>
              <a:t>12/6/24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538A7A9-6220-1446-90DB-8B7369FFA6B5}"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fr-FR"/>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4" name="Date Placeholder 3"/>
          <p:cNvSpPr>
            <a:spLocks noGrp="1"/>
          </p:cNvSpPr>
          <p:nvPr>
            <p:ph type="dt" sz="half" idx="10"/>
          </p:nvPr>
        </p:nvSpPr>
        <p:spPr/>
        <p:txBody>
          <a:bodyPr/>
          <a:lstStyle/>
          <a:p>
            <a:fld id="{A785DBFA-8853-3B4F-869C-5FD45ED2C2B8}" type="datetimeFigureOut">
              <a:rPr lang="en-US" smtClean="0"/>
              <a:t>12/6/24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8538A7A9-6220-1446-90DB-8B7369FFA6B5}"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fr-FR"/>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A785DBFA-8853-3B4F-869C-5FD45ED2C2B8}" type="datetimeFigureOut">
              <a:rPr lang="en-US" smtClean="0"/>
              <a:t>12/6/24</a:t>
            </a:fld>
            <a:endParaRPr lang="fr-FR"/>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fr-FR"/>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8538A7A9-6220-1446-90DB-8B7369FFA6B5}"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GIF"/><Relationship Id="rId3" Type="http://schemas.openxmlformats.org/officeDocument/2006/relationships/image" Target="../media/image3.jpeg"/><Relationship Id="rId7"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jp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png"/><Relationship Id="rId12"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jpg"/><Relationship Id="rId5" Type="http://schemas.openxmlformats.org/officeDocument/2006/relationships/image" Target="../media/image16.png"/><Relationship Id="rId10" Type="http://schemas.openxmlformats.org/officeDocument/2006/relationships/image" Target="../media/image21.jpeg"/><Relationship Id="rId4" Type="http://schemas.openxmlformats.org/officeDocument/2006/relationships/image" Target="../media/image15.jpe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www.intel.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www.presence-pc.com/" TargetMode="External"/><Relationship Id="rId4" Type="http://schemas.openxmlformats.org/officeDocument/2006/relationships/image" Target="../media/image31.jpg"/></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fr.wikipedia.org/wiki/Algorithmes_de_remplacement_des_lignes_de_cache"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hyperlink" Target="https://www.youtube.com/watch?v=dsvP0xOg7is"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fr-FR" sz="2300" dirty="0"/>
              <a:t>Introduction </a:t>
            </a:r>
          </a:p>
        </p:txBody>
      </p:sp>
      <p:sp>
        <p:nvSpPr>
          <p:cNvPr id="2" name="Title 1"/>
          <p:cNvSpPr>
            <a:spLocks noGrp="1"/>
          </p:cNvSpPr>
          <p:nvPr>
            <p:ph type="title"/>
          </p:nvPr>
        </p:nvSpPr>
        <p:spPr/>
        <p:txBody>
          <a:bodyPr/>
          <a:lstStyle/>
          <a:p>
            <a:r>
              <a:rPr lang="fr-FR" dirty="0" err="1"/>
              <a:t>Micro-architecture</a:t>
            </a:r>
            <a:r>
              <a:rPr lang="fr-FR" dirty="0"/>
              <a:t> des Processeurs</a:t>
            </a:r>
          </a:p>
        </p:txBody>
      </p:sp>
    </p:spTree>
    <p:extLst>
      <p:ext uri="{BB962C8B-B14F-4D97-AF65-F5344CB8AC3E}">
        <p14:creationId xmlns:p14="http://schemas.microsoft.com/office/powerpoint/2010/main" val="337958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522CEDA-C378-0827-2F9E-1016E79A62C8}"/>
              </a:ext>
            </a:extLst>
          </p:cNvPr>
          <p:cNvSpPr>
            <a:spLocks noGrp="1"/>
          </p:cNvSpPr>
          <p:nvPr>
            <p:ph idx="1"/>
          </p:nvPr>
        </p:nvSpPr>
        <p:spPr/>
        <p:txBody>
          <a:bodyPr/>
          <a:lstStyle/>
          <a:p>
            <a:pPr marL="0" lvl="0" indent="0" algn="just">
              <a:buNone/>
              <a:tabLst>
                <a:tab pos="457200" algn="l"/>
              </a:tabLst>
            </a:pPr>
            <a:r>
              <a:rPr lang="fr-MA" sz="20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Comprendre les mécanismes fondamentaux de l’architecture des ordinateurs.</a:t>
            </a:r>
          </a:p>
          <a:p>
            <a:pPr marL="0" lvl="0" indent="0" algn="just">
              <a:buNone/>
              <a:tabLst>
                <a:tab pos="457200" algn="l"/>
              </a:tabLst>
            </a:pPr>
            <a:endParaRPr lang="fr-MA"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lvl="0" indent="0" algn="just">
              <a:buNone/>
              <a:tabLst>
                <a:tab pos="457200" algn="l"/>
              </a:tabLst>
            </a:pPr>
            <a:r>
              <a:rPr lang="fr-MA" sz="20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Explorer les concepts de gestion mémoire (adressage, cache, mémoire virtuelle).</a:t>
            </a:r>
          </a:p>
          <a:p>
            <a:pPr marL="0" lvl="0" indent="0" algn="just">
              <a:buNone/>
              <a:tabLst>
                <a:tab pos="457200" algn="l"/>
              </a:tabLst>
            </a:pPr>
            <a:endParaRPr lang="fr-MA"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lvl="0" indent="0" algn="just">
              <a:buNone/>
              <a:tabLst>
                <a:tab pos="457200" algn="l"/>
              </a:tabLst>
            </a:pPr>
            <a:r>
              <a:rPr lang="fr-MA" sz="20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Maîtriser les bases du traitement des instructions.</a:t>
            </a:r>
          </a:p>
          <a:p>
            <a:pPr marL="0" lvl="0" indent="0" algn="just">
              <a:buNone/>
              <a:tabLst>
                <a:tab pos="457200" algn="l"/>
              </a:tabLst>
            </a:pPr>
            <a:endParaRPr lang="fr-MA"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lvl="0" indent="0" algn="just">
              <a:buNone/>
              <a:tabLst>
                <a:tab pos="457200" algn="l"/>
              </a:tabLst>
            </a:pPr>
            <a:r>
              <a:rPr lang="fr-MA" sz="20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bases de l'assembleur 8086 pour mieux appréhender l’interaction matériel-logiciel.</a:t>
            </a:r>
            <a:endParaRPr lang="fr-MA"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45720" indent="0">
              <a:buNone/>
            </a:pPr>
            <a:endParaRPr lang="fr-FR" dirty="0"/>
          </a:p>
        </p:txBody>
      </p:sp>
      <p:sp>
        <p:nvSpPr>
          <p:cNvPr id="3" name="Titre 2">
            <a:extLst>
              <a:ext uri="{FF2B5EF4-FFF2-40B4-BE49-F238E27FC236}">
                <a16:creationId xmlns:a16="http://schemas.microsoft.com/office/drawing/2014/main" id="{8824F071-C9B4-089A-611C-72068E13877B}"/>
              </a:ext>
            </a:extLst>
          </p:cNvPr>
          <p:cNvSpPr>
            <a:spLocks noGrp="1"/>
          </p:cNvSpPr>
          <p:nvPr>
            <p:ph type="title"/>
          </p:nvPr>
        </p:nvSpPr>
        <p:spPr/>
        <p:txBody>
          <a:bodyPr/>
          <a:lstStyle/>
          <a:p>
            <a:r>
              <a:rPr lang="fr-MA" sz="3200" b="1" kern="0" dirty="0">
                <a:effectLst/>
                <a:latin typeface="Times New Roman" panose="02020603050405020304" pitchFamily="18" charset="0"/>
                <a:ea typeface="Times New Roman" panose="02020603050405020304" pitchFamily="18" charset="0"/>
                <a:cs typeface="Times New Roman" panose="02020603050405020304" pitchFamily="18" charset="0"/>
              </a:rPr>
              <a:t>Objectifs pédagogiques</a:t>
            </a:r>
            <a:endParaRPr lang="fr-FR" dirty="0"/>
          </a:p>
        </p:txBody>
      </p:sp>
    </p:spTree>
    <p:extLst>
      <p:ext uri="{BB962C8B-B14F-4D97-AF65-F5344CB8AC3E}">
        <p14:creationId xmlns:p14="http://schemas.microsoft.com/office/powerpoint/2010/main" val="3540536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BB4AC46-B331-B6D8-7AF8-2728C831D5F8}"/>
              </a:ext>
            </a:extLst>
          </p:cNvPr>
          <p:cNvSpPr>
            <a:spLocks noGrp="1"/>
          </p:cNvSpPr>
          <p:nvPr>
            <p:ph idx="1"/>
          </p:nvPr>
        </p:nvSpPr>
        <p:spPr/>
        <p:txBody>
          <a:bodyPr>
            <a:normAutofit lnSpcReduction="10000"/>
          </a:bodyPr>
          <a:lstStyle/>
          <a:p>
            <a:pPr marL="45720" indent="0" algn="l">
              <a:buNone/>
            </a:pPr>
            <a:r>
              <a:rPr lang="fr-MA" sz="2500" b="0" i="0" dirty="0">
                <a:solidFill>
                  <a:srgbClr val="000000"/>
                </a:solidFill>
                <a:effectLst/>
                <a:latin typeface="Times New Roman" panose="02020603050405020304" pitchFamily="18" charset="0"/>
                <a:cs typeface="Times New Roman" panose="02020603050405020304" pitchFamily="18" charset="0"/>
              </a:rPr>
              <a:t>Les ordinateurs modernes utilisent généralement des données de 8, 16, 32 ou 64 bits, bien que d’autres tailles soient possibles. </a:t>
            </a:r>
          </a:p>
          <a:p>
            <a:pPr marL="45720" indent="0" algn="l">
              <a:buNone/>
            </a:pPr>
            <a:r>
              <a:rPr lang="fr-MA" sz="2500" b="0" i="0" dirty="0">
                <a:solidFill>
                  <a:srgbClr val="000000"/>
                </a:solidFill>
                <a:effectLst/>
                <a:latin typeface="Times New Roman" panose="02020603050405020304" pitchFamily="18" charset="0"/>
                <a:cs typeface="Times New Roman" panose="02020603050405020304" pitchFamily="18" charset="0"/>
              </a:rPr>
              <a:t>La nomenclature la plus utilisée par les éditeurs de langages de développement logicielle est normalisée comme suit :</a:t>
            </a:r>
          </a:p>
          <a:p>
            <a:pPr lvl="1"/>
            <a:r>
              <a:rPr lang="fr-MA" sz="2300" b="0" i="0" dirty="0">
                <a:solidFill>
                  <a:srgbClr val="000000"/>
                </a:solidFill>
                <a:effectLst/>
                <a:latin typeface="Times New Roman" panose="02020603050405020304" pitchFamily="18" charset="0"/>
                <a:cs typeface="Times New Roman" panose="02020603050405020304" pitchFamily="18" charset="0"/>
              </a:rPr>
              <a:t> bit</a:t>
            </a:r>
          </a:p>
          <a:p>
            <a:pPr lvl="1"/>
            <a:r>
              <a:rPr lang="fr-MA" sz="2300" b="0" i="0" dirty="0">
                <a:solidFill>
                  <a:srgbClr val="000000"/>
                </a:solidFill>
                <a:effectLst/>
                <a:latin typeface="Times New Roman" panose="02020603050405020304" pitchFamily="18" charset="0"/>
                <a:cs typeface="Times New Roman" panose="02020603050405020304" pitchFamily="18" charset="0"/>
              </a:rPr>
              <a:t> octet: 8 bits</a:t>
            </a:r>
          </a:p>
          <a:p>
            <a:pPr lvl="1"/>
            <a:r>
              <a:rPr lang="fr-MA" sz="2300" b="0" i="0" dirty="0">
                <a:solidFill>
                  <a:srgbClr val="000000"/>
                </a:solidFill>
                <a:effectLst/>
                <a:latin typeface="Times New Roman" panose="02020603050405020304" pitchFamily="18" charset="0"/>
                <a:cs typeface="Times New Roman" panose="02020603050405020304" pitchFamily="18" charset="0"/>
              </a:rPr>
              <a:t> mot (</a:t>
            </a:r>
            <a:r>
              <a:rPr lang="fr-MA" sz="2300" b="0" i="0" dirty="0" err="1">
                <a:solidFill>
                  <a:srgbClr val="000000"/>
                </a:solidFill>
                <a:effectLst/>
                <a:latin typeface="Times New Roman" panose="02020603050405020304" pitchFamily="18" charset="0"/>
                <a:cs typeface="Times New Roman" panose="02020603050405020304" pitchFamily="18" charset="0"/>
              </a:rPr>
              <a:t>word</a:t>
            </a:r>
            <a:r>
              <a:rPr lang="fr-MA" sz="2300" b="0" i="0" dirty="0">
                <a:solidFill>
                  <a:srgbClr val="000000"/>
                </a:solidFill>
                <a:effectLst/>
                <a:latin typeface="Times New Roman" panose="02020603050405020304" pitchFamily="18" charset="0"/>
                <a:cs typeface="Times New Roman" panose="02020603050405020304" pitchFamily="18" charset="0"/>
              </a:rPr>
              <a:t>) : 16 bits</a:t>
            </a:r>
          </a:p>
          <a:p>
            <a:pPr lvl="1"/>
            <a:r>
              <a:rPr lang="fr-MA" sz="2300" b="0" i="0" dirty="0">
                <a:solidFill>
                  <a:srgbClr val="000000"/>
                </a:solidFill>
                <a:effectLst/>
                <a:latin typeface="Times New Roman" panose="02020603050405020304" pitchFamily="18" charset="0"/>
                <a:cs typeface="Times New Roman" panose="02020603050405020304" pitchFamily="18" charset="0"/>
              </a:rPr>
              <a:t> double mot (d-</a:t>
            </a:r>
            <a:r>
              <a:rPr lang="fr-MA" sz="2300" b="0" i="0" dirty="0" err="1">
                <a:solidFill>
                  <a:srgbClr val="000000"/>
                </a:solidFill>
                <a:effectLst/>
                <a:latin typeface="Times New Roman" panose="02020603050405020304" pitchFamily="18" charset="0"/>
                <a:cs typeface="Times New Roman" panose="02020603050405020304" pitchFamily="18" charset="0"/>
              </a:rPr>
              <a:t>word</a:t>
            </a:r>
            <a:r>
              <a:rPr lang="fr-MA" sz="2300" b="0" i="0" dirty="0">
                <a:solidFill>
                  <a:srgbClr val="000000"/>
                </a:solidFill>
                <a:effectLst/>
                <a:latin typeface="Times New Roman" panose="02020603050405020304" pitchFamily="18" charset="0"/>
                <a:cs typeface="Times New Roman" panose="02020603050405020304" pitchFamily="18" charset="0"/>
              </a:rPr>
              <a:t>) : 32 bits</a:t>
            </a:r>
          </a:p>
          <a:p>
            <a:pPr lvl="1"/>
            <a:r>
              <a:rPr lang="fr-MA" sz="2300" b="0" i="0" dirty="0">
                <a:solidFill>
                  <a:srgbClr val="000000"/>
                </a:solidFill>
                <a:effectLst/>
                <a:latin typeface="Times New Roman" panose="02020603050405020304" pitchFamily="18" charset="0"/>
                <a:cs typeface="Times New Roman" panose="02020603050405020304" pitchFamily="18" charset="0"/>
              </a:rPr>
              <a:t> quad-mot (q-</a:t>
            </a:r>
            <a:r>
              <a:rPr lang="fr-MA" sz="2300" b="0" i="0" dirty="0" err="1">
                <a:solidFill>
                  <a:srgbClr val="000000"/>
                </a:solidFill>
                <a:effectLst/>
                <a:latin typeface="Times New Roman" panose="02020603050405020304" pitchFamily="18" charset="0"/>
                <a:cs typeface="Times New Roman" panose="02020603050405020304" pitchFamily="18" charset="0"/>
              </a:rPr>
              <a:t>word</a:t>
            </a:r>
            <a:r>
              <a:rPr lang="fr-MA" sz="2300" b="0" i="0" dirty="0">
                <a:solidFill>
                  <a:srgbClr val="000000"/>
                </a:solidFill>
                <a:effectLst/>
                <a:latin typeface="Times New Roman" panose="02020603050405020304" pitchFamily="18" charset="0"/>
                <a:cs typeface="Times New Roman" panose="02020603050405020304" pitchFamily="18" charset="0"/>
              </a:rPr>
              <a:t>) : 64 bits</a:t>
            </a:r>
          </a:p>
          <a:p>
            <a:endParaRPr lang="fr-FR" dirty="0"/>
          </a:p>
        </p:txBody>
      </p:sp>
      <p:sp>
        <p:nvSpPr>
          <p:cNvPr id="3" name="Titre 2">
            <a:extLst>
              <a:ext uri="{FF2B5EF4-FFF2-40B4-BE49-F238E27FC236}">
                <a16:creationId xmlns:a16="http://schemas.microsoft.com/office/drawing/2014/main" id="{86AEA9FC-D506-7F95-D89A-74CAFBD9DFD1}"/>
              </a:ext>
            </a:extLst>
          </p:cNvPr>
          <p:cNvSpPr>
            <a:spLocks noGrp="1"/>
          </p:cNvSpPr>
          <p:nvPr>
            <p:ph type="title"/>
          </p:nvPr>
        </p:nvSpPr>
        <p:spPr/>
        <p:txBody>
          <a:bodyPr/>
          <a:lstStyle/>
          <a:p>
            <a:r>
              <a:rPr lang="fr-MA" b="0" i="0" dirty="0">
                <a:effectLst/>
                <a:latin typeface="ff14"/>
              </a:rPr>
              <a:t>Types de données fondamentaux</a:t>
            </a:r>
            <a:endParaRPr lang="fr-FR" dirty="0"/>
          </a:p>
        </p:txBody>
      </p:sp>
    </p:spTree>
    <p:extLst>
      <p:ext uri="{BB962C8B-B14F-4D97-AF65-F5344CB8AC3E}">
        <p14:creationId xmlns:p14="http://schemas.microsoft.com/office/powerpoint/2010/main" val="3603832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39866F7-88EE-7C7F-35EF-3BFDBCF9CFE1}"/>
              </a:ext>
            </a:extLst>
          </p:cNvPr>
          <p:cNvSpPr>
            <a:spLocks noGrp="1"/>
          </p:cNvSpPr>
          <p:nvPr>
            <p:ph sz="half" idx="1"/>
          </p:nvPr>
        </p:nvSpPr>
        <p:spPr>
          <a:xfrm>
            <a:off x="457200" y="1719072"/>
            <a:ext cx="4038600" cy="4407408"/>
          </a:xfrm>
        </p:spPr>
        <p:txBody>
          <a:bodyPr>
            <a:normAutofit fontScale="70000" lnSpcReduction="20000"/>
          </a:bodyPr>
          <a:lstStyle/>
          <a:p>
            <a:pPr marL="45720" indent="0" algn="just">
              <a:lnSpc>
                <a:spcPct val="90000"/>
              </a:lnSpc>
              <a:buNone/>
            </a:pPr>
            <a:r>
              <a:rPr lang="fr-MA" sz="2500" dirty="0">
                <a:solidFill>
                  <a:srgbClr val="000000"/>
                </a:solidFill>
                <a:latin typeface="Times New Roman" panose="02020603050405020304" pitchFamily="18" charset="0"/>
                <a:cs typeface="Times New Roman" panose="02020603050405020304" pitchFamily="18" charset="0"/>
              </a:rPr>
              <a:t>Si la taille de la donnée concernée dépasse la taille de l’emplacement mémoire, elle doit être stockée sur plusieurs emplacement.</a:t>
            </a:r>
          </a:p>
          <a:p>
            <a:pPr marL="45720" indent="0" algn="just">
              <a:lnSpc>
                <a:spcPct val="90000"/>
              </a:lnSpc>
              <a:buNone/>
            </a:pPr>
            <a:endParaRPr lang="fr-MA" sz="2500" dirty="0">
              <a:solidFill>
                <a:srgbClr val="000000"/>
              </a:solidFill>
              <a:latin typeface="Times New Roman" panose="02020603050405020304" pitchFamily="18" charset="0"/>
              <a:cs typeface="Times New Roman" panose="02020603050405020304" pitchFamily="18" charset="0"/>
            </a:endParaRPr>
          </a:p>
          <a:p>
            <a:pPr marL="45720" indent="0" algn="just">
              <a:lnSpc>
                <a:spcPct val="90000"/>
              </a:lnSpc>
              <a:buNone/>
            </a:pPr>
            <a:r>
              <a:rPr lang="fr-MA" sz="2500" dirty="0">
                <a:solidFill>
                  <a:srgbClr val="000000"/>
                </a:solidFill>
                <a:latin typeface="Times New Roman" panose="02020603050405020304" pitchFamily="18" charset="0"/>
                <a:cs typeface="Times New Roman" panose="02020603050405020304" pitchFamily="18" charset="0"/>
              </a:rPr>
              <a:t>Il existe en général deux modes d’empilement:</a:t>
            </a:r>
          </a:p>
          <a:p>
            <a:pPr marL="45720" indent="0" algn="just">
              <a:lnSpc>
                <a:spcPct val="90000"/>
              </a:lnSpc>
              <a:buNone/>
            </a:pPr>
            <a:endParaRPr lang="fr-MA" sz="2500" dirty="0">
              <a:solidFill>
                <a:srgbClr val="000000"/>
              </a:solidFill>
              <a:latin typeface="Times New Roman" panose="02020603050405020304" pitchFamily="18" charset="0"/>
              <a:cs typeface="Times New Roman" panose="02020603050405020304" pitchFamily="18" charset="0"/>
            </a:endParaRPr>
          </a:p>
          <a:p>
            <a:pPr marL="45720" indent="0" algn="just">
              <a:lnSpc>
                <a:spcPct val="90000"/>
              </a:lnSpc>
              <a:buNone/>
            </a:pPr>
            <a:r>
              <a:rPr lang="fr-MA" sz="2500" b="1" dirty="0">
                <a:solidFill>
                  <a:srgbClr val="000000"/>
                </a:solidFill>
                <a:latin typeface="Times New Roman" panose="02020603050405020304" pitchFamily="18" charset="0"/>
                <a:cs typeface="Times New Roman" panose="02020603050405020304" pitchFamily="18" charset="0"/>
              </a:rPr>
              <a:t>Big-Endian</a:t>
            </a:r>
            <a:r>
              <a:rPr lang="fr-MA" sz="2500" dirty="0">
                <a:solidFill>
                  <a:srgbClr val="000000"/>
                </a:solidFill>
                <a:latin typeface="Times New Roman" panose="02020603050405020304" pitchFamily="18" charset="0"/>
                <a:cs typeface="Times New Roman" panose="02020603050405020304" pitchFamily="18" charset="0"/>
              </a:rPr>
              <a:t> </a:t>
            </a:r>
          </a:p>
          <a:p>
            <a:pPr marL="45720" indent="0" algn="just">
              <a:lnSpc>
                <a:spcPct val="90000"/>
              </a:lnSpc>
              <a:buNone/>
            </a:pPr>
            <a:r>
              <a:rPr lang="fr-MA" sz="2500" dirty="0">
                <a:solidFill>
                  <a:srgbClr val="000000"/>
                </a:solidFill>
                <a:latin typeface="Times New Roman" panose="02020603050405020304" pitchFamily="18" charset="0"/>
                <a:cs typeface="Times New Roman" panose="02020603050405020304" pitchFamily="18" charset="0"/>
              </a:rPr>
              <a:t>le système enregistre le bit le plus </a:t>
            </a:r>
            <a:r>
              <a:rPr lang="fr-MA" sz="2500" dirty="0" err="1">
                <a:solidFill>
                  <a:srgbClr val="000000"/>
                </a:solidFill>
                <a:latin typeface="Times New Roman" panose="02020603050405020304" pitchFamily="18" charset="0"/>
                <a:cs typeface="Times New Roman" panose="02020603050405020304" pitchFamily="18" charset="0"/>
              </a:rPr>
              <a:t>signiﬁcatif</a:t>
            </a:r>
            <a:r>
              <a:rPr lang="fr-MA" sz="2500" dirty="0">
                <a:solidFill>
                  <a:srgbClr val="000000"/>
                </a:solidFill>
                <a:latin typeface="Times New Roman" panose="02020603050405020304" pitchFamily="18" charset="0"/>
                <a:cs typeface="Times New Roman" panose="02020603050405020304" pitchFamily="18" charset="0"/>
              </a:rPr>
              <a:t> (MSB, Most </a:t>
            </a:r>
            <a:r>
              <a:rPr lang="fr-MA" sz="2500" dirty="0" err="1">
                <a:solidFill>
                  <a:srgbClr val="000000"/>
                </a:solidFill>
                <a:latin typeface="Times New Roman" panose="02020603050405020304" pitchFamily="18" charset="0"/>
                <a:cs typeface="Times New Roman" panose="02020603050405020304" pitchFamily="18" charset="0"/>
              </a:rPr>
              <a:t>Signiﬁant</a:t>
            </a:r>
            <a:r>
              <a:rPr lang="fr-MA" sz="2500" dirty="0">
                <a:solidFill>
                  <a:srgbClr val="000000"/>
                </a:solidFill>
                <a:latin typeface="Times New Roman" panose="02020603050405020304" pitchFamily="18" charset="0"/>
                <a:cs typeface="Times New Roman" panose="02020603050405020304" pitchFamily="18" charset="0"/>
              </a:rPr>
              <a:t> Bit) en premier. Les processeurs Sun et Motorola l’utilisent.</a:t>
            </a:r>
          </a:p>
          <a:p>
            <a:pPr marL="45720" indent="0" algn="just">
              <a:lnSpc>
                <a:spcPct val="90000"/>
              </a:lnSpc>
              <a:buNone/>
            </a:pPr>
            <a:endParaRPr lang="fr-MA" sz="2500" dirty="0">
              <a:solidFill>
                <a:srgbClr val="000000"/>
              </a:solidFill>
              <a:latin typeface="Times New Roman" panose="02020603050405020304" pitchFamily="18" charset="0"/>
              <a:cs typeface="Times New Roman" panose="02020603050405020304" pitchFamily="18" charset="0"/>
            </a:endParaRPr>
          </a:p>
          <a:p>
            <a:pPr marL="45720" indent="0" algn="just">
              <a:lnSpc>
                <a:spcPct val="90000"/>
              </a:lnSpc>
              <a:buNone/>
            </a:pPr>
            <a:r>
              <a:rPr lang="fr-MA" sz="2500" b="1" dirty="0">
                <a:solidFill>
                  <a:srgbClr val="000000"/>
                </a:solidFill>
                <a:latin typeface="Times New Roman" panose="02020603050405020304" pitchFamily="18" charset="0"/>
                <a:cs typeface="Times New Roman" panose="02020603050405020304" pitchFamily="18" charset="0"/>
              </a:rPr>
              <a:t>Little-Endian</a:t>
            </a:r>
            <a:r>
              <a:rPr lang="fr-MA" sz="2500" dirty="0">
                <a:solidFill>
                  <a:srgbClr val="000000"/>
                </a:solidFill>
                <a:latin typeface="Times New Roman" panose="02020603050405020304" pitchFamily="18" charset="0"/>
                <a:cs typeface="Times New Roman" panose="02020603050405020304" pitchFamily="18" charset="0"/>
              </a:rPr>
              <a:t> </a:t>
            </a:r>
          </a:p>
          <a:p>
            <a:pPr marL="45720" indent="0" algn="just">
              <a:lnSpc>
                <a:spcPct val="90000"/>
              </a:lnSpc>
              <a:buNone/>
            </a:pPr>
            <a:r>
              <a:rPr lang="fr-MA" sz="2500" dirty="0">
                <a:solidFill>
                  <a:srgbClr val="000000"/>
                </a:solidFill>
                <a:latin typeface="Times New Roman" panose="02020603050405020304" pitchFamily="18" charset="0"/>
                <a:cs typeface="Times New Roman" panose="02020603050405020304" pitchFamily="18" charset="0"/>
              </a:rPr>
              <a:t>le système enregistre le bit le moins </a:t>
            </a:r>
            <a:r>
              <a:rPr lang="fr-MA" sz="2500" dirty="0" err="1">
                <a:solidFill>
                  <a:srgbClr val="000000"/>
                </a:solidFill>
                <a:latin typeface="Times New Roman" panose="02020603050405020304" pitchFamily="18" charset="0"/>
                <a:cs typeface="Times New Roman" panose="02020603050405020304" pitchFamily="18" charset="0"/>
              </a:rPr>
              <a:t>signiﬁcatif</a:t>
            </a:r>
            <a:r>
              <a:rPr lang="fr-MA" sz="2500" dirty="0">
                <a:solidFill>
                  <a:srgbClr val="000000"/>
                </a:solidFill>
                <a:latin typeface="Times New Roman" panose="02020603050405020304" pitchFamily="18" charset="0"/>
                <a:cs typeface="Times New Roman" panose="02020603050405020304" pitchFamily="18" charset="0"/>
              </a:rPr>
              <a:t> (</a:t>
            </a:r>
            <a:r>
              <a:rPr lang="fr-MA" sz="2500" dirty="0" err="1">
                <a:solidFill>
                  <a:srgbClr val="000000"/>
                </a:solidFill>
                <a:latin typeface="Times New Roman" panose="02020603050405020304" pitchFamily="18" charset="0"/>
                <a:cs typeface="Times New Roman" panose="02020603050405020304" pitchFamily="18" charset="0"/>
              </a:rPr>
              <a:t>Lsb</a:t>
            </a:r>
            <a:r>
              <a:rPr lang="fr-MA" sz="2500" dirty="0">
                <a:solidFill>
                  <a:srgbClr val="000000"/>
                </a:solidFill>
                <a:latin typeface="Times New Roman" panose="02020603050405020304" pitchFamily="18" charset="0"/>
                <a:cs typeface="Times New Roman" panose="02020603050405020304" pitchFamily="18" charset="0"/>
              </a:rPr>
              <a:t>, Least </a:t>
            </a:r>
            <a:r>
              <a:rPr lang="fr-MA" sz="2500" dirty="0" err="1">
                <a:solidFill>
                  <a:srgbClr val="000000"/>
                </a:solidFill>
                <a:latin typeface="Times New Roman" panose="02020603050405020304" pitchFamily="18" charset="0"/>
                <a:cs typeface="Times New Roman" panose="02020603050405020304" pitchFamily="18" charset="0"/>
              </a:rPr>
              <a:t>SigniﬁantBit</a:t>
            </a:r>
            <a:r>
              <a:rPr lang="fr-MA" sz="2500" dirty="0">
                <a:solidFill>
                  <a:srgbClr val="000000"/>
                </a:solidFill>
                <a:latin typeface="Times New Roman" panose="02020603050405020304" pitchFamily="18" charset="0"/>
                <a:cs typeface="Times New Roman" panose="02020603050405020304" pitchFamily="18" charset="0"/>
              </a:rPr>
              <a:t>) en premier. Les processeurs Intel x86 </a:t>
            </a:r>
            <a:r>
              <a:rPr lang="fr-MA" sz="2500" dirty="0" err="1">
                <a:solidFill>
                  <a:srgbClr val="000000"/>
                </a:solidFill>
                <a:latin typeface="Times New Roman" panose="02020603050405020304" pitchFamily="18" charset="0"/>
                <a:cs typeface="Times New Roman" panose="02020603050405020304" pitchFamily="18" charset="0"/>
              </a:rPr>
              <a:t>family</a:t>
            </a:r>
            <a:r>
              <a:rPr lang="fr-MA" sz="2500" dirty="0">
                <a:solidFill>
                  <a:srgbClr val="000000"/>
                </a:solidFill>
                <a:latin typeface="Times New Roman" panose="02020603050405020304" pitchFamily="18" charset="0"/>
                <a:cs typeface="Times New Roman" panose="02020603050405020304" pitchFamily="18" charset="0"/>
              </a:rPr>
              <a:t> l’utilisent</a:t>
            </a:r>
            <a:r>
              <a:rPr lang="fr-MA" sz="1500" b="0" i="0" dirty="0">
                <a:effectLst/>
              </a:rPr>
              <a:t>.</a:t>
            </a:r>
            <a:endParaRPr lang="fr-FR" sz="1500" dirty="0"/>
          </a:p>
        </p:txBody>
      </p:sp>
      <p:pic>
        <p:nvPicPr>
          <p:cNvPr id="5" name="Image 4" descr="Une image contenant texte, capture d’écran, Police, nombre&#10;&#10;Description générée automatiquement">
            <a:extLst>
              <a:ext uri="{FF2B5EF4-FFF2-40B4-BE49-F238E27FC236}">
                <a16:creationId xmlns:a16="http://schemas.microsoft.com/office/drawing/2014/main" id="{010BD8D9-3540-9A1A-AEBB-EFB33310B1E0}"/>
              </a:ext>
            </a:extLst>
          </p:cNvPr>
          <p:cNvPicPr>
            <a:picLocks noChangeAspect="1"/>
          </p:cNvPicPr>
          <p:nvPr/>
        </p:nvPicPr>
        <p:blipFill>
          <a:blip r:embed="rId3"/>
          <a:stretch>
            <a:fillRect/>
          </a:stretch>
        </p:blipFill>
        <p:spPr>
          <a:xfrm>
            <a:off x="4648200" y="2655665"/>
            <a:ext cx="4038600" cy="2534221"/>
          </a:xfrm>
          <a:prstGeom prst="rect">
            <a:avLst/>
          </a:prstGeom>
          <a:noFill/>
        </p:spPr>
      </p:pic>
      <p:sp>
        <p:nvSpPr>
          <p:cNvPr id="3" name="Titre 2">
            <a:extLst>
              <a:ext uri="{FF2B5EF4-FFF2-40B4-BE49-F238E27FC236}">
                <a16:creationId xmlns:a16="http://schemas.microsoft.com/office/drawing/2014/main" id="{000A3C82-828F-EB02-A95D-C09591A23767}"/>
              </a:ext>
            </a:extLst>
          </p:cNvPr>
          <p:cNvSpPr>
            <a:spLocks noGrp="1"/>
          </p:cNvSpPr>
          <p:nvPr>
            <p:ph type="title"/>
          </p:nvPr>
        </p:nvSpPr>
        <p:spPr>
          <a:xfrm>
            <a:off x="381000" y="355847"/>
            <a:ext cx="8381260" cy="1054394"/>
          </a:xfrm>
        </p:spPr>
        <p:txBody>
          <a:bodyPr anchor="ctr">
            <a:normAutofit/>
          </a:bodyPr>
          <a:lstStyle/>
          <a:p>
            <a:pPr>
              <a:lnSpc>
                <a:spcPct val="90000"/>
              </a:lnSpc>
            </a:pPr>
            <a:r>
              <a:rPr lang="fr-MA" b="0" i="0" dirty="0">
                <a:effectLst/>
              </a:rPr>
              <a:t>Ordre d’empilement lors de stockage sur plusieurs octets</a:t>
            </a:r>
            <a:endParaRPr lang="fr-FR" dirty="0"/>
          </a:p>
        </p:txBody>
      </p:sp>
    </p:spTree>
    <p:extLst>
      <p:ext uri="{BB962C8B-B14F-4D97-AF65-F5344CB8AC3E}">
        <p14:creationId xmlns:p14="http://schemas.microsoft.com/office/powerpoint/2010/main" val="1962098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872788" y="5017922"/>
            <a:ext cx="3351585" cy="11085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solidFill>
                <a:schemeClr val="bg1"/>
              </a:solidFill>
            </a:endParaRPr>
          </a:p>
        </p:txBody>
      </p:sp>
      <p:sp>
        <p:nvSpPr>
          <p:cNvPr id="2" name="Content Placeholder 1"/>
          <p:cNvSpPr>
            <a:spLocks noGrp="1"/>
          </p:cNvSpPr>
          <p:nvPr>
            <p:ph idx="1"/>
          </p:nvPr>
        </p:nvSpPr>
        <p:spPr/>
        <p:txBody>
          <a:bodyPr>
            <a:normAutofit/>
          </a:bodyPr>
          <a:lstStyle/>
          <a:p>
            <a:pPr marL="45720" indent="0" algn="ctr">
              <a:buNone/>
            </a:pPr>
            <a:r>
              <a:rPr lang="fr-FR" i="1" dirty="0"/>
              <a:t>Domaines de l’Electronique et de l’Informatique :</a:t>
            </a:r>
          </a:p>
          <a:p>
            <a:pPr marL="45720" indent="0" algn="ctr">
              <a:buNone/>
            </a:pPr>
            <a:endParaRPr lang="fr-FR" i="1" dirty="0"/>
          </a:p>
          <a:p>
            <a:pPr marL="45720" indent="0" algn="ctr">
              <a:buNone/>
            </a:pPr>
            <a:endParaRPr lang="fr-FR" i="1" dirty="0"/>
          </a:p>
          <a:p>
            <a:pPr marL="45720" indent="0" algn="ctr">
              <a:buNone/>
            </a:pPr>
            <a:endParaRPr lang="fr-FR" i="1" dirty="0"/>
          </a:p>
          <a:p>
            <a:pPr marL="45720" indent="0" algn="ctr">
              <a:buNone/>
            </a:pPr>
            <a:endParaRPr lang="fr-FR" i="1" dirty="0"/>
          </a:p>
          <a:p>
            <a:pPr marL="45720" indent="0" algn="ctr">
              <a:buNone/>
            </a:pPr>
            <a:endParaRPr lang="fr-FR" i="1" dirty="0"/>
          </a:p>
          <a:p>
            <a:pPr marL="45720" indent="0" algn="ctr">
              <a:buNone/>
            </a:pPr>
            <a:endParaRPr lang="fr-FR" i="1" dirty="0"/>
          </a:p>
          <a:p>
            <a:pPr marL="45720" indent="0" algn="ctr">
              <a:buNone/>
            </a:pPr>
            <a:endParaRPr lang="fr-FR" i="1" dirty="0"/>
          </a:p>
          <a:p>
            <a:pPr marL="45720" indent="0" algn="ctr">
              <a:buNone/>
            </a:pPr>
            <a:endParaRPr lang="fr-FR" i="1" dirty="0"/>
          </a:p>
          <a:p>
            <a:pPr marL="45720" indent="0" algn="ctr">
              <a:buNone/>
            </a:pPr>
            <a:r>
              <a:rPr lang="fr-FR" sz="1800" i="1" dirty="0">
                <a:solidFill>
                  <a:srgbClr val="FFFFFF"/>
                </a:solidFill>
              </a:rPr>
              <a:t>Systèmes d’exploitation</a:t>
            </a:r>
          </a:p>
          <a:p>
            <a:pPr marL="45720" indent="0" algn="ctr">
              <a:buNone/>
            </a:pPr>
            <a:r>
              <a:rPr lang="fr-FR" sz="1800" i="1" dirty="0">
                <a:solidFill>
                  <a:srgbClr val="FFFFFF"/>
                </a:solidFill>
              </a:rPr>
              <a:t>Outils de développement</a:t>
            </a:r>
          </a:p>
          <a:p>
            <a:pPr marL="45720" indent="0" algn="ctr">
              <a:buNone/>
            </a:pPr>
            <a:r>
              <a:rPr lang="fr-FR" sz="1800" i="1" dirty="0">
                <a:solidFill>
                  <a:srgbClr val="FFFFFF"/>
                </a:solidFill>
              </a:rPr>
              <a:t>Langages de programmation</a:t>
            </a:r>
          </a:p>
          <a:p>
            <a:pPr marL="45720" indent="0" algn="ctr">
              <a:buNone/>
            </a:pPr>
            <a:endParaRPr lang="fr-FR" i="1" dirty="0"/>
          </a:p>
          <a:p>
            <a:pPr marL="45720" indent="0" algn="ctr">
              <a:buNone/>
            </a:pPr>
            <a:endParaRPr lang="fr-FR" dirty="0"/>
          </a:p>
        </p:txBody>
      </p:sp>
      <p:sp>
        <p:nvSpPr>
          <p:cNvPr id="3" name="Title 2"/>
          <p:cNvSpPr>
            <a:spLocks noGrp="1"/>
          </p:cNvSpPr>
          <p:nvPr>
            <p:ph type="title"/>
          </p:nvPr>
        </p:nvSpPr>
        <p:spPr>
          <a:xfrm>
            <a:off x="407632" y="378554"/>
            <a:ext cx="8381260" cy="1054394"/>
          </a:xfrm>
        </p:spPr>
        <p:txBody>
          <a:bodyPr/>
          <a:lstStyle/>
          <a:p>
            <a:r>
              <a:rPr lang="fr-FR" sz="2000" b="1" i="1" dirty="0">
                <a:effectLst>
                  <a:outerShdw blurRad="38100" dist="38100" dir="2700000" algn="tl">
                    <a:srgbClr val="000000">
                      <a:alpha val="43137"/>
                    </a:srgbClr>
                  </a:outerShdw>
                </a:effectLst>
                <a:latin typeface="Calibri"/>
                <a:cs typeface="Calibri"/>
              </a:rPr>
              <a:t>Systèmes Electroniques –Numériques</a:t>
            </a:r>
            <a:br>
              <a:rPr lang="fr-FR" sz="1400" b="1" i="1" dirty="0">
                <a:solidFill>
                  <a:srgbClr val="FF0000"/>
                </a:solidFill>
                <a:effectLst>
                  <a:outerShdw blurRad="38100" dist="38100" dir="2700000" algn="tl">
                    <a:srgbClr val="000000">
                      <a:alpha val="43137"/>
                    </a:srgbClr>
                  </a:outerShdw>
                </a:effectLst>
                <a:latin typeface="Calibri"/>
                <a:cs typeface="Calibri"/>
              </a:rPr>
            </a:br>
            <a:endParaRPr lang="fr-FR" sz="1400" dirty="0">
              <a:latin typeface="Calibri"/>
              <a:cs typeface="Calibri"/>
            </a:endParaRPr>
          </a:p>
        </p:txBody>
      </p:sp>
      <p:sp>
        <p:nvSpPr>
          <p:cNvPr id="4" name="Oval 3"/>
          <p:cNvSpPr/>
          <p:nvPr/>
        </p:nvSpPr>
        <p:spPr>
          <a:xfrm>
            <a:off x="2177983" y="2286890"/>
            <a:ext cx="4662772" cy="2481178"/>
          </a:xfrm>
          <a:prstGeom prst="ellipse">
            <a:avLst/>
          </a:prstGeom>
          <a:solidFill>
            <a:srgbClr val="DCE6F2"/>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000000"/>
                </a:solidFill>
              </a:rPr>
              <a:t>Systèmes Numériques</a:t>
            </a:r>
          </a:p>
          <a:p>
            <a:pPr algn="ctr"/>
            <a:endParaRPr lang="fr-FR" dirty="0"/>
          </a:p>
          <a:p>
            <a:pPr algn="ctr"/>
            <a:endParaRPr lang="fr-FR" dirty="0"/>
          </a:p>
          <a:p>
            <a:pPr algn="ctr"/>
            <a:endParaRPr lang="fr-FR" dirty="0"/>
          </a:p>
          <a:p>
            <a:pPr algn="ctr"/>
            <a:endParaRPr lang="fr-FR" dirty="0"/>
          </a:p>
          <a:p>
            <a:pPr algn="ctr"/>
            <a:endParaRPr lang="fr-FR" dirty="0"/>
          </a:p>
          <a:p>
            <a:pPr algn="ctr"/>
            <a:endParaRPr lang="fr-FR" dirty="0"/>
          </a:p>
          <a:p>
            <a:pPr algn="ctr"/>
            <a:endParaRPr lang="fr-FR" dirty="0"/>
          </a:p>
          <a:p>
            <a:pPr algn="ctr"/>
            <a:r>
              <a:rPr lang="fr-FR" b="1" dirty="0">
                <a:solidFill>
                  <a:schemeClr val="tx1"/>
                </a:solidFill>
              </a:rPr>
              <a:t>Informatique</a:t>
            </a:r>
          </a:p>
        </p:txBody>
      </p:sp>
      <p:sp>
        <p:nvSpPr>
          <p:cNvPr id="5" name="Rectangle 4"/>
          <p:cNvSpPr/>
          <p:nvPr/>
        </p:nvSpPr>
        <p:spPr>
          <a:xfrm>
            <a:off x="2872788" y="2685942"/>
            <a:ext cx="3351585" cy="5413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Analogique</a:t>
            </a:r>
          </a:p>
        </p:txBody>
      </p:sp>
      <p:sp>
        <p:nvSpPr>
          <p:cNvPr id="6" name="Rectangle 5"/>
          <p:cNvSpPr/>
          <p:nvPr/>
        </p:nvSpPr>
        <p:spPr>
          <a:xfrm>
            <a:off x="2872788" y="3550023"/>
            <a:ext cx="3351585" cy="7703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Numérique:</a:t>
            </a:r>
          </a:p>
          <a:p>
            <a:pPr algn="ctr"/>
            <a:r>
              <a:rPr lang="fr-FR" dirty="0"/>
              <a:t>Processeurs</a:t>
            </a:r>
          </a:p>
          <a:p>
            <a:pPr algn="ctr"/>
            <a:r>
              <a:rPr lang="fr-FR" dirty="0"/>
              <a:t>…</a:t>
            </a:r>
          </a:p>
        </p:txBody>
      </p:sp>
      <p:sp>
        <p:nvSpPr>
          <p:cNvPr id="7" name="Oval 6"/>
          <p:cNvSpPr/>
          <p:nvPr/>
        </p:nvSpPr>
        <p:spPr>
          <a:xfrm>
            <a:off x="2177983" y="4126967"/>
            <a:ext cx="4662772" cy="2481178"/>
          </a:xfrm>
          <a:prstGeom prst="ellipse">
            <a:avLst/>
          </a:prstGeom>
          <a:no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81586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rot="16200000">
            <a:off x="568294" y="468052"/>
            <a:ext cx="1512168" cy="5760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FR" sz="1400" b="1" i="1" dirty="0">
              <a:solidFill>
                <a:srgbClr val="FFFFCC"/>
              </a:solidFill>
              <a:effectLst>
                <a:outerShdw blurRad="38100" dist="38100" dir="2700000" algn="tl">
                  <a:srgbClr val="000000">
                    <a:alpha val="43137"/>
                  </a:srgbClr>
                </a:outerShdw>
              </a:effectLst>
              <a:latin typeface="+mn-lt"/>
            </a:endParaRPr>
          </a:p>
        </p:txBody>
      </p:sp>
      <p:sp>
        <p:nvSpPr>
          <p:cNvPr id="10" name="Title 3"/>
          <p:cNvSpPr txBox="1">
            <a:spLocks/>
          </p:cNvSpPr>
          <p:nvPr/>
        </p:nvSpPr>
        <p:spPr>
          <a:xfrm>
            <a:off x="1563788" y="0"/>
            <a:ext cx="7580212" cy="126876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fr-FR" sz="2000" b="1" i="1" dirty="0">
                <a:solidFill>
                  <a:schemeClr val="accent1">
                    <a:lumMod val="20000"/>
                    <a:lumOff val="80000"/>
                  </a:schemeClr>
                </a:solidFill>
                <a:effectLst>
                  <a:outerShdw blurRad="38100" dist="38100" dir="2700000" algn="tl">
                    <a:srgbClr val="000000">
                      <a:alpha val="43137"/>
                    </a:srgbClr>
                  </a:outerShdw>
                </a:effectLst>
                <a:latin typeface="+mn-lt"/>
              </a:rPr>
            </a:br>
            <a:r>
              <a:rPr lang="fr-FR" sz="1400" b="1" i="1" dirty="0">
                <a:solidFill>
                  <a:schemeClr val="accent1">
                    <a:lumMod val="20000"/>
                    <a:lumOff val="80000"/>
                  </a:schemeClr>
                </a:solidFill>
                <a:effectLst>
                  <a:outerShdw blurRad="38100" dist="38100" dir="2700000" algn="tl">
                    <a:srgbClr val="000000">
                      <a:alpha val="43137"/>
                    </a:srgbClr>
                  </a:outerShdw>
                </a:effectLst>
                <a:latin typeface="+mn-lt"/>
                <a:sym typeface="Wingdings"/>
              </a:rPr>
              <a:t>	</a:t>
            </a:r>
            <a:endParaRPr lang="fr-FR" sz="2000" b="1" i="1" dirty="0">
              <a:solidFill>
                <a:schemeClr val="accent1">
                  <a:lumMod val="20000"/>
                  <a:lumOff val="80000"/>
                </a:schemeClr>
              </a:solidFill>
              <a:effectLst>
                <a:outerShdw blurRad="38100" dist="38100" dir="2700000" algn="tl">
                  <a:srgbClr val="000000">
                    <a:alpha val="43137"/>
                  </a:srgbClr>
                </a:outerShdw>
              </a:effectLst>
              <a:latin typeface="+mn-lt"/>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6</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2265088"/>
            <a:ext cx="1807293" cy="1388604"/>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07383" y="3284984"/>
            <a:ext cx="1360210" cy="906807"/>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cxnSp>
        <p:nvCxnSpPr>
          <p:cNvPr id="3" name="Straight Connector 2"/>
          <p:cNvCxnSpPr/>
          <p:nvPr/>
        </p:nvCxnSpPr>
        <p:spPr>
          <a:xfrm>
            <a:off x="4499992" y="1841427"/>
            <a:ext cx="0" cy="2170070"/>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1" name="Rectangle 30"/>
          <p:cNvSpPr>
            <a:spLocks noChangeArrowheads="1"/>
          </p:cNvSpPr>
          <p:nvPr/>
        </p:nvSpPr>
        <p:spPr bwMode="auto">
          <a:xfrm>
            <a:off x="1612410" y="1403152"/>
            <a:ext cx="2179855" cy="438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8755" tIns="49378" rIns="98755" bIns="49378">
            <a:spAutoFit/>
          </a:bodyPr>
          <a:lstStyle/>
          <a:p>
            <a:pPr algn="ctr"/>
            <a:r>
              <a:rPr lang="fr-FR" sz="2200" i="1" dirty="0">
                <a:latin typeface="Calibri" pitchFamily="34" charset="0"/>
              </a:rPr>
              <a:t>Analogique</a:t>
            </a:r>
          </a:p>
        </p:txBody>
      </p:sp>
      <p:cxnSp>
        <p:nvCxnSpPr>
          <p:cNvPr id="32" name="Straight Connector 31"/>
          <p:cNvCxnSpPr/>
          <p:nvPr/>
        </p:nvCxnSpPr>
        <p:spPr>
          <a:xfrm flipH="1">
            <a:off x="859034" y="4191791"/>
            <a:ext cx="7961438" cy="0"/>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5" name="Rectangle 34"/>
          <p:cNvSpPr>
            <a:spLocks noChangeArrowheads="1"/>
          </p:cNvSpPr>
          <p:nvPr/>
        </p:nvSpPr>
        <p:spPr bwMode="auto">
          <a:xfrm>
            <a:off x="5714319" y="1403152"/>
            <a:ext cx="2179855" cy="438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8755" tIns="49378" rIns="98755" bIns="49378">
            <a:spAutoFit/>
          </a:bodyPr>
          <a:lstStyle/>
          <a:p>
            <a:pPr algn="ctr"/>
            <a:r>
              <a:rPr lang="fr-FR" sz="2200" i="1" dirty="0">
                <a:latin typeface="Calibri" pitchFamily="34" charset="0"/>
              </a:rPr>
              <a:t>Numérique</a:t>
            </a:r>
          </a:p>
        </p:txBody>
      </p:sp>
      <p:pic>
        <p:nvPicPr>
          <p:cNvPr id="36" name="Picture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048" y="2959390"/>
            <a:ext cx="1462362" cy="1080319"/>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pic>
        <p:nvPicPr>
          <p:cNvPr id="41" name="Picture 4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63688" y="3041939"/>
            <a:ext cx="1453286" cy="1149852"/>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pic>
        <p:nvPicPr>
          <p:cNvPr id="42" name="Picture 4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9034" y="1991658"/>
            <a:ext cx="1170097" cy="1170097"/>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pic>
        <p:nvPicPr>
          <p:cNvPr id="44" name="Picture 4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442285">
            <a:off x="40820" y="2138766"/>
            <a:ext cx="1212708" cy="760974"/>
          </a:xfrm>
          <a:prstGeom prst="rect">
            <a:avLst/>
          </a:prstGeom>
          <a:ln>
            <a:noFill/>
          </a:ln>
        </p:spPr>
      </p:pic>
      <p:pic>
        <p:nvPicPr>
          <p:cNvPr id="45" name="Picture 4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04045" y="2042879"/>
            <a:ext cx="1314039" cy="1067657"/>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pic>
        <p:nvPicPr>
          <p:cNvPr id="46" name="Picture 4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961065" y="2787361"/>
            <a:ext cx="995246" cy="995246"/>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47" name="Title 3"/>
          <p:cNvSpPr txBox="1">
            <a:spLocks/>
          </p:cNvSpPr>
          <p:nvPr/>
        </p:nvSpPr>
        <p:spPr>
          <a:xfrm>
            <a:off x="150047" y="4191791"/>
            <a:ext cx="8752857" cy="8213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Les processeurs numériques offrent de nombreux </a:t>
            </a:r>
          </a:p>
          <a:p>
            <a:pPr algn="l"/>
            <a:r>
              <a:rPr lang="fr-FR" sz="2400" i="1" dirty="0">
                <a:latin typeface="+mn-lt"/>
              </a:rPr>
              <a:t>avantages (p/r aux analogiques):</a:t>
            </a:r>
          </a:p>
          <a:p>
            <a:pPr algn="l"/>
            <a:endParaRPr lang="fr-FR" sz="2400" i="1" dirty="0">
              <a:latin typeface="+mn-lt"/>
            </a:endParaRPr>
          </a:p>
          <a:p>
            <a:pPr algn="l"/>
            <a:endParaRPr lang="fr-FR" sz="2400" i="1" dirty="0">
              <a:latin typeface="+mn-lt"/>
            </a:endParaRPr>
          </a:p>
        </p:txBody>
      </p:sp>
      <p:sp>
        <p:nvSpPr>
          <p:cNvPr id="22" name="Rectangle 21"/>
          <p:cNvSpPr>
            <a:spLocks noChangeArrowheads="1"/>
          </p:cNvSpPr>
          <p:nvPr/>
        </p:nvSpPr>
        <p:spPr bwMode="auto">
          <a:xfrm>
            <a:off x="522928" y="4908554"/>
            <a:ext cx="3888432" cy="15770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8755" tIns="49378" rIns="98755" bIns="49378">
            <a:spAutoFit/>
          </a:bodyPr>
          <a:lstStyle/>
          <a:p>
            <a:pPr>
              <a:buFont typeface="Arial" charset="0"/>
              <a:buChar char="•"/>
            </a:pPr>
            <a:r>
              <a:rPr lang="fr-FR" sz="2400" i="1" dirty="0">
                <a:latin typeface="Calibri" pitchFamily="34" charset="0"/>
              </a:rPr>
              <a:t> Dépannage et maintenance </a:t>
            </a:r>
          </a:p>
          <a:p>
            <a:pPr>
              <a:buFont typeface="Arial" charset="0"/>
              <a:buChar char="•"/>
            </a:pPr>
            <a:r>
              <a:rPr lang="fr-FR" sz="2400" i="1" dirty="0">
                <a:latin typeface="Calibri" pitchFamily="34" charset="0"/>
              </a:rPr>
              <a:t> Amélioration et mise à jour</a:t>
            </a:r>
          </a:p>
          <a:p>
            <a:pPr>
              <a:buFont typeface="Arial" charset="0"/>
              <a:buChar char="•"/>
            </a:pPr>
            <a:r>
              <a:rPr lang="fr-FR" sz="2400" i="1" dirty="0">
                <a:latin typeface="Calibri" pitchFamily="34" charset="0"/>
              </a:rPr>
              <a:t> Nombre de composants</a:t>
            </a:r>
          </a:p>
          <a:p>
            <a:pPr>
              <a:buFont typeface="Arial" charset="0"/>
              <a:buChar char="•"/>
            </a:pPr>
            <a:r>
              <a:rPr lang="fr-FR" sz="2400" i="1" dirty="0">
                <a:latin typeface="Calibri" pitchFamily="34" charset="0"/>
              </a:rPr>
              <a:t> Encombrement</a:t>
            </a:r>
          </a:p>
        </p:txBody>
      </p:sp>
      <p:sp>
        <p:nvSpPr>
          <p:cNvPr id="23" name="Rectangle 22"/>
          <p:cNvSpPr>
            <a:spLocks noChangeArrowheads="1"/>
          </p:cNvSpPr>
          <p:nvPr/>
        </p:nvSpPr>
        <p:spPr bwMode="auto">
          <a:xfrm>
            <a:off x="4681813" y="4869160"/>
            <a:ext cx="4462185" cy="15770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8755" tIns="49378" rIns="98755" bIns="49378">
            <a:spAutoFit/>
          </a:bodyPr>
          <a:lstStyle/>
          <a:p>
            <a:pPr>
              <a:buFont typeface="Arial" charset="0"/>
              <a:buChar char="•"/>
            </a:pPr>
            <a:r>
              <a:rPr lang="fr-FR" sz="2400" i="1" dirty="0">
                <a:latin typeface="Calibri" pitchFamily="34" charset="0"/>
              </a:rPr>
              <a:t> Temps de développement (TTM)</a:t>
            </a:r>
          </a:p>
          <a:p>
            <a:pPr>
              <a:buFont typeface="Arial" charset="0"/>
              <a:buChar char="•"/>
            </a:pPr>
            <a:r>
              <a:rPr lang="fr-FR" sz="2400" i="1" dirty="0">
                <a:latin typeface="Calibri" pitchFamily="34" charset="0"/>
              </a:rPr>
              <a:t> Consommation</a:t>
            </a:r>
          </a:p>
          <a:p>
            <a:pPr>
              <a:buFont typeface="Arial" charset="0"/>
              <a:buChar char="•"/>
            </a:pPr>
            <a:r>
              <a:rPr lang="fr-FR" sz="2400" i="1" dirty="0">
                <a:latin typeface="Calibri" pitchFamily="34" charset="0"/>
              </a:rPr>
              <a:t> Coût </a:t>
            </a:r>
          </a:p>
          <a:p>
            <a:pPr>
              <a:buFont typeface="Arial" charset="0"/>
              <a:buChar char="•"/>
            </a:pPr>
            <a:r>
              <a:rPr lang="fr-FR" sz="2400" i="1" dirty="0">
                <a:latin typeface="Calibri" pitchFamily="34" charset="0"/>
              </a:rPr>
              <a:t> Sensibilité aux perturbations</a:t>
            </a:r>
          </a:p>
        </p:txBody>
      </p:sp>
      <p:pic>
        <p:nvPicPr>
          <p:cNvPr id="2" name="Picture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600611" y="1841427"/>
            <a:ext cx="1253489" cy="1230698"/>
          </a:xfrm>
          <a:prstGeom prst="roundRect">
            <a:avLst>
              <a:gd name="adj" fmla="val 8594"/>
            </a:avLst>
          </a:prstGeom>
          <a:solidFill>
            <a:srgbClr val="FFFFFF">
              <a:shade val="85000"/>
            </a:srgbClr>
          </a:solidFill>
          <a:ln>
            <a:solidFill>
              <a:schemeClr val="accent1"/>
            </a:solidFill>
          </a:ln>
          <a:effectLst>
            <a:reflection blurRad="12700" stA="38000" endPos="28000" dist="5000" dir="5400000" sy="-100000" algn="bl" rotWithShape="0"/>
          </a:effectLst>
        </p:spPr>
      </p:pic>
      <p:sp>
        <p:nvSpPr>
          <p:cNvPr id="4" name="Rectangle 3"/>
          <p:cNvSpPr/>
          <p:nvPr/>
        </p:nvSpPr>
        <p:spPr>
          <a:xfrm>
            <a:off x="150047" y="308151"/>
            <a:ext cx="8752857" cy="923330"/>
          </a:xfrm>
          <a:prstGeom prst="rect">
            <a:avLst/>
          </a:prstGeom>
        </p:spPr>
        <p:txBody>
          <a:bodyPr wrap="square">
            <a:spAutoFit/>
          </a:bodyPr>
          <a:lstStyle/>
          <a:p>
            <a:endParaRPr lang="fr-FR" sz="1400" b="1" i="1" dirty="0">
              <a:solidFill>
                <a:srgbClr val="FF0000"/>
              </a:solidFill>
              <a:effectLst>
                <a:outerShdw blurRad="38100" dist="38100" dir="2700000" algn="tl">
                  <a:srgbClr val="000000">
                    <a:alpha val="43137"/>
                  </a:srgbClr>
                </a:outerShdw>
              </a:effectLst>
              <a:latin typeface="Calibri"/>
              <a:cs typeface="Calibri"/>
            </a:endParaRPr>
          </a:p>
          <a:p>
            <a:pPr algn="ctr"/>
            <a:r>
              <a:rPr lang="fr-FR" sz="2000" b="1" i="1" cap="all" spc="200" dirty="0">
                <a:solidFill>
                  <a:schemeClr val="bg1"/>
                </a:solidFill>
                <a:effectLst>
                  <a:outerShdw blurRad="38100" dist="38100" dir="2700000" algn="tl">
                    <a:srgbClr val="000000">
                      <a:alpha val="43137"/>
                    </a:srgbClr>
                  </a:outerShdw>
                </a:effectLst>
                <a:latin typeface="Calibri"/>
                <a:ea typeface="+mj-ea"/>
                <a:cs typeface="Calibri"/>
              </a:rPr>
              <a:t>Systèmes Electroniques –Numériques</a:t>
            </a:r>
            <a:br>
              <a:rPr lang="fr-FR" sz="2000" b="1" i="1" cap="all" spc="200" dirty="0">
                <a:solidFill>
                  <a:schemeClr val="bg1"/>
                </a:solidFill>
                <a:effectLst>
                  <a:outerShdw blurRad="38100" dist="38100" dir="2700000" algn="tl">
                    <a:srgbClr val="000000">
                      <a:alpha val="43137"/>
                    </a:srgbClr>
                  </a:outerShdw>
                </a:effectLst>
                <a:latin typeface="Calibri"/>
                <a:ea typeface="+mj-ea"/>
                <a:cs typeface="Calibri"/>
              </a:rPr>
            </a:br>
            <a:endParaRPr lang="fr-FR" sz="2000" b="1" i="1" cap="all" spc="200" dirty="0">
              <a:solidFill>
                <a:schemeClr val="bg1"/>
              </a:solidFill>
              <a:effectLst>
                <a:outerShdw blurRad="38100" dist="38100" dir="2700000" algn="tl">
                  <a:srgbClr val="000000">
                    <a:alpha val="43137"/>
                  </a:srgbClr>
                </a:outerShdw>
              </a:effectLst>
              <a:latin typeface="Calibri"/>
              <a:ea typeface="+mj-ea"/>
              <a:cs typeface="Calibri"/>
            </a:endParaRPr>
          </a:p>
        </p:txBody>
      </p:sp>
    </p:spTree>
    <p:extLst>
      <p:ext uri="{BB962C8B-B14F-4D97-AF65-F5344CB8AC3E}">
        <p14:creationId xmlns:p14="http://schemas.microsoft.com/office/powerpoint/2010/main" val="410861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Une image contenant texte, ordinateur, Clavier d’ordinateur, capture d’écran&#10;&#10;Description générée automatiquement">
            <a:extLst>
              <a:ext uri="{FF2B5EF4-FFF2-40B4-BE49-F238E27FC236}">
                <a16:creationId xmlns:a16="http://schemas.microsoft.com/office/drawing/2014/main" id="{FE60AA96-8DAA-33D6-86DD-5A78C26CD5D5}"/>
              </a:ext>
            </a:extLst>
          </p:cNvPr>
          <p:cNvPicPr>
            <a:picLocks noGrp="1" noChangeAspect="1"/>
          </p:cNvPicPr>
          <p:nvPr>
            <p:ph type="pic" idx="1"/>
          </p:nvPr>
        </p:nvPicPr>
        <p:blipFill>
          <a:blip r:embed="rId3"/>
          <a:srcRect l="31577" r="121" b="1"/>
          <a:stretch/>
        </p:blipFill>
        <p:spPr>
          <a:xfrm>
            <a:off x="152400" y="342900"/>
            <a:ext cx="6705600" cy="6553200"/>
          </a:xfrm>
          <a:noFill/>
        </p:spPr>
      </p:pic>
      <p:sp>
        <p:nvSpPr>
          <p:cNvPr id="17" name="Titre 16">
            <a:extLst>
              <a:ext uri="{FF2B5EF4-FFF2-40B4-BE49-F238E27FC236}">
                <a16:creationId xmlns:a16="http://schemas.microsoft.com/office/drawing/2014/main" id="{ED2F9B10-64F6-3996-317A-F76993F0C6FB}"/>
              </a:ext>
            </a:extLst>
          </p:cNvPr>
          <p:cNvSpPr>
            <a:spLocks noGrp="1"/>
          </p:cNvSpPr>
          <p:nvPr>
            <p:ph type="title"/>
          </p:nvPr>
        </p:nvSpPr>
        <p:spPr/>
        <p:txBody>
          <a:bodyPr/>
          <a:lstStyle/>
          <a:p>
            <a:endParaRPr lang="fr-FR" dirty="0"/>
          </a:p>
        </p:txBody>
      </p:sp>
      <p:sp>
        <p:nvSpPr>
          <p:cNvPr id="18" name="Ellipse 17">
            <a:extLst>
              <a:ext uri="{FF2B5EF4-FFF2-40B4-BE49-F238E27FC236}">
                <a16:creationId xmlns:a16="http://schemas.microsoft.com/office/drawing/2014/main" id="{628378F5-A8C8-B42F-F7E6-29C98EB08247}"/>
              </a:ext>
            </a:extLst>
          </p:cNvPr>
          <p:cNvSpPr/>
          <p:nvPr/>
        </p:nvSpPr>
        <p:spPr>
          <a:xfrm>
            <a:off x="2816352" y="769112"/>
            <a:ext cx="1615948" cy="496824"/>
          </a:xfrm>
          <a:prstGeom prst="ellipse">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7BB9DE1E-E3C3-91BC-4CE2-E225C49560AC}"/>
              </a:ext>
            </a:extLst>
          </p:cNvPr>
          <p:cNvSpPr/>
          <p:nvPr/>
        </p:nvSpPr>
        <p:spPr>
          <a:xfrm>
            <a:off x="3383280" y="5779008"/>
            <a:ext cx="1755648" cy="76809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4200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ppt_y</p:attrName>
                                        </p:attrNameLst>
                                      </p:cBhvr>
                                      <p:tavLst>
                                        <p:tav tm="0">
                                          <p:val>
                                            <p:strVal val="#ppt_y+#ppt_h*1.125000"/>
                                          </p:val>
                                        </p:tav>
                                        <p:tav tm="100000">
                                          <p:val>
                                            <p:strVal val="#ppt_y"/>
                                          </p:val>
                                        </p:tav>
                                      </p:tavLst>
                                    </p:anim>
                                    <p:animEffect transition="in" filter="wipe(up)">
                                      <p:cBhvr>
                                        <p:cTn id="8" dur="500"/>
                                        <p:tgtEl>
                                          <p:spTgt spid="18"/>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p:tgtEl>
                                          <p:spTgt spid="22"/>
                                        </p:tgtEl>
                                        <p:attrNameLst>
                                          <p:attrName>ppt_y</p:attrName>
                                        </p:attrNameLst>
                                      </p:cBhvr>
                                      <p:tavLst>
                                        <p:tav tm="0">
                                          <p:val>
                                            <p:strVal val="#ppt_y+#ppt_h*1.125000"/>
                                          </p:val>
                                        </p:tav>
                                        <p:tav tm="100000">
                                          <p:val>
                                            <p:strVal val="#ppt_y"/>
                                          </p:val>
                                        </p:tav>
                                      </p:tavLst>
                                    </p:anim>
                                    <p:animEffect transition="in" filter="wipe(up)">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pture d’écran 2020-01-27 à 20.00.32.png">
            <a:extLst>
              <a:ext uri="{FF2B5EF4-FFF2-40B4-BE49-F238E27FC236}">
                <a16:creationId xmlns:a16="http://schemas.microsoft.com/office/drawing/2014/main" id="{A894D454-2925-7D6B-194F-0F7FCD7E91B8}"/>
              </a:ext>
            </a:extLst>
          </p:cNvPr>
          <p:cNvPicPr>
            <a:picLocks noChangeAspect="1"/>
          </p:cNvPicPr>
          <p:nvPr/>
        </p:nvPicPr>
        <p:blipFill>
          <a:blip r:embed="rId3">
            <a:extLst>
              <a:ext uri="{28A0092B-C50C-407E-A947-70E740481C1C}">
                <a14:useLocalDpi xmlns:a14="http://schemas.microsoft.com/office/drawing/2010/main" val="0"/>
              </a:ext>
            </a:extLst>
          </a:blip>
          <a:srcRect l="32100" r="19106"/>
          <a:stretch/>
        </p:blipFill>
        <p:spPr>
          <a:xfrm>
            <a:off x="457200" y="1719072"/>
            <a:ext cx="4038600" cy="4407408"/>
          </a:xfrm>
          <a:prstGeom prst="rect">
            <a:avLst/>
          </a:prstGeom>
          <a:noFill/>
        </p:spPr>
      </p:pic>
      <p:sp>
        <p:nvSpPr>
          <p:cNvPr id="9" name="Content Placeholder 2">
            <a:extLst>
              <a:ext uri="{FF2B5EF4-FFF2-40B4-BE49-F238E27FC236}">
                <a16:creationId xmlns:a16="http://schemas.microsoft.com/office/drawing/2014/main" id="{B13E6785-6134-0F56-850A-0EEC4CAA01D7}"/>
              </a:ext>
            </a:extLst>
          </p:cNvPr>
          <p:cNvSpPr>
            <a:spLocks noGrp="1"/>
          </p:cNvSpPr>
          <p:nvPr>
            <p:ph sz="half" idx="2"/>
          </p:nvPr>
        </p:nvSpPr>
        <p:spPr>
          <a:xfrm>
            <a:off x="4648200" y="1719072"/>
            <a:ext cx="4038600" cy="4407408"/>
          </a:xfrm>
        </p:spPr>
        <p:txBody>
          <a:bodyPr>
            <a:normAutofit fontScale="85000" lnSpcReduction="10000"/>
          </a:bodyPr>
          <a:lstStyle/>
          <a:p>
            <a:pPr algn="just"/>
            <a:r>
              <a:rPr lang="fr-MA" sz="1800" b="1" kern="0" dirty="0">
                <a:effectLst/>
                <a:ea typeface="Times New Roman" panose="02020603050405020304" pitchFamily="18" charset="0"/>
              </a:rPr>
              <a:t>1950s :</a:t>
            </a:r>
            <a:r>
              <a:rPr lang="fr-MA" sz="1800" kern="0" dirty="0">
                <a:effectLst/>
                <a:latin typeface="Times New Roman" panose="02020603050405020304" pitchFamily="18" charset="0"/>
                <a:ea typeface="Times New Roman" panose="02020603050405020304" pitchFamily="18" charset="0"/>
              </a:rPr>
              <a:t> Développement du transistor au silicium</a:t>
            </a:r>
            <a:r>
              <a:rPr lang="fr-MA" dirty="0">
                <a:effectLst/>
              </a:rPr>
              <a:t> </a:t>
            </a:r>
          </a:p>
          <a:p>
            <a:pPr algn="just"/>
            <a:r>
              <a:rPr lang="fr-MA" sz="1800" b="1" kern="0" dirty="0">
                <a:effectLst/>
                <a:ea typeface="Times New Roman" panose="02020603050405020304" pitchFamily="18" charset="0"/>
              </a:rPr>
              <a:t>1958-1959 :</a:t>
            </a:r>
            <a:r>
              <a:rPr lang="fr-MA" sz="1800" kern="0" dirty="0">
                <a:effectLst/>
                <a:latin typeface="Times New Roman" panose="02020603050405020304" pitchFamily="18" charset="0"/>
                <a:ea typeface="Times New Roman" panose="02020603050405020304" pitchFamily="18" charset="0"/>
              </a:rPr>
              <a:t> Invention du circuit intégré (IC). </a:t>
            </a:r>
          </a:p>
          <a:p>
            <a:pPr algn="just"/>
            <a:r>
              <a:rPr lang="fr-MA" sz="1800" b="1" dirty="0">
                <a:effectLst/>
                <a:latin typeface="Times New Roman" panose="02020603050405020304" pitchFamily="18" charset="0"/>
                <a:ea typeface="Times New Roman" panose="02020603050405020304" pitchFamily="18" charset="0"/>
              </a:rPr>
              <a:t>1970s :</a:t>
            </a:r>
            <a:r>
              <a:rPr lang="fr-MA" sz="1800" dirty="0">
                <a:effectLst/>
                <a:latin typeface="Times New Roman" panose="02020603050405020304" pitchFamily="18" charset="0"/>
                <a:ea typeface="Times New Roman" panose="02020603050405020304" pitchFamily="18" charset="0"/>
              </a:rPr>
              <a:t> Première puce microprocesseur (Intel 4004 - 2 300 transistors).</a:t>
            </a:r>
          </a:p>
          <a:p>
            <a:pPr algn="just"/>
            <a:r>
              <a:rPr lang="fr-MA" sz="1800" b="1" dirty="0">
                <a:effectLst/>
                <a:latin typeface="Times New Roman" panose="02020603050405020304" pitchFamily="18" charset="0"/>
                <a:ea typeface="Times New Roman" panose="02020603050405020304" pitchFamily="18" charset="0"/>
              </a:rPr>
              <a:t>1980s-1990s :</a:t>
            </a:r>
            <a:r>
              <a:rPr lang="fr-MA" sz="1800" dirty="0">
                <a:effectLst/>
                <a:latin typeface="Times New Roman" panose="02020603050405020304" pitchFamily="18" charset="0"/>
                <a:ea typeface="Times New Roman" panose="02020603050405020304" pitchFamily="18" charset="0"/>
              </a:rPr>
              <a:t> Intégration croissante des transistors, accompagnée de la miniaturisation, améliorer des performances énergétiques et réduction </a:t>
            </a:r>
            <a:r>
              <a:rPr lang="fr-MA" sz="1800" dirty="0">
                <a:latin typeface="Times New Roman" panose="02020603050405020304" pitchFamily="18" charset="0"/>
                <a:ea typeface="Times New Roman" panose="02020603050405020304" pitchFamily="18" charset="0"/>
              </a:rPr>
              <a:t>d</a:t>
            </a:r>
            <a:r>
              <a:rPr lang="fr-MA" sz="1800" dirty="0">
                <a:effectLst/>
                <a:latin typeface="Times New Roman" panose="02020603050405020304" pitchFamily="18" charset="0"/>
                <a:ea typeface="Times New Roman" panose="02020603050405020304" pitchFamily="18" charset="0"/>
              </a:rPr>
              <a:t>es fuites.</a:t>
            </a:r>
          </a:p>
          <a:p>
            <a:pPr marL="45720" indent="0" algn="just">
              <a:buNone/>
            </a:pPr>
            <a:r>
              <a:rPr lang="fr-MA" sz="1800" b="1" dirty="0">
                <a:latin typeface="Times New Roman" panose="02020603050405020304" pitchFamily="18" charset="0"/>
              </a:rPr>
              <a:t>En 2024: </a:t>
            </a:r>
          </a:p>
          <a:p>
            <a:pPr algn="just"/>
            <a:r>
              <a:rPr lang="fr-MA" sz="1800" dirty="0">
                <a:latin typeface="Times New Roman" panose="02020603050405020304" pitchFamily="18" charset="0"/>
              </a:rPr>
              <a:t>La taille des transistors approche les limites atomiques (</a:t>
            </a:r>
            <a:r>
              <a:rPr lang="fr-MA" sz="1800" b="1" dirty="0">
                <a:solidFill>
                  <a:srgbClr val="FF0000"/>
                </a:solidFill>
                <a:latin typeface="Times New Roman" panose="02020603050405020304" pitchFamily="18" charset="0"/>
              </a:rPr>
              <a:t>Autour de 2 nm</a:t>
            </a:r>
            <a:r>
              <a:rPr lang="fr-MA" sz="1800" b="1" dirty="0">
                <a:latin typeface="Times New Roman" panose="02020603050405020304" pitchFamily="18" charset="0"/>
              </a:rPr>
              <a:t>) </a:t>
            </a:r>
            <a:endParaRPr lang="fr-MA" sz="1800" dirty="0">
              <a:latin typeface="Times New Roman" panose="02020603050405020304" pitchFamily="18" charset="0"/>
            </a:endParaRPr>
          </a:p>
          <a:p>
            <a:pPr algn="just"/>
            <a:r>
              <a:rPr lang="fr-MA" sz="1800" dirty="0">
                <a:latin typeface="Times New Roman" panose="02020603050405020304" pitchFamily="18" charset="0"/>
              </a:rPr>
              <a:t>Les coûts de fabrication des puces avancées (</a:t>
            </a:r>
            <a:r>
              <a:rPr lang="fr-MA" sz="1800" b="1" dirty="0">
                <a:solidFill>
                  <a:srgbClr val="FF0000"/>
                </a:solidFill>
                <a:latin typeface="Times New Roman" panose="02020603050405020304" pitchFamily="18" charset="0"/>
              </a:rPr>
              <a:t>nœuds &lt; 7 nm</a:t>
            </a:r>
            <a:r>
              <a:rPr lang="fr-MA" sz="1800" dirty="0">
                <a:latin typeface="Times New Roman" panose="02020603050405020304" pitchFamily="18" charset="0"/>
              </a:rPr>
              <a:t>) augmentent de manière exponentielle.</a:t>
            </a:r>
          </a:p>
          <a:p>
            <a:endParaRPr lang="fr-MA"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fr-MA" sz="1800" dirty="0">
              <a:effectLst/>
              <a:latin typeface="Times New Roman" panose="02020603050405020304" pitchFamily="18" charset="0"/>
              <a:ea typeface="Times New Roman" panose="02020603050405020304" pitchFamily="18" charset="0"/>
            </a:endParaRPr>
          </a:p>
        </p:txBody>
      </p:sp>
      <p:sp>
        <p:nvSpPr>
          <p:cNvPr id="3" name="Titre 2">
            <a:extLst>
              <a:ext uri="{FF2B5EF4-FFF2-40B4-BE49-F238E27FC236}">
                <a16:creationId xmlns:a16="http://schemas.microsoft.com/office/drawing/2014/main" id="{02D95FE6-49A3-11BE-4E74-391239C9DB8D}"/>
              </a:ext>
            </a:extLst>
          </p:cNvPr>
          <p:cNvSpPr>
            <a:spLocks noGrp="1"/>
          </p:cNvSpPr>
          <p:nvPr>
            <p:ph type="title"/>
          </p:nvPr>
        </p:nvSpPr>
        <p:spPr>
          <a:xfrm>
            <a:off x="381000" y="355847"/>
            <a:ext cx="8381260" cy="1054394"/>
          </a:xfrm>
        </p:spPr>
        <p:txBody>
          <a:bodyPr anchor="ctr">
            <a:normAutofit/>
          </a:bodyPr>
          <a:lstStyle/>
          <a:p>
            <a:pPr>
              <a:lnSpc>
                <a:spcPct val="90000"/>
              </a:lnSpc>
            </a:pPr>
            <a:r>
              <a:rPr lang="fr-MA" sz="2700" dirty="0"/>
              <a:t>L’HISTORIQUE DES TRANSISTORS ET DES PUCES</a:t>
            </a:r>
            <a:br>
              <a:rPr lang="en-US" sz="2700" b="1" i="1" dirty="0">
                <a:effectLst>
                  <a:outerShdw blurRad="38100" dist="38100" dir="2700000" algn="tl">
                    <a:srgbClr val="000000">
                      <a:alpha val="43137"/>
                    </a:srgbClr>
                  </a:outerShdw>
                </a:effectLst>
              </a:rPr>
            </a:br>
            <a:endParaRPr lang="fr-FR" sz="2700" dirty="0"/>
          </a:p>
        </p:txBody>
      </p:sp>
    </p:spTree>
    <p:extLst>
      <p:ext uri="{BB962C8B-B14F-4D97-AF65-F5344CB8AC3E}">
        <p14:creationId xmlns:p14="http://schemas.microsoft.com/office/powerpoint/2010/main" val="2987722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9</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pic>
        <p:nvPicPr>
          <p:cNvPr id="24" name="Image 23" descr="transistor-MOS-tranche.jpg"/>
          <p:cNvPicPr>
            <a:picLocks noChangeAspect="1"/>
          </p:cNvPicPr>
          <p:nvPr/>
        </p:nvPicPr>
        <p:blipFill>
          <a:blip r:embed="rId3"/>
          <a:stretch>
            <a:fillRect/>
          </a:stretch>
        </p:blipFill>
        <p:spPr>
          <a:xfrm>
            <a:off x="836314" y="2353494"/>
            <a:ext cx="1303406" cy="1054948"/>
          </a:xfrm>
          <a:prstGeom prst="roundRect">
            <a:avLst>
              <a:gd name="adj" fmla="val 11617"/>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25" name="Rectangle 24"/>
          <p:cNvSpPr/>
          <p:nvPr/>
        </p:nvSpPr>
        <p:spPr>
          <a:xfrm>
            <a:off x="638030" y="2032205"/>
            <a:ext cx="1747837" cy="304800"/>
          </a:xfrm>
          <a:prstGeom prst="rect">
            <a:avLst/>
          </a:prstGeom>
        </p:spPr>
        <p:txBody>
          <a:bodyPr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Transistor MOS</a:t>
            </a:r>
            <a:endParaRPr lang="fr-FR" sz="1300" b="1" dirty="0">
              <a:effectLst>
                <a:outerShdw blurRad="38100" dist="38100" dir="2700000" algn="tl">
                  <a:srgbClr val="000000">
                    <a:alpha val="43137"/>
                  </a:srgbClr>
                </a:outerShdw>
              </a:effectLst>
            </a:endParaRPr>
          </a:p>
        </p:txBody>
      </p:sp>
      <p:pic>
        <p:nvPicPr>
          <p:cNvPr id="39" name="Image 19" descr="wafer.jp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03775" y="4764836"/>
            <a:ext cx="1425334" cy="14638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0" name="Rectangle 39"/>
          <p:cNvSpPr/>
          <p:nvPr/>
        </p:nvSpPr>
        <p:spPr>
          <a:xfrm>
            <a:off x="3070987" y="4460036"/>
            <a:ext cx="1358121"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Wafer</a:t>
            </a:r>
            <a:endParaRPr lang="fr-FR" sz="1300" b="1" dirty="0">
              <a:effectLst>
                <a:outerShdw blurRad="38100" dist="38100" dir="2700000" algn="tl">
                  <a:srgbClr val="000000">
                    <a:alpha val="43137"/>
                  </a:srgbClr>
                </a:outerShdw>
              </a:effectLst>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70077" y="2292088"/>
            <a:ext cx="976127" cy="1590513"/>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43" name="Rectangle 42"/>
          <p:cNvSpPr/>
          <p:nvPr/>
        </p:nvSpPr>
        <p:spPr>
          <a:xfrm>
            <a:off x="2675366" y="1855273"/>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Porte NAND</a:t>
            </a:r>
            <a:endParaRPr lang="fr-FR" sz="1300" b="1" dirty="0">
              <a:effectLst>
                <a:outerShdw blurRad="38100" dist="38100" dir="2700000" algn="tl">
                  <a:srgbClr val="000000">
                    <a:alpha val="43137"/>
                  </a:srgbClr>
                </a:outerShdw>
              </a:effectLst>
            </a:endParaRPr>
          </a:p>
        </p:txBody>
      </p: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0000" y="2472428"/>
            <a:ext cx="1421322" cy="871744"/>
          </a:xfrm>
          <a:prstGeom prst="rect">
            <a:avLst/>
          </a:prstGeom>
          <a:ln w="12700">
            <a:solidFill>
              <a:schemeClr val="accent1">
                <a:lumMod val="40000"/>
                <a:lumOff val="60000"/>
              </a:schemeClr>
            </a:solidFill>
          </a:ln>
        </p:spPr>
      </p:pic>
      <p:sp>
        <p:nvSpPr>
          <p:cNvPr id="48" name="Rectangle 47"/>
          <p:cNvSpPr/>
          <p:nvPr/>
        </p:nvSpPr>
        <p:spPr>
          <a:xfrm>
            <a:off x="4697437" y="2139688"/>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Bascule</a:t>
            </a:r>
            <a:endParaRPr lang="fr-FR" sz="1300" b="1" dirty="0">
              <a:effectLst>
                <a:outerShdw blurRad="38100" dist="38100" dir="2700000" algn="tl">
                  <a:srgbClr val="000000">
                    <a:alpha val="43137"/>
                  </a:srgbClr>
                </a:outerShdw>
              </a:effectLst>
            </a:endParaRPr>
          </a:p>
        </p:txBody>
      </p:sp>
      <p:sp>
        <p:nvSpPr>
          <p:cNvPr id="50" name="Flèche droite 20"/>
          <p:cNvSpPr/>
          <p:nvPr/>
        </p:nvSpPr>
        <p:spPr>
          <a:xfrm>
            <a:off x="2232509" y="2512256"/>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1" name="Flèche droite 20"/>
          <p:cNvSpPr/>
          <p:nvPr/>
        </p:nvSpPr>
        <p:spPr>
          <a:xfrm>
            <a:off x="3941359" y="2512256"/>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2" name="Flèche droite 20"/>
          <p:cNvSpPr/>
          <p:nvPr/>
        </p:nvSpPr>
        <p:spPr>
          <a:xfrm>
            <a:off x="6308582" y="2484924"/>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3" name="Rectangle 52"/>
          <p:cNvSpPr/>
          <p:nvPr/>
        </p:nvSpPr>
        <p:spPr>
          <a:xfrm>
            <a:off x="6110534" y="3344172"/>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err="1">
                <a:effectLst>
                  <a:outerShdw blurRad="38100" dist="38100" dir="2700000" algn="tl">
                    <a:srgbClr val="000000">
                      <a:alpha val="43137"/>
                    </a:srgbClr>
                  </a:outerShdw>
                </a:effectLst>
                <a:latin typeface="Calibri" pitchFamily="34" charset="0"/>
              </a:rPr>
              <a:t>Compteur</a:t>
            </a:r>
            <a:endParaRPr lang="fr-FR" sz="1300" b="1" dirty="0">
              <a:effectLst>
                <a:outerShdw blurRad="38100" dist="38100" dir="2700000" algn="tl">
                  <a:srgbClr val="000000">
                    <a:alpha val="43137"/>
                  </a:srgbClr>
                </a:outerShdw>
              </a:effectLst>
            </a:endParaRPr>
          </a:p>
        </p:txBody>
      </p:sp>
      <p:sp>
        <p:nvSpPr>
          <p:cNvPr id="54" name="Rectangle 53"/>
          <p:cNvSpPr/>
          <p:nvPr/>
        </p:nvSpPr>
        <p:spPr>
          <a:xfrm>
            <a:off x="6876859" y="1671372"/>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err="1">
                <a:effectLst>
                  <a:outerShdw blurRad="38100" dist="38100" dir="2700000" algn="tl">
                    <a:srgbClr val="000000">
                      <a:alpha val="43137"/>
                    </a:srgbClr>
                  </a:outerShdw>
                </a:effectLst>
                <a:latin typeface="Calibri" pitchFamily="34" charset="0"/>
              </a:rPr>
              <a:t>Décodeur</a:t>
            </a:r>
            <a:endParaRPr lang="fr-FR" sz="1300" b="1" dirty="0">
              <a:effectLst>
                <a:outerShdw blurRad="38100" dist="38100" dir="2700000" algn="tl">
                  <a:srgbClr val="000000">
                    <a:alpha val="43137"/>
                  </a:srgbClr>
                </a:outerShdw>
              </a:effectLst>
            </a:endParaRPr>
          </a:p>
        </p:txBody>
      </p:sp>
      <p:sp>
        <p:nvSpPr>
          <p:cNvPr id="55" name="Rectangle 54"/>
          <p:cNvSpPr/>
          <p:nvPr/>
        </p:nvSpPr>
        <p:spPr>
          <a:xfrm>
            <a:off x="6139225" y="3755758"/>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err="1">
                <a:effectLst>
                  <a:outerShdw blurRad="38100" dist="38100" dir="2700000" algn="tl">
                    <a:srgbClr val="000000">
                      <a:alpha val="43137"/>
                    </a:srgbClr>
                  </a:outerShdw>
                </a:effectLst>
                <a:latin typeface="Calibri" pitchFamily="34" charset="0"/>
              </a:rPr>
              <a:t>Multiplexeur</a:t>
            </a:r>
            <a:endParaRPr lang="fr-FR" sz="1300" b="1" dirty="0">
              <a:effectLst>
                <a:outerShdw blurRad="38100" dist="38100" dir="2700000" algn="tl">
                  <a:srgbClr val="000000">
                    <a:alpha val="43137"/>
                  </a:srgbClr>
                </a:outerShdw>
              </a:effectLst>
            </a:endParaRPr>
          </a:p>
        </p:txBody>
      </p:sp>
      <p:sp>
        <p:nvSpPr>
          <p:cNvPr id="56" name="Rectangle 55"/>
          <p:cNvSpPr/>
          <p:nvPr/>
        </p:nvSpPr>
        <p:spPr>
          <a:xfrm>
            <a:off x="7888817" y="1657956"/>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err="1">
                <a:effectLst>
                  <a:outerShdw blurRad="38100" dist="38100" dir="2700000" algn="tl">
                    <a:srgbClr val="000000">
                      <a:alpha val="43137"/>
                    </a:srgbClr>
                  </a:outerShdw>
                </a:effectLst>
                <a:latin typeface="Calibri" pitchFamily="34" charset="0"/>
              </a:rPr>
              <a:t>Additionneur</a:t>
            </a:r>
            <a:endParaRPr lang="fr-FR" sz="1300" b="1" dirty="0">
              <a:effectLst>
                <a:outerShdw blurRad="38100" dist="38100" dir="2700000" algn="tl">
                  <a:srgbClr val="000000">
                    <a:alpha val="43137"/>
                  </a:srgbClr>
                </a:outerShdw>
              </a:effectLst>
            </a:endParaRPr>
          </a:p>
        </p:txBody>
      </p:sp>
      <p:sp>
        <p:nvSpPr>
          <p:cNvPr id="57" name="Rectangle 56"/>
          <p:cNvSpPr/>
          <p:nvPr/>
        </p:nvSpPr>
        <p:spPr>
          <a:xfrm>
            <a:off x="6993263" y="3755758"/>
            <a:ext cx="895554" cy="299775"/>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a:t>
            </a:r>
            <a:endParaRPr lang="fr-FR" sz="1300" b="1" dirty="0">
              <a:effectLst>
                <a:outerShdw blurRad="38100" dist="38100" dir="2700000" algn="tl">
                  <a:srgbClr val="000000">
                    <a:alpha val="43137"/>
                  </a:srgbClr>
                </a:outerShdw>
              </a:effectLst>
            </a:endParaRPr>
          </a:p>
        </p:txBody>
      </p:sp>
      <p:pic>
        <p:nvPicPr>
          <p:cNvPr id="59" name="Picture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95624" y="2032205"/>
            <a:ext cx="2184883" cy="721665"/>
          </a:xfrm>
          <a:prstGeom prst="roundRect">
            <a:avLst>
              <a:gd name="adj" fmla="val 8594"/>
            </a:avLst>
          </a:prstGeom>
          <a:solidFill>
            <a:srgbClr val="FFFFFF">
              <a:shade val="85000"/>
            </a:srgbClr>
          </a:solidFill>
          <a:ln w="12700">
            <a:solidFill>
              <a:schemeClr val="accent1">
                <a:lumMod val="20000"/>
                <a:lumOff val="80000"/>
              </a:schemeClr>
            </a:solidFill>
          </a:ln>
          <a:effectLst>
            <a:reflection blurRad="12700" stA="38000" endPos="28000" dist="5000" dir="5400000" sy="-100000" algn="bl" rotWithShape="0"/>
          </a:effectLst>
        </p:spPr>
      </p:pic>
      <p:sp>
        <p:nvSpPr>
          <p:cNvPr id="60" name="Flèche droite 20"/>
          <p:cNvSpPr/>
          <p:nvPr/>
        </p:nvSpPr>
        <p:spPr>
          <a:xfrm>
            <a:off x="200111" y="5118100"/>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pic>
        <p:nvPicPr>
          <p:cNvPr id="61" name="Picture 6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94352" y="4954074"/>
            <a:ext cx="1250226" cy="1154375"/>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62" name="Rectangle 61"/>
          <p:cNvSpPr/>
          <p:nvPr/>
        </p:nvSpPr>
        <p:spPr>
          <a:xfrm>
            <a:off x="846241" y="4649274"/>
            <a:ext cx="1346448"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err="1">
                <a:effectLst>
                  <a:outerShdw blurRad="38100" dist="38100" dir="2700000" algn="tl">
                    <a:srgbClr val="000000">
                      <a:alpha val="43137"/>
                    </a:srgbClr>
                  </a:outerShdw>
                </a:effectLst>
                <a:latin typeface="Calibri" pitchFamily="34" charset="0"/>
              </a:rPr>
              <a:t>Processeur</a:t>
            </a:r>
            <a:endParaRPr lang="fr-FR" sz="1300" b="1" dirty="0">
              <a:effectLst>
                <a:outerShdw blurRad="38100" dist="38100" dir="2700000" algn="tl">
                  <a:srgbClr val="000000">
                    <a:alpha val="43137"/>
                  </a:srgbClr>
                </a:outerShdw>
              </a:effectLst>
            </a:endParaRPr>
          </a:p>
        </p:txBody>
      </p:sp>
      <p:sp>
        <p:nvSpPr>
          <p:cNvPr id="63" name="Flèche droite 20"/>
          <p:cNvSpPr/>
          <p:nvPr/>
        </p:nvSpPr>
        <p:spPr>
          <a:xfrm>
            <a:off x="2341057" y="5135217"/>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4" name="Flèche droite 20"/>
          <p:cNvSpPr/>
          <p:nvPr/>
        </p:nvSpPr>
        <p:spPr>
          <a:xfrm>
            <a:off x="4494861" y="5118100"/>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Rectangle 65"/>
          <p:cNvSpPr/>
          <p:nvPr/>
        </p:nvSpPr>
        <p:spPr>
          <a:xfrm>
            <a:off x="5425637" y="4764836"/>
            <a:ext cx="1358121"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err="1">
                <a:effectLst>
                  <a:outerShdw blurRad="38100" dist="38100" dir="2700000" algn="tl">
                    <a:srgbClr val="000000">
                      <a:alpha val="43137"/>
                    </a:srgbClr>
                  </a:outerShdw>
                </a:effectLst>
                <a:latin typeface="Calibri" pitchFamily="34" charset="0"/>
              </a:rPr>
              <a:t>Boîtier</a:t>
            </a:r>
            <a:endParaRPr lang="fr-FR" sz="1300" b="1" dirty="0">
              <a:effectLst>
                <a:outerShdw blurRad="38100" dist="38100" dir="2700000" algn="tl">
                  <a:srgbClr val="000000">
                    <a:alpha val="43137"/>
                  </a:srgbClr>
                </a:outerShdw>
              </a:effectLst>
            </a:endParaRPr>
          </a:p>
        </p:txBody>
      </p:sp>
      <p:sp>
        <p:nvSpPr>
          <p:cNvPr id="67" name="Flèche droite 20"/>
          <p:cNvSpPr/>
          <p:nvPr/>
        </p:nvSpPr>
        <p:spPr>
          <a:xfrm>
            <a:off x="7380312" y="5137561"/>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8" name="Rectangle 67"/>
          <p:cNvSpPr/>
          <p:nvPr/>
        </p:nvSpPr>
        <p:spPr>
          <a:xfrm>
            <a:off x="7840259" y="5378861"/>
            <a:ext cx="1303742" cy="30480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Applications …</a:t>
            </a:r>
            <a:endParaRPr lang="fr-FR" sz="1300" b="1" dirty="0">
              <a:effectLst>
                <a:outerShdw blurRad="38100" dist="38100" dir="2700000" algn="tl">
                  <a:srgbClr val="000000">
                    <a:alpha val="43137"/>
                  </a:srgbClr>
                </a:outerShdw>
              </a:effectLst>
            </a:endParaRPr>
          </a:p>
        </p:txBody>
      </p:sp>
      <p:pic>
        <p:nvPicPr>
          <p:cNvPr id="69" name="Picture 6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550083" y="2664044"/>
            <a:ext cx="1484493" cy="1280600"/>
          </a:xfrm>
          <a:prstGeom prst="roundRect">
            <a:avLst>
              <a:gd name="adj" fmla="val 8594"/>
            </a:avLst>
          </a:prstGeom>
          <a:solidFill>
            <a:srgbClr val="FFFFFF">
              <a:shade val="85000"/>
            </a:srgbClr>
          </a:solidFill>
          <a:ln w="12700">
            <a:solidFill>
              <a:schemeClr val="accent1">
                <a:lumMod val="20000"/>
                <a:lumOff val="80000"/>
              </a:schemeClr>
            </a:solidFill>
          </a:ln>
          <a:effectLst>
            <a:reflection blurRad="12700" stA="38000" endPos="28000" dist="5000" dir="5400000" sy="-100000" algn="bl" rotWithShape="0"/>
          </a:effectLst>
        </p:spPr>
      </p:pic>
      <p:pic>
        <p:nvPicPr>
          <p:cNvPr id="71" name="Picture 7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38739" y="5800833"/>
            <a:ext cx="1137366" cy="708957"/>
          </a:xfrm>
          <a:prstGeom prst="roundRect">
            <a:avLst>
              <a:gd name="adj" fmla="val 8594"/>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36" name="Rectangle 35"/>
          <p:cNvSpPr/>
          <p:nvPr/>
        </p:nvSpPr>
        <p:spPr>
          <a:xfrm rot="16200000">
            <a:off x="-1090977" y="2607435"/>
            <a:ext cx="2681783" cy="499830"/>
          </a:xfrm>
          <a:prstGeom prst="rect">
            <a:avLst/>
          </a:prstGeom>
        </p:spPr>
        <p:txBody>
          <a:bodyPr wrap="square" lIns="98755" tIns="49378" rIns="98755" bIns="49378">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en-US" sz="1300" b="1" i="1" dirty="0">
                <a:effectLst>
                  <a:outerShdw blurRad="38100" dist="38100" dir="2700000" algn="tl">
                    <a:srgbClr val="000000">
                      <a:alpha val="43137"/>
                    </a:srgbClr>
                  </a:outerShdw>
                </a:effectLst>
                <a:latin typeface="Calibri" pitchFamily="34" charset="0"/>
              </a:rPr>
              <a:t>A la base de </a:t>
            </a:r>
          </a:p>
          <a:p>
            <a:pPr algn="ctr">
              <a:defRPr/>
            </a:pPr>
            <a:r>
              <a:rPr lang="en-US" sz="1300" b="1" i="1" dirty="0" err="1">
                <a:effectLst>
                  <a:outerShdw blurRad="38100" dist="38100" dir="2700000" algn="tl">
                    <a:srgbClr val="000000">
                      <a:alpha val="43137"/>
                    </a:srgbClr>
                  </a:outerShdw>
                </a:effectLst>
                <a:latin typeface="Calibri" pitchFamily="34" charset="0"/>
              </a:rPr>
              <a:t>l’Electronique</a:t>
            </a:r>
            <a:r>
              <a:rPr lang="en-US" sz="1300" b="1" i="1" dirty="0">
                <a:effectLst>
                  <a:outerShdw blurRad="38100" dist="38100" dir="2700000" algn="tl">
                    <a:srgbClr val="000000">
                      <a:alpha val="43137"/>
                    </a:srgbClr>
                  </a:outerShdw>
                </a:effectLst>
                <a:latin typeface="Calibri" pitchFamily="34" charset="0"/>
              </a:rPr>
              <a:t> </a:t>
            </a:r>
            <a:r>
              <a:rPr lang="en-US" sz="1300" b="1" i="1" dirty="0" err="1">
                <a:effectLst>
                  <a:outerShdw blurRad="38100" dist="38100" dir="2700000" algn="tl">
                    <a:srgbClr val="000000">
                      <a:alpha val="43137"/>
                    </a:srgbClr>
                  </a:outerShdw>
                </a:effectLst>
                <a:latin typeface="Calibri" pitchFamily="34" charset="0"/>
              </a:rPr>
              <a:t>Numérique</a:t>
            </a:r>
            <a:endParaRPr lang="fr-FR" sz="1300" b="1" dirty="0">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849926" y="5075336"/>
            <a:ext cx="1440422" cy="10515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7" name="Picture 3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86913" y="5324994"/>
            <a:ext cx="1052312" cy="10331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249914" y="375636"/>
            <a:ext cx="8780396" cy="723275"/>
          </a:xfrm>
          <a:prstGeom prst="rect">
            <a:avLst/>
          </a:prstGeom>
        </p:spPr>
        <p:txBody>
          <a:bodyPr wrap="square">
            <a:spAutoFit/>
          </a:bodyPr>
          <a:lstStyle/>
          <a:p>
            <a:pPr algn="ctr"/>
            <a:r>
              <a:rPr lang="fr-FR" sz="2700" b="1" i="1" cap="all" spc="200" dirty="0">
                <a:solidFill>
                  <a:schemeClr val="bg1"/>
                </a:solidFill>
                <a:effectLst>
                  <a:outerShdw blurRad="38100" dist="38100" dir="2700000" algn="tl">
                    <a:srgbClr val="000000">
                      <a:alpha val="43137"/>
                    </a:srgbClr>
                  </a:outerShdw>
                </a:effectLst>
                <a:latin typeface="+mj-lt"/>
                <a:ea typeface="+mj-ea"/>
                <a:cs typeface="Calibri"/>
              </a:rPr>
              <a:t>Des transistors aux processeurs </a:t>
            </a:r>
            <a:br>
              <a:rPr lang="fr-FR" sz="1400" b="1" i="1" cap="all" spc="200" dirty="0">
                <a:solidFill>
                  <a:srgbClr val="FFFFCC"/>
                </a:solidFill>
                <a:effectLst>
                  <a:outerShdw blurRad="38100" dist="38100" dir="2700000" algn="tl">
                    <a:srgbClr val="000000">
                      <a:alpha val="43137"/>
                    </a:srgbClr>
                  </a:outerShdw>
                </a:effectLst>
                <a:latin typeface="Calibri"/>
                <a:ea typeface="+mj-ea"/>
                <a:cs typeface="Calibri"/>
              </a:rPr>
            </a:br>
            <a:endParaRPr lang="fr-FR" sz="1400" b="1" i="1" cap="all" spc="200" dirty="0">
              <a:solidFill>
                <a:srgbClr val="FFFFCC"/>
              </a:solidFill>
              <a:effectLst>
                <a:outerShdw blurRad="38100" dist="38100" dir="2700000" algn="tl">
                  <a:srgbClr val="000000">
                    <a:alpha val="43137"/>
                  </a:srgbClr>
                </a:outerShdw>
              </a:effectLst>
              <a:latin typeface="Calibri"/>
              <a:ea typeface="+mj-ea"/>
              <a:cs typeface="Calibri"/>
            </a:endParaRPr>
          </a:p>
        </p:txBody>
      </p:sp>
    </p:spTree>
    <p:extLst>
      <p:ext uri="{BB962C8B-B14F-4D97-AF65-F5344CB8AC3E}">
        <p14:creationId xmlns:p14="http://schemas.microsoft.com/office/powerpoint/2010/main" val="85413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fade">
                                      <p:cBhvr>
                                        <p:cTn id="21" dur="500"/>
                                        <p:tgtEl>
                                          <p:spTgt spid="5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fade">
                                      <p:cBhvr>
                                        <p:cTn id="40" dur="500"/>
                                        <p:tgtEl>
                                          <p:spTgt spid="5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fade">
                                      <p:cBhvr>
                                        <p:cTn id="46" dur="500"/>
                                        <p:tgtEl>
                                          <p:spTgt spid="5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500"/>
                                        <p:tgtEl>
                                          <p:spTgt spid="5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500"/>
                                        <p:tgtEl>
                                          <p:spTgt spid="56"/>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fade">
                                      <p:cBhvr>
                                        <p:cTn id="58" dur="500"/>
                                        <p:tgtEl>
                                          <p:spTgt spid="6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fade">
                                      <p:cBhvr>
                                        <p:cTn id="63" dur="500"/>
                                        <p:tgtEl>
                                          <p:spTgt spid="60"/>
                                        </p:tgtEl>
                                      </p:cBhvr>
                                    </p:animEffect>
                                  </p:childTnLst>
                                </p:cTn>
                              </p:par>
                              <p:par>
                                <p:cTn id="64" presetID="10" presetClass="entr" presetSubtype="0" fill="hold" nodeType="with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fade">
                                      <p:cBhvr>
                                        <p:cTn id="66" dur="500"/>
                                        <p:tgtEl>
                                          <p:spTgt spid="6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animEffect transition="in" filter="fade">
                                      <p:cBhvr>
                                        <p:cTn id="69" dur="500"/>
                                        <p:tgtEl>
                                          <p:spTgt spid="6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3"/>
                                        </p:tgtEl>
                                        <p:attrNameLst>
                                          <p:attrName>style.visibility</p:attrName>
                                        </p:attrNameLst>
                                      </p:cBhvr>
                                      <p:to>
                                        <p:strVal val="visible"/>
                                      </p:to>
                                    </p:set>
                                    <p:animEffect transition="in" filter="fade">
                                      <p:cBhvr>
                                        <p:cTn id="74" dur="500"/>
                                        <p:tgtEl>
                                          <p:spTgt spid="63"/>
                                        </p:tgtEl>
                                      </p:cBhvr>
                                    </p:animEffect>
                                  </p:childTnLst>
                                </p:cTn>
                              </p:par>
                              <p:par>
                                <p:cTn id="75" presetID="10"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500"/>
                                        <p:tgtEl>
                                          <p:spTgt spid="39"/>
                                        </p:tgtEl>
                                      </p:cBhvr>
                                    </p:animEffect>
                                  </p:childTnLst>
                                </p:cTn>
                              </p:par>
                              <p:par>
                                <p:cTn id="78" presetID="10" presetClass="entr" presetSubtype="0" fill="hold" nodeType="withEffect">
                                  <p:stCondLst>
                                    <p:cond delay="0"/>
                                  </p:stCondLst>
                                  <p:childTnLst>
                                    <p:set>
                                      <p:cBhvr>
                                        <p:cTn id="79" dur="1" fill="hold">
                                          <p:stCondLst>
                                            <p:cond delay="0"/>
                                          </p:stCondLst>
                                        </p:cTn>
                                        <p:tgtEl>
                                          <p:spTgt spid="71"/>
                                        </p:tgtEl>
                                        <p:attrNameLst>
                                          <p:attrName>style.visibility</p:attrName>
                                        </p:attrNameLst>
                                      </p:cBhvr>
                                      <p:to>
                                        <p:strVal val="visible"/>
                                      </p:to>
                                    </p:set>
                                    <p:animEffect transition="in" filter="fade">
                                      <p:cBhvr>
                                        <p:cTn id="80" dur="500"/>
                                        <p:tgtEl>
                                          <p:spTgt spid="7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fade">
                                      <p:cBhvr>
                                        <p:cTn id="88" dur="500"/>
                                        <p:tgtEl>
                                          <p:spTgt spid="6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6"/>
                                        </p:tgtEl>
                                        <p:attrNameLst>
                                          <p:attrName>style.visibility</p:attrName>
                                        </p:attrNameLst>
                                      </p:cBhvr>
                                      <p:to>
                                        <p:strVal val="visible"/>
                                      </p:to>
                                    </p:set>
                                    <p:animEffect transition="in" filter="fade">
                                      <p:cBhvr>
                                        <p:cTn id="91" dur="500"/>
                                        <p:tgtEl>
                                          <p:spTgt spid="6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500"/>
                                        <p:tgtEl>
                                          <p:spTgt spid="37"/>
                                        </p:tgtEl>
                                      </p:cBhvr>
                                    </p:animEffect>
                                  </p:childTnLst>
                                </p:cTn>
                              </p:par>
                              <p:par>
                                <p:cTn id="95" presetID="10" presetClass="entr" presetSubtype="0" fill="hold" nodeType="with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fade">
                                      <p:cBhvr>
                                        <p:cTn id="97" dur="500"/>
                                        <p:tgtEl>
                                          <p:spTgt spid="6"/>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7"/>
                                        </p:tgtEl>
                                        <p:attrNameLst>
                                          <p:attrName>style.visibility</p:attrName>
                                        </p:attrNameLst>
                                      </p:cBhvr>
                                      <p:to>
                                        <p:strVal val="visible"/>
                                      </p:to>
                                    </p:set>
                                    <p:animEffect transition="in" filter="fade">
                                      <p:cBhvr>
                                        <p:cTn id="102" dur="500"/>
                                        <p:tgtEl>
                                          <p:spTgt spid="6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8"/>
                                        </p:tgtEl>
                                        <p:attrNameLst>
                                          <p:attrName>style.visibility</p:attrName>
                                        </p:attrNameLst>
                                      </p:cBhvr>
                                      <p:to>
                                        <p:strVal val="visible"/>
                                      </p:to>
                                    </p:set>
                                    <p:animEffect transition="in" filter="fade">
                                      <p:cBhvr>
                                        <p:cTn id="105"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0" grpId="0"/>
      <p:bldP spid="43" grpId="0"/>
      <p:bldP spid="48" grpId="0"/>
      <p:bldP spid="50" grpId="0" animBg="1"/>
      <p:bldP spid="51" grpId="0" animBg="1"/>
      <p:bldP spid="52" grpId="0" animBg="1"/>
      <p:bldP spid="53" grpId="0"/>
      <p:bldP spid="54" grpId="0"/>
      <p:bldP spid="55" grpId="0"/>
      <p:bldP spid="56" grpId="0"/>
      <p:bldP spid="60" grpId="0" animBg="1"/>
      <p:bldP spid="62" grpId="0"/>
      <p:bldP spid="63" grpId="0" animBg="1"/>
      <p:bldP spid="64" grpId="0" animBg="1"/>
      <p:bldP spid="66" grpId="0"/>
      <p:bldP spid="67" grpId="0" animBg="1"/>
      <p:bldP spid="68"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20-01-28 à 09.28.20.png"/>
          <p:cNvPicPr>
            <a:picLocks noGrp="1" noChangeAspect="1"/>
          </p:cNvPicPr>
          <p:nvPr>
            <p:ph idx="1"/>
          </p:nvPr>
        </p:nvPicPr>
        <p:blipFill>
          <a:blip r:embed="rId3">
            <a:extLst>
              <a:ext uri="{28A0092B-C50C-407E-A947-70E740481C1C}">
                <a14:useLocalDpi xmlns:a14="http://schemas.microsoft.com/office/drawing/2010/main" val="0"/>
              </a:ext>
            </a:extLst>
          </a:blip>
          <a:srcRect l="-17252" r="-17252"/>
          <a:stretch>
            <a:fillRect/>
          </a:stretch>
        </p:blipFill>
        <p:spPr>
          <a:xfrm>
            <a:off x="381000" y="1547267"/>
            <a:ext cx="8407400" cy="4732337"/>
          </a:xfrm>
        </p:spPr>
      </p:pic>
      <p:sp>
        <p:nvSpPr>
          <p:cNvPr id="3" name="Title 2"/>
          <p:cNvSpPr>
            <a:spLocks noGrp="1"/>
          </p:cNvSpPr>
          <p:nvPr>
            <p:ph type="title"/>
          </p:nvPr>
        </p:nvSpPr>
        <p:spPr>
          <a:xfrm>
            <a:off x="381000" y="147366"/>
            <a:ext cx="8381260" cy="1168941"/>
          </a:xfrm>
        </p:spPr>
        <p:txBody>
          <a:bodyPr/>
          <a:lstStyle/>
          <a:p>
            <a:br>
              <a:rPr lang="en-US" sz="1400" b="1" i="1" dirty="0">
                <a:solidFill>
                  <a:srgbClr val="FF0000"/>
                </a:solidFill>
                <a:effectLst>
                  <a:outerShdw blurRad="38100" dist="38100" dir="2700000" algn="tl">
                    <a:srgbClr val="000000">
                      <a:alpha val="43137"/>
                    </a:srgbClr>
                  </a:outerShdw>
                </a:effectLst>
                <a:latin typeface="Calibri"/>
                <a:cs typeface="Calibri"/>
              </a:rPr>
            </a:br>
            <a:r>
              <a:rPr lang="en-US" sz="2700" b="1" i="1" dirty="0">
                <a:effectLst>
                  <a:outerShdw blurRad="38100" dist="38100" dir="2700000" algn="tl">
                    <a:srgbClr val="000000">
                      <a:alpha val="43137"/>
                    </a:srgbClr>
                  </a:outerShdw>
                </a:effectLst>
                <a:cs typeface="Calibri"/>
              </a:rPr>
              <a:t>Vue </a:t>
            </a:r>
            <a:r>
              <a:rPr lang="en-US" sz="2700" b="1" i="1" dirty="0" err="1">
                <a:effectLst>
                  <a:outerShdw blurRad="38100" dist="38100" dir="2700000" algn="tl">
                    <a:srgbClr val="000000">
                      <a:alpha val="43137"/>
                    </a:srgbClr>
                  </a:outerShdw>
                </a:effectLst>
                <a:cs typeface="Calibri"/>
              </a:rPr>
              <a:t>Macroscopique</a:t>
            </a:r>
            <a:r>
              <a:rPr lang="en-US" sz="2700" b="1" i="1" dirty="0">
                <a:effectLst>
                  <a:outerShdw blurRad="38100" dist="38100" dir="2700000" algn="tl">
                    <a:srgbClr val="000000">
                      <a:alpha val="43137"/>
                    </a:srgbClr>
                  </a:outerShdw>
                </a:effectLst>
                <a:cs typeface="Calibri"/>
              </a:rPr>
              <a:t> </a:t>
            </a:r>
            <a:r>
              <a:rPr lang="en-US" sz="2700" b="1" i="1" dirty="0" err="1">
                <a:effectLst>
                  <a:outerShdw blurRad="38100" dist="38100" dir="2700000" algn="tl">
                    <a:srgbClr val="000000">
                      <a:alpha val="43137"/>
                    </a:srgbClr>
                  </a:outerShdw>
                </a:effectLst>
                <a:cs typeface="Calibri"/>
              </a:rPr>
              <a:t>d’une</a:t>
            </a:r>
            <a:r>
              <a:rPr lang="en-US" sz="2700" b="1" i="1" dirty="0">
                <a:effectLst>
                  <a:outerShdw blurRad="38100" dist="38100" dir="2700000" algn="tl">
                    <a:srgbClr val="000000">
                      <a:alpha val="43137"/>
                    </a:srgbClr>
                  </a:outerShdw>
                </a:effectLst>
                <a:cs typeface="Calibri"/>
              </a:rPr>
              <a:t> puce</a:t>
            </a:r>
            <a:br>
              <a:rPr lang="en-US" sz="1400" b="1" i="1" dirty="0">
                <a:solidFill>
                  <a:srgbClr val="FF0000"/>
                </a:solidFill>
                <a:effectLst>
                  <a:outerShdw blurRad="38100" dist="38100" dir="2700000" algn="tl">
                    <a:srgbClr val="000000">
                      <a:alpha val="43137"/>
                    </a:srgbClr>
                  </a:outerShdw>
                </a:effectLst>
                <a:latin typeface="Calibri"/>
                <a:cs typeface="Calibri"/>
              </a:rPr>
            </a:br>
            <a:br>
              <a:rPr lang="en-US" sz="1400" b="1" i="1" dirty="0">
                <a:solidFill>
                  <a:srgbClr val="FFFFCC"/>
                </a:solidFill>
                <a:effectLst>
                  <a:outerShdw blurRad="38100" dist="38100" dir="2700000" algn="tl">
                    <a:srgbClr val="000000">
                      <a:alpha val="43137"/>
                    </a:srgbClr>
                  </a:outerShdw>
                </a:effectLst>
                <a:latin typeface="Calibri"/>
                <a:cs typeface="Calibri"/>
              </a:rPr>
            </a:br>
            <a:endParaRPr lang="fr-FR" sz="1400" dirty="0"/>
          </a:p>
        </p:txBody>
      </p:sp>
      <p:sp>
        <p:nvSpPr>
          <p:cNvPr id="2" name="Ellipse 1">
            <a:extLst>
              <a:ext uri="{FF2B5EF4-FFF2-40B4-BE49-F238E27FC236}">
                <a16:creationId xmlns:a16="http://schemas.microsoft.com/office/drawing/2014/main" id="{7367AD01-0664-75FE-57B5-1AC5ADADED97}"/>
              </a:ext>
            </a:extLst>
          </p:cNvPr>
          <p:cNvSpPr/>
          <p:nvPr/>
        </p:nvSpPr>
        <p:spPr>
          <a:xfrm>
            <a:off x="1881051" y="2220686"/>
            <a:ext cx="1358538" cy="667517"/>
          </a:xfrm>
          <a:prstGeom prst="ellipse">
            <a:avLst/>
          </a:prstGeom>
          <a:noFill/>
          <a:ln w="920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94519AFC-C804-E406-A835-E28F5986A90C}"/>
              </a:ext>
            </a:extLst>
          </p:cNvPr>
          <p:cNvSpPr/>
          <p:nvPr/>
        </p:nvSpPr>
        <p:spPr>
          <a:xfrm>
            <a:off x="2808514" y="5206999"/>
            <a:ext cx="1136469" cy="841103"/>
          </a:xfrm>
          <a:prstGeom prst="ellipse">
            <a:avLst/>
          </a:prstGeom>
          <a:noFill/>
          <a:ln w="76200">
            <a:solidFill>
              <a:srgbClr val="FF0000"/>
            </a:solidFill>
          </a:ln>
          <a:effectLst>
            <a:outerShdw blurRad="50800" dist="50800" dir="5400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A2129F8B-90ED-C592-441F-613814B7B029}"/>
              </a:ext>
            </a:extLst>
          </p:cNvPr>
          <p:cNvSpPr/>
          <p:nvPr/>
        </p:nvSpPr>
        <p:spPr>
          <a:xfrm>
            <a:off x="2501900" y="3644899"/>
            <a:ext cx="977900" cy="667517"/>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552D2948-FDB0-BD79-5E73-816C47552EE3}"/>
              </a:ext>
            </a:extLst>
          </p:cNvPr>
          <p:cNvSpPr/>
          <p:nvPr/>
        </p:nvSpPr>
        <p:spPr>
          <a:xfrm>
            <a:off x="1778000" y="5197202"/>
            <a:ext cx="977900" cy="746900"/>
          </a:xfrm>
          <a:prstGeom prst="ellipse">
            <a:avLst/>
          </a:prstGeom>
          <a:noFill/>
          <a:ln w="666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A412D12C-1D42-30AB-207A-9F1438493589}"/>
              </a:ext>
            </a:extLst>
          </p:cNvPr>
          <p:cNvSpPr/>
          <p:nvPr/>
        </p:nvSpPr>
        <p:spPr>
          <a:xfrm>
            <a:off x="5080002" y="2705100"/>
            <a:ext cx="850900" cy="609600"/>
          </a:xfrm>
          <a:prstGeom prst="ellipse">
            <a:avLst/>
          </a:prstGeom>
          <a:noFill/>
          <a:ln w="603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C8584173-9E7B-07B2-F1AF-EA9F3B1E88DA}"/>
              </a:ext>
            </a:extLst>
          </p:cNvPr>
          <p:cNvSpPr/>
          <p:nvPr/>
        </p:nvSpPr>
        <p:spPr>
          <a:xfrm>
            <a:off x="4927603" y="5438501"/>
            <a:ext cx="1308097" cy="841103"/>
          </a:xfrm>
          <a:prstGeom prst="ellipse">
            <a:avLst/>
          </a:prstGeom>
          <a:noFill/>
          <a:ln w="666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0B46657-58E4-D326-E342-976D233D7CAD}"/>
              </a:ext>
            </a:extLst>
          </p:cNvPr>
          <p:cNvSpPr/>
          <p:nvPr/>
        </p:nvSpPr>
        <p:spPr>
          <a:xfrm>
            <a:off x="6045200" y="2095499"/>
            <a:ext cx="1104899" cy="667517"/>
          </a:xfrm>
          <a:prstGeom prst="ellipse">
            <a:avLst/>
          </a:prstGeom>
          <a:noFill/>
          <a:ln w="666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974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rot="16200000">
            <a:off x="568294" y="468052"/>
            <a:ext cx="1512168" cy="5760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FR" sz="1400" b="1" i="1" dirty="0">
              <a:solidFill>
                <a:srgbClr val="FFFFCC"/>
              </a:solidFill>
              <a:effectLst>
                <a:outerShdw blurRad="38100" dist="38100" dir="2700000" algn="tl">
                  <a:srgbClr val="000000">
                    <a:alpha val="43137"/>
                  </a:srgbClr>
                </a:outerShdw>
              </a:effectLst>
              <a:latin typeface="+mn-lt"/>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11</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cxnSp>
        <p:nvCxnSpPr>
          <p:cNvPr id="14" name="Straight Connector 13"/>
          <p:cNvCxnSpPr/>
          <p:nvPr/>
        </p:nvCxnSpPr>
        <p:spPr>
          <a:xfrm flipH="1">
            <a:off x="1036346" y="2306290"/>
            <a:ext cx="7431445" cy="0"/>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7" name="Flèche droite 20"/>
          <p:cNvSpPr/>
          <p:nvPr/>
        </p:nvSpPr>
        <p:spPr>
          <a:xfrm rot="5400000">
            <a:off x="4160449" y="574991"/>
            <a:ext cx="501910" cy="2808312"/>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19" name="Flèche droite 20"/>
          <p:cNvSpPr/>
          <p:nvPr/>
        </p:nvSpPr>
        <p:spPr>
          <a:xfrm rot="5400000">
            <a:off x="465531" y="3693173"/>
            <a:ext cx="609984" cy="348346"/>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21" name="Flèche droite 20"/>
          <p:cNvSpPr/>
          <p:nvPr/>
        </p:nvSpPr>
        <p:spPr>
          <a:xfrm rot="5400000">
            <a:off x="1481591" y="3693173"/>
            <a:ext cx="609984" cy="348346"/>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22" name="Flèche droite 20"/>
          <p:cNvSpPr/>
          <p:nvPr/>
        </p:nvSpPr>
        <p:spPr>
          <a:xfrm rot="5400000">
            <a:off x="2484531" y="3693173"/>
            <a:ext cx="609984" cy="348346"/>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24" name="Title 3"/>
          <p:cNvSpPr txBox="1">
            <a:spLocks/>
          </p:cNvSpPr>
          <p:nvPr/>
        </p:nvSpPr>
        <p:spPr>
          <a:xfrm>
            <a:off x="2246127" y="1475752"/>
            <a:ext cx="4636454" cy="432048"/>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Familles de Processeurs Numériques</a:t>
            </a:r>
            <a:r>
              <a:rPr lang="fr-FR" sz="1800" b="1" i="1" dirty="0">
                <a:effectLst>
                  <a:outerShdw blurRad="38100" dist="38100" dir="2700000" algn="tl">
                    <a:srgbClr val="000000">
                      <a:alpha val="43137"/>
                    </a:srgbClr>
                  </a:outerShdw>
                </a:effectLst>
                <a:latin typeface="+mn-lt"/>
                <a:sym typeface="Wingdings"/>
              </a:rPr>
              <a:t>	</a:t>
            </a:r>
            <a:endParaRPr lang="fr-FR" sz="1800" b="1" i="1" dirty="0">
              <a:effectLst>
                <a:outerShdw blurRad="38100" dist="38100" dir="2700000" algn="tl">
                  <a:srgbClr val="000000">
                    <a:alpha val="43137"/>
                  </a:srgbClr>
                </a:outerShdw>
              </a:effectLst>
              <a:latin typeface="+mn-lt"/>
            </a:endParaRPr>
          </a:p>
        </p:txBody>
      </p:sp>
      <p:sp>
        <p:nvSpPr>
          <p:cNvPr id="25" name="Title 3"/>
          <p:cNvSpPr txBox="1">
            <a:spLocks/>
          </p:cNvSpPr>
          <p:nvPr/>
        </p:nvSpPr>
        <p:spPr>
          <a:xfrm>
            <a:off x="378283" y="2990951"/>
            <a:ext cx="2564984" cy="432048"/>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Architectures à CPU</a:t>
            </a:r>
          </a:p>
        </p:txBody>
      </p:sp>
      <p:sp>
        <p:nvSpPr>
          <p:cNvPr id="29" name="Title 3"/>
          <p:cNvSpPr txBox="1">
            <a:spLocks/>
          </p:cNvSpPr>
          <p:nvPr/>
        </p:nvSpPr>
        <p:spPr>
          <a:xfrm>
            <a:off x="4071402" y="2990951"/>
            <a:ext cx="2564984" cy="432048"/>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Logique Programmable</a:t>
            </a:r>
          </a:p>
        </p:txBody>
      </p:sp>
      <p:sp>
        <p:nvSpPr>
          <p:cNvPr id="30" name="Title 3"/>
          <p:cNvSpPr txBox="1">
            <a:spLocks/>
          </p:cNvSpPr>
          <p:nvPr/>
        </p:nvSpPr>
        <p:spPr>
          <a:xfrm>
            <a:off x="7482611" y="3484701"/>
            <a:ext cx="1491949"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GPU</a:t>
            </a:r>
          </a:p>
          <a:p>
            <a:pPr algn="l"/>
            <a:r>
              <a:rPr lang="fr-FR" sz="1600" i="1" dirty="0" err="1">
                <a:latin typeface="+mn-lt"/>
              </a:rPr>
              <a:t>Graphical</a:t>
            </a:r>
            <a:r>
              <a:rPr lang="fr-FR" sz="1600" i="1" dirty="0">
                <a:latin typeface="+mn-lt"/>
              </a:rPr>
              <a:t> Processor Unit (GPGPU généralistes)</a:t>
            </a:r>
          </a:p>
        </p:txBody>
      </p:sp>
      <p:sp>
        <p:nvSpPr>
          <p:cNvPr id="31" name="Title 3"/>
          <p:cNvSpPr txBox="1">
            <a:spLocks/>
          </p:cNvSpPr>
          <p:nvPr/>
        </p:nvSpPr>
        <p:spPr>
          <a:xfrm>
            <a:off x="219836" y="4187135"/>
            <a:ext cx="1101375"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GPP</a:t>
            </a:r>
          </a:p>
          <a:p>
            <a:pPr algn="l"/>
            <a:r>
              <a:rPr lang="fr-FR" sz="1600" i="1" dirty="0">
                <a:latin typeface="+mn-lt"/>
              </a:rPr>
              <a:t>General</a:t>
            </a:r>
          </a:p>
          <a:p>
            <a:pPr algn="l"/>
            <a:r>
              <a:rPr lang="fr-FR" sz="1600" i="1" dirty="0" err="1">
                <a:latin typeface="+mn-lt"/>
              </a:rPr>
              <a:t>Purpose</a:t>
            </a:r>
            <a:endParaRPr lang="fr-FR" sz="1600" i="1" dirty="0">
              <a:latin typeface="+mn-lt"/>
            </a:endParaRPr>
          </a:p>
          <a:p>
            <a:pPr algn="l"/>
            <a:r>
              <a:rPr lang="fr-FR" sz="1600" i="1" dirty="0">
                <a:latin typeface="+mn-lt"/>
              </a:rPr>
              <a:t>Processor</a:t>
            </a:r>
          </a:p>
        </p:txBody>
      </p:sp>
      <p:sp>
        <p:nvSpPr>
          <p:cNvPr id="32" name="Title 3"/>
          <p:cNvSpPr txBox="1">
            <a:spLocks/>
          </p:cNvSpPr>
          <p:nvPr/>
        </p:nvSpPr>
        <p:spPr>
          <a:xfrm>
            <a:off x="1324378" y="4187135"/>
            <a:ext cx="1101375"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MCU</a:t>
            </a:r>
          </a:p>
          <a:p>
            <a:pPr algn="l"/>
            <a:r>
              <a:rPr lang="fr-FR" sz="1600" i="1" dirty="0">
                <a:latin typeface="+mn-lt"/>
              </a:rPr>
              <a:t>Micro</a:t>
            </a:r>
          </a:p>
          <a:p>
            <a:pPr algn="l"/>
            <a:r>
              <a:rPr lang="fr-FR" sz="1600" i="1" dirty="0">
                <a:latin typeface="+mn-lt"/>
              </a:rPr>
              <a:t>Controller Unit</a:t>
            </a:r>
          </a:p>
        </p:txBody>
      </p:sp>
      <p:sp>
        <p:nvSpPr>
          <p:cNvPr id="33" name="Title 3"/>
          <p:cNvSpPr txBox="1">
            <a:spLocks/>
          </p:cNvSpPr>
          <p:nvPr/>
        </p:nvSpPr>
        <p:spPr>
          <a:xfrm>
            <a:off x="2392579" y="4182202"/>
            <a:ext cx="1101375"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DSP</a:t>
            </a:r>
          </a:p>
          <a:p>
            <a:pPr algn="l"/>
            <a:r>
              <a:rPr lang="fr-FR" sz="1600" i="1" dirty="0">
                <a:latin typeface="+mn-lt"/>
              </a:rPr>
              <a:t>Digital</a:t>
            </a:r>
          </a:p>
          <a:p>
            <a:pPr algn="l"/>
            <a:r>
              <a:rPr lang="fr-FR" sz="1600" i="1" dirty="0">
                <a:latin typeface="+mn-lt"/>
              </a:rPr>
              <a:t>Signal</a:t>
            </a:r>
          </a:p>
          <a:p>
            <a:pPr algn="l"/>
            <a:r>
              <a:rPr lang="fr-FR" sz="1600" i="1" dirty="0">
                <a:latin typeface="+mn-lt"/>
              </a:rPr>
              <a:t>Processor</a:t>
            </a:r>
          </a:p>
          <a:p>
            <a:pPr algn="l"/>
            <a:r>
              <a:rPr lang="fr-FR" sz="1600" i="1" dirty="0">
                <a:latin typeface="+mn-lt"/>
              </a:rPr>
              <a:t>(spécialisé)</a:t>
            </a:r>
          </a:p>
        </p:txBody>
      </p:sp>
      <p:sp>
        <p:nvSpPr>
          <p:cNvPr id="34" name="Flèche droite 20"/>
          <p:cNvSpPr/>
          <p:nvPr/>
        </p:nvSpPr>
        <p:spPr>
          <a:xfrm rot="5400000">
            <a:off x="4106412" y="3681539"/>
            <a:ext cx="609984" cy="348346"/>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6" name="Title 3"/>
          <p:cNvSpPr txBox="1">
            <a:spLocks/>
          </p:cNvSpPr>
          <p:nvPr/>
        </p:nvSpPr>
        <p:spPr>
          <a:xfrm>
            <a:off x="3792125" y="4177270"/>
            <a:ext cx="1431364"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FPGA</a:t>
            </a:r>
          </a:p>
          <a:p>
            <a:pPr algn="l"/>
            <a:r>
              <a:rPr lang="fr-FR" sz="1600" i="1" dirty="0">
                <a:latin typeface="+mn-lt"/>
              </a:rPr>
              <a:t>Field</a:t>
            </a:r>
          </a:p>
          <a:p>
            <a:pPr algn="l"/>
            <a:r>
              <a:rPr lang="fr-FR" sz="1600" i="1" dirty="0">
                <a:latin typeface="+mn-lt"/>
              </a:rPr>
              <a:t>Programmable</a:t>
            </a:r>
          </a:p>
          <a:p>
            <a:pPr algn="l"/>
            <a:r>
              <a:rPr lang="fr-FR" sz="1600" i="1" dirty="0" err="1">
                <a:latin typeface="+mn-lt"/>
              </a:rPr>
              <a:t>Gate</a:t>
            </a:r>
            <a:endParaRPr lang="fr-FR" sz="1600" i="1" dirty="0">
              <a:latin typeface="+mn-lt"/>
            </a:endParaRPr>
          </a:p>
          <a:p>
            <a:pPr algn="l"/>
            <a:r>
              <a:rPr lang="fr-FR" sz="1600" i="1" dirty="0" err="1">
                <a:latin typeface="+mn-lt"/>
              </a:rPr>
              <a:t>Array</a:t>
            </a:r>
            <a:endParaRPr lang="fr-FR" sz="1600" i="1" dirty="0">
              <a:latin typeface="+mn-lt"/>
            </a:endParaRPr>
          </a:p>
        </p:txBody>
      </p:sp>
      <p:sp>
        <p:nvSpPr>
          <p:cNvPr id="37" name="Flèche droite 20"/>
          <p:cNvSpPr/>
          <p:nvPr/>
        </p:nvSpPr>
        <p:spPr>
          <a:xfrm rot="5400000">
            <a:off x="5809333" y="3674663"/>
            <a:ext cx="609984" cy="348346"/>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8" name="Title 3"/>
          <p:cNvSpPr txBox="1">
            <a:spLocks/>
          </p:cNvSpPr>
          <p:nvPr/>
        </p:nvSpPr>
        <p:spPr>
          <a:xfrm>
            <a:off x="5353894" y="4172338"/>
            <a:ext cx="1431364"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PLD</a:t>
            </a:r>
          </a:p>
          <a:p>
            <a:pPr algn="l"/>
            <a:r>
              <a:rPr lang="fr-FR" sz="1600" i="1" dirty="0">
                <a:latin typeface="+mn-lt"/>
              </a:rPr>
              <a:t>Programmable</a:t>
            </a:r>
          </a:p>
          <a:p>
            <a:pPr algn="l"/>
            <a:r>
              <a:rPr lang="fr-FR" sz="1600" i="1" dirty="0" err="1">
                <a:latin typeface="+mn-lt"/>
              </a:rPr>
              <a:t>Logic</a:t>
            </a:r>
            <a:endParaRPr lang="fr-FR" sz="1600" i="1" dirty="0">
              <a:latin typeface="+mn-lt"/>
            </a:endParaRPr>
          </a:p>
          <a:p>
            <a:pPr algn="l"/>
            <a:r>
              <a:rPr lang="fr-FR" sz="1600" i="1" dirty="0" err="1">
                <a:latin typeface="+mn-lt"/>
              </a:rPr>
              <a:t>Device</a:t>
            </a:r>
            <a:endParaRPr lang="fr-FR" sz="1600" i="1" dirty="0">
              <a:latin typeface="+mn-lt"/>
            </a:endParaRPr>
          </a:p>
        </p:txBody>
      </p:sp>
      <p:sp>
        <p:nvSpPr>
          <p:cNvPr id="39" name="Flèche droite 20"/>
          <p:cNvSpPr/>
          <p:nvPr/>
        </p:nvSpPr>
        <p:spPr>
          <a:xfrm rot="5400000">
            <a:off x="1333292" y="1335839"/>
            <a:ext cx="501910" cy="2808312"/>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0" name="Flèche droite 20"/>
          <p:cNvSpPr/>
          <p:nvPr/>
        </p:nvSpPr>
        <p:spPr>
          <a:xfrm rot="5400000">
            <a:off x="4972534" y="1335839"/>
            <a:ext cx="501910" cy="2808312"/>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1" name="Flèche droite 20"/>
          <p:cNvSpPr/>
          <p:nvPr/>
        </p:nvSpPr>
        <p:spPr>
          <a:xfrm rot="5400000">
            <a:off x="7824060" y="2095116"/>
            <a:ext cx="501910" cy="1289757"/>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2" name="Flèche droite 20"/>
          <p:cNvSpPr/>
          <p:nvPr/>
        </p:nvSpPr>
        <p:spPr>
          <a:xfrm rot="5400000">
            <a:off x="5304367" y="5442408"/>
            <a:ext cx="304992" cy="348346"/>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5" name="Title 3"/>
          <p:cNvSpPr txBox="1">
            <a:spLocks/>
          </p:cNvSpPr>
          <p:nvPr/>
        </p:nvSpPr>
        <p:spPr>
          <a:xfrm>
            <a:off x="5029200" y="5719842"/>
            <a:ext cx="793452" cy="34951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CPLD</a:t>
            </a:r>
          </a:p>
        </p:txBody>
      </p:sp>
      <p:cxnSp>
        <p:nvCxnSpPr>
          <p:cNvPr id="46" name="Straight Connector 45"/>
          <p:cNvCxnSpPr/>
          <p:nvPr/>
        </p:nvCxnSpPr>
        <p:spPr>
          <a:xfrm flipH="1" flipV="1">
            <a:off x="5900366" y="6054560"/>
            <a:ext cx="1010765" cy="14797"/>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1" name="Title 3"/>
          <p:cNvSpPr txBox="1">
            <a:spLocks/>
          </p:cNvSpPr>
          <p:nvPr/>
        </p:nvSpPr>
        <p:spPr>
          <a:xfrm>
            <a:off x="5636661" y="6517412"/>
            <a:ext cx="793452" cy="34951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solidFill>
                  <a:schemeClr val="bg1">
                    <a:lumMod val="95000"/>
                  </a:schemeClr>
                </a:solidFill>
                <a:effectLst>
                  <a:outerShdw blurRad="38100" dist="38100" dir="2700000" algn="tl">
                    <a:srgbClr val="000000">
                      <a:alpha val="43137"/>
                    </a:srgbClr>
                  </a:outerShdw>
                </a:effectLst>
                <a:latin typeface="+mn-lt"/>
              </a:rPr>
              <a:t>PAL</a:t>
            </a:r>
          </a:p>
        </p:txBody>
      </p:sp>
      <p:sp>
        <p:nvSpPr>
          <p:cNvPr id="52" name="Title 3"/>
          <p:cNvSpPr txBox="1">
            <a:spLocks/>
          </p:cNvSpPr>
          <p:nvPr/>
        </p:nvSpPr>
        <p:spPr>
          <a:xfrm>
            <a:off x="6183196" y="6517412"/>
            <a:ext cx="793452" cy="34951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solidFill>
                  <a:schemeClr val="bg1">
                    <a:lumMod val="95000"/>
                  </a:schemeClr>
                </a:solidFill>
                <a:effectLst>
                  <a:outerShdw blurRad="38100" dist="38100" dir="2700000" algn="tl">
                    <a:srgbClr val="000000">
                      <a:alpha val="43137"/>
                    </a:srgbClr>
                  </a:outerShdw>
                </a:effectLst>
                <a:latin typeface="+mn-lt"/>
              </a:rPr>
              <a:t>GAL</a:t>
            </a:r>
          </a:p>
        </p:txBody>
      </p:sp>
      <p:cxnSp>
        <p:nvCxnSpPr>
          <p:cNvPr id="53" name="Straight Connector 52"/>
          <p:cNvCxnSpPr/>
          <p:nvPr/>
        </p:nvCxnSpPr>
        <p:spPr>
          <a:xfrm flipH="1">
            <a:off x="596351" y="3416123"/>
            <a:ext cx="2346915" cy="6876"/>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4127181" y="3409247"/>
            <a:ext cx="2346915" cy="6876"/>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8" name="Cloud Callout 57"/>
          <p:cNvSpPr/>
          <p:nvPr/>
        </p:nvSpPr>
        <p:spPr>
          <a:xfrm>
            <a:off x="2707237" y="5852254"/>
            <a:ext cx="2067013" cy="738903"/>
          </a:xfrm>
          <a:prstGeom prst="cloudCallout">
            <a:avLst>
              <a:gd name="adj1" fmla="val -67202"/>
              <a:gd name="adj2" fmla="val -93322"/>
            </a:avLst>
          </a:prstGeom>
          <a:solidFill>
            <a:srgbClr val="FFFFCC"/>
          </a:solidFill>
          <a:ln w="127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Cloud Callout 46"/>
          <p:cNvSpPr/>
          <p:nvPr/>
        </p:nvSpPr>
        <p:spPr>
          <a:xfrm>
            <a:off x="2707235" y="5849776"/>
            <a:ext cx="2067013" cy="738903"/>
          </a:xfrm>
          <a:prstGeom prst="cloudCallout">
            <a:avLst>
              <a:gd name="adj1" fmla="val 14906"/>
              <a:gd name="adj2" fmla="val -88479"/>
            </a:avLst>
          </a:prstGeom>
          <a:solidFill>
            <a:srgbClr val="FFFFCC"/>
          </a:solidFill>
          <a:ln w="127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Title 3"/>
          <p:cNvSpPr txBox="1">
            <a:spLocks/>
          </p:cNvSpPr>
          <p:nvPr/>
        </p:nvSpPr>
        <p:spPr>
          <a:xfrm>
            <a:off x="2963696" y="5875067"/>
            <a:ext cx="1686036" cy="699333"/>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err="1">
                <a:effectLst>
                  <a:outerShdw blurRad="38100" dist="38100" dir="2700000" algn="tl">
                    <a:srgbClr val="000000">
                      <a:alpha val="43137"/>
                    </a:srgbClr>
                  </a:outerShdw>
                </a:effectLst>
                <a:latin typeface="+mn-lt"/>
              </a:rPr>
              <a:t>SoC</a:t>
            </a:r>
            <a:endParaRPr lang="fr-FR" sz="1800" b="1" i="1" dirty="0">
              <a:effectLst>
                <a:outerShdw blurRad="38100" dist="38100" dir="2700000" algn="tl">
                  <a:srgbClr val="000000">
                    <a:alpha val="43137"/>
                  </a:srgbClr>
                </a:outerShdw>
              </a:effectLst>
              <a:latin typeface="+mn-lt"/>
            </a:endParaRPr>
          </a:p>
          <a:p>
            <a:r>
              <a:rPr lang="fr-FR" sz="1400" b="1" i="1" dirty="0">
                <a:effectLst>
                  <a:outerShdw blurRad="38100" dist="38100" dir="2700000" algn="tl">
                    <a:srgbClr val="000000">
                      <a:alpha val="43137"/>
                    </a:srgbClr>
                  </a:outerShdw>
                </a:effectLst>
                <a:latin typeface="+mn-lt"/>
              </a:rPr>
              <a:t>System on Chip</a:t>
            </a:r>
          </a:p>
        </p:txBody>
      </p:sp>
      <p:sp>
        <p:nvSpPr>
          <p:cNvPr id="49" name="Cloud Callout 48"/>
          <p:cNvSpPr/>
          <p:nvPr/>
        </p:nvSpPr>
        <p:spPr>
          <a:xfrm>
            <a:off x="378283" y="5643921"/>
            <a:ext cx="2047470" cy="1457487"/>
          </a:xfrm>
          <a:prstGeom prst="cloudCallout">
            <a:avLst>
              <a:gd name="adj1" fmla="val -31388"/>
              <a:gd name="adj2" fmla="val -74778"/>
            </a:avLst>
          </a:prstGeom>
          <a:solidFill>
            <a:srgbClr val="FFFFCC"/>
          </a:solidFill>
          <a:ln w="127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Title 3"/>
          <p:cNvSpPr txBox="1">
            <a:spLocks/>
          </p:cNvSpPr>
          <p:nvPr/>
        </p:nvSpPr>
        <p:spPr>
          <a:xfrm>
            <a:off x="531766" y="5746749"/>
            <a:ext cx="1686036" cy="881226"/>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400" b="1" i="1" dirty="0">
                <a:effectLst>
                  <a:outerShdw blurRad="38100" dist="38100" dir="2700000" algn="tl">
                    <a:srgbClr val="000000">
                      <a:alpha val="43137"/>
                    </a:srgbClr>
                  </a:outerShdw>
                </a:effectLst>
                <a:latin typeface="+mn-lt"/>
              </a:rPr>
              <a:t>Desktop</a:t>
            </a:r>
          </a:p>
          <a:p>
            <a:r>
              <a:rPr lang="fr-FR" sz="1400" b="1" i="1" dirty="0" err="1">
                <a:effectLst>
                  <a:outerShdw blurRad="38100" dist="38100" dir="2700000" algn="tl">
                    <a:srgbClr val="000000">
                      <a:alpha val="43137"/>
                    </a:srgbClr>
                  </a:outerShdw>
                </a:effectLst>
                <a:latin typeface="+mn-lt"/>
              </a:rPr>
              <a:t>Laptop</a:t>
            </a:r>
            <a:endParaRPr lang="fr-FR" sz="1400" b="1" i="1" dirty="0">
              <a:effectLst>
                <a:outerShdw blurRad="38100" dist="38100" dir="2700000" algn="tl">
                  <a:srgbClr val="000000">
                    <a:alpha val="43137"/>
                  </a:srgbClr>
                </a:outerShdw>
              </a:effectLst>
              <a:latin typeface="+mn-lt"/>
            </a:endParaRPr>
          </a:p>
          <a:p>
            <a:r>
              <a:rPr lang="fr-FR" sz="1400" b="1" i="1" dirty="0">
                <a:effectLst>
                  <a:outerShdw blurRad="38100" dist="38100" dir="2700000" algn="tl">
                    <a:srgbClr val="000000">
                      <a:alpha val="43137"/>
                    </a:srgbClr>
                  </a:outerShdw>
                </a:effectLst>
                <a:latin typeface="+mn-lt"/>
              </a:rPr>
              <a:t>Server</a:t>
            </a:r>
          </a:p>
          <a:p>
            <a:r>
              <a:rPr lang="fr-FR" sz="1400" b="1" i="1" dirty="0" err="1">
                <a:effectLst>
                  <a:outerShdw blurRad="38100" dist="38100" dir="2700000" algn="tl">
                    <a:srgbClr val="000000">
                      <a:alpha val="43137"/>
                    </a:srgbClr>
                  </a:outerShdw>
                </a:effectLst>
                <a:latin typeface="+mn-lt"/>
              </a:rPr>
              <a:t>MainFrame</a:t>
            </a:r>
            <a:endParaRPr lang="fr-FR" sz="1400" b="1" i="1" dirty="0">
              <a:effectLst>
                <a:outerShdw blurRad="38100" dist="38100" dir="2700000" algn="tl">
                  <a:srgbClr val="000000">
                    <a:alpha val="43137"/>
                  </a:srgbClr>
                </a:outerShdw>
              </a:effectLst>
              <a:latin typeface="+mn-lt"/>
            </a:endParaRPr>
          </a:p>
          <a:p>
            <a:r>
              <a:rPr lang="fr-FR" sz="1400" b="1" i="1" dirty="0">
                <a:effectLst>
                  <a:outerShdw blurRad="38100" dist="38100" dir="2700000" algn="tl">
                    <a:srgbClr val="000000">
                      <a:alpha val="43137"/>
                    </a:srgbClr>
                  </a:outerShdw>
                </a:effectLst>
                <a:latin typeface="+mn-lt"/>
              </a:rPr>
              <a:t>Embedded </a:t>
            </a:r>
            <a:r>
              <a:rPr lang="fr-FR" sz="1400" b="1" i="1" dirty="0" err="1">
                <a:effectLst>
                  <a:outerShdw blurRad="38100" dist="38100" dir="2700000" algn="tl">
                    <a:srgbClr val="000000">
                      <a:alpha val="43137"/>
                    </a:srgbClr>
                  </a:outerShdw>
                </a:effectLst>
                <a:latin typeface="+mn-lt"/>
              </a:rPr>
              <a:t>Systems</a:t>
            </a:r>
            <a:endParaRPr lang="fr-FR" sz="1200" b="1" i="1" dirty="0">
              <a:effectLst>
                <a:outerShdw blurRad="38100" dist="38100" dir="2700000" algn="tl">
                  <a:srgbClr val="000000">
                    <a:alpha val="43137"/>
                  </a:srgbClr>
                </a:outerShdw>
              </a:effectLst>
              <a:latin typeface="+mn-lt"/>
            </a:endParaRPr>
          </a:p>
        </p:txBody>
      </p:sp>
      <p:sp>
        <p:nvSpPr>
          <p:cNvPr id="50" name="Title 3"/>
          <p:cNvSpPr txBox="1">
            <a:spLocks/>
          </p:cNvSpPr>
          <p:nvPr/>
        </p:nvSpPr>
        <p:spPr>
          <a:xfrm>
            <a:off x="5940152" y="5737519"/>
            <a:ext cx="793452" cy="34951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solidFill>
                  <a:schemeClr val="bg1">
                    <a:lumMod val="95000"/>
                  </a:schemeClr>
                </a:solidFill>
                <a:effectLst>
                  <a:outerShdw blurRad="38100" dist="38100" dir="2700000" algn="tl">
                    <a:srgbClr val="000000">
                      <a:alpha val="43137"/>
                    </a:srgbClr>
                  </a:outerShdw>
                </a:effectLst>
                <a:latin typeface="+mn-lt"/>
              </a:rPr>
              <a:t>SPLD</a:t>
            </a:r>
          </a:p>
        </p:txBody>
      </p:sp>
      <p:cxnSp>
        <p:nvCxnSpPr>
          <p:cNvPr id="59" name="Straight Connector 58"/>
          <p:cNvCxnSpPr/>
          <p:nvPr/>
        </p:nvCxnSpPr>
        <p:spPr>
          <a:xfrm flipH="1" flipV="1">
            <a:off x="5924731" y="6072238"/>
            <a:ext cx="808873" cy="14796"/>
          </a:xfrm>
          <a:prstGeom prst="line">
            <a:avLst/>
          </a:prstGeom>
          <a:ln w="28575">
            <a:solidFill>
              <a:srgbClr val="DCE6F2">
                <a:alpha val="18039"/>
              </a:srgb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2" name="Flèche droite 20"/>
          <p:cNvSpPr/>
          <p:nvPr/>
        </p:nvSpPr>
        <p:spPr>
          <a:xfrm rot="5400000">
            <a:off x="6147427" y="5469748"/>
            <a:ext cx="304992" cy="348346"/>
          </a:xfrm>
          <a:prstGeom prst="rightArrow">
            <a:avLst/>
          </a:prstGeom>
          <a:solidFill>
            <a:srgbClr val="DCE6F2">
              <a:alpha val="3922"/>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3" name="Flèche droite 20"/>
          <p:cNvSpPr/>
          <p:nvPr/>
        </p:nvSpPr>
        <p:spPr>
          <a:xfrm rot="5400000">
            <a:off x="5856527" y="6206624"/>
            <a:ext cx="304992" cy="348346"/>
          </a:xfrm>
          <a:prstGeom prst="rightArrow">
            <a:avLst/>
          </a:prstGeom>
          <a:solidFill>
            <a:srgbClr val="DCE6F2">
              <a:alpha val="3922"/>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4" name="Flèche droite 20"/>
          <p:cNvSpPr/>
          <p:nvPr/>
        </p:nvSpPr>
        <p:spPr>
          <a:xfrm rot="5400000">
            <a:off x="6427426" y="6220214"/>
            <a:ext cx="304992" cy="348346"/>
          </a:xfrm>
          <a:prstGeom prst="rightArrow">
            <a:avLst/>
          </a:prstGeom>
          <a:solidFill>
            <a:srgbClr val="DCE6F2">
              <a:alpha val="3922"/>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3" name="Title 3"/>
          <p:cNvSpPr txBox="1">
            <a:spLocks/>
          </p:cNvSpPr>
          <p:nvPr/>
        </p:nvSpPr>
        <p:spPr>
          <a:xfrm>
            <a:off x="7544509" y="4770430"/>
            <a:ext cx="1368152" cy="119618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APU</a:t>
            </a:r>
          </a:p>
          <a:p>
            <a:pPr algn="l"/>
            <a:r>
              <a:rPr lang="fr-FR" sz="1600" i="1" dirty="0" err="1">
                <a:latin typeface="+mn-lt"/>
              </a:rPr>
              <a:t>Accelerated</a:t>
            </a:r>
            <a:r>
              <a:rPr lang="fr-FR" sz="1600" i="1" dirty="0">
                <a:latin typeface="+mn-lt"/>
              </a:rPr>
              <a:t> Processor Unit</a:t>
            </a:r>
          </a:p>
        </p:txBody>
      </p:sp>
      <p:cxnSp>
        <p:nvCxnSpPr>
          <p:cNvPr id="55" name="Straight Connector 54"/>
          <p:cNvCxnSpPr/>
          <p:nvPr/>
        </p:nvCxnSpPr>
        <p:spPr>
          <a:xfrm flipH="1">
            <a:off x="7430136" y="3402371"/>
            <a:ext cx="1544425" cy="13752"/>
          </a:xfrm>
          <a:prstGeom prst="line">
            <a:avLst/>
          </a:prstGeom>
          <a:ln w="28575">
            <a:solidFill>
              <a:schemeClr val="accent1">
                <a:lumMod val="20000"/>
                <a:lumOff val="8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6" name="Title 3"/>
          <p:cNvSpPr txBox="1">
            <a:spLocks/>
          </p:cNvSpPr>
          <p:nvPr/>
        </p:nvSpPr>
        <p:spPr>
          <a:xfrm>
            <a:off x="7430135" y="2977199"/>
            <a:ext cx="1544425" cy="432048"/>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1800" b="1" i="1" dirty="0">
                <a:effectLst>
                  <a:outerShdw blurRad="38100" dist="38100" dir="2700000" algn="tl">
                    <a:srgbClr val="000000">
                      <a:alpha val="43137"/>
                    </a:srgbClr>
                  </a:outerShdw>
                </a:effectLst>
                <a:latin typeface="+mn-lt"/>
              </a:rPr>
              <a:t>Spécialisés</a:t>
            </a:r>
          </a:p>
        </p:txBody>
      </p:sp>
      <p:sp>
        <p:nvSpPr>
          <p:cNvPr id="2" name="Rectangle 1"/>
          <p:cNvSpPr/>
          <p:nvPr/>
        </p:nvSpPr>
        <p:spPr>
          <a:xfrm>
            <a:off x="166941" y="46484"/>
            <a:ext cx="8794470" cy="1384995"/>
          </a:xfrm>
          <a:prstGeom prst="rect">
            <a:avLst/>
          </a:prstGeom>
        </p:spPr>
        <p:txBody>
          <a:bodyPr wrap="square">
            <a:spAutoFit/>
          </a:bodyPr>
          <a:lstStyle/>
          <a:p>
            <a:endParaRPr lang="fr-FR" sz="1400" b="1" i="1" cap="all" spc="200" dirty="0">
              <a:solidFill>
                <a:srgbClr val="FFFFCC"/>
              </a:solidFill>
              <a:effectLst>
                <a:outerShdw blurRad="38100" dist="38100" dir="2700000" algn="tl">
                  <a:srgbClr val="000000">
                    <a:alpha val="43137"/>
                  </a:srgbClr>
                </a:outerShdw>
              </a:effectLst>
              <a:latin typeface="Calibri"/>
              <a:cs typeface="Calibri"/>
            </a:endParaRPr>
          </a:p>
          <a:p>
            <a:pPr algn="ctr"/>
            <a:br>
              <a:rPr lang="fr-FR" sz="1400" b="1" i="1" cap="all" spc="200" dirty="0">
                <a:solidFill>
                  <a:srgbClr val="FFFFCC"/>
                </a:solidFill>
                <a:effectLst>
                  <a:outerShdw blurRad="38100" dist="38100" dir="2700000" algn="tl">
                    <a:srgbClr val="000000">
                      <a:alpha val="43137"/>
                    </a:srgbClr>
                  </a:outerShdw>
                </a:effectLst>
                <a:latin typeface="Calibri"/>
                <a:cs typeface="Calibri"/>
              </a:rPr>
            </a:br>
            <a:r>
              <a:rPr lang="fr-FR" sz="2700" b="1" i="1" cap="all" spc="200" dirty="0">
                <a:solidFill>
                  <a:schemeClr val="bg1"/>
                </a:solidFill>
                <a:effectLst>
                  <a:outerShdw blurRad="38100" dist="38100" dir="2700000" algn="tl">
                    <a:srgbClr val="000000">
                      <a:alpha val="43137"/>
                    </a:srgbClr>
                  </a:outerShdw>
                </a:effectLst>
                <a:latin typeface="+mj-lt"/>
                <a:cs typeface="Calibri"/>
              </a:rPr>
              <a:t>Famille de processeurs</a:t>
            </a:r>
            <a:br>
              <a:rPr lang="fr-FR" sz="2700" b="1" i="1" cap="all" spc="200" dirty="0">
                <a:solidFill>
                  <a:schemeClr val="bg1"/>
                </a:solidFill>
                <a:effectLst>
                  <a:outerShdw blurRad="38100" dist="38100" dir="2700000" algn="tl">
                    <a:srgbClr val="000000">
                      <a:alpha val="43137"/>
                    </a:srgbClr>
                  </a:outerShdw>
                </a:effectLst>
                <a:latin typeface="+mj-lt"/>
                <a:cs typeface="Calibri"/>
              </a:rPr>
            </a:br>
            <a:endParaRPr lang="fr-FR" sz="2700" b="1" i="1" cap="all" spc="200" dirty="0">
              <a:solidFill>
                <a:schemeClr val="bg1"/>
              </a:solidFill>
              <a:effectLst>
                <a:outerShdw blurRad="38100" dist="38100" dir="2700000" algn="tl">
                  <a:srgbClr val="000000">
                    <a:alpha val="43137"/>
                  </a:srgbClr>
                </a:outerShdw>
              </a:effectLst>
              <a:latin typeface="+mj-lt"/>
              <a:cs typeface="Calibri"/>
            </a:endParaRPr>
          </a:p>
        </p:txBody>
      </p:sp>
    </p:spTree>
    <p:extLst>
      <p:ext uri="{BB962C8B-B14F-4D97-AF65-F5344CB8AC3E}">
        <p14:creationId xmlns:p14="http://schemas.microsoft.com/office/powerpoint/2010/main" val="2229487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00"/>
                                        <p:tgtEl>
                                          <p:spTgt spid="45"/>
                                        </p:tgtEl>
                                      </p:cBhvr>
                                    </p:animEffect>
                                  </p:childTnLst>
                                </p:cTn>
                              </p:par>
                              <p:par>
                                <p:cTn id="47" presetID="10" presetClass="entr" presetSubtype="0"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fade">
                                      <p:cBhvr>
                                        <p:cTn id="49" dur="500"/>
                                        <p:tgtEl>
                                          <p:spTgt spid="4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500"/>
                                        <p:tgtEl>
                                          <p:spTgt spid="5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fade">
                                      <p:cBhvr>
                                        <p:cTn id="58" dur="500"/>
                                        <p:tgtEl>
                                          <p:spTgt spid="50"/>
                                        </p:tgtEl>
                                      </p:cBhvr>
                                    </p:animEffect>
                                  </p:childTnLst>
                                </p:cTn>
                              </p:par>
                              <p:par>
                                <p:cTn id="59" presetID="10"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500"/>
                                        <p:tgtEl>
                                          <p:spTgt spid="5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500"/>
                                        <p:tgtEl>
                                          <p:spTgt spid="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fade">
                                      <p:cBhvr>
                                        <p:cTn id="83" dur="500"/>
                                        <p:tgtEl>
                                          <p:spTgt spid="5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500"/>
                                        <p:tgtEl>
                                          <p:spTgt spid="2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58"/>
                                        </p:tgtEl>
                                        <p:attrNameLst>
                                          <p:attrName>style.visibility</p:attrName>
                                        </p:attrNameLst>
                                      </p:cBhvr>
                                      <p:to>
                                        <p:strVal val="visible"/>
                                      </p:to>
                                    </p:set>
                                    <p:animEffect transition="in" filter="fade">
                                      <p:cBhvr>
                                        <p:cTn id="106" dur="500"/>
                                        <p:tgtEl>
                                          <p:spTgt spid="5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fade">
                                      <p:cBhvr>
                                        <p:cTn id="109" dur="500"/>
                                        <p:tgtEl>
                                          <p:spTgt spid="4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500"/>
                                        <p:tgtEl>
                                          <p:spTgt spid="48"/>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5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4"/>
                                        </p:tgtEl>
                                        <p:attrNameLst>
                                          <p:attrName>style.visibility</p:attrName>
                                        </p:attrNameLst>
                                      </p:cBhvr>
                                      <p:to>
                                        <p:strVal val="visible"/>
                                      </p:to>
                                    </p:set>
                                    <p:animEffect transition="in" filter="fade">
                                      <p:cBhvr>
                                        <p:cTn id="120" dur="500"/>
                                        <p:tgtEl>
                                          <p:spTgt spid="5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fade">
                                      <p:cBhvr>
                                        <p:cTn id="123" dur="500"/>
                                        <p:tgtEl>
                                          <p:spTgt spid="43"/>
                                        </p:tgtEl>
                                      </p:cBhvr>
                                    </p:animEffect>
                                  </p:childTnLst>
                                </p:cTn>
                              </p:par>
                              <p:par>
                                <p:cTn id="124" presetID="10" presetClass="entr" presetSubtype="0" fill="hold" nodeType="withEffect">
                                  <p:stCondLst>
                                    <p:cond delay="0"/>
                                  </p:stCondLst>
                                  <p:childTnLst>
                                    <p:set>
                                      <p:cBhvr>
                                        <p:cTn id="125" dur="1" fill="hold">
                                          <p:stCondLst>
                                            <p:cond delay="0"/>
                                          </p:stCondLst>
                                        </p:cTn>
                                        <p:tgtEl>
                                          <p:spTgt spid="55"/>
                                        </p:tgtEl>
                                        <p:attrNameLst>
                                          <p:attrName>style.visibility</p:attrName>
                                        </p:attrNameLst>
                                      </p:cBhvr>
                                      <p:to>
                                        <p:strVal val="visible"/>
                                      </p:to>
                                    </p:set>
                                    <p:animEffect transition="in" filter="fade">
                                      <p:cBhvr>
                                        <p:cTn id="126" dur="500"/>
                                        <p:tgtEl>
                                          <p:spTgt spid="55"/>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6"/>
                                        </p:tgtEl>
                                        <p:attrNameLst>
                                          <p:attrName>style.visibility</p:attrName>
                                        </p:attrNameLst>
                                      </p:cBhvr>
                                      <p:to>
                                        <p:strVal val="visible"/>
                                      </p:to>
                                    </p:set>
                                    <p:animEffect transition="in" filter="fade">
                                      <p:cBhvr>
                                        <p:cTn id="12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P spid="25" grpId="0"/>
      <p:bldP spid="29" grpId="0"/>
      <p:bldP spid="30" grpId="0"/>
      <p:bldP spid="31" grpId="0"/>
      <p:bldP spid="32" grpId="0"/>
      <p:bldP spid="33" grpId="0"/>
      <p:bldP spid="34" grpId="0" animBg="1"/>
      <p:bldP spid="36" grpId="0"/>
      <p:bldP spid="37" grpId="0" animBg="1"/>
      <p:bldP spid="38" grpId="0"/>
      <p:bldP spid="39" grpId="0" animBg="1"/>
      <p:bldP spid="40" grpId="0" animBg="1"/>
      <p:bldP spid="41" grpId="0" animBg="1"/>
      <p:bldP spid="42" grpId="0" animBg="1"/>
      <p:bldP spid="45" grpId="0"/>
      <p:bldP spid="51" grpId="0"/>
      <p:bldP spid="52" grpId="0"/>
      <p:bldP spid="58" grpId="0" animBg="1"/>
      <p:bldP spid="47" grpId="0" animBg="1"/>
      <p:bldP spid="48" grpId="0"/>
      <p:bldP spid="49" grpId="0" animBg="1"/>
      <p:bldP spid="54" grpId="0"/>
      <p:bldP spid="50" grpId="0"/>
      <p:bldP spid="62" grpId="0" animBg="1"/>
      <p:bldP spid="63" grpId="0" animBg="1"/>
      <p:bldP spid="64" grpId="0" animBg="1"/>
      <p:bldP spid="43" grpId="0"/>
      <p:bldP spid="5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p:cNvSpPr txBox="1">
            <a:spLocks/>
          </p:cNvSpPr>
          <p:nvPr/>
        </p:nvSpPr>
        <p:spPr>
          <a:xfrm>
            <a:off x="1563788" y="0"/>
            <a:ext cx="7580212" cy="126876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400" b="1" i="1" dirty="0">
              <a:solidFill>
                <a:schemeClr val="accent1">
                  <a:lumMod val="20000"/>
                  <a:lumOff val="80000"/>
                </a:schemeClr>
              </a:solidFill>
              <a:effectLst>
                <a:outerShdw blurRad="38100" dist="38100" dir="2700000" algn="tl">
                  <a:srgbClr val="000000">
                    <a:alpha val="43137"/>
                  </a:srgbClr>
                </a:outerShdw>
              </a:effectLst>
              <a:latin typeface="+mn-lt"/>
            </a:endParaRPr>
          </a:p>
        </p:txBody>
      </p:sp>
      <p:sp>
        <p:nvSpPr>
          <p:cNvPr id="9" name="Slide Number Placeholder 5"/>
          <p:cNvSpPr>
            <a:spLocks noGrp="1"/>
          </p:cNvSpPr>
          <p:nvPr>
            <p:ph type="sldNum" sz="quarter" idx="12"/>
          </p:nvPr>
        </p:nvSpPr>
        <p:spPr>
          <a:xfrm>
            <a:off x="7520012" y="6367879"/>
            <a:ext cx="1763688" cy="365125"/>
          </a:xfrm>
        </p:spPr>
        <p:txBody>
          <a:bodyPr/>
          <a:lstStyle/>
          <a:p>
            <a:fld id="{6B6F9A8F-BF42-49C4-B13D-A9E60ACFB25C}" type="slidenum">
              <a:rPr lang="fr-FR" sz="1600" b="1" i="1" smtClean="0">
                <a:solidFill>
                  <a:schemeClr val="accent1">
                    <a:lumMod val="20000"/>
                    <a:lumOff val="80000"/>
                  </a:schemeClr>
                </a:solidFill>
              </a:rPr>
              <a:t>12</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47" name="Title 3"/>
          <p:cNvSpPr txBox="1">
            <a:spLocks/>
          </p:cNvSpPr>
          <p:nvPr/>
        </p:nvSpPr>
        <p:spPr>
          <a:xfrm>
            <a:off x="539552" y="1844824"/>
            <a:ext cx="8604448" cy="861939"/>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itchFamily="34" charset="0"/>
              <a:buChar char="•"/>
            </a:pPr>
            <a:r>
              <a:rPr lang="fr-FR" sz="2400" b="1" i="1" dirty="0">
                <a:effectLst>
                  <a:outerShdw blurRad="38100" dist="38100" dir="2700000" algn="tl">
                    <a:srgbClr val="000000">
                      <a:alpha val="43137"/>
                    </a:srgbClr>
                  </a:outerShdw>
                </a:effectLst>
                <a:latin typeface="+mn-lt"/>
              </a:rPr>
              <a:t>Focus sur les architectures à CPU :	</a:t>
            </a:r>
          </a:p>
          <a:p>
            <a:pPr algn="l"/>
            <a:r>
              <a:rPr lang="fr-FR" sz="2400" i="1" dirty="0">
                <a:latin typeface="+mn-lt"/>
              </a:rPr>
              <a:t>  </a:t>
            </a:r>
            <a:r>
              <a:rPr lang="fr-FR" sz="1600" spc="-10" dirty="0">
                <a:solidFill>
                  <a:schemeClr val="tx2"/>
                </a:solidFill>
                <a:latin typeface="Arial"/>
                <a:ea typeface="+mn-ea"/>
                <a:cs typeface="Arial"/>
              </a:rPr>
              <a:t>Ils travaillent autour d’une ou plusieurs unités centrales de traitement ou </a:t>
            </a:r>
            <a:r>
              <a:rPr lang="fr-FR" sz="1600" spc="-10" dirty="0" err="1">
                <a:solidFill>
                  <a:schemeClr val="tx2"/>
                </a:solidFill>
                <a:latin typeface="Arial"/>
                <a:ea typeface="+mn-ea"/>
                <a:cs typeface="Arial"/>
              </a:rPr>
              <a:t>CPU’s</a:t>
            </a:r>
            <a:r>
              <a:rPr lang="fr-FR" sz="1600" spc="-10" dirty="0">
                <a:solidFill>
                  <a:schemeClr val="tx2"/>
                </a:solidFill>
                <a:latin typeface="Arial"/>
                <a:ea typeface="+mn-ea"/>
                <a:cs typeface="Arial"/>
              </a:rPr>
              <a:t>. </a:t>
            </a:r>
          </a:p>
          <a:p>
            <a:pPr algn="l"/>
            <a:r>
              <a:rPr lang="fr-FR" sz="1600" spc="-10" dirty="0">
                <a:solidFill>
                  <a:schemeClr val="tx2"/>
                </a:solidFill>
                <a:latin typeface="Arial"/>
                <a:ea typeface="+mn-ea"/>
                <a:cs typeface="Arial"/>
              </a:rPr>
              <a:t>   Ils possèdent tous la même architecture.</a:t>
            </a:r>
            <a:r>
              <a:rPr lang="fr-FR" sz="1600" spc="-10" dirty="0">
                <a:solidFill>
                  <a:schemeClr val="tx2"/>
                </a:solidFill>
                <a:latin typeface="Arial"/>
                <a:ea typeface="+mn-ea"/>
                <a:cs typeface="Arial"/>
                <a:sym typeface="Wingdings"/>
              </a:rPr>
              <a:t>	</a:t>
            </a:r>
            <a:r>
              <a:rPr lang="fr-FR" sz="2400" i="1" dirty="0">
                <a:latin typeface="+mn-lt"/>
                <a:sym typeface="Wingdings"/>
              </a:rPr>
              <a:t>	</a:t>
            </a:r>
            <a:endParaRPr lang="fr-FR" sz="2400" i="1" dirty="0">
              <a:latin typeface="+mn-lt"/>
            </a:endParaRPr>
          </a:p>
        </p:txBody>
      </p:sp>
      <p:sp>
        <p:nvSpPr>
          <p:cNvPr id="49" name="Rectangle à coins arrondis 49"/>
          <p:cNvSpPr/>
          <p:nvPr/>
        </p:nvSpPr>
        <p:spPr>
          <a:xfrm>
            <a:off x="3219092" y="5588947"/>
            <a:ext cx="1216024" cy="953396"/>
          </a:xfrm>
          <a:prstGeom prst="roundRect">
            <a:avLst>
              <a:gd name="adj" fmla="val 16314"/>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grpSp>
        <p:nvGrpSpPr>
          <p:cNvPr id="4" name="Groupe 3">
            <a:extLst>
              <a:ext uri="{FF2B5EF4-FFF2-40B4-BE49-F238E27FC236}">
                <a16:creationId xmlns:a16="http://schemas.microsoft.com/office/drawing/2014/main" id="{DFB60594-227D-6CA1-73E0-B76444B82846}"/>
              </a:ext>
            </a:extLst>
          </p:cNvPr>
          <p:cNvGrpSpPr/>
          <p:nvPr/>
        </p:nvGrpSpPr>
        <p:grpSpPr>
          <a:xfrm>
            <a:off x="3029448" y="4012560"/>
            <a:ext cx="2709571" cy="2673799"/>
            <a:chOff x="3029448" y="4012560"/>
            <a:chExt cx="2709571" cy="2673799"/>
          </a:xfrm>
        </p:grpSpPr>
        <p:sp>
          <p:nvSpPr>
            <p:cNvPr id="48" name="Rectangle à coins arrondis 48"/>
            <p:cNvSpPr/>
            <p:nvPr/>
          </p:nvSpPr>
          <p:spPr>
            <a:xfrm>
              <a:off x="3029448" y="4012560"/>
              <a:ext cx="2481766" cy="2673799"/>
            </a:xfrm>
            <a:prstGeom prst="roundRect">
              <a:avLst>
                <a:gd name="adj" fmla="val 10320"/>
              </a:avLst>
            </a:prstGeom>
            <a:solidFill>
              <a:srgbClr val="DCE6F2">
                <a:alpha val="65098"/>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0" name="ZoneTexte 50"/>
            <p:cNvSpPr txBox="1"/>
            <p:nvPr/>
          </p:nvSpPr>
          <p:spPr>
            <a:xfrm>
              <a:off x="3219092" y="5588947"/>
              <a:ext cx="1402349" cy="961495"/>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Processing</a:t>
              </a:r>
              <a:endParaRPr lang="fr-FR" b="1" i="1" dirty="0">
                <a:solidFill>
                  <a:schemeClr val="accent1">
                    <a:lumMod val="75000"/>
                  </a:schemeClr>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Unit</a:t>
              </a:r>
            </a:p>
          </p:txBody>
        </p:sp>
        <p:sp>
          <p:nvSpPr>
            <p:cNvPr id="54" name="Rectangle à coins arrondis 51"/>
            <p:cNvSpPr/>
            <p:nvPr/>
          </p:nvSpPr>
          <p:spPr>
            <a:xfrm>
              <a:off x="3219092" y="4171310"/>
              <a:ext cx="1242076" cy="55086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5" name="Rectangle à coins arrondis 52"/>
            <p:cNvSpPr/>
            <p:nvPr/>
          </p:nvSpPr>
          <p:spPr>
            <a:xfrm rot="5400000">
              <a:off x="3980986" y="5084916"/>
              <a:ext cx="2149228" cy="455612"/>
            </a:xfrm>
            <a:prstGeom prst="roundRect">
              <a:avLst>
                <a:gd name="adj" fmla="val 29135"/>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6" name="ZoneTexte 53"/>
            <p:cNvSpPr txBox="1"/>
            <p:nvPr/>
          </p:nvSpPr>
          <p:spPr>
            <a:xfrm rot="5400000">
              <a:off x="3998386" y="5129858"/>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Peripherals</a:t>
              </a:r>
              <a:endParaRPr lang="fr-FR" sz="1600" b="1"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4" name="ZoneTexte 58"/>
            <p:cNvSpPr txBox="1"/>
            <p:nvPr/>
          </p:nvSpPr>
          <p:spPr>
            <a:xfrm>
              <a:off x="3916569" y="4797472"/>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Buses</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5" name="Double flèche verticale 60"/>
            <p:cNvSpPr/>
            <p:nvPr/>
          </p:nvSpPr>
          <p:spPr>
            <a:xfrm rot="5400000">
              <a:off x="5392944" y="4967019"/>
              <a:ext cx="236538" cy="455613"/>
            </a:xfrm>
            <a:prstGeom prst="upDownArrow">
              <a:avLst>
                <a:gd name="adj1" fmla="val 35261"/>
                <a:gd name="adj2" fmla="val 32369"/>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ZoneTexte 61"/>
            <p:cNvSpPr txBox="1"/>
            <p:nvPr/>
          </p:nvSpPr>
          <p:spPr>
            <a:xfrm>
              <a:off x="3219092" y="4249097"/>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7" name="Up Arrow 66"/>
            <p:cNvSpPr/>
            <p:nvPr/>
          </p:nvSpPr>
          <p:spPr>
            <a:xfrm flipV="1">
              <a:off x="3649657" y="5174191"/>
              <a:ext cx="266912" cy="42983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Up Arrow 67"/>
            <p:cNvSpPr/>
            <p:nvPr/>
          </p:nvSpPr>
          <p:spPr>
            <a:xfrm rot="5400000">
              <a:off x="4135104" y="4655214"/>
              <a:ext cx="308490" cy="107689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Up Arrow 68"/>
            <p:cNvSpPr/>
            <p:nvPr/>
          </p:nvSpPr>
          <p:spPr>
            <a:xfrm>
              <a:off x="3649657" y="4731907"/>
              <a:ext cx="266912" cy="442284"/>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 name="Rectangle 1"/>
          <p:cNvSpPr/>
          <p:nvPr/>
        </p:nvSpPr>
        <p:spPr>
          <a:xfrm>
            <a:off x="159605" y="90497"/>
            <a:ext cx="8833470" cy="954107"/>
          </a:xfrm>
          <a:prstGeom prst="rect">
            <a:avLst/>
          </a:prstGeom>
        </p:spPr>
        <p:txBody>
          <a:bodyPr wrap="square">
            <a:spAutoFit/>
          </a:bodyPr>
          <a:lstStyle/>
          <a:p>
            <a:pPr algn="ctr"/>
            <a:br>
              <a:rPr lang="fr-FR" sz="1400" b="1" i="1" cap="all" spc="200" dirty="0">
                <a:solidFill>
                  <a:srgbClr val="FFFFCC"/>
                </a:solidFill>
                <a:effectLst>
                  <a:outerShdw blurRad="38100" dist="38100" dir="2700000" algn="tl">
                    <a:srgbClr val="000000">
                      <a:alpha val="43137"/>
                    </a:srgbClr>
                  </a:outerShdw>
                </a:effectLst>
                <a:latin typeface="Calibri"/>
                <a:cs typeface="Calibri"/>
              </a:rPr>
            </a:br>
            <a:r>
              <a:rPr lang="fr-FR" sz="2700" b="1" i="1" cap="all" spc="200" dirty="0">
                <a:solidFill>
                  <a:schemeClr val="bg1"/>
                </a:solidFill>
                <a:effectLst>
                  <a:outerShdw blurRad="38100" dist="38100" dir="2700000" algn="tl">
                    <a:srgbClr val="000000">
                      <a:alpha val="43137"/>
                    </a:srgbClr>
                  </a:outerShdw>
                </a:effectLst>
                <a:latin typeface="+mj-lt"/>
                <a:cs typeface="Calibri"/>
              </a:rPr>
              <a:t>Architecture à CPU</a:t>
            </a:r>
            <a:br>
              <a:rPr lang="fr-FR" sz="1400" b="1" i="1" cap="all" spc="200" dirty="0">
                <a:solidFill>
                  <a:srgbClr val="FF0000"/>
                </a:solidFill>
                <a:effectLst>
                  <a:outerShdw blurRad="38100" dist="38100" dir="2700000" algn="tl">
                    <a:srgbClr val="000000">
                      <a:alpha val="43137"/>
                    </a:srgbClr>
                  </a:outerShdw>
                </a:effectLst>
                <a:latin typeface="Calibri"/>
                <a:cs typeface="Calibri"/>
              </a:rPr>
            </a:br>
            <a:endParaRPr lang="fr-FR" sz="1400" b="1" i="1" cap="all" spc="200" dirty="0">
              <a:solidFill>
                <a:srgbClr val="FFFFCC"/>
              </a:solidFill>
              <a:effectLst>
                <a:outerShdw blurRad="38100" dist="38100" dir="2700000" algn="tl">
                  <a:srgbClr val="000000">
                    <a:alpha val="43137"/>
                  </a:srgbClr>
                </a:outerShdw>
              </a:effectLst>
              <a:latin typeface="Calibri"/>
              <a:cs typeface="Calibri"/>
            </a:endParaRPr>
          </a:p>
        </p:txBody>
      </p:sp>
      <p:sp>
        <p:nvSpPr>
          <p:cNvPr id="3" name="Rectangle 2"/>
          <p:cNvSpPr/>
          <p:nvPr/>
        </p:nvSpPr>
        <p:spPr>
          <a:xfrm>
            <a:off x="5739020" y="2429095"/>
            <a:ext cx="3254055" cy="2369880"/>
          </a:xfrm>
          <a:prstGeom prst="rect">
            <a:avLst/>
          </a:prstGeom>
        </p:spPr>
        <p:txBody>
          <a:bodyPr wrap="square">
            <a:spAutoFit/>
          </a:bodyPr>
          <a:lstStyle/>
          <a:p>
            <a:endParaRPr lang="fr-FR" dirty="0"/>
          </a:p>
          <a:p>
            <a:endParaRPr lang="fr-FR" dirty="0"/>
          </a:p>
          <a:p>
            <a:r>
              <a:rPr lang="fr-FR" sz="1400" b="1" spc="-10" dirty="0">
                <a:solidFill>
                  <a:schemeClr val="tx2"/>
                </a:solidFill>
                <a:latin typeface="Arial"/>
                <a:cs typeface="Arial"/>
              </a:rPr>
              <a:t>Une représentation fonctionnelle:</a:t>
            </a:r>
          </a:p>
          <a:p>
            <a:pPr marL="285750" indent="-285750">
              <a:buFont typeface="Arial"/>
              <a:buChar char="•"/>
            </a:pPr>
            <a:r>
              <a:rPr lang="fr-FR" sz="1400" spc="-10" dirty="0">
                <a:solidFill>
                  <a:schemeClr val="tx2"/>
                </a:solidFill>
                <a:latin typeface="Arial"/>
                <a:cs typeface="Arial"/>
              </a:rPr>
              <a:t>Les bloc sont des puces en silicium</a:t>
            </a:r>
          </a:p>
          <a:p>
            <a:pPr marL="285750" indent="-285750">
              <a:buFont typeface="Arial"/>
              <a:buChar char="•"/>
            </a:pPr>
            <a:r>
              <a:rPr lang="fr-FR" sz="1400" spc="-10" dirty="0">
                <a:solidFill>
                  <a:schemeClr val="tx2"/>
                </a:solidFill>
                <a:latin typeface="Arial"/>
                <a:cs typeface="Arial"/>
              </a:rPr>
              <a:t>Les buses des réseau de fils pour faire communiquer les éléments entre eux </a:t>
            </a:r>
          </a:p>
          <a:p>
            <a:pPr marL="285750" indent="-285750">
              <a:buFont typeface="Arial"/>
              <a:buChar char="•"/>
            </a:pPr>
            <a:r>
              <a:rPr lang="fr-FR" sz="1400" spc="-10" dirty="0">
                <a:solidFill>
                  <a:schemeClr val="tx2"/>
                </a:solidFill>
                <a:latin typeface="Arial"/>
                <a:cs typeface="Arial"/>
              </a:rPr>
              <a:t>Ces composant sont programmables et reprogrammables</a:t>
            </a:r>
          </a:p>
        </p:txBody>
      </p:sp>
    </p:spTree>
    <p:extLst>
      <p:ext uri="{BB962C8B-B14F-4D97-AF65-F5344CB8AC3E}">
        <p14:creationId xmlns:p14="http://schemas.microsoft.com/office/powerpoint/2010/main" val="81536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p:cNvSpPr txBox="1">
            <a:spLocks/>
          </p:cNvSpPr>
          <p:nvPr/>
        </p:nvSpPr>
        <p:spPr>
          <a:xfrm>
            <a:off x="1563788" y="0"/>
            <a:ext cx="7580212" cy="126876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400" b="1" i="1" dirty="0">
              <a:solidFill>
                <a:schemeClr val="accent1">
                  <a:lumMod val="20000"/>
                  <a:lumOff val="80000"/>
                </a:schemeClr>
              </a:solidFill>
              <a:effectLst>
                <a:outerShdw blurRad="38100" dist="38100" dir="2700000" algn="tl">
                  <a:srgbClr val="000000">
                    <a:alpha val="43137"/>
                  </a:srgbClr>
                </a:outerShdw>
              </a:effectLst>
              <a:latin typeface="+mn-lt"/>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13</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47" name="Title 3"/>
          <p:cNvSpPr txBox="1">
            <a:spLocks/>
          </p:cNvSpPr>
          <p:nvPr/>
        </p:nvSpPr>
        <p:spPr>
          <a:xfrm>
            <a:off x="269776" y="1856022"/>
            <a:ext cx="8604448" cy="936104"/>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La mémoire :</a:t>
            </a:r>
            <a:r>
              <a:rPr lang="fr-FR" sz="1600" spc="-10" dirty="0">
                <a:solidFill>
                  <a:schemeClr val="tx2"/>
                </a:solidFill>
                <a:latin typeface="Arial"/>
                <a:ea typeface="+mn-ea"/>
                <a:cs typeface="Arial"/>
              </a:rPr>
              <a:t>:</a:t>
            </a:r>
            <a:r>
              <a:rPr lang="fr-FR" sz="2400" i="1" dirty="0">
                <a:latin typeface="+mn-lt"/>
                <a:sym typeface="Wingdings"/>
              </a:rPr>
              <a:t>		</a:t>
            </a:r>
            <a:endParaRPr lang="fr-FR" sz="2400" i="1" dirty="0">
              <a:latin typeface="+mn-lt"/>
            </a:endParaRPr>
          </a:p>
        </p:txBody>
      </p:sp>
      <p:sp>
        <p:nvSpPr>
          <p:cNvPr id="48" name="Rectangle à coins arrondis 48"/>
          <p:cNvSpPr/>
          <p:nvPr/>
        </p:nvSpPr>
        <p:spPr>
          <a:xfrm>
            <a:off x="371527" y="3145773"/>
            <a:ext cx="2481766" cy="2673799"/>
          </a:xfrm>
          <a:prstGeom prst="roundRect">
            <a:avLst>
              <a:gd name="adj" fmla="val 10320"/>
            </a:avLst>
          </a:prstGeom>
          <a:solidFill>
            <a:srgbClr val="DCE6F2">
              <a:alpha val="65098"/>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9" name="Rectangle à coins arrondis 49"/>
          <p:cNvSpPr/>
          <p:nvPr/>
        </p:nvSpPr>
        <p:spPr>
          <a:xfrm>
            <a:off x="561171" y="4722160"/>
            <a:ext cx="1216024" cy="953396"/>
          </a:xfrm>
          <a:prstGeom prst="roundRect">
            <a:avLst>
              <a:gd name="adj" fmla="val 16314"/>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0" name="ZoneTexte 50"/>
          <p:cNvSpPr txBox="1"/>
          <p:nvPr/>
        </p:nvSpPr>
        <p:spPr>
          <a:xfrm>
            <a:off x="561171" y="4722160"/>
            <a:ext cx="1608702" cy="961495"/>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Processing</a:t>
            </a:r>
            <a:endParaRPr lang="fr-FR" b="1" i="1" dirty="0">
              <a:solidFill>
                <a:schemeClr val="accent1">
                  <a:lumMod val="75000"/>
                </a:schemeClr>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Unit</a:t>
            </a:r>
          </a:p>
        </p:txBody>
      </p:sp>
      <p:sp>
        <p:nvSpPr>
          <p:cNvPr id="54" name="Rectangle à coins arrondis 51"/>
          <p:cNvSpPr/>
          <p:nvPr/>
        </p:nvSpPr>
        <p:spPr>
          <a:xfrm>
            <a:off x="561171" y="3304523"/>
            <a:ext cx="1242076" cy="550862"/>
          </a:xfrm>
          <a:prstGeom prst="roundRect">
            <a:avLst>
              <a:gd name="adj" fmla="val 27611"/>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5" name="Rectangle à coins arrondis 52"/>
          <p:cNvSpPr/>
          <p:nvPr/>
        </p:nvSpPr>
        <p:spPr>
          <a:xfrm rot="5400000">
            <a:off x="1323065" y="4218129"/>
            <a:ext cx="2149228" cy="455612"/>
          </a:xfrm>
          <a:prstGeom prst="roundRect">
            <a:avLst>
              <a:gd name="adj" fmla="val 29135"/>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6" name="ZoneTexte 53"/>
          <p:cNvSpPr txBox="1"/>
          <p:nvPr/>
        </p:nvSpPr>
        <p:spPr>
          <a:xfrm rot="5400000">
            <a:off x="1340465" y="4263071"/>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Peripherals</a:t>
            </a:r>
            <a:endParaRPr lang="fr-FR" sz="1600" b="1"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4" name="ZoneTexte 58"/>
          <p:cNvSpPr txBox="1"/>
          <p:nvPr/>
        </p:nvSpPr>
        <p:spPr>
          <a:xfrm>
            <a:off x="1258648" y="3930685"/>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Buses</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5" name="Double flèche verticale 60"/>
          <p:cNvSpPr/>
          <p:nvPr/>
        </p:nvSpPr>
        <p:spPr>
          <a:xfrm rot="5400000">
            <a:off x="2735023" y="4100232"/>
            <a:ext cx="236538" cy="455613"/>
          </a:xfrm>
          <a:prstGeom prst="upDownArrow">
            <a:avLst>
              <a:gd name="adj1" fmla="val 35261"/>
              <a:gd name="adj2" fmla="val 32369"/>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ZoneTexte 61"/>
          <p:cNvSpPr txBox="1"/>
          <p:nvPr/>
        </p:nvSpPr>
        <p:spPr>
          <a:xfrm>
            <a:off x="561171" y="3382310"/>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Memory</a:t>
            </a:r>
            <a:endParaRPr lang="fr-FR" sz="1600" i="1" dirty="0">
              <a:solidFill>
                <a:srgbClr val="00B050"/>
              </a:solidFill>
              <a:effectLst>
                <a:outerShdw blurRad="38100" dist="38100" dir="2700000" algn="tl">
                  <a:srgbClr val="000000">
                    <a:alpha val="43137"/>
                  </a:srgbClr>
                </a:outerShdw>
              </a:effectLst>
              <a:latin typeface="+mn-lt"/>
              <a:cs typeface="+mn-cs"/>
            </a:endParaRPr>
          </a:p>
        </p:txBody>
      </p:sp>
      <p:sp>
        <p:nvSpPr>
          <p:cNvPr id="67" name="Up Arrow 66"/>
          <p:cNvSpPr/>
          <p:nvPr/>
        </p:nvSpPr>
        <p:spPr>
          <a:xfrm flipV="1">
            <a:off x="991736" y="4307404"/>
            <a:ext cx="266912" cy="42983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Up Arrow 67"/>
          <p:cNvSpPr/>
          <p:nvPr/>
        </p:nvSpPr>
        <p:spPr>
          <a:xfrm rot="5400000">
            <a:off x="1477183" y="3788427"/>
            <a:ext cx="308490" cy="107689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Up Arrow 68"/>
          <p:cNvSpPr/>
          <p:nvPr/>
        </p:nvSpPr>
        <p:spPr>
          <a:xfrm>
            <a:off x="991736" y="3865120"/>
            <a:ext cx="266912" cy="442284"/>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Title 3"/>
          <p:cNvSpPr txBox="1">
            <a:spLocks/>
          </p:cNvSpPr>
          <p:nvPr/>
        </p:nvSpPr>
        <p:spPr>
          <a:xfrm>
            <a:off x="3220571" y="2022472"/>
            <a:ext cx="5868144" cy="3816425"/>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285750" indent="-285750" algn="l">
              <a:buFont typeface="Arial" panose="020B0604020202020204" pitchFamily="34" charset="0"/>
              <a:buChar char="•"/>
            </a:pPr>
            <a:r>
              <a:rPr lang="fr-FR" sz="1600" spc="-10" dirty="0">
                <a:solidFill>
                  <a:schemeClr val="tx2"/>
                </a:solidFill>
                <a:latin typeface="Arial"/>
                <a:ea typeface="+mn-ea"/>
                <a:cs typeface="Arial"/>
                <a:sym typeface="Wingdings"/>
              </a:rPr>
              <a:t>2 types d’informations sont stockés en mémoire :</a:t>
            </a:r>
          </a:p>
          <a:p>
            <a:pPr algn="l"/>
            <a:endParaRPr lang="fr-FR" sz="2400" i="1" dirty="0">
              <a:latin typeface="+mn-lt"/>
              <a:sym typeface="Wingdings"/>
            </a:endParaRPr>
          </a:p>
          <a:p>
            <a:pPr algn="l"/>
            <a:r>
              <a:rPr lang="fr-FR" sz="1600" b="1" spc="-10" dirty="0">
                <a:solidFill>
                  <a:schemeClr val="tx2"/>
                </a:solidFill>
                <a:latin typeface="Arial"/>
                <a:ea typeface="+mn-ea"/>
                <a:cs typeface="Arial"/>
              </a:rPr>
              <a:t>Code exécutable ou code binaire ou programme ou instructions binaires</a:t>
            </a:r>
            <a:r>
              <a:rPr lang="fr-FR" sz="1600" spc="-10" dirty="0">
                <a:solidFill>
                  <a:schemeClr val="tx2"/>
                </a:solidFill>
                <a:latin typeface="Arial"/>
                <a:ea typeface="+mn-ea"/>
                <a:cs typeface="Arial"/>
              </a:rPr>
              <a:t>: Nous parlerons de mémoire programme (program </a:t>
            </a:r>
            <a:r>
              <a:rPr lang="fr-FR" sz="1600" spc="-10" dirty="0" err="1">
                <a:solidFill>
                  <a:schemeClr val="tx2"/>
                </a:solidFill>
                <a:latin typeface="Arial"/>
                <a:ea typeface="+mn-ea"/>
                <a:cs typeface="Arial"/>
              </a:rPr>
              <a:t>memory</a:t>
            </a:r>
            <a:r>
              <a:rPr lang="fr-FR" sz="1600" spc="-10" dirty="0">
                <a:solidFill>
                  <a:schemeClr val="tx2"/>
                </a:solidFill>
                <a:latin typeface="Arial"/>
                <a:ea typeface="+mn-ea"/>
                <a:cs typeface="Arial"/>
              </a:rPr>
              <a:t>)</a:t>
            </a:r>
          </a:p>
          <a:p>
            <a:pPr algn="l"/>
            <a:endParaRPr lang="fr-FR" sz="1600" spc="-10" dirty="0">
              <a:solidFill>
                <a:schemeClr val="tx2"/>
              </a:solidFill>
              <a:latin typeface="Arial"/>
              <a:ea typeface="+mn-ea"/>
              <a:cs typeface="Arial"/>
            </a:endParaRPr>
          </a:p>
          <a:p>
            <a:pPr algn="l"/>
            <a:r>
              <a:rPr lang="fr-FR" sz="1600" b="1" spc="-10" dirty="0">
                <a:solidFill>
                  <a:schemeClr val="tx2"/>
                </a:solidFill>
                <a:latin typeface="Arial"/>
                <a:ea typeface="+mn-ea"/>
                <a:cs typeface="Arial"/>
              </a:rPr>
              <a:t>Données: </a:t>
            </a:r>
            <a:r>
              <a:rPr lang="fr-FR" sz="1600" spc="-10" dirty="0">
                <a:solidFill>
                  <a:schemeClr val="tx2"/>
                </a:solidFill>
                <a:latin typeface="Arial"/>
                <a:ea typeface="+mn-ea"/>
                <a:cs typeface="Arial"/>
              </a:rPr>
              <a:t>Nous parlerons de mémoire donnée (data </a:t>
            </a:r>
            <a:r>
              <a:rPr lang="fr-FR" sz="1600" spc="-10" dirty="0" err="1">
                <a:solidFill>
                  <a:schemeClr val="tx2"/>
                </a:solidFill>
                <a:latin typeface="Arial"/>
                <a:ea typeface="+mn-ea"/>
                <a:cs typeface="Arial"/>
              </a:rPr>
              <a:t>memory</a:t>
            </a:r>
            <a:r>
              <a:rPr lang="fr-FR" sz="1600" spc="-10" dirty="0">
                <a:solidFill>
                  <a:schemeClr val="tx2"/>
                </a:solidFill>
                <a:latin typeface="Arial"/>
                <a:ea typeface="+mn-ea"/>
                <a:cs typeface="Arial"/>
              </a:rPr>
              <a:t>)</a:t>
            </a:r>
          </a:p>
          <a:p>
            <a:pPr marL="342900" indent="-342900" algn="l">
              <a:buFont typeface="Arial" pitchFamily="34" charset="0"/>
              <a:buChar char="•"/>
            </a:pPr>
            <a:endParaRPr lang="fr-FR" sz="2400" b="1" i="1" dirty="0">
              <a:effectLst>
                <a:outerShdw blurRad="38100" dist="38100" dir="2700000" algn="tl">
                  <a:srgbClr val="000000">
                    <a:alpha val="43137"/>
                  </a:srgbClr>
                </a:outerShdw>
              </a:effectLst>
              <a:latin typeface="+mn-lt"/>
            </a:endParaRPr>
          </a:p>
        </p:txBody>
      </p:sp>
      <p:sp>
        <p:nvSpPr>
          <p:cNvPr id="2" name="Rectangle 1"/>
          <p:cNvSpPr/>
          <p:nvPr/>
        </p:nvSpPr>
        <p:spPr>
          <a:xfrm>
            <a:off x="311943" y="11644"/>
            <a:ext cx="8660313" cy="1138773"/>
          </a:xfrm>
          <a:prstGeom prst="rect">
            <a:avLst/>
          </a:prstGeom>
        </p:spPr>
        <p:txBody>
          <a:bodyPr wrap="square">
            <a:spAutoFit/>
          </a:bodyPr>
          <a:lstStyle/>
          <a:p>
            <a:pPr algn="ctr"/>
            <a:br>
              <a:rPr lang="fr-FR" sz="1400" b="1" i="1" cap="all" spc="200" dirty="0">
                <a:solidFill>
                  <a:srgbClr val="FFFFCC"/>
                </a:solidFill>
                <a:effectLst>
                  <a:outerShdw blurRad="38100" dist="38100" dir="2700000" algn="tl">
                    <a:srgbClr val="000000">
                      <a:alpha val="43137"/>
                    </a:srgbClr>
                  </a:outerShdw>
                </a:effectLst>
                <a:latin typeface="Calibri"/>
                <a:cs typeface="Calibri"/>
              </a:rPr>
            </a:br>
            <a:r>
              <a:rPr lang="fr-FR" sz="2700" b="1" i="1" cap="all" spc="200" dirty="0">
                <a:solidFill>
                  <a:schemeClr val="bg1"/>
                </a:solidFill>
                <a:effectLst>
                  <a:outerShdw blurRad="38100" dist="38100" dir="2700000" algn="tl">
                    <a:srgbClr val="000000">
                      <a:alpha val="43137"/>
                    </a:srgbClr>
                  </a:outerShdw>
                </a:effectLst>
                <a:latin typeface="+mj-lt"/>
                <a:cs typeface="Calibri"/>
              </a:rPr>
              <a:t>Architecture à CPU</a:t>
            </a:r>
            <a:br>
              <a:rPr lang="fr-FR" sz="2700" b="1" i="1" cap="all" spc="200" dirty="0">
                <a:solidFill>
                  <a:schemeClr val="bg1"/>
                </a:solidFill>
                <a:effectLst>
                  <a:outerShdw blurRad="38100" dist="38100" dir="2700000" algn="tl">
                    <a:srgbClr val="000000">
                      <a:alpha val="43137"/>
                    </a:srgbClr>
                  </a:outerShdw>
                </a:effectLst>
                <a:latin typeface="+mj-lt"/>
                <a:cs typeface="Calibri"/>
              </a:rPr>
            </a:br>
            <a:endParaRPr lang="fr-FR" sz="2700" b="1" i="1" cap="all" spc="200" dirty="0">
              <a:solidFill>
                <a:schemeClr val="bg1"/>
              </a:solidFill>
              <a:effectLst>
                <a:outerShdw blurRad="38100" dist="38100" dir="2700000" algn="tl">
                  <a:srgbClr val="000000">
                    <a:alpha val="43137"/>
                  </a:srgbClr>
                </a:outerShdw>
              </a:effectLst>
              <a:latin typeface="+mj-lt"/>
              <a:cs typeface="Calibri"/>
            </a:endParaRPr>
          </a:p>
        </p:txBody>
      </p:sp>
    </p:spTree>
    <p:extLst>
      <p:ext uri="{BB962C8B-B14F-4D97-AF65-F5344CB8AC3E}">
        <p14:creationId xmlns:p14="http://schemas.microsoft.com/office/powerpoint/2010/main" val="37473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Effect transition="in" filter="fade">
                                      <p:cBhvr>
                                        <p:cTn id="7" dur="500"/>
                                        <p:tgtEl>
                                          <p:spTgt spid="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4" end="4"/>
                                            </p:txEl>
                                          </p:spTgt>
                                        </p:tgtEl>
                                        <p:attrNameLst>
                                          <p:attrName>style.visibility</p:attrName>
                                        </p:attrNameLst>
                                      </p:cBhvr>
                                      <p:to>
                                        <p:strVal val="visible"/>
                                      </p:to>
                                    </p:set>
                                    <p:animEffect transition="in" filter="fade">
                                      <p:cBhvr>
                                        <p:cTn id="12" dur="500"/>
                                        <p:tgtEl>
                                          <p:spTgt spid="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rot="16200000">
            <a:off x="568294" y="468052"/>
            <a:ext cx="1512168" cy="5760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FR" sz="1400" b="1" i="1" dirty="0">
              <a:solidFill>
                <a:srgbClr val="FFFFCC"/>
              </a:solidFill>
              <a:effectLst>
                <a:outerShdw blurRad="38100" dist="38100" dir="2700000" algn="tl">
                  <a:srgbClr val="000000">
                    <a:alpha val="43137"/>
                  </a:srgbClr>
                </a:outerShdw>
              </a:effectLst>
              <a:latin typeface="+mn-lt"/>
            </a:endParaRPr>
          </a:p>
        </p:txBody>
      </p:sp>
      <p:sp>
        <p:nvSpPr>
          <p:cNvPr id="10" name="Title 3"/>
          <p:cNvSpPr txBox="1">
            <a:spLocks/>
          </p:cNvSpPr>
          <p:nvPr/>
        </p:nvSpPr>
        <p:spPr>
          <a:xfrm>
            <a:off x="148211" y="44624"/>
            <a:ext cx="8989605" cy="1368152"/>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400" b="1" i="1" cap="all" spc="200" dirty="0">
              <a:solidFill>
                <a:srgbClr val="FFFFCC"/>
              </a:solidFill>
              <a:effectLst>
                <a:outerShdw blurRad="38100" dist="38100" dir="2700000" algn="tl">
                  <a:srgbClr val="000000">
                    <a:alpha val="43137"/>
                  </a:srgbClr>
                </a:outerShdw>
              </a:effectLst>
              <a:latin typeface="Calibri"/>
              <a:ea typeface="+mn-ea"/>
              <a:cs typeface="Calibri"/>
            </a:endParaRPr>
          </a:p>
          <a:p>
            <a:br>
              <a:rPr lang="fr-FR" sz="1400" b="1" i="1" cap="all" spc="200" dirty="0">
                <a:solidFill>
                  <a:srgbClr val="FFFFCC"/>
                </a:solidFill>
                <a:effectLst>
                  <a:outerShdw blurRad="38100" dist="38100" dir="2700000" algn="tl">
                    <a:srgbClr val="000000">
                      <a:alpha val="43137"/>
                    </a:srgbClr>
                  </a:outerShdw>
                </a:effectLst>
                <a:latin typeface="Calibri"/>
                <a:ea typeface="+mn-ea"/>
                <a:cs typeface="Calibri"/>
              </a:rPr>
            </a:br>
            <a:r>
              <a:rPr lang="fr-FR" sz="2700" b="1" i="1" cap="all" spc="200" dirty="0">
                <a:solidFill>
                  <a:schemeClr val="bg1"/>
                </a:solidFill>
                <a:effectLst>
                  <a:outerShdw blurRad="38100" dist="38100" dir="2700000" algn="tl">
                    <a:srgbClr val="000000">
                      <a:alpha val="43137"/>
                    </a:srgbClr>
                  </a:outerShdw>
                </a:effectLst>
                <a:ea typeface="+mn-ea"/>
                <a:cs typeface="Calibri"/>
              </a:rPr>
              <a:t>Architecture à CPU</a:t>
            </a:r>
            <a:br>
              <a:rPr lang="fr-FR" sz="2700" b="1" i="1" cap="all" spc="200" dirty="0">
                <a:solidFill>
                  <a:schemeClr val="bg1"/>
                </a:solidFill>
                <a:effectLst>
                  <a:outerShdw blurRad="38100" dist="38100" dir="2700000" algn="tl">
                    <a:srgbClr val="000000">
                      <a:alpha val="43137"/>
                    </a:srgbClr>
                  </a:outerShdw>
                </a:effectLst>
                <a:ea typeface="+mn-ea"/>
                <a:cs typeface="Calibri"/>
              </a:rPr>
            </a:br>
            <a:endParaRPr lang="fr-FR" sz="2700" b="1" i="1" cap="all" spc="200" dirty="0">
              <a:solidFill>
                <a:schemeClr val="bg1"/>
              </a:solidFill>
              <a:effectLst>
                <a:outerShdw blurRad="38100" dist="38100" dir="2700000" algn="tl">
                  <a:srgbClr val="000000">
                    <a:alpha val="43137"/>
                  </a:srgbClr>
                </a:outerShdw>
              </a:effectLst>
              <a:ea typeface="+mn-ea"/>
              <a:cs typeface="Calibri"/>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14</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47" name="Title 3"/>
          <p:cNvSpPr txBox="1">
            <a:spLocks/>
          </p:cNvSpPr>
          <p:nvPr/>
        </p:nvSpPr>
        <p:spPr>
          <a:xfrm>
            <a:off x="539552" y="1412776"/>
            <a:ext cx="8604448" cy="936104"/>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a:t>
            </a:r>
          </a:p>
          <a:p>
            <a:pPr algn="l"/>
            <a:r>
              <a:rPr lang="fr-FR" sz="2400" i="1" dirty="0">
                <a:latin typeface="+mn-lt"/>
              </a:rPr>
              <a:t>Central </a:t>
            </a:r>
            <a:r>
              <a:rPr lang="fr-FR" sz="2400" i="1" dirty="0" err="1">
                <a:latin typeface="+mn-lt"/>
              </a:rPr>
              <a:t>Processing</a:t>
            </a:r>
            <a:r>
              <a:rPr lang="fr-FR" sz="2400" i="1" dirty="0">
                <a:latin typeface="+mn-lt"/>
              </a:rPr>
              <a:t> Unit:</a:t>
            </a:r>
          </a:p>
        </p:txBody>
      </p:sp>
      <p:sp>
        <p:nvSpPr>
          <p:cNvPr id="48" name="Rectangle à coins arrondis 48"/>
          <p:cNvSpPr/>
          <p:nvPr/>
        </p:nvSpPr>
        <p:spPr>
          <a:xfrm>
            <a:off x="371527" y="3145773"/>
            <a:ext cx="2481766" cy="2673799"/>
          </a:xfrm>
          <a:prstGeom prst="roundRect">
            <a:avLst>
              <a:gd name="adj" fmla="val 10320"/>
            </a:avLst>
          </a:prstGeom>
          <a:solidFill>
            <a:srgbClr val="DCE6F2">
              <a:alpha val="65098"/>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9" name="Rectangle à coins arrondis 49"/>
          <p:cNvSpPr/>
          <p:nvPr/>
        </p:nvSpPr>
        <p:spPr>
          <a:xfrm>
            <a:off x="561171" y="4722160"/>
            <a:ext cx="1216024" cy="953396"/>
          </a:xfrm>
          <a:prstGeom prst="roundRect">
            <a:avLst>
              <a:gd name="adj" fmla="val 16314"/>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0" name="ZoneTexte 50"/>
          <p:cNvSpPr txBox="1"/>
          <p:nvPr/>
        </p:nvSpPr>
        <p:spPr>
          <a:xfrm>
            <a:off x="561171" y="4722160"/>
            <a:ext cx="1458107" cy="961495"/>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rgbClr val="00B050"/>
                </a:solidFill>
                <a:effectLst>
                  <a:outerShdw blurRad="38100" dist="38100" dir="2700000" algn="tl">
                    <a:srgbClr val="000000">
                      <a:alpha val="43137"/>
                    </a:srgbClr>
                  </a:outerShdw>
                </a:effectLst>
                <a:latin typeface="+mn-lt"/>
                <a:cs typeface="+mn-cs"/>
              </a:rPr>
              <a:t>Processing</a:t>
            </a:r>
            <a:endParaRPr lang="fr-FR" b="1" i="1" dirty="0">
              <a:solidFill>
                <a:srgbClr val="00B050"/>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Unit</a:t>
            </a:r>
          </a:p>
        </p:txBody>
      </p:sp>
      <p:sp>
        <p:nvSpPr>
          <p:cNvPr id="54" name="Rectangle à coins arrondis 51"/>
          <p:cNvSpPr/>
          <p:nvPr/>
        </p:nvSpPr>
        <p:spPr>
          <a:xfrm>
            <a:off x="561171" y="3304523"/>
            <a:ext cx="1242076" cy="55086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5" name="Rectangle à coins arrondis 52"/>
          <p:cNvSpPr/>
          <p:nvPr/>
        </p:nvSpPr>
        <p:spPr>
          <a:xfrm rot="5400000">
            <a:off x="1323065" y="4218129"/>
            <a:ext cx="2149228" cy="455612"/>
          </a:xfrm>
          <a:prstGeom prst="roundRect">
            <a:avLst>
              <a:gd name="adj" fmla="val 29135"/>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6" name="ZoneTexte 53"/>
          <p:cNvSpPr txBox="1"/>
          <p:nvPr/>
        </p:nvSpPr>
        <p:spPr>
          <a:xfrm rot="5400000">
            <a:off x="1340465" y="4263071"/>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Peripherals</a:t>
            </a:r>
            <a:endParaRPr lang="fr-FR" sz="1600" b="1"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4" name="ZoneTexte 58"/>
          <p:cNvSpPr txBox="1"/>
          <p:nvPr/>
        </p:nvSpPr>
        <p:spPr>
          <a:xfrm>
            <a:off x="1258648" y="3930685"/>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Buses</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5" name="Double flèche verticale 60"/>
          <p:cNvSpPr/>
          <p:nvPr/>
        </p:nvSpPr>
        <p:spPr>
          <a:xfrm rot="5400000">
            <a:off x="2735023" y="4100232"/>
            <a:ext cx="236538" cy="455613"/>
          </a:xfrm>
          <a:prstGeom prst="upDownArrow">
            <a:avLst>
              <a:gd name="adj1" fmla="val 35261"/>
              <a:gd name="adj2" fmla="val 32369"/>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ZoneTexte 61"/>
          <p:cNvSpPr txBox="1"/>
          <p:nvPr/>
        </p:nvSpPr>
        <p:spPr>
          <a:xfrm>
            <a:off x="561171" y="3382310"/>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7" name="Up Arrow 66"/>
          <p:cNvSpPr/>
          <p:nvPr/>
        </p:nvSpPr>
        <p:spPr>
          <a:xfrm flipV="1">
            <a:off x="991736" y="4307404"/>
            <a:ext cx="266912" cy="42983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Up Arrow 67"/>
          <p:cNvSpPr/>
          <p:nvPr/>
        </p:nvSpPr>
        <p:spPr>
          <a:xfrm rot="5400000">
            <a:off x="1477183" y="3788427"/>
            <a:ext cx="308490" cy="107689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Up Arrow 68"/>
          <p:cNvSpPr/>
          <p:nvPr/>
        </p:nvSpPr>
        <p:spPr>
          <a:xfrm>
            <a:off x="991736" y="3865120"/>
            <a:ext cx="266912" cy="442284"/>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Title 3"/>
          <p:cNvSpPr txBox="1">
            <a:spLocks/>
          </p:cNvSpPr>
          <p:nvPr/>
        </p:nvSpPr>
        <p:spPr>
          <a:xfrm>
            <a:off x="3269673" y="2301556"/>
            <a:ext cx="5868144" cy="4079772"/>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sym typeface="Wingdings"/>
              </a:rPr>
              <a:t>	</a:t>
            </a:r>
            <a:r>
              <a:rPr lang="fr-FR" sz="1600" spc="-10" dirty="0">
                <a:solidFill>
                  <a:schemeClr val="tx2"/>
                </a:solidFill>
                <a:latin typeface="Arial"/>
                <a:ea typeface="+mn-ea"/>
                <a:cs typeface="Arial"/>
                <a:sym typeface="Wingdings"/>
              </a:rPr>
              <a:t>Le CPU est une unité de traitement et donc bien plus qu’une simple unité de calcul:</a:t>
            </a:r>
          </a:p>
          <a:p>
            <a:pPr algn="l"/>
            <a:endParaRPr lang="fr-FR" sz="1600" b="1" i="1" spc="-10" dirty="0">
              <a:solidFill>
                <a:schemeClr val="tx2"/>
              </a:solidFill>
              <a:effectLst>
                <a:outerShdw blurRad="38100" dist="38100" dir="2700000" algn="tl">
                  <a:srgbClr val="000000">
                    <a:alpha val="43137"/>
                  </a:srgbClr>
                </a:outerShdw>
              </a:effectLst>
              <a:latin typeface="Arial"/>
              <a:ea typeface="+mn-ea"/>
              <a:cs typeface="Arial"/>
              <a:sym typeface="Wingdings"/>
            </a:endParaRPr>
          </a:p>
          <a:p>
            <a:pPr algn="l"/>
            <a:r>
              <a:rPr lang="fr-FR" sz="1600" b="1" i="1" dirty="0">
                <a:effectLst>
                  <a:outerShdw blurRad="38100" dist="38100" dir="2700000" algn="tl">
                    <a:srgbClr val="000000">
                      <a:alpha val="43137"/>
                    </a:srgbClr>
                  </a:outerShdw>
                </a:effectLst>
                <a:latin typeface="Arial"/>
                <a:cs typeface="Arial"/>
              </a:rPr>
              <a:t>Aller chercher le code présent en mémoire programme puis l’exécuter </a:t>
            </a:r>
            <a:r>
              <a:rPr lang="fr-FR" sz="1600" b="1" i="1" u="sng" dirty="0">
                <a:solidFill>
                  <a:srgbClr val="FF0000"/>
                </a:solidFill>
                <a:effectLst>
                  <a:outerShdw blurRad="38100" dist="38100" dir="2700000" algn="tl">
                    <a:srgbClr val="000000">
                      <a:alpha val="43137"/>
                    </a:srgbClr>
                  </a:outerShdw>
                </a:effectLst>
                <a:latin typeface="Arial"/>
                <a:cs typeface="Arial"/>
              </a:rPr>
              <a:t>séquentiellement</a:t>
            </a:r>
            <a:r>
              <a:rPr lang="fr-FR" sz="1600" b="1" i="1" dirty="0">
                <a:solidFill>
                  <a:srgbClr val="FF0000"/>
                </a:solidFill>
                <a:effectLst>
                  <a:outerShdw blurRad="38100" dist="38100" dir="2700000" algn="tl">
                    <a:srgbClr val="000000">
                      <a:alpha val="43137"/>
                    </a:srgbClr>
                  </a:outerShdw>
                </a:effectLst>
                <a:latin typeface="Arial"/>
                <a:cs typeface="Arial"/>
              </a:rPr>
              <a:t> </a:t>
            </a:r>
          </a:p>
          <a:p>
            <a:pPr algn="l"/>
            <a:endParaRPr lang="fr-FR" sz="2400" b="1" i="1" dirty="0">
              <a:effectLst>
                <a:outerShdw blurRad="38100" dist="38100" dir="2700000" algn="tl">
                  <a:srgbClr val="000000">
                    <a:alpha val="43137"/>
                  </a:srgbClr>
                </a:outerShdw>
              </a:effectLst>
              <a:latin typeface="+mn-lt"/>
            </a:endParaRPr>
          </a:p>
          <a:p>
            <a:pPr algn="l"/>
            <a:r>
              <a:rPr lang="fr-FR" sz="1600" b="1" i="1" dirty="0">
                <a:effectLst>
                  <a:outerShdw blurRad="38100" dist="38100" dir="2700000" algn="tl">
                    <a:srgbClr val="000000">
                      <a:alpha val="43137"/>
                    </a:srgbClr>
                  </a:outerShdw>
                </a:effectLst>
                <a:latin typeface="Arial"/>
                <a:cs typeface="Arial"/>
              </a:rPr>
              <a:t>Manipuler les informations présentes en mémoire donnée ou dans des registres. Il est maître des bus.</a:t>
            </a:r>
          </a:p>
        </p:txBody>
      </p:sp>
    </p:spTree>
    <p:extLst>
      <p:ext uri="{BB962C8B-B14F-4D97-AF65-F5344CB8AC3E}">
        <p14:creationId xmlns:p14="http://schemas.microsoft.com/office/powerpoint/2010/main" val="334885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4" end="4"/>
                                            </p:txEl>
                                          </p:spTgt>
                                        </p:tgtEl>
                                        <p:attrNameLst>
                                          <p:attrName>style.visibility</p:attrName>
                                        </p:attrNameLst>
                                      </p:cBhvr>
                                      <p:to>
                                        <p:strVal val="visible"/>
                                      </p:to>
                                    </p:set>
                                    <p:animEffect transition="in" filter="fade">
                                      <p:cBhvr>
                                        <p:cTn id="7" dur="500"/>
                                        <p:tgtEl>
                                          <p:spTgt spid="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rot="16200000">
            <a:off x="568294" y="468052"/>
            <a:ext cx="1512168" cy="5760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FR" sz="1400" b="1" i="1" dirty="0">
              <a:solidFill>
                <a:srgbClr val="FFFFCC"/>
              </a:solidFill>
              <a:effectLst>
                <a:outerShdw blurRad="38100" dist="38100" dir="2700000" algn="tl">
                  <a:srgbClr val="000000">
                    <a:alpha val="43137"/>
                  </a:srgbClr>
                </a:outerShdw>
              </a:effectLst>
              <a:latin typeface="+mn-lt"/>
            </a:endParaRPr>
          </a:p>
        </p:txBody>
      </p:sp>
      <p:sp>
        <p:nvSpPr>
          <p:cNvPr id="10" name="Title 3"/>
          <p:cNvSpPr txBox="1">
            <a:spLocks/>
          </p:cNvSpPr>
          <p:nvPr/>
        </p:nvSpPr>
        <p:spPr>
          <a:xfrm>
            <a:off x="169029" y="-1"/>
            <a:ext cx="8803228" cy="1411043"/>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400" b="1" i="1" cap="all" spc="200" dirty="0">
              <a:solidFill>
                <a:srgbClr val="FFFFCC"/>
              </a:solidFill>
              <a:effectLst>
                <a:outerShdw blurRad="38100" dist="38100" dir="2700000" algn="tl">
                  <a:srgbClr val="000000">
                    <a:alpha val="43137"/>
                  </a:srgbClr>
                </a:outerShdw>
              </a:effectLst>
              <a:latin typeface="Calibri"/>
              <a:ea typeface="+mn-ea"/>
              <a:cs typeface="Calibri"/>
            </a:endParaRPr>
          </a:p>
          <a:p>
            <a:br>
              <a:rPr lang="fr-FR" sz="1400" b="1" i="1" cap="all" spc="200" dirty="0">
                <a:solidFill>
                  <a:srgbClr val="FFFFCC"/>
                </a:solidFill>
                <a:effectLst>
                  <a:outerShdw blurRad="38100" dist="38100" dir="2700000" algn="tl">
                    <a:srgbClr val="000000">
                      <a:alpha val="43137"/>
                    </a:srgbClr>
                  </a:outerShdw>
                </a:effectLst>
                <a:latin typeface="Calibri"/>
                <a:ea typeface="+mn-ea"/>
                <a:cs typeface="Calibri"/>
              </a:rPr>
            </a:br>
            <a:r>
              <a:rPr lang="fr-FR" sz="2700" b="1" i="1" cap="all" spc="200" dirty="0">
                <a:solidFill>
                  <a:schemeClr val="bg1"/>
                </a:solidFill>
                <a:effectLst>
                  <a:outerShdw blurRad="38100" dist="38100" dir="2700000" algn="tl">
                    <a:srgbClr val="000000">
                      <a:alpha val="43137"/>
                    </a:srgbClr>
                  </a:outerShdw>
                </a:effectLst>
                <a:ea typeface="+mn-ea"/>
                <a:cs typeface="Calibri"/>
              </a:rPr>
              <a:t>Architecture à CPU</a:t>
            </a:r>
            <a:br>
              <a:rPr lang="fr-FR" sz="1400" b="1" i="1" cap="all" spc="200" dirty="0">
                <a:solidFill>
                  <a:srgbClr val="FF0000"/>
                </a:solidFill>
                <a:effectLst>
                  <a:outerShdw blurRad="38100" dist="38100" dir="2700000" algn="tl">
                    <a:srgbClr val="000000">
                      <a:alpha val="43137"/>
                    </a:srgbClr>
                  </a:outerShdw>
                </a:effectLst>
                <a:latin typeface="Calibri"/>
                <a:ea typeface="+mn-ea"/>
                <a:cs typeface="Calibri"/>
              </a:rPr>
            </a:br>
            <a:endParaRPr lang="fr-FR" sz="1400" b="1" i="1" cap="all" spc="200" dirty="0">
              <a:solidFill>
                <a:srgbClr val="FFFFCC"/>
              </a:solidFill>
              <a:effectLst>
                <a:outerShdw blurRad="38100" dist="38100" dir="2700000" algn="tl">
                  <a:srgbClr val="000000">
                    <a:alpha val="43137"/>
                  </a:srgbClr>
                </a:outerShdw>
              </a:effectLst>
              <a:latin typeface="Calibri"/>
              <a:ea typeface="+mn-ea"/>
              <a:cs typeface="Calibri"/>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15</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47" name="Title 3"/>
          <p:cNvSpPr txBox="1">
            <a:spLocks/>
          </p:cNvSpPr>
          <p:nvPr/>
        </p:nvSpPr>
        <p:spPr>
          <a:xfrm>
            <a:off x="561170" y="1641567"/>
            <a:ext cx="8563931" cy="936104"/>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a:t>
            </a:r>
          </a:p>
          <a:p>
            <a:pPr algn="l"/>
            <a:r>
              <a:rPr lang="fr-FR" sz="2400" i="1" dirty="0">
                <a:latin typeface="+mn-lt"/>
                <a:sym typeface="Wingdings"/>
              </a:rPr>
              <a:t>Les périphériques :</a:t>
            </a:r>
            <a:r>
              <a:rPr lang="fr-FR" sz="1600" i="1" dirty="0">
                <a:latin typeface="Arial"/>
                <a:cs typeface="Arial"/>
                <a:sym typeface="Wingdings"/>
              </a:rPr>
              <a:t>		</a:t>
            </a:r>
            <a:endParaRPr lang="fr-FR" sz="1600" i="1" dirty="0">
              <a:latin typeface="Arial"/>
              <a:cs typeface="Arial"/>
            </a:endParaRPr>
          </a:p>
        </p:txBody>
      </p:sp>
      <p:sp>
        <p:nvSpPr>
          <p:cNvPr id="48" name="Rectangle à coins arrondis 48"/>
          <p:cNvSpPr/>
          <p:nvPr/>
        </p:nvSpPr>
        <p:spPr>
          <a:xfrm>
            <a:off x="371527" y="3145773"/>
            <a:ext cx="2481766" cy="2673799"/>
          </a:xfrm>
          <a:prstGeom prst="roundRect">
            <a:avLst>
              <a:gd name="adj" fmla="val 10320"/>
            </a:avLst>
          </a:prstGeom>
          <a:solidFill>
            <a:srgbClr val="DCE6F2">
              <a:alpha val="65098"/>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9" name="Rectangle à coins arrondis 49"/>
          <p:cNvSpPr/>
          <p:nvPr/>
        </p:nvSpPr>
        <p:spPr>
          <a:xfrm>
            <a:off x="561171" y="4722160"/>
            <a:ext cx="1216024" cy="953396"/>
          </a:xfrm>
          <a:prstGeom prst="roundRect">
            <a:avLst>
              <a:gd name="adj" fmla="val 16314"/>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0" name="ZoneTexte 50"/>
          <p:cNvSpPr txBox="1"/>
          <p:nvPr/>
        </p:nvSpPr>
        <p:spPr>
          <a:xfrm>
            <a:off x="561170" y="4722160"/>
            <a:ext cx="1458107" cy="930717"/>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Processing</a:t>
            </a:r>
            <a:endParaRPr lang="fr-FR" b="1" i="1" dirty="0">
              <a:solidFill>
                <a:schemeClr val="accent1">
                  <a:lumMod val="75000"/>
                </a:schemeClr>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Unit</a:t>
            </a:r>
          </a:p>
        </p:txBody>
      </p:sp>
      <p:sp>
        <p:nvSpPr>
          <p:cNvPr id="54" name="Rectangle à coins arrondis 51"/>
          <p:cNvSpPr/>
          <p:nvPr/>
        </p:nvSpPr>
        <p:spPr>
          <a:xfrm>
            <a:off x="561171" y="3304523"/>
            <a:ext cx="1242076" cy="55086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5" name="Rectangle à coins arrondis 52"/>
          <p:cNvSpPr/>
          <p:nvPr/>
        </p:nvSpPr>
        <p:spPr>
          <a:xfrm rot="5400000">
            <a:off x="1323065" y="4218129"/>
            <a:ext cx="2149228" cy="455612"/>
          </a:xfrm>
          <a:prstGeom prst="roundRect">
            <a:avLst>
              <a:gd name="adj" fmla="val 29135"/>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6" name="ZoneTexte 53"/>
          <p:cNvSpPr txBox="1"/>
          <p:nvPr/>
        </p:nvSpPr>
        <p:spPr>
          <a:xfrm rot="5400000">
            <a:off x="1340465" y="4263071"/>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rgbClr val="00B050"/>
                </a:solidFill>
                <a:effectLst>
                  <a:outerShdw blurRad="38100" dist="38100" dir="2700000" algn="tl">
                    <a:srgbClr val="000000">
                      <a:alpha val="43137"/>
                    </a:srgbClr>
                  </a:outerShdw>
                </a:effectLst>
                <a:latin typeface="+mn-lt"/>
                <a:cs typeface="+mn-cs"/>
              </a:rPr>
              <a:t>Peripherals</a:t>
            </a:r>
            <a:endParaRPr lang="fr-FR" sz="1600" b="1" i="1" dirty="0">
              <a:solidFill>
                <a:srgbClr val="00B050"/>
              </a:solidFill>
              <a:effectLst>
                <a:outerShdw blurRad="38100" dist="38100" dir="2700000" algn="tl">
                  <a:srgbClr val="000000">
                    <a:alpha val="43137"/>
                  </a:srgbClr>
                </a:outerShdw>
              </a:effectLst>
              <a:latin typeface="+mn-lt"/>
              <a:cs typeface="+mn-cs"/>
            </a:endParaRPr>
          </a:p>
        </p:txBody>
      </p:sp>
      <p:sp>
        <p:nvSpPr>
          <p:cNvPr id="64" name="ZoneTexte 58"/>
          <p:cNvSpPr txBox="1"/>
          <p:nvPr/>
        </p:nvSpPr>
        <p:spPr>
          <a:xfrm>
            <a:off x="1258648" y="3930685"/>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Buses</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5" name="Double flèche verticale 60"/>
          <p:cNvSpPr/>
          <p:nvPr/>
        </p:nvSpPr>
        <p:spPr>
          <a:xfrm rot="5400000">
            <a:off x="2735023" y="4100232"/>
            <a:ext cx="236538" cy="455613"/>
          </a:xfrm>
          <a:prstGeom prst="upDownArrow">
            <a:avLst>
              <a:gd name="adj1" fmla="val 35261"/>
              <a:gd name="adj2" fmla="val 32369"/>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ZoneTexte 61"/>
          <p:cNvSpPr txBox="1"/>
          <p:nvPr/>
        </p:nvSpPr>
        <p:spPr>
          <a:xfrm>
            <a:off x="561171" y="3382310"/>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7" name="Up Arrow 66"/>
          <p:cNvSpPr/>
          <p:nvPr/>
        </p:nvSpPr>
        <p:spPr>
          <a:xfrm flipV="1">
            <a:off x="991736" y="4307404"/>
            <a:ext cx="266912" cy="42983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Up Arrow 67"/>
          <p:cNvSpPr/>
          <p:nvPr/>
        </p:nvSpPr>
        <p:spPr>
          <a:xfrm rot="5400000">
            <a:off x="1477183" y="3788427"/>
            <a:ext cx="308490" cy="107689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Up Arrow 68"/>
          <p:cNvSpPr/>
          <p:nvPr/>
        </p:nvSpPr>
        <p:spPr>
          <a:xfrm>
            <a:off x="991736" y="3865120"/>
            <a:ext cx="266912" cy="442284"/>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Title 3"/>
          <p:cNvSpPr txBox="1">
            <a:spLocks/>
          </p:cNvSpPr>
          <p:nvPr/>
        </p:nvSpPr>
        <p:spPr>
          <a:xfrm>
            <a:off x="3269673" y="2301556"/>
            <a:ext cx="5868144" cy="4079772"/>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itchFamily="34" charset="0"/>
              <a:buChar char="•"/>
            </a:pPr>
            <a:r>
              <a:rPr lang="fr-FR" sz="1600" b="1" i="1" dirty="0">
                <a:effectLst>
                  <a:outerShdw blurRad="38100" dist="38100" dir="2700000" algn="tl">
                    <a:srgbClr val="000000">
                      <a:alpha val="43137"/>
                    </a:srgbClr>
                  </a:outerShdw>
                </a:effectLst>
                <a:latin typeface="Arial"/>
                <a:cs typeface="Arial"/>
                <a:sym typeface="Wingdings"/>
              </a:rPr>
              <a:t>Une grande majorité des périphériques servent d’interface avec l’extérieur du processeur</a:t>
            </a:r>
            <a:r>
              <a:rPr lang="fr-FR" sz="1600" i="1" dirty="0">
                <a:latin typeface="Arial"/>
                <a:cs typeface="Arial"/>
                <a:sym typeface="Wingdings"/>
              </a:rPr>
              <a:t>. Prenons quelques exemples : contrôleurs USB, Ethernet, FireWire, graphique, série, …</a:t>
            </a:r>
          </a:p>
          <a:p>
            <a:pPr marL="342900" indent="-342900" algn="l">
              <a:buFont typeface="Arial" pitchFamily="34" charset="0"/>
              <a:buChar char="•"/>
            </a:pPr>
            <a:endParaRPr lang="fr-FR" sz="1600" i="1" dirty="0">
              <a:latin typeface="Arial"/>
              <a:cs typeface="Arial"/>
              <a:sym typeface="Wingdings"/>
            </a:endParaRPr>
          </a:p>
          <a:p>
            <a:pPr marL="342900" indent="-342900" algn="l">
              <a:buFont typeface="Arial" pitchFamily="34" charset="0"/>
              <a:buChar char="•"/>
            </a:pPr>
            <a:r>
              <a:rPr lang="fr-FR" sz="1600" b="1" i="1" dirty="0">
                <a:effectLst>
                  <a:outerShdw blurRad="38100" dist="38100" dir="2700000" algn="tl">
                    <a:srgbClr val="000000">
                      <a:alpha val="43137"/>
                    </a:srgbClr>
                  </a:outerShdw>
                </a:effectLst>
                <a:latin typeface="Arial"/>
                <a:cs typeface="Arial"/>
                <a:sym typeface="Wingdings"/>
              </a:rPr>
              <a:t>Tout périphérique, d’interface ou non,  permet de soulager le CPU en déportant des traitements</a:t>
            </a:r>
            <a:r>
              <a:rPr lang="fr-FR" sz="1600" i="1" dirty="0">
                <a:latin typeface="Arial"/>
                <a:cs typeface="Arial"/>
                <a:sym typeface="Wingdings"/>
              </a:rPr>
              <a:t>. Prenons quelques exemples : DMA (accès mémoire autonome), </a:t>
            </a:r>
            <a:r>
              <a:rPr lang="fr-FR" sz="1600" i="1" dirty="0" err="1">
                <a:latin typeface="Arial"/>
                <a:cs typeface="Arial"/>
                <a:sym typeface="Wingdings"/>
              </a:rPr>
              <a:t>Timer</a:t>
            </a:r>
            <a:r>
              <a:rPr lang="fr-FR" sz="1600" i="1" dirty="0">
                <a:latin typeface="Arial"/>
                <a:cs typeface="Arial"/>
                <a:sym typeface="Wingdings"/>
              </a:rPr>
              <a:t> (comptage) …</a:t>
            </a:r>
          </a:p>
          <a:p>
            <a:pPr marL="342900" indent="-342900" algn="l">
              <a:buFont typeface="Arial" pitchFamily="34" charset="0"/>
              <a:buChar char="•"/>
            </a:pPr>
            <a:endParaRPr lang="fr-FR" sz="2400" i="1" dirty="0">
              <a:latin typeface="+mn-lt"/>
              <a:sym typeface="Wingdings"/>
            </a:endParaRPr>
          </a:p>
        </p:txBody>
      </p:sp>
    </p:spTree>
    <p:extLst>
      <p:ext uri="{BB962C8B-B14F-4D97-AF65-F5344CB8AC3E}">
        <p14:creationId xmlns:p14="http://schemas.microsoft.com/office/powerpoint/2010/main" val="3504484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p:cNvSpPr txBox="1">
            <a:spLocks/>
          </p:cNvSpPr>
          <p:nvPr/>
        </p:nvSpPr>
        <p:spPr>
          <a:xfrm>
            <a:off x="1563788" y="0"/>
            <a:ext cx="7580212" cy="126876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400" b="1" i="1" dirty="0">
              <a:solidFill>
                <a:schemeClr val="accent1">
                  <a:lumMod val="20000"/>
                  <a:lumOff val="80000"/>
                </a:schemeClr>
              </a:solidFill>
              <a:effectLst>
                <a:outerShdw blurRad="38100" dist="38100" dir="2700000" algn="tl">
                  <a:srgbClr val="000000">
                    <a:alpha val="43137"/>
                  </a:srgbClr>
                </a:outerShdw>
              </a:effectLst>
              <a:latin typeface="+mn-lt"/>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16</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47" name="Title 3"/>
          <p:cNvSpPr txBox="1">
            <a:spLocks/>
          </p:cNvSpPr>
          <p:nvPr/>
        </p:nvSpPr>
        <p:spPr>
          <a:xfrm>
            <a:off x="539552" y="1412776"/>
            <a:ext cx="8604448" cy="936104"/>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a:t>
            </a:r>
            <a:r>
              <a:rPr lang="fr-FR" sz="2400" i="1" dirty="0">
                <a:latin typeface="+mn-lt"/>
                <a:sym typeface="Wingdings"/>
              </a:rPr>
              <a:t>	</a:t>
            </a:r>
            <a:endParaRPr lang="fr-FR" sz="2400" i="1" dirty="0">
              <a:latin typeface="+mn-lt"/>
            </a:endParaRPr>
          </a:p>
        </p:txBody>
      </p:sp>
      <p:sp>
        <p:nvSpPr>
          <p:cNvPr id="48" name="Rectangle à coins arrondis 48"/>
          <p:cNvSpPr/>
          <p:nvPr/>
        </p:nvSpPr>
        <p:spPr>
          <a:xfrm>
            <a:off x="371527" y="3145773"/>
            <a:ext cx="2481766" cy="2673799"/>
          </a:xfrm>
          <a:prstGeom prst="roundRect">
            <a:avLst>
              <a:gd name="adj" fmla="val 10320"/>
            </a:avLst>
          </a:prstGeom>
          <a:solidFill>
            <a:srgbClr val="DCE6F2">
              <a:alpha val="65098"/>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9" name="Rectangle à coins arrondis 49"/>
          <p:cNvSpPr/>
          <p:nvPr/>
        </p:nvSpPr>
        <p:spPr>
          <a:xfrm>
            <a:off x="561171" y="4722160"/>
            <a:ext cx="1216024" cy="953396"/>
          </a:xfrm>
          <a:prstGeom prst="roundRect">
            <a:avLst>
              <a:gd name="adj" fmla="val 16314"/>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0" name="ZoneTexte 50"/>
          <p:cNvSpPr txBox="1"/>
          <p:nvPr/>
        </p:nvSpPr>
        <p:spPr>
          <a:xfrm>
            <a:off x="561170" y="4722160"/>
            <a:ext cx="1395655" cy="930717"/>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Processing</a:t>
            </a:r>
            <a:endParaRPr lang="fr-FR" b="1" i="1" dirty="0">
              <a:solidFill>
                <a:schemeClr val="accent1">
                  <a:lumMod val="75000"/>
                </a:schemeClr>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Unit</a:t>
            </a:r>
          </a:p>
        </p:txBody>
      </p:sp>
      <p:sp>
        <p:nvSpPr>
          <p:cNvPr id="54" name="Rectangle à coins arrondis 51"/>
          <p:cNvSpPr/>
          <p:nvPr/>
        </p:nvSpPr>
        <p:spPr>
          <a:xfrm>
            <a:off x="561171" y="3304523"/>
            <a:ext cx="1242076" cy="55086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5" name="Rectangle à coins arrondis 52"/>
          <p:cNvSpPr/>
          <p:nvPr/>
        </p:nvSpPr>
        <p:spPr>
          <a:xfrm rot="5400000">
            <a:off x="1323065" y="4218129"/>
            <a:ext cx="2149228" cy="455612"/>
          </a:xfrm>
          <a:prstGeom prst="roundRect">
            <a:avLst>
              <a:gd name="adj" fmla="val 29135"/>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6" name="ZoneTexte 53"/>
          <p:cNvSpPr txBox="1"/>
          <p:nvPr/>
        </p:nvSpPr>
        <p:spPr>
          <a:xfrm rot="5400000">
            <a:off x="1340465" y="4263071"/>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Peripherals</a:t>
            </a:r>
            <a:endParaRPr lang="fr-FR" sz="1600" b="1"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4" name="ZoneTexte 58"/>
          <p:cNvSpPr txBox="1"/>
          <p:nvPr/>
        </p:nvSpPr>
        <p:spPr>
          <a:xfrm>
            <a:off x="1258648" y="3930685"/>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Buses</a:t>
            </a:r>
            <a:endParaRPr lang="fr-FR" sz="1600" i="1" dirty="0">
              <a:solidFill>
                <a:srgbClr val="00B050"/>
              </a:solidFill>
              <a:effectLst>
                <a:outerShdw blurRad="38100" dist="38100" dir="2700000" algn="tl">
                  <a:srgbClr val="000000">
                    <a:alpha val="43137"/>
                  </a:srgbClr>
                </a:outerShdw>
              </a:effectLst>
              <a:latin typeface="+mn-lt"/>
              <a:cs typeface="+mn-cs"/>
            </a:endParaRPr>
          </a:p>
        </p:txBody>
      </p:sp>
      <p:sp>
        <p:nvSpPr>
          <p:cNvPr id="65" name="Double flèche verticale 60"/>
          <p:cNvSpPr/>
          <p:nvPr/>
        </p:nvSpPr>
        <p:spPr>
          <a:xfrm rot="5400000">
            <a:off x="2735023" y="4100232"/>
            <a:ext cx="236538" cy="455613"/>
          </a:xfrm>
          <a:prstGeom prst="upDownArrow">
            <a:avLst>
              <a:gd name="adj1" fmla="val 35261"/>
              <a:gd name="adj2" fmla="val 32369"/>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ZoneTexte 61"/>
          <p:cNvSpPr txBox="1"/>
          <p:nvPr/>
        </p:nvSpPr>
        <p:spPr>
          <a:xfrm>
            <a:off x="561171" y="3382310"/>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7" name="Up Arrow 66"/>
          <p:cNvSpPr/>
          <p:nvPr/>
        </p:nvSpPr>
        <p:spPr>
          <a:xfrm flipV="1">
            <a:off x="991736" y="4307404"/>
            <a:ext cx="266912" cy="429830"/>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Up Arrow 67"/>
          <p:cNvSpPr/>
          <p:nvPr/>
        </p:nvSpPr>
        <p:spPr>
          <a:xfrm rot="5400000">
            <a:off x="1477183" y="3788427"/>
            <a:ext cx="308490" cy="1076890"/>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Up Arrow 68"/>
          <p:cNvSpPr/>
          <p:nvPr/>
        </p:nvSpPr>
        <p:spPr>
          <a:xfrm>
            <a:off x="991736" y="3865120"/>
            <a:ext cx="266912" cy="44228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Title 3"/>
          <p:cNvSpPr txBox="1">
            <a:spLocks/>
          </p:cNvSpPr>
          <p:nvPr/>
        </p:nvSpPr>
        <p:spPr>
          <a:xfrm>
            <a:off x="3269673" y="2301556"/>
            <a:ext cx="5868144" cy="379174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b="1" i="1" dirty="0">
                <a:solidFill>
                  <a:schemeClr val="bg1"/>
                </a:solidFill>
                <a:effectLst>
                  <a:outerShdw blurRad="38100" dist="38100" dir="2700000" algn="tl">
                    <a:srgbClr val="000000">
                      <a:alpha val="43137"/>
                    </a:srgbClr>
                  </a:outerShdw>
                </a:effectLst>
                <a:latin typeface="Arial"/>
                <a:cs typeface="Arial"/>
                <a:sym typeface="Wingdings"/>
              </a:rPr>
              <a:t>Les bus </a:t>
            </a:r>
            <a:r>
              <a:rPr lang="fr-FR" sz="1600" b="1" i="1" dirty="0">
                <a:effectLst>
                  <a:outerShdw blurRad="38100" dist="38100" dir="2700000" algn="tl">
                    <a:srgbClr val="000000">
                      <a:alpha val="43137"/>
                    </a:srgbClr>
                  </a:outerShdw>
                </a:effectLst>
                <a:latin typeface="Arial"/>
                <a:cs typeface="Arial"/>
                <a:sym typeface="Wingdings"/>
              </a:rPr>
              <a:t>permettent l’interconnexion et la communication des différents éléments précédemment présentés</a:t>
            </a:r>
            <a:r>
              <a:rPr lang="fr-FR" sz="1600" i="1" dirty="0">
                <a:latin typeface="Arial"/>
                <a:cs typeface="Arial"/>
                <a:sym typeface="Wingdings"/>
              </a:rPr>
              <a:t>. Il existe différents types de bus : </a:t>
            </a:r>
            <a:r>
              <a:rPr lang="fr-FR" sz="1600" b="1" i="1" dirty="0">
                <a:solidFill>
                  <a:schemeClr val="bg1"/>
                </a:solidFill>
                <a:latin typeface="Arial"/>
                <a:cs typeface="Arial"/>
                <a:sym typeface="Wingdings"/>
              </a:rPr>
              <a:t>adresse, donnée, instruction et contrôle</a:t>
            </a:r>
          </a:p>
          <a:p>
            <a:pPr algn="l"/>
            <a:endParaRPr lang="fr-FR" sz="1600" i="1" dirty="0">
              <a:latin typeface="Arial"/>
              <a:cs typeface="Arial"/>
              <a:sym typeface="Wingdings"/>
            </a:endParaRPr>
          </a:p>
          <a:p>
            <a:pPr algn="l"/>
            <a:r>
              <a:rPr lang="fr-FR" sz="1600" i="1" dirty="0">
                <a:latin typeface="Arial"/>
                <a:cs typeface="Arial"/>
                <a:sym typeface="Wingdings"/>
              </a:rPr>
              <a:t>	Un bus est constitué d’un ensemble de conducteurs physiques. De nombreux protocoles et standards existent dans le domaine du numérique.</a:t>
            </a:r>
          </a:p>
        </p:txBody>
      </p:sp>
      <p:sp>
        <p:nvSpPr>
          <p:cNvPr id="2" name="Rectangle 1"/>
          <p:cNvSpPr/>
          <p:nvPr/>
        </p:nvSpPr>
        <p:spPr>
          <a:xfrm>
            <a:off x="145721" y="0"/>
            <a:ext cx="8826535" cy="1154162"/>
          </a:xfrm>
          <a:prstGeom prst="rect">
            <a:avLst/>
          </a:prstGeom>
        </p:spPr>
        <p:txBody>
          <a:bodyPr wrap="square">
            <a:spAutoFit/>
          </a:bodyPr>
          <a:lstStyle/>
          <a:p>
            <a:endParaRPr lang="fr-FR" sz="1400" b="1" i="1" cap="all" spc="200" dirty="0">
              <a:solidFill>
                <a:srgbClr val="FFFFCC"/>
              </a:solidFill>
              <a:effectLst>
                <a:outerShdw blurRad="38100" dist="38100" dir="2700000" algn="tl">
                  <a:srgbClr val="000000">
                    <a:alpha val="43137"/>
                  </a:srgbClr>
                </a:outerShdw>
              </a:effectLst>
              <a:latin typeface="Calibri"/>
              <a:cs typeface="Calibri"/>
            </a:endParaRPr>
          </a:p>
          <a:p>
            <a:pPr algn="ctr"/>
            <a:br>
              <a:rPr lang="fr-FR" sz="1400" b="1" i="1" cap="all" spc="200" dirty="0">
                <a:solidFill>
                  <a:srgbClr val="FFFFCC"/>
                </a:solidFill>
                <a:effectLst>
                  <a:outerShdw blurRad="38100" dist="38100" dir="2700000" algn="tl">
                    <a:srgbClr val="000000">
                      <a:alpha val="43137"/>
                    </a:srgbClr>
                  </a:outerShdw>
                </a:effectLst>
                <a:latin typeface="Calibri"/>
                <a:cs typeface="Calibri"/>
              </a:rPr>
            </a:br>
            <a:r>
              <a:rPr lang="fr-FR" sz="2700" b="1" i="1" cap="all" spc="200" dirty="0">
                <a:solidFill>
                  <a:schemeClr val="bg1"/>
                </a:solidFill>
                <a:effectLst>
                  <a:outerShdw blurRad="38100" dist="38100" dir="2700000" algn="tl">
                    <a:srgbClr val="000000">
                      <a:alpha val="43137"/>
                    </a:srgbClr>
                  </a:outerShdw>
                </a:effectLst>
                <a:latin typeface="+mj-lt"/>
                <a:cs typeface="Calibri"/>
              </a:rPr>
              <a:t>Architecture à CPU</a:t>
            </a:r>
            <a:br>
              <a:rPr lang="fr-FR" sz="1400" b="1" i="1" cap="all" spc="200" dirty="0">
                <a:solidFill>
                  <a:schemeClr val="bg1"/>
                </a:solidFill>
                <a:effectLst>
                  <a:outerShdw blurRad="38100" dist="38100" dir="2700000" algn="tl">
                    <a:srgbClr val="000000">
                      <a:alpha val="43137"/>
                    </a:srgbClr>
                  </a:outerShdw>
                </a:effectLst>
                <a:latin typeface="Calibri"/>
                <a:cs typeface="Calibri"/>
              </a:rPr>
            </a:br>
            <a:endParaRPr lang="fr-FR" sz="1400" b="1" i="1" cap="all" spc="200" dirty="0">
              <a:solidFill>
                <a:schemeClr val="bg1"/>
              </a:solidFill>
              <a:effectLst>
                <a:outerShdw blurRad="38100" dist="38100" dir="2700000" algn="tl">
                  <a:srgbClr val="000000">
                    <a:alpha val="43137"/>
                  </a:srgbClr>
                </a:outerShdw>
              </a:effectLst>
              <a:latin typeface="Calibri"/>
              <a:cs typeface="Calibri"/>
            </a:endParaRPr>
          </a:p>
        </p:txBody>
      </p:sp>
    </p:spTree>
    <p:extLst>
      <p:ext uri="{BB962C8B-B14F-4D97-AF65-F5344CB8AC3E}">
        <p14:creationId xmlns:p14="http://schemas.microsoft.com/office/powerpoint/2010/main" val="251672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rot="16200000">
            <a:off x="568294" y="468052"/>
            <a:ext cx="1512168" cy="5760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FR" sz="1400" b="1" i="1" dirty="0">
              <a:solidFill>
                <a:srgbClr val="FFFFCC"/>
              </a:solidFill>
              <a:effectLst>
                <a:outerShdw blurRad="38100" dist="38100" dir="2700000" algn="tl">
                  <a:srgbClr val="000000">
                    <a:alpha val="43137"/>
                  </a:srgbClr>
                </a:outerShdw>
              </a:effectLst>
              <a:latin typeface="+mn-lt"/>
            </a:endParaRPr>
          </a:p>
        </p:txBody>
      </p:sp>
      <p:sp>
        <p:nvSpPr>
          <p:cNvPr id="10" name="Title 3"/>
          <p:cNvSpPr txBox="1">
            <a:spLocks/>
          </p:cNvSpPr>
          <p:nvPr/>
        </p:nvSpPr>
        <p:spPr>
          <a:xfrm>
            <a:off x="67432" y="78483"/>
            <a:ext cx="8761594" cy="1732966"/>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400" b="1" i="1" cap="all" spc="200" dirty="0">
              <a:solidFill>
                <a:srgbClr val="FFFFCC"/>
              </a:solidFill>
              <a:effectLst>
                <a:outerShdw blurRad="38100" dist="38100" dir="2700000" algn="tl">
                  <a:srgbClr val="000000">
                    <a:alpha val="43137"/>
                  </a:srgbClr>
                </a:outerShdw>
              </a:effectLst>
              <a:latin typeface="Calibri"/>
              <a:ea typeface="+mn-ea"/>
              <a:cs typeface="Calibri"/>
            </a:endParaRPr>
          </a:p>
          <a:p>
            <a:br>
              <a:rPr lang="fr-FR" sz="1400" b="1" i="1" cap="all" spc="200" dirty="0">
                <a:solidFill>
                  <a:srgbClr val="FFFFCC"/>
                </a:solidFill>
                <a:effectLst>
                  <a:outerShdw blurRad="38100" dist="38100" dir="2700000" algn="tl">
                    <a:srgbClr val="000000">
                      <a:alpha val="43137"/>
                    </a:srgbClr>
                  </a:outerShdw>
                </a:effectLst>
                <a:latin typeface="Calibri"/>
                <a:ea typeface="+mn-ea"/>
                <a:cs typeface="Calibri"/>
              </a:rPr>
            </a:br>
            <a:r>
              <a:rPr lang="fr-FR" sz="2700" b="1" i="1" cap="all" spc="200" dirty="0">
                <a:solidFill>
                  <a:schemeClr val="bg1"/>
                </a:solidFill>
                <a:effectLst>
                  <a:outerShdw blurRad="38100" dist="38100" dir="2700000" algn="tl">
                    <a:srgbClr val="000000">
                      <a:alpha val="43137"/>
                    </a:srgbClr>
                  </a:outerShdw>
                </a:effectLst>
                <a:ea typeface="+mn-ea"/>
                <a:cs typeface="Calibri"/>
              </a:rPr>
              <a:t>General </a:t>
            </a:r>
            <a:r>
              <a:rPr lang="fr-FR" sz="2700" b="1" i="1" cap="all" spc="200" dirty="0" err="1">
                <a:solidFill>
                  <a:schemeClr val="bg1"/>
                </a:solidFill>
                <a:effectLst>
                  <a:outerShdw blurRad="38100" dist="38100" dir="2700000" algn="tl">
                    <a:srgbClr val="000000">
                      <a:alpha val="43137"/>
                    </a:srgbClr>
                  </a:outerShdw>
                </a:effectLst>
                <a:ea typeface="+mn-ea"/>
                <a:cs typeface="Calibri"/>
              </a:rPr>
              <a:t>purpose</a:t>
            </a:r>
            <a:r>
              <a:rPr lang="fr-FR" sz="2700" b="1" i="1" cap="all" spc="200" dirty="0">
                <a:solidFill>
                  <a:schemeClr val="bg1"/>
                </a:solidFill>
                <a:effectLst>
                  <a:outerShdw blurRad="38100" dist="38100" dir="2700000" algn="tl">
                    <a:srgbClr val="000000">
                      <a:alpha val="43137"/>
                    </a:srgbClr>
                  </a:outerShdw>
                </a:effectLst>
                <a:ea typeface="+mn-ea"/>
                <a:cs typeface="Calibri"/>
              </a:rPr>
              <a:t> processor</a:t>
            </a: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17</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47" name="Title 3"/>
          <p:cNvSpPr txBox="1">
            <a:spLocks/>
          </p:cNvSpPr>
          <p:nvPr/>
        </p:nvSpPr>
        <p:spPr>
          <a:xfrm>
            <a:off x="539552" y="1412776"/>
            <a:ext cx="8604448" cy="288032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a:t>
            </a:r>
          </a:p>
          <a:p>
            <a:pPr algn="l"/>
            <a:r>
              <a:rPr lang="fr-FR" sz="1600" i="1" dirty="0">
                <a:latin typeface="Arial"/>
                <a:cs typeface="Arial"/>
              </a:rPr>
              <a:t>Un GPP (General </a:t>
            </a:r>
            <a:r>
              <a:rPr lang="fr-FR" sz="1600" i="1" dirty="0" err="1">
                <a:latin typeface="Arial"/>
                <a:cs typeface="Arial"/>
              </a:rPr>
              <a:t>Purpose</a:t>
            </a:r>
            <a:r>
              <a:rPr lang="fr-FR" sz="1600" i="1" dirty="0">
                <a:latin typeface="Arial"/>
                <a:cs typeface="Arial"/>
              </a:rPr>
              <a:t> Processor) ou microprocesseur ou MPU (Micro Processor Unit)</a:t>
            </a:r>
            <a:r>
              <a:rPr lang="fr-FR" sz="1600" i="1" dirty="0">
                <a:latin typeface="Arial"/>
                <a:cs typeface="Arial"/>
                <a:sym typeface="Wingdings"/>
              </a:rPr>
              <a:t> n’est qu’un CPU. Il est généralement monté sur une carte mère incorporant des bus, les mémoires principale et secondaire ainsi que certains périphériques.</a:t>
            </a:r>
          </a:p>
          <a:p>
            <a:pPr algn="l"/>
            <a:endParaRPr lang="fr-FR" sz="1600" i="1" dirty="0">
              <a:latin typeface="Arial"/>
              <a:cs typeface="Arial"/>
              <a:sym typeface="Wingdings"/>
            </a:endParaRPr>
          </a:p>
          <a:p>
            <a:pPr algn="l"/>
            <a:r>
              <a:rPr lang="fr-FR" sz="1600" i="1" dirty="0">
                <a:latin typeface="Arial"/>
                <a:cs typeface="Arial"/>
                <a:sym typeface="Wingdings"/>
              </a:rPr>
              <a:t>Exemple: Dans le monde des ordinateurs personnels, un leader des semi-conducteur incontesté du marché est la société Américain Intel.</a:t>
            </a:r>
          </a:p>
          <a:p>
            <a:pPr algn="l"/>
            <a:endParaRPr lang="fr-FR" sz="1600" i="1" dirty="0">
              <a:latin typeface="Arial"/>
              <a:cs typeface="Arial"/>
            </a:endParaRPr>
          </a:p>
          <a:p>
            <a:pPr algn="l"/>
            <a:r>
              <a:rPr lang="fr-FR" sz="1600" b="1" i="1" dirty="0">
                <a:effectLst>
                  <a:outerShdw blurRad="38100" dist="38100" dir="2700000" algn="tl">
                    <a:srgbClr val="000000">
                      <a:alpha val="43137"/>
                    </a:srgbClr>
                  </a:outerShdw>
                </a:effectLst>
                <a:latin typeface="Arial"/>
                <a:cs typeface="Arial"/>
              </a:rPr>
              <a:t>Avantages :</a:t>
            </a:r>
          </a:p>
          <a:p>
            <a:pPr marL="342900" indent="-342900" algn="l">
              <a:buFont typeface="Arial" pitchFamily="34" charset="0"/>
              <a:buChar char="•"/>
            </a:pPr>
            <a:r>
              <a:rPr lang="fr-FR" sz="1600" i="1" dirty="0">
                <a:latin typeface="Arial"/>
                <a:cs typeface="Arial"/>
              </a:rPr>
              <a:t>Polyvalence (applications </a:t>
            </a:r>
            <a:r>
              <a:rPr lang="fr-FR" sz="1600" i="1" dirty="0" err="1">
                <a:latin typeface="Arial"/>
                <a:cs typeface="Arial"/>
              </a:rPr>
              <a:t>généralistes,TNSignal</a:t>
            </a:r>
            <a:r>
              <a:rPr lang="fr-FR" sz="1600" i="1" dirty="0">
                <a:latin typeface="Arial"/>
                <a:cs typeface="Arial"/>
              </a:rPr>
              <a:t>,  pipeline ,superscalaire performant pour code système, traitement d’image ...) et grande puissance de calcul</a:t>
            </a:r>
          </a:p>
          <a:p>
            <a:pPr marL="342900" indent="-342900" algn="l">
              <a:buFont typeface="Arial" pitchFamily="34" charset="0"/>
              <a:buChar char="•"/>
            </a:pPr>
            <a:r>
              <a:rPr lang="fr-FR" sz="1600" i="1" dirty="0">
                <a:latin typeface="Arial"/>
                <a:cs typeface="Arial"/>
              </a:rPr>
              <a:t>Grande communauté et grand nombre de ressources logicielles sur architectures x86</a:t>
            </a:r>
          </a:p>
          <a:p>
            <a:pPr marL="342900" indent="-342900" algn="l">
              <a:buFont typeface="Arial" pitchFamily="34" charset="0"/>
              <a:buChar char="•"/>
            </a:pPr>
            <a:r>
              <a:rPr lang="fr-FR" sz="1600" i="1" dirty="0">
                <a:latin typeface="Arial"/>
                <a:cs typeface="Arial"/>
              </a:rPr>
              <a:t>Grand nombre de drivers matériels</a:t>
            </a:r>
          </a:p>
          <a:p>
            <a:pPr algn="l"/>
            <a:endParaRPr lang="fr-FR" sz="1600" i="1" dirty="0">
              <a:latin typeface="Arial"/>
              <a:cs typeface="Arial"/>
            </a:endParaRPr>
          </a:p>
          <a:p>
            <a:pPr algn="l"/>
            <a:r>
              <a:rPr lang="fr-FR" sz="1600" b="1" i="1" dirty="0">
                <a:effectLst>
                  <a:outerShdw blurRad="38100" dist="38100" dir="2700000" algn="tl">
                    <a:srgbClr val="000000">
                      <a:alpha val="43137"/>
                    </a:srgbClr>
                  </a:outerShdw>
                </a:effectLst>
                <a:latin typeface="Arial"/>
                <a:cs typeface="Arial"/>
              </a:rPr>
              <a:t>Inconvénients :</a:t>
            </a:r>
          </a:p>
          <a:p>
            <a:pPr marL="342900" indent="-342900" algn="l">
              <a:buFont typeface="Arial" pitchFamily="34" charset="0"/>
              <a:buChar char="•"/>
            </a:pPr>
            <a:r>
              <a:rPr lang="fr-FR" sz="1600" b="1" i="1" dirty="0">
                <a:effectLst>
                  <a:outerShdw blurRad="38100" dist="38100" dir="2700000" algn="tl">
                    <a:srgbClr val="000000">
                      <a:alpha val="43137"/>
                    </a:srgbClr>
                  </a:outerShdw>
                </a:effectLst>
                <a:latin typeface="Arial"/>
                <a:cs typeface="Arial"/>
              </a:rPr>
              <a:t>Encombrement </a:t>
            </a:r>
            <a:r>
              <a:rPr lang="fr-FR" sz="1600" i="1" dirty="0">
                <a:latin typeface="Arial"/>
                <a:cs typeface="Arial"/>
              </a:rPr>
              <a:t>(carte mère : bus, mémoires, périphériques ...)</a:t>
            </a:r>
          </a:p>
          <a:p>
            <a:pPr marL="342900" indent="-342900" algn="l">
              <a:buFont typeface="Arial" pitchFamily="34" charset="0"/>
              <a:buChar char="•"/>
            </a:pPr>
            <a:r>
              <a:rPr lang="fr-FR" sz="1600" b="1" i="1" dirty="0">
                <a:effectLst>
                  <a:outerShdw blurRad="38100" dist="38100" dir="2700000" algn="tl">
                    <a:srgbClr val="000000">
                      <a:alpha val="43137"/>
                    </a:srgbClr>
                  </a:outerShdw>
                </a:effectLst>
                <a:latin typeface="Arial"/>
                <a:cs typeface="Arial"/>
              </a:rPr>
              <a:t>Coût</a:t>
            </a:r>
            <a:r>
              <a:rPr lang="fr-FR" sz="1600" i="1" dirty="0">
                <a:latin typeface="Arial"/>
                <a:cs typeface="Arial"/>
              </a:rPr>
              <a:t> (en 2013,  Intel </a:t>
            </a:r>
            <a:r>
              <a:rPr lang="fr-FR" sz="1600" i="1" dirty="0" err="1">
                <a:latin typeface="Arial"/>
                <a:cs typeface="Arial"/>
              </a:rPr>
              <a:t>Haswell</a:t>
            </a:r>
            <a:r>
              <a:rPr lang="fr-FR" sz="1600" i="1" dirty="0">
                <a:latin typeface="Arial"/>
                <a:cs typeface="Arial"/>
              </a:rPr>
              <a:t> processor i5-4430 entrée de gamme ~180€)</a:t>
            </a:r>
          </a:p>
          <a:p>
            <a:pPr marL="342900" indent="-342900" algn="l">
              <a:buFont typeface="Arial" pitchFamily="34" charset="0"/>
              <a:buChar char="•"/>
            </a:pPr>
            <a:r>
              <a:rPr lang="fr-FR" sz="1600" b="1" i="1" dirty="0">
                <a:effectLst>
                  <a:outerShdw blurRad="38100" dist="38100" dir="2700000" algn="tl">
                    <a:srgbClr val="000000">
                      <a:alpha val="43137"/>
                    </a:srgbClr>
                  </a:outerShdw>
                </a:effectLst>
                <a:latin typeface="Arial"/>
                <a:cs typeface="Arial"/>
              </a:rPr>
              <a:t>Consommation et échauffement </a:t>
            </a:r>
            <a:r>
              <a:rPr lang="fr-FR" sz="1600" i="1" dirty="0">
                <a:latin typeface="Arial"/>
                <a:cs typeface="Arial"/>
              </a:rPr>
              <a:t>(en 2012, corei7 ~15-20W vs Atom (dédié principalement  pour le mobile et les tablettes)  ~2W)</a:t>
            </a:r>
          </a:p>
          <a:p>
            <a:pPr algn="l"/>
            <a:endParaRPr lang="fr-FR" sz="1600" i="1" dirty="0">
              <a:latin typeface="Arial"/>
              <a:cs typeface="Arial"/>
            </a:endParaRPr>
          </a:p>
        </p:txBody>
      </p:sp>
    </p:spTree>
    <p:extLst>
      <p:ext uri="{BB962C8B-B14F-4D97-AF65-F5344CB8AC3E}">
        <p14:creationId xmlns:p14="http://schemas.microsoft.com/office/powerpoint/2010/main" val="109345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xEl>
                                              <p:pRg st="3" end="3"/>
                                            </p:txEl>
                                          </p:spTgt>
                                        </p:tgtEl>
                                        <p:attrNameLst>
                                          <p:attrName>style.visibility</p:attrName>
                                        </p:attrNameLst>
                                      </p:cBhvr>
                                      <p:to>
                                        <p:strVal val="visible"/>
                                      </p:to>
                                    </p:set>
                                    <p:animEffect transition="in" filter="fade">
                                      <p:cBhvr>
                                        <p:cTn id="7" dur="500"/>
                                        <p:tgtEl>
                                          <p:spTgt spid="4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xEl>
                                              <p:pRg st="5" end="5"/>
                                            </p:txEl>
                                          </p:spTgt>
                                        </p:tgtEl>
                                        <p:attrNameLst>
                                          <p:attrName>style.visibility</p:attrName>
                                        </p:attrNameLst>
                                      </p:cBhvr>
                                      <p:to>
                                        <p:strVal val="visible"/>
                                      </p:to>
                                    </p:set>
                                    <p:animEffect transition="in" filter="fade">
                                      <p:cBhvr>
                                        <p:cTn id="12" dur="500"/>
                                        <p:tgtEl>
                                          <p:spTgt spid="47">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xEl>
                                              <p:pRg st="6" end="6"/>
                                            </p:txEl>
                                          </p:spTgt>
                                        </p:tgtEl>
                                        <p:attrNameLst>
                                          <p:attrName>style.visibility</p:attrName>
                                        </p:attrNameLst>
                                      </p:cBhvr>
                                      <p:to>
                                        <p:strVal val="visible"/>
                                      </p:to>
                                    </p:set>
                                    <p:animEffect transition="in" filter="fade">
                                      <p:cBhvr>
                                        <p:cTn id="17" dur="500"/>
                                        <p:tgtEl>
                                          <p:spTgt spid="4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xEl>
                                              <p:pRg st="7" end="7"/>
                                            </p:txEl>
                                          </p:spTgt>
                                        </p:tgtEl>
                                        <p:attrNameLst>
                                          <p:attrName>style.visibility</p:attrName>
                                        </p:attrNameLst>
                                      </p:cBhvr>
                                      <p:to>
                                        <p:strVal val="visible"/>
                                      </p:to>
                                    </p:set>
                                    <p:animEffect transition="in" filter="fade">
                                      <p:cBhvr>
                                        <p:cTn id="22" dur="500"/>
                                        <p:tgtEl>
                                          <p:spTgt spid="47">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
                                            <p:txEl>
                                              <p:pRg st="8" end="8"/>
                                            </p:txEl>
                                          </p:spTgt>
                                        </p:tgtEl>
                                        <p:attrNameLst>
                                          <p:attrName>style.visibility</p:attrName>
                                        </p:attrNameLst>
                                      </p:cBhvr>
                                      <p:to>
                                        <p:strVal val="visible"/>
                                      </p:to>
                                    </p:set>
                                    <p:animEffect transition="in" filter="fade">
                                      <p:cBhvr>
                                        <p:cTn id="27" dur="500"/>
                                        <p:tgtEl>
                                          <p:spTgt spid="47">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
                                            <p:txEl>
                                              <p:pRg st="10" end="10"/>
                                            </p:txEl>
                                          </p:spTgt>
                                        </p:tgtEl>
                                        <p:attrNameLst>
                                          <p:attrName>style.visibility</p:attrName>
                                        </p:attrNameLst>
                                      </p:cBhvr>
                                      <p:to>
                                        <p:strVal val="visible"/>
                                      </p:to>
                                    </p:set>
                                    <p:animEffect transition="in" filter="fade">
                                      <p:cBhvr>
                                        <p:cTn id="32" dur="500"/>
                                        <p:tgtEl>
                                          <p:spTgt spid="47">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7">
                                            <p:txEl>
                                              <p:pRg st="11" end="11"/>
                                            </p:txEl>
                                          </p:spTgt>
                                        </p:tgtEl>
                                        <p:attrNameLst>
                                          <p:attrName>style.visibility</p:attrName>
                                        </p:attrNameLst>
                                      </p:cBhvr>
                                      <p:to>
                                        <p:strVal val="visible"/>
                                      </p:to>
                                    </p:set>
                                    <p:animEffect transition="in" filter="fade">
                                      <p:cBhvr>
                                        <p:cTn id="37" dur="500"/>
                                        <p:tgtEl>
                                          <p:spTgt spid="47">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7">
                                            <p:txEl>
                                              <p:pRg st="12" end="12"/>
                                            </p:txEl>
                                          </p:spTgt>
                                        </p:tgtEl>
                                        <p:attrNameLst>
                                          <p:attrName>style.visibility</p:attrName>
                                        </p:attrNameLst>
                                      </p:cBhvr>
                                      <p:to>
                                        <p:strVal val="visible"/>
                                      </p:to>
                                    </p:set>
                                    <p:animEffect transition="in" filter="fade">
                                      <p:cBhvr>
                                        <p:cTn id="42" dur="500"/>
                                        <p:tgtEl>
                                          <p:spTgt spid="47">
                                            <p:txEl>
                                              <p:pRg st="12" end="1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xEl>
                                              <p:pRg st="13" end="13"/>
                                            </p:txEl>
                                          </p:spTgt>
                                        </p:tgtEl>
                                        <p:attrNameLst>
                                          <p:attrName>style.visibility</p:attrName>
                                        </p:attrNameLst>
                                      </p:cBhvr>
                                      <p:to>
                                        <p:strVal val="visible"/>
                                      </p:to>
                                    </p:set>
                                    <p:animEffect transition="in" filter="fade">
                                      <p:cBhvr>
                                        <p:cTn id="47" dur="500"/>
                                        <p:tgtEl>
                                          <p:spTgt spid="4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architecture Matérielle des Processeurs</a:t>
            </a:r>
          </a:p>
        </p:txBody>
      </p:sp>
      <p:sp>
        <p:nvSpPr>
          <p:cNvPr id="5" name="ZoneTexte 4">
            <a:extLst>
              <a:ext uri="{FF2B5EF4-FFF2-40B4-BE49-F238E27FC236}">
                <a16:creationId xmlns:a16="http://schemas.microsoft.com/office/drawing/2014/main" id="{19752F5F-929B-7BB2-45DE-EB94A6969BF6}"/>
              </a:ext>
            </a:extLst>
          </p:cNvPr>
          <p:cNvSpPr txBox="1"/>
          <p:nvPr/>
        </p:nvSpPr>
        <p:spPr>
          <a:xfrm>
            <a:off x="492517" y="4598126"/>
            <a:ext cx="6156477" cy="1261884"/>
          </a:xfrm>
          <a:prstGeom prst="rect">
            <a:avLst/>
          </a:prstGeom>
          <a:noFill/>
        </p:spPr>
        <p:txBody>
          <a:bodyPr wrap="square" rtlCol="0">
            <a:spAutoFit/>
          </a:bodyPr>
          <a:lstStyle/>
          <a:p>
            <a:pPr algn="just"/>
            <a:r>
              <a:rPr lang="fr-MA" sz="2000" dirty="0">
                <a:solidFill>
                  <a:schemeClr val="bg1"/>
                </a:solidFill>
              </a:rPr>
              <a:t>La carte mère, les chipsets et les bus sont les piliers de l'architecture matérielle. </a:t>
            </a:r>
          </a:p>
          <a:p>
            <a:pPr algn="just"/>
            <a:endParaRPr lang="fr-MA" sz="1800" dirty="0"/>
          </a:p>
          <a:p>
            <a:endParaRPr lang="fr-FR" dirty="0"/>
          </a:p>
        </p:txBody>
      </p:sp>
    </p:spTree>
    <p:extLst>
      <p:ext uri="{BB962C8B-B14F-4D97-AF65-F5344CB8AC3E}">
        <p14:creationId xmlns:p14="http://schemas.microsoft.com/office/powerpoint/2010/main" val="2466312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5901" y="1719071"/>
            <a:ext cx="8674099" cy="4407408"/>
          </a:xfrm>
        </p:spPr>
        <p:txBody>
          <a:bodyPr>
            <a:normAutofit fontScale="92500" lnSpcReduction="10000"/>
          </a:bodyPr>
          <a:lstStyle/>
          <a:p>
            <a:pPr marL="45720" indent="0">
              <a:buNone/>
            </a:pPr>
            <a:endParaRPr lang="en-US" sz="1600" dirty="0">
              <a:latin typeface="Arial"/>
              <a:cs typeface="Arial"/>
            </a:endParaRPr>
          </a:p>
          <a:p>
            <a:r>
              <a:rPr lang="en-US" sz="1700" i="1" dirty="0">
                <a:solidFill>
                  <a:schemeClr val="tx1"/>
                </a:solidFill>
                <a:latin typeface="Arial"/>
                <a:ea typeface="+mj-ea"/>
                <a:cs typeface="Arial"/>
              </a:rPr>
              <a:t> </a:t>
            </a:r>
            <a:r>
              <a:rPr lang="en-US" sz="1600" b="1" i="1" dirty="0">
                <a:solidFill>
                  <a:schemeClr val="tx1"/>
                </a:solidFill>
                <a:latin typeface="Arial"/>
                <a:ea typeface="+mj-ea"/>
                <a:cs typeface="Arial"/>
              </a:rPr>
              <a:t>La carte-</a:t>
            </a:r>
            <a:r>
              <a:rPr lang="en-US" sz="1600" b="1" i="1" dirty="0" err="1">
                <a:solidFill>
                  <a:schemeClr val="tx1"/>
                </a:solidFill>
                <a:latin typeface="Arial"/>
                <a:ea typeface="+mj-ea"/>
                <a:cs typeface="Arial"/>
              </a:rPr>
              <a:t>mère</a:t>
            </a:r>
            <a:r>
              <a:rPr lang="en-US" sz="1600" b="1" i="1" dirty="0">
                <a:solidFill>
                  <a:schemeClr val="tx1"/>
                </a:solidFill>
                <a:latin typeface="Arial"/>
                <a:ea typeface="+mj-ea"/>
                <a:cs typeface="Arial"/>
              </a:rPr>
              <a:t> </a:t>
            </a:r>
            <a:r>
              <a:rPr lang="en-US" sz="1600" b="1" i="1" dirty="0" err="1">
                <a:solidFill>
                  <a:schemeClr val="tx1"/>
                </a:solidFill>
                <a:latin typeface="Arial"/>
                <a:ea typeface="+mj-ea"/>
                <a:cs typeface="Arial"/>
              </a:rPr>
              <a:t>est</a:t>
            </a:r>
            <a:r>
              <a:rPr lang="en-US" sz="1600" b="1" i="1" dirty="0">
                <a:solidFill>
                  <a:schemeClr val="tx1"/>
                </a:solidFill>
                <a:latin typeface="Arial"/>
                <a:ea typeface="+mj-ea"/>
                <a:cs typeface="Arial"/>
              </a:rPr>
              <a:t> en fait le </a:t>
            </a:r>
            <a:r>
              <a:rPr lang="en-US" sz="1600" b="1" i="1" dirty="0" err="1">
                <a:solidFill>
                  <a:schemeClr val="tx1"/>
                </a:solidFill>
                <a:latin typeface="Arial"/>
                <a:ea typeface="+mj-ea"/>
                <a:cs typeface="Arial"/>
              </a:rPr>
              <a:t>système</a:t>
            </a:r>
            <a:r>
              <a:rPr lang="en-US" sz="1600" b="1" i="1" dirty="0">
                <a:solidFill>
                  <a:schemeClr val="tx1"/>
                </a:solidFill>
                <a:latin typeface="Arial"/>
                <a:ea typeface="+mj-ea"/>
                <a:cs typeface="Arial"/>
              </a:rPr>
              <a:t> </a:t>
            </a:r>
            <a:r>
              <a:rPr lang="en-US" sz="1600" b="1" i="1" dirty="0" err="1">
                <a:solidFill>
                  <a:schemeClr val="tx1"/>
                </a:solidFill>
                <a:latin typeface="Arial"/>
                <a:ea typeface="+mj-ea"/>
                <a:cs typeface="Arial"/>
              </a:rPr>
              <a:t>nerveux</a:t>
            </a:r>
            <a:r>
              <a:rPr lang="en-US" sz="1600" b="1" i="1" dirty="0">
                <a:solidFill>
                  <a:schemeClr val="tx1"/>
                </a:solidFill>
                <a:latin typeface="Arial"/>
                <a:ea typeface="+mj-ea"/>
                <a:cs typeface="Arial"/>
              </a:rPr>
              <a:t> du pc.</a:t>
            </a:r>
          </a:p>
          <a:p>
            <a:endParaRPr lang="en-US" sz="1600" b="1" i="1" dirty="0">
              <a:solidFill>
                <a:schemeClr val="tx1"/>
              </a:solidFill>
              <a:latin typeface="Arial"/>
              <a:ea typeface="+mj-ea"/>
              <a:cs typeface="Arial"/>
            </a:endParaRPr>
          </a:p>
          <a:p>
            <a:r>
              <a:rPr lang="en-US" sz="1600" b="1" i="1" dirty="0">
                <a:solidFill>
                  <a:schemeClr val="tx1"/>
                </a:solidFill>
                <a:latin typeface="Arial"/>
                <a:ea typeface="+mj-ea"/>
                <a:cs typeface="Arial"/>
              </a:rPr>
              <a:t> </a:t>
            </a:r>
            <a:r>
              <a:rPr lang="en-US" sz="1600" b="1" i="1" dirty="0" err="1">
                <a:solidFill>
                  <a:schemeClr val="tx1"/>
                </a:solidFill>
                <a:latin typeface="Arial"/>
                <a:ea typeface="+mj-ea"/>
                <a:cs typeface="Arial"/>
              </a:rPr>
              <a:t>C’est</a:t>
            </a:r>
            <a:r>
              <a:rPr lang="en-US" sz="1600" b="1" i="1" dirty="0">
                <a:solidFill>
                  <a:schemeClr val="tx1"/>
                </a:solidFill>
                <a:latin typeface="Arial"/>
                <a:ea typeface="+mj-ea"/>
                <a:cs typeface="Arial"/>
              </a:rPr>
              <a:t> le circuit </a:t>
            </a:r>
            <a:r>
              <a:rPr lang="en-US" sz="1600" b="1" i="1" dirty="0" err="1">
                <a:solidFill>
                  <a:schemeClr val="tx1"/>
                </a:solidFill>
                <a:latin typeface="Arial"/>
                <a:ea typeface="+mj-ea"/>
                <a:cs typeface="Arial"/>
              </a:rPr>
              <a:t>imprimé</a:t>
            </a:r>
            <a:r>
              <a:rPr lang="en-US" sz="1600" b="1" i="1" dirty="0">
                <a:solidFill>
                  <a:schemeClr val="tx1"/>
                </a:solidFill>
                <a:latin typeface="Arial"/>
                <a:ea typeface="+mj-ea"/>
                <a:cs typeface="Arial"/>
              </a:rPr>
              <a:t> principal de </a:t>
            </a:r>
            <a:r>
              <a:rPr lang="en-US" sz="1600" b="1" i="1" dirty="0" err="1">
                <a:solidFill>
                  <a:schemeClr val="tx1"/>
                </a:solidFill>
                <a:latin typeface="Arial"/>
                <a:ea typeface="+mj-ea"/>
                <a:cs typeface="Arial"/>
              </a:rPr>
              <a:t>l’ordinateur</a:t>
            </a:r>
            <a:r>
              <a:rPr lang="en-US" sz="1600" b="1" i="1" dirty="0">
                <a:solidFill>
                  <a:schemeClr val="tx1"/>
                </a:solidFill>
                <a:latin typeface="Arial"/>
                <a:ea typeface="+mj-ea"/>
                <a:cs typeface="Arial"/>
              </a:rPr>
              <a:t>. </a:t>
            </a:r>
          </a:p>
          <a:p>
            <a:endParaRPr lang="en-US" sz="1600" b="1" i="1" dirty="0">
              <a:solidFill>
                <a:schemeClr val="tx1"/>
              </a:solidFill>
              <a:latin typeface="Arial"/>
              <a:ea typeface="+mj-ea"/>
              <a:cs typeface="Arial"/>
            </a:endParaRPr>
          </a:p>
          <a:p>
            <a:r>
              <a:rPr lang="fr-MA" sz="1600" b="1" i="1" dirty="0">
                <a:solidFill>
                  <a:schemeClr val="tx1"/>
                </a:solidFill>
                <a:latin typeface="Arial"/>
                <a:ea typeface="+mj-ea"/>
                <a:cs typeface="Arial"/>
              </a:rPr>
              <a:t>Fonctions principales :</a:t>
            </a:r>
          </a:p>
          <a:p>
            <a:pPr lvl="1"/>
            <a:r>
              <a:rPr lang="fr-MA" sz="1600" b="1" i="1" spc="150" dirty="0">
                <a:solidFill>
                  <a:schemeClr val="tx1"/>
                </a:solidFill>
                <a:latin typeface="Arial"/>
                <a:ea typeface="+mj-ea"/>
                <a:cs typeface="Arial"/>
              </a:rPr>
              <a:t>Connecter le processeur, la mémoire et les périphériques.</a:t>
            </a:r>
          </a:p>
          <a:p>
            <a:pPr lvl="1"/>
            <a:r>
              <a:rPr lang="fr-MA" sz="1600" b="1" i="1" spc="150" dirty="0">
                <a:solidFill>
                  <a:schemeClr val="tx1"/>
                </a:solidFill>
                <a:latin typeface="Arial"/>
                <a:ea typeface="+mj-ea"/>
                <a:cs typeface="Arial"/>
              </a:rPr>
              <a:t>Alimenter les composants via le bloc d'alimentation.</a:t>
            </a:r>
          </a:p>
          <a:p>
            <a:pPr lvl="1"/>
            <a:r>
              <a:rPr lang="fr-MA" sz="1600" b="1" i="1" spc="150" dirty="0">
                <a:solidFill>
                  <a:schemeClr val="tx1"/>
                </a:solidFill>
                <a:latin typeface="Arial"/>
                <a:ea typeface="+mj-ea"/>
                <a:cs typeface="Arial"/>
              </a:rPr>
              <a:t>Fournir une interface pour les périphériques (ports USB, audio, réseau).</a:t>
            </a:r>
          </a:p>
          <a:p>
            <a:pPr lvl="1"/>
            <a:endParaRPr lang="is-IS" sz="1600" b="1" i="1" spc="150" dirty="0">
              <a:solidFill>
                <a:schemeClr val="tx1"/>
              </a:solidFill>
              <a:latin typeface="Arial"/>
              <a:ea typeface="+mj-ea"/>
              <a:cs typeface="Arial"/>
            </a:endParaRPr>
          </a:p>
          <a:p>
            <a:r>
              <a:rPr lang="fr-MA" sz="1600" b="1" i="1" dirty="0">
                <a:solidFill>
                  <a:schemeClr val="tx1"/>
                </a:solidFill>
                <a:latin typeface="Arial"/>
                <a:ea typeface="+mj-ea"/>
                <a:cs typeface="Arial"/>
              </a:rPr>
              <a:t>Structure Physique :</a:t>
            </a:r>
          </a:p>
          <a:p>
            <a:pPr lvl="1">
              <a:buFont typeface="Arial" panose="020B0604020202020204" pitchFamily="34" charset="0"/>
              <a:buChar char="•"/>
            </a:pPr>
            <a:r>
              <a:rPr lang="fr-MA" sz="1600" b="1" i="1" spc="150" dirty="0">
                <a:solidFill>
                  <a:schemeClr val="tx1"/>
                </a:solidFill>
                <a:latin typeface="Arial"/>
                <a:ea typeface="+mj-ea"/>
                <a:cs typeface="Arial"/>
              </a:rPr>
              <a:t>Socket CPU : Connecteur pour le processeur.</a:t>
            </a:r>
          </a:p>
          <a:p>
            <a:pPr lvl="1">
              <a:buFont typeface="Arial" panose="020B0604020202020204" pitchFamily="34" charset="0"/>
              <a:buChar char="•"/>
            </a:pPr>
            <a:r>
              <a:rPr lang="fr-MA" sz="1600" b="1" i="1" spc="150" dirty="0">
                <a:solidFill>
                  <a:schemeClr val="tx1"/>
                </a:solidFill>
                <a:latin typeface="Arial"/>
                <a:ea typeface="+mj-ea"/>
                <a:cs typeface="Arial"/>
              </a:rPr>
              <a:t>Emplacements de RAM : Slots pour la mémoire vive.</a:t>
            </a:r>
          </a:p>
          <a:p>
            <a:pPr lvl="1">
              <a:buFont typeface="Arial" panose="020B0604020202020204" pitchFamily="34" charset="0"/>
              <a:buChar char="•"/>
            </a:pPr>
            <a:r>
              <a:rPr lang="fr-MA" sz="1600" b="1" i="1" spc="150" dirty="0">
                <a:solidFill>
                  <a:schemeClr val="tx1"/>
                </a:solidFill>
                <a:latin typeface="Arial"/>
                <a:ea typeface="+mj-ea"/>
                <a:cs typeface="Arial"/>
              </a:rPr>
              <a:t>Connecteurs </a:t>
            </a:r>
            <a:r>
              <a:rPr lang="fr-MA" sz="1600" b="1" i="1" spc="150" dirty="0" err="1">
                <a:solidFill>
                  <a:schemeClr val="tx1"/>
                </a:solidFill>
                <a:latin typeface="Arial"/>
                <a:ea typeface="+mj-ea"/>
                <a:cs typeface="Arial"/>
              </a:rPr>
              <a:t>PCIe</a:t>
            </a:r>
            <a:r>
              <a:rPr lang="fr-MA" sz="1600" b="1" i="1" spc="150" dirty="0">
                <a:solidFill>
                  <a:schemeClr val="tx1"/>
                </a:solidFill>
                <a:latin typeface="Arial"/>
                <a:ea typeface="+mj-ea"/>
                <a:cs typeface="Arial"/>
              </a:rPr>
              <a:t> : Pour les cartes graphiques, cartes réseau et autres extensions.</a:t>
            </a:r>
          </a:p>
          <a:p>
            <a:pPr lvl="1">
              <a:buFont typeface="Arial" panose="020B0604020202020204" pitchFamily="34" charset="0"/>
              <a:buChar char="•"/>
            </a:pPr>
            <a:r>
              <a:rPr lang="fr-MA" sz="1600" b="1" i="1" spc="150" dirty="0">
                <a:solidFill>
                  <a:schemeClr val="tx1"/>
                </a:solidFill>
                <a:latin typeface="Arial"/>
                <a:ea typeface="+mj-ea"/>
                <a:cs typeface="Arial"/>
              </a:rPr>
              <a:t>Ports SATA/M.2 : Pour les disques durs et SSD.</a:t>
            </a:r>
          </a:p>
          <a:p>
            <a:pPr lvl="1">
              <a:buFont typeface="Arial" panose="020B0604020202020204" pitchFamily="34" charset="0"/>
              <a:buChar char="•"/>
            </a:pPr>
            <a:r>
              <a:rPr lang="fr-MA" sz="1600" b="1" i="1" spc="150" dirty="0">
                <a:solidFill>
                  <a:schemeClr val="tx1"/>
                </a:solidFill>
                <a:latin typeface="Arial"/>
                <a:ea typeface="+mj-ea"/>
                <a:cs typeface="Arial"/>
              </a:rPr>
              <a:t>BIOS: Mémoire intégrée pour initialiser le matériel.</a:t>
            </a:r>
          </a:p>
        </p:txBody>
      </p:sp>
      <p:sp>
        <p:nvSpPr>
          <p:cNvPr id="3" name="Title 2"/>
          <p:cNvSpPr>
            <a:spLocks noGrp="1"/>
          </p:cNvSpPr>
          <p:nvPr>
            <p:ph type="title"/>
          </p:nvPr>
        </p:nvSpPr>
        <p:spPr/>
        <p:txBody>
          <a:bodyPr/>
          <a:lstStyle/>
          <a:p>
            <a:br>
              <a:rPr lang="en-US" b="1" dirty="0"/>
            </a:br>
            <a:r>
              <a:rPr lang="en-US" sz="2800" b="1" dirty="0">
                <a:latin typeface="Calibri"/>
                <a:cs typeface="Calibri"/>
              </a:rPr>
              <a:t>Carte </a:t>
            </a:r>
            <a:r>
              <a:rPr lang="en-US" sz="2800" b="1" dirty="0" err="1">
                <a:latin typeface="Calibri"/>
                <a:cs typeface="Calibri"/>
              </a:rPr>
              <a:t>mère</a:t>
            </a:r>
            <a:br>
              <a:rPr lang="en-US" sz="2800" b="1" dirty="0">
                <a:latin typeface="Calibri"/>
                <a:cs typeface="Calibri"/>
              </a:rPr>
            </a:br>
            <a:endParaRPr lang="fr-FR" sz="2800" dirty="0">
              <a:latin typeface="Calibri"/>
              <a:cs typeface="Calibri"/>
            </a:endParaRPr>
          </a:p>
        </p:txBody>
      </p:sp>
    </p:spTree>
    <p:extLst>
      <p:ext uri="{BB962C8B-B14F-4D97-AF65-F5344CB8AC3E}">
        <p14:creationId xmlns:p14="http://schemas.microsoft.com/office/powerpoint/2010/main" val="1301105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p:cNvSpPr txBox="1">
            <a:spLocks/>
          </p:cNvSpPr>
          <p:nvPr/>
        </p:nvSpPr>
        <p:spPr>
          <a:xfrm>
            <a:off x="539552" y="1663700"/>
            <a:ext cx="8244880" cy="1333252"/>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600" i="1" spc="150" dirty="0">
                <a:latin typeface="Arial"/>
                <a:cs typeface="Arial"/>
              </a:rPr>
              <a:t>Le principal rôle d’une carte mère est d’interconnecter les principaux éléments constitutifs d’un processeur travaillant autour d’un CPU. </a:t>
            </a:r>
            <a:r>
              <a:rPr lang="fr-FR" sz="1600" i="1" spc="150" dirty="0">
                <a:latin typeface="Arial"/>
                <a:cs typeface="Arial"/>
                <a:sym typeface="Wingdings"/>
              </a:rPr>
              <a:t>		</a:t>
            </a:r>
            <a:endParaRPr lang="fr-FR" sz="1600" i="1" spc="150" dirty="0">
              <a:latin typeface="Arial"/>
              <a:cs typeface="Arial"/>
            </a:endParaRPr>
          </a:p>
        </p:txBody>
      </p:sp>
      <p:sp>
        <p:nvSpPr>
          <p:cNvPr id="10" name="Title 3"/>
          <p:cNvSpPr txBox="1">
            <a:spLocks/>
          </p:cNvSpPr>
          <p:nvPr/>
        </p:nvSpPr>
        <p:spPr>
          <a:xfrm>
            <a:off x="755058" y="355767"/>
            <a:ext cx="7580212" cy="974287"/>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2800" b="1" cap="all" spc="200" dirty="0">
                <a:solidFill>
                  <a:schemeClr val="bg1"/>
                </a:solidFill>
                <a:latin typeface="Calibri"/>
                <a:cs typeface="Calibri"/>
              </a:rPr>
              <a:t>Carte mère - Structure</a:t>
            </a:r>
          </a:p>
          <a:p>
            <a:endParaRPr lang="fr-FR" sz="2800" b="1" cap="all" spc="200" dirty="0">
              <a:solidFill>
                <a:schemeClr val="bg1"/>
              </a:solidFill>
              <a:latin typeface="Calibri"/>
              <a:cs typeface="Calibri"/>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20</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26" name="Rectangle à coins arrondis 48"/>
          <p:cNvSpPr/>
          <p:nvPr/>
        </p:nvSpPr>
        <p:spPr>
          <a:xfrm>
            <a:off x="4651005" y="2988301"/>
            <a:ext cx="4133427" cy="3683414"/>
          </a:xfrm>
          <a:prstGeom prst="roundRect">
            <a:avLst>
              <a:gd name="adj" fmla="val 6183"/>
            </a:avLst>
          </a:prstGeom>
          <a:solidFill>
            <a:srgbClr val="92D050">
              <a:alpha val="65098"/>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0" name="Rectangle à coins arrondis 52"/>
          <p:cNvSpPr/>
          <p:nvPr/>
        </p:nvSpPr>
        <p:spPr>
          <a:xfrm rot="5400000">
            <a:off x="7438666" y="4592164"/>
            <a:ext cx="1478561" cy="455612"/>
          </a:xfrm>
          <a:prstGeom prst="roundRect">
            <a:avLst>
              <a:gd name="adj" fmla="val 29135"/>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1" name="ZoneTexte 53"/>
          <p:cNvSpPr txBox="1"/>
          <p:nvPr/>
        </p:nvSpPr>
        <p:spPr>
          <a:xfrm rot="5400000">
            <a:off x="7120733" y="4681745"/>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rgbClr val="00B050"/>
                </a:solidFill>
                <a:effectLst>
                  <a:outerShdw blurRad="38100" dist="38100" dir="2700000" algn="tl">
                    <a:srgbClr val="000000">
                      <a:alpha val="43137"/>
                    </a:srgbClr>
                  </a:outerShdw>
                </a:effectLst>
                <a:latin typeface="+mn-lt"/>
                <a:cs typeface="+mn-cs"/>
              </a:rPr>
              <a:t>Peripherals</a:t>
            </a:r>
            <a:endParaRPr lang="fr-FR" sz="1600" b="1" i="1" dirty="0">
              <a:solidFill>
                <a:srgbClr val="00B050"/>
              </a:solidFill>
              <a:effectLst>
                <a:outerShdw blurRad="38100" dist="38100" dir="2700000" algn="tl">
                  <a:srgbClr val="000000">
                    <a:alpha val="43137"/>
                  </a:srgbClr>
                </a:outerShdw>
              </a:effectLst>
              <a:latin typeface="+mn-lt"/>
              <a:cs typeface="+mn-cs"/>
            </a:endParaRPr>
          </a:p>
        </p:txBody>
      </p:sp>
      <p:sp>
        <p:nvSpPr>
          <p:cNvPr id="32" name="ZoneTexte 58"/>
          <p:cNvSpPr txBox="1"/>
          <p:nvPr/>
        </p:nvSpPr>
        <p:spPr>
          <a:xfrm>
            <a:off x="6370997" y="4327566"/>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Buses</a:t>
            </a:r>
            <a:endParaRPr lang="fr-FR" sz="1600" i="1" dirty="0">
              <a:solidFill>
                <a:srgbClr val="00B050"/>
              </a:solidFill>
              <a:effectLst>
                <a:outerShdw blurRad="38100" dist="38100" dir="2700000" algn="tl">
                  <a:srgbClr val="000000">
                    <a:alpha val="43137"/>
                  </a:srgbClr>
                </a:outerShdw>
              </a:effectLst>
              <a:latin typeface="+mn-lt"/>
              <a:cs typeface="+mn-cs"/>
            </a:endParaRPr>
          </a:p>
        </p:txBody>
      </p:sp>
      <p:sp>
        <p:nvSpPr>
          <p:cNvPr id="33" name="Double flèche verticale 60"/>
          <p:cNvSpPr/>
          <p:nvPr/>
        </p:nvSpPr>
        <p:spPr>
          <a:xfrm rot="5400000">
            <a:off x="8583253" y="4450944"/>
            <a:ext cx="241662" cy="596662"/>
          </a:xfrm>
          <a:prstGeom prst="upDownArrow">
            <a:avLst>
              <a:gd name="adj1" fmla="val 35261"/>
              <a:gd name="adj2" fmla="val 32369"/>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5" name="Up Arrow 34"/>
          <p:cNvSpPr/>
          <p:nvPr/>
        </p:nvSpPr>
        <p:spPr>
          <a:xfrm flipV="1">
            <a:off x="5201166" y="4737068"/>
            <a:ext cx="266912" cy="429830"/>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Up Arrow 35"/>
          <p:cNvSpPr/>
          <p:nvPr/>
        </p:nvSpPr>
        <p:spPr>
          <a:xfrm rot="5400000">
            <a:off x="6471252" y="3433450"/>
            <a:ext cx="310047" cy="2647730"/>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Up Arrow 36"/>
          <p:cNvSpPr/>
          <p:nvPr/>
        </p:nvSpPr>
        <p:spPr>
          <a:xfrm>
            <a:off x="5201166" y="4294784"/>
            <a:ext cx="266912" cy="44228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p:cNvSpPr/>
          <p:nvPr/>
        </p:nvSpPr>
        <p:spPr>
          <a:xfrm rot="16200000">
            <a:off x="5661878" y="5611963"/>
            <a:ext cx="1886933" cy="1678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Up Arrow 37"/>
          <p:cNvSpPr/>
          <p:nvPr/>
        </p:nvSpPr>
        <p:spPr>
          <a:xfrm rot="5400000">
            <a:off x="6709436" y="5827432"/>
            <a:ext cx="310047" cy="68080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p:cNvSpPr/>
          <p:nvPr/>
        </p:nvSpPr>
        <p:spPr>
          <a:xfrm>
            <a:off x="4974582" y="4125908"/>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p:cNvSpPr/>
          <p:nvPr/>
        </p:nvSpPr>
        <p:spPr>
          <a:xfrm>
            <a:off x="5018362" y="4196977"/>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Up Arrow 39"/>
          <p:cNvSpPr/>
          <p:nvPr/>
        </p:nvSpPr>
        <p:spPr>
          <a:xfrm rot="5400000">
            <a:off x="6709643" y="6298962"/>
            <a:ext cx="310047" cy="68080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p:cNvSpPr/>
          <p:nvPr/>
        </p:nvSpPr>
        <p:spPr>
          <a:xfrm>
            <a:off x="7204863" y="6083397"/>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p:cNvSpPr/>
          <p:nvPr/>
        </p:nvSpPr>
        <p:spPr>
          <a:xfrm>
            <a:off x="7248643" y="6154466"/>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ZoneTexte 58"/>
          <p:cNvSpPr txBox="1"/>
          <p:nvPr/>
        </p:nvSpPr>
        <p:spPr>
          <a:xfrm>
            <a:off x="5622654" y="4117211"/>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48" name="Rectangle 47"/>
          <p:cNvSpPr/>
          <p:nvPr/>
        </p:nvSpPr>
        <p:spPr>
          <a:xfrm>
            <a:off x="7224452" y="6554927"/>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p:cNvSpPr/>
          <p:nvPr/>
        </p:nvSpPr>
        <p:spPr>
          <a:xfrm>
            <a:off x="7268232" y="6625996"/>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58"/>
          <p:cNvSpPr txBox="1"/>
          <p:nvPr/>
        </p:nvSpPr>
        <p:spPr>
          <a:xfrm>
            <a:off x="7872524" y="5996884"/>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51" name="ZoneTexte 58"/>
          <p:cNvSpPr txBox="1"/>
          <p:nvPr/>
        </p:nvSpPr>
        <p:spPr>
          <a:xfrm>
            <a:off x="7895829" y="6468414"/>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57" name="ZoneTexte 58"/>
          <p:cNvSpPr txBox="1"/>
          <p:nvPr/>
        </p:nvSpPr>
        <p:spPr>
          <a:xfrm>
            <a:off x="4558942" y="3105484"/>
            <a:ext cx="2158777" cy="469052"/>
          </a:xfrm>
          <a:prstGeom prst="rect">
            <a:avLst/>
          </a:prstGeom>
          <a:noFill/>
        </p:spPr>
        <p:txBody>
          <a:bodyPr wrap="square" lIns="98755" tIns="49378" rIns="98755" bIns="49378">
            <a:spAutoFit/>
          </a:bodyPr>
          <a:lstStyle/>
          <a:p>
            <a:pPr fontAlgn="auto">
              <a:spcBef>
                <a:spcPts val="0"/>
              </a:spcBef>
              <a:spcAft>
                <a:spcPts val="0"/>
              </a:spcAft>
              <a:defRPr/>
            </a:pPr>
            <a:r>
              <a:rPr lang="fr-FR" sz="2400" b="1" i="1" dirty="0" err="1">
                <a:solidFill>
                  <a:srgbClr val="00B050"/>
                </a:solidFill>
                <a:effectLst>
                  <a:outerShdw blurRad="38100" dist="38100" dir="2700000" algn="tl">
                    <a:srgbClr val="000000">
                      <a:alpha val="43137"/>
                    </a:srgbClr>
                  </a:outerShdw>
                </a:effectLst>
                <a:latin typeface="+mn-lt"/>
                <a:cs typeface="+mn-cs"/>
              </a:rPr>
              <a:t>Mother</a:t>
            </a:r>
            <a:r>
              <a:rPr lang="fr-FR" sz="2400" b="1" i="1" dirty="0">
                <a:solidFill>
                  <a:srgbClr val="00B050"/>
                </a:solidFill>
                <a:effectLst>
                  <a:outerShdw blurRad="38100" dist="38100" dir="2700000" algn="tl">
                    <a:srgbClr val="000000">
                      <a:alpha val="43137"/>
                    </a:srgbClr>
                  </a:outerShdw>
                </a:effectLst>
                <a:latin typeface="+mn-lt"/>
                <a:cs typeface="+mn-cs"/>
              </a:rPr>
              <a:t> </a:t>
            </a:r>
            <a:r>
              <a:rPr lang="fr-FR" sz="2400" b="1" i="1" dirty="0" err="1">
                <a:solidFill>
                  <a:srgbClr val="00B050"/>
                </a:solidFill>
                <a:effectLst>
                  <a:outerShdw blurRad="38100" dist="38100" dir="2700000" algn="tl">
                    <a:srgbClr val="000000">
                      <a:alpha val="43137"/>
                    </a:srgbClr>
                  </a:outerShdw>
                </a:effectLst>
                <a:latin typeface="+mn-lt"/>
                <a:cs typeface="+mn-cs"/>
              </a:rPr>
              <a:t>Board</a:t>
            </a:r>
            <a:endParaRPr lang="fr-FR" sz="2000" i="1" dirty="0">
              <a:solidFill>
                <a:srgbClr val="00B050"/>
              </a:solidFill>
              <a:effectLst>
                <a:outerShdw blurRad="38100" dist="38100" dir="2700000" algn="tl">
                  <a:srgbClr val="000000">
                    <a:alpha val="43137"/>
                  </a:srgbClr>
                </a:outerShdw>
              </a:effectLst>
              <a:latin typeface="+mn-lt"/>
              <a:cs typeface="+mn-cs"/>
            </a:endParaRPr>
          </a:p>
        </p:txBody>
      </p:sp>
      <p:sp>
        <p:nvSpPr>
          <p:cNvPr id="58" name="Rectangle 57"/>
          <p:cNvSpPr/>
          <p:nvPr/>
        </p:nvSpPr>
        <p:spPr>
          <a:xfrm>
            <a:off x="4974582" y="5166898"/>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p:cNvSpPr/>
          <p:nvPr/>
        </p:nvSpPr>
        <p:spPr>
          <a:xfrm>
            <a:off x="5018362" y="5237967"/>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ZoneTexte 58"/>
          <p:cNvSpPr txBox="1"/>
          <p:nvPr/>
        </p:nvSpPr>
        <p:spPr>
          <a:xfrm>
            <a:off x="5638331" y="5027695"/>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65" name="Rectangle à coins arrondis 48"/>
          <p:cNvSpPr/>
          <p:nvPr/>
        </p:nvSpPr>
        <p:spPr>
          <a:xfrm>
            <a:off x="569199" y="3574536"/>
            <a:ext cx="2481766" cy="2673799"/>
          </a:xfrm>
          <a:prstGeom prst="roundRect">
            <a:avLst>
              <a:gd name="adj" fmla="val 10320"/>
            </a:avLst>
          </a:prstGeom>
          <a:solidFill>
            <a:srgbClr val="DCE6F2">
              <a:alpha val="65098"/>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6" name="Rectangle à coins arrondis 49"/>
          <p:cNvSpPr/>
          <p:nvPr/>
        </p:nvSpPr>
        <p:spPr>
          <a:xfrm>
            <a:off x="758843" y="5150923"/>
            <a:ext cx="1216024" cy="953396"/>
          </a:xfrm>
          <a:prstGeom prst="roundRect">
            <a:avLst>
              <a:gd name="adj" fmla="val 16314"/>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7" name="ZoneTexte 50"/>
          <p:cNvSpPr txBox="1"/>
          <p:nvPr/>
        </p:nvSpPr>
        <p:spPr>
          <a:xfrm>
            <a:off x="758843" y="5150923"/>
            <a:ext cx="1426974" cy="961495"/>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Processing</a:t>
            </a:r>
            <a:endParaRPr lang="fr-FR" b="1" i="1" dirty="0">
              <a:solidFill>
                <a:schemeClr val="accent1">
                  <a:lumMod val="75000"/>
                </a:schemeClr>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Unit</a:t>
            </a:r>
          </a:p>
        </p:txBody>
      </p:sp>
      <p:sp>
        <p:nvSpPr>
          <p:cNvPr id="68" name="Rectangle à coins arrondis 51"/>
          <p:cNvSpPr/>
          <p:nvPr/>
        </p:nvSpPr>
        <p:spPr>
          <a:xfrm>
            <a:off x="758843" y="3733286"/>
            <a:ext cx="1242076" cy="55086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9" name="Rectangle à coins arrondis 52"/>
          <p:cNvSpPr/>
          <p:nvPr/>
        </p:nvSpPr>
        <p:spPr>
          <a:xfrm rot="5400000">
            <a:off x="1520737" y="4646892"/>
            <a:ext cx="2149228" cy="455612"/>
          </a:xfrm>
          <a:prstGeom prst="roundRect">
            <a:avLst>
              <a:gd name="adj" fmla="val 29135"/>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70" name="ZoneTexte 53"/>
          <p:cNvSpPr txBox="1"/>
          <p:nvPr/>
        </p:nvSpPr>
        <p:spPr>
          <a:xfrm rot="5400000">
            <a:off x="1538137" y="4691834"/>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Peripherals</a:t>
            </a:r>
            <a:endParaRPr lang="fr-FR" sz="1600" b="1"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71" name="ZoneTexte 58"/>
          <p:cNvSpPr txBox="1"/>
          <p:nvPr/>
        </p:nvSpPr>
        <p:spPr>
          <a:xfrm>
            <a:off x="1456320" y="4359448"/>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Buses</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72" name="Double flèche verticale 60"/>
          <p:cNvSpPr/>
          <p:nvPr/>
        </p:nvSpPr>
        <p:spPr>
          <a:xfrm rot="5400000">
            <a:off x="2932695" y="4528995"/>
            <a:ext cx="236538" cy="455613"/>
          </a:xfrm>
          <a:prstGeom prst="upDownArrow">
            <a:avLst>
              <a:gd name="adj1" fmla="val 35261"/>
              <a:gd name="adj2" fmla="val 32369"/>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73" name="ZoneTexte 61"/>
          <p:cNvSpPr txBox="1"/>
          <p:nvPr/>
        </p:nvSpPr>
        <p:spPr>
          <a:xfrm>
            <a:off x="758843" y="3811073"/>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74" name="Up Arrow 73"/>
          <p:cNvSpPr/>
          <p:nvPr/>
        </p:nvSpPr>
        <p:spPr>
          <a:xfrm flipV="1">
            <a:off x="1189408" y="4736167"/>
            <a:ext cx="266912" cy="42983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Up Arrow 74"/>
          <p:cNvSpPr/>
          <p:nvPr/>
        </p:nvSpPr>
        <p:spPr>
          <a:xfrm rot="5400000">
            <a:off x="1674855" y="4217190"/>
            <a:ext cx="308490" cy="1076890"/>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Up Arrow 75"/>
          <p:cNvSpPr/>
          <p:nvPr/>
        </p:nvSpPr>
        <p:spPr>
          <a:xfrm>
            <a:off x="1189408" y="4293883"/>
            <a:ext cx="266912" cy="442284"/>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Flèche droite 20"/>
          <p:cNvSpPr/>
          <p:nvPr/>
        </p:nvSpPr>
        <p:spPr>
          <a:xfrm>
            <a:off x="3702925" y="4471214"/>
            <a:ext cx="519470" cy="792088"/>
          </a:xfrm>
          <a:prstGeom prst="rightArrow">
            <a:avLst/>
          </a:prstGeom>
          <a:solidFill>
            <a:srgbClr val="DCE6F2">
              <a:alpha val="50196"/>
            </a:srgbClr>
          </a:solidFill>
          <a:ln w="12700">
            <a:solidFill>
              <a:srgbClr val="376092">
                <a:alpha val="54118"/>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Tree>
    <p:extLst>
      <p:ext uri="{BB962C8B-B14F-4D97-AF65-F5344CB8AC3E}">
        <p14:creationId xmlns:p14="http://schemas.microsoft.com/office/powerpoint/2010/main" val="589550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50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500"/>
                                        <p:tgtEl>
                                          <p:spTgt spid="5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fade">
                                      <p:cBhvr>
                                        <p:cTn id="64" dur="500"/>
                                        <p:tgtEl>
                                          <p:spTgt spid="5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500"/>
                                        <p:tgtEl>
                                          <p:spTgt spid="5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500"/>
                                        <p:tgtEl>
                                          <p:spTgt spid="5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9"/>
                                        </p:tgtEl>
                                        <p:attrNameLst>
                                          <p:attrName>style.visibility</p:attrName>
                                        </p:attrNameLst>
                                      </p:cBhvr>
                                      <p:to>
                                        <p:strVal val="visible"/>
                                      </p:to>
                                    </p:set>
                                    <p:animEffect transition="in" filter="fade">
                                      <p:cBhvr>
                                        <p:cTn id="73" dur="500"/>
                                        <p:tgtEl>
                                          <p:spTgt spid="5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0"/>
                                        </p:tgtEl>
                                        <p:attrNameLst>
                                          <p:attrName>style.visibility</p:attrName>
                                        </p:attrNameLst>
                                      </p:cBhvr>
                                      <p:to>
                                        <p:strVal val="visible"/>
                                      </p:to>
                                    </p:set>
                                    <p:animEffect transition="in" filter="fade">
                                      <p:cBhvr>
                                        <p:cTn id="76" dur="500"/>
                                        <p:tgtEl>
                                          <p:spTgt spid="6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animEffect transition="in" filter="fade">
                                      <p:cBhvr>
                                        <p:cTn id="7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1" grpId="0"/>
      <p:bldP spid="32" grpId="0"/>
      <p:bldP spid="33" grpId="0" animBg="1"/>
      <p:bldP spid="35" grpId="0" animBg="1"/>
      <p:bldP spid="36" grpId="0" animBg="1"/>
      <p:bldP spid="37" grpId="0" animBg="1"/>
      <p:bldP spid="2" grpId="0" animBg="1"/>
      <p:bldP spid="38" grpId="0" animBg="1"/>
      <p:bldP spid="3" grpId="0" animBg="1"/>
      <p:bldP spid="39" grpId="0" animBg="1"/>
      <p:bldP spid="40" grpId="0" animBg="1"/>
      <p:bldP spid="41" grpId="0" animBg="1"/>
      <p:bldP spid="42" grpId="0" animBg="1"/>
      <p:bldP spid="47" grpId="0"/>
      <p:bldP spid="48" grpId="0" animBg="1"/>
      <p:bldP spid="49" grpId="0" animBg="1"/>
      <p:bldP spid="50" grpId="0"/>
      <p:bldP spid="51" grpId="0"/>
      <p:bldP spid="57" grpId="0"/>
      <p:bldP spid="58" grpId="0" animBg="1"/>
      <p:bldP spid="59" grpId="0" animBg="1"/>
      <p:bldP spid="60" grpId="0"/>
      <p:bldP spid="7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p:cNvSpPr txBox="1">
            <a:spLocks/>
          </p:cNvSpPr>
          <p:nvPr/>
        </p:nvSpPr>
        <p:spPr>
          <a:xfrm>
            <a:off x="539552" y="1512168"/>
            <a:ext cx="8109148" cy="1052736"/>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2400" i="1" dirty="0">
                <a:latin typeface="+mn-lt"/>
              </a:rPr>
              <a:t>	</a:t>
            </a:r>
          </a:p>
          <a:p>
            <a:pPr algn="l"/>
            <a:r>
              <a:rPr lang="fr-FR" sz="1600" i="1" dirty="0">
                <a:latin typeface="Arial"/>
                <a:cs typeface="Arial"/>
              </a:rPr>
              <a:t>Elle est également chargée de répartir les alimentations et les références d’horloge des différents composants embarqués</a:t>
            </a:r>
            <a:r>
              <a:rPr lang="fr-FR" sz="2400" i="1" dirty="0">
                <a:latin typeface="+mn-lt"/>
              </a:rPr>
              <a:t>.</a:t>
            </a:r>
            <a:r>
              <a:rPr lang="fr-FR" sz="2400" i="1" dirty="0">
                <a:latin typeface="+mn-lt"/>
                <a:sym typeface="Wingdings"/>
              </a:rPr>
              <a:t>	</a:t>
            </a:r>
            <a:r>
              <a:rPr lang="fr-FR" sz="2000" i="1" dirty="0">
                <a:latin typeface="+mn-lt"/>
                <a:sym typeface="Wingdings"/>
              </a:rPr>
              <a:t>	</a:t>
            </a:r>
            <a:endParaRPr lang="fr-FR" sz="2000" i="1" dirty="0">
              <a:latin typeface="+mn-lt"/>
            </a:endParaRPr>
          </a:p>
        </p:txBody>
      </p:sp>
      <p:sp>
        <p:nvSpPr>
          <p:cNvPr id="10" name="Title 3"/>
          <p:cNvSpPr txBox="1">
            <a:spLocks/>
          </p:cNvSpPr>
          <p:nvPr/>
        </p:nvSpPr>
        <p:spPr>
          <a:xfrm>
            <a:off x="1563788" y="0"/>
            <a:ext cx="7580212" cy="1268760"/>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FR" sz="1800" b="1" i="1" dirty="0">
              <a:solidFill>
                <a:srgbClr val="FFFFCC"/>
              </a:solidFill>
              <a:effectLst>
                <a:outerShdw blurRad="38100" dist="38100" dir="2700000" algn="tl">
                  <a:srgbClr val="000000">
                    <a:alpha val="43137"/>
                  </a:srgbClr>
                </a:outerShdw>
              </a:effectLst>
              <a:latin typeface="+mn-lt"/>
            </a:endParaRPr>
          </a:p>
          <a:p>
            <a:pPr algn="l"/>
            <a:r>
              <a:rPr lang="fr-FR" sz="1400" b="1" i="1" dirty="0">
                <a:solidFill>
                  <a:schemeClr val="accent1">
                    <a:lumMod val="20000"/>
                    <a:lumOff val="80000"/>
                  </a:schemeClr>
                </a:solidFill>
                <a:effectLst>
                  <a:outerShdw blurRad="38100" dist="38100" dir="2700000" algn="tl">
                    <a:srgbClr val="000000">
                      <a:alpha val="43137"/>
                    </a:srgbClr>
                  </a:outerShdw>
                </a:effectLst>
                <a:latin typeface="+mn-lt"/>
                <a:sym typeface="Wingdings"/>
              </a:rPr>
              <a:t>	</a:t>
            </a:r>
            <a:endParaRPr lang="fr-FR" sz="2000" b="1" i="1" dirty="0">
              <a:solidFill>
                <a:schemeClr val="accent1">
                  <a:lumMod val="20000"/>
                  <a:lumOff val="80000"/>
                </a:schemeClr>
              </a:solidFill>
              <a:effectLst>
                <a:outerShdw blurRad="38100" dist="38100" dir="2700000" algn="tl">
                  <a:srgbClr val="000000">
                    <a:alpha val="43137"/>
                  </a:srgbClr>
                </a:outerShdw>
              </a:effectLst>
              <a:latin typeface="+mn-lt"/>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21</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26" name="Rectangle à coins arrondis 48"/>
          <p:cNvSpPr/>
          <p:nvPr/>
        </p:nvSpPr>
        <p:spPr>
          <a:xfrm>
            <a:off x="2561108" y="2702714"/>
            <a:ext cx="4133427" cy="3683414"/>
          </a:xfrm>
          <a:prstGeom prst="roundRect">
            <a:avLst>
              <a:gd name="adj" fmla="val 6872"/>
            </a:avLst>
          </a:prstGeom>
          <a:solidFill>
            <a:srgbClr val="92D050">
              <a:alpha val="65098"/>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0" name="Rectangle à coins arrondis 52"/>
          <p:cNvSpPr/>
          <p:nvPr/>
        </p:nvSpPr>
        <p:spPr>
          <a:xfrm rot="5400000">
            <a:off x="5418819" y="4183903"/>
            <a:ext cx="1478561" cy="455612"/>
          </a:xfrm>
          <a:prstGeom prst="roundRect">
            <a:avLst>
              <a:gd name="adj" fmla="val 29135"/>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1" name="ZoneTexte 53"/>
          <p:cNvSpPr txBox="1"/>
          <p:nvPr/>
        </p:nvSpPr>
        <p:spPr>
          <a:xfrm rot="5400000">
            <a:off x="5100886" y="4273484"/>
            <a:ext cx="2138239"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rgbClr val="00B050"/>
                </a:solidFill>
                <a:effectLst>
                  <a:outerShdw blurRad="38100" dist="38100" dir="2700000" algn="tl">
                    <a:srgbClr val="000000">
                      <a:alpha val="43137"/>
                    </a:srgbClr>
                  </a:outerShdw>
                </a:effectLst>
                <a:latin typeface="+mn-lt"/>
                <a:cs typeface="+mn-cs"/>
              </a:rPr>
              <a:t>Peripherals</a:t>
            </a:r>
            <a:endParaRPr lang="fr-FR" sz="1600" b="1" i="1" dirty="0">
              <a:solidFill>
                <a:srgbClr val="00B050"/>
              </a:solidFill>
              <a:effectLst>
                <a:outerShdw blurRad="38100" dist="38100" dir="2700000" algn="tl">
                  <a:srgbClr val="000000">
                    <a:alpha val="43137"/>
                  </a:srgbClr>
                </a:outerShdw>
              </a:effectLst>
              <a:latin typeface="+mn-lt"/>
              <a:cs typeface="+mn-cs"/>
            </a:endParaRPr>
          </a:p>
        </p:txBody>
      </p:sp>
      <p:sp>
        <p:nvSpPr>
          <p:cNvPr id="32" name="ZoneTexte 58"/>
          <p:cNvSpPr txBox="1"/>
          <p:nvPr/>
        </p:nvSpPr>
        <p:spPr>
          <a:xfrm>
            <a:off x="4351150" y="3919305"/>
            <a:ext cx="911225" cy="376719"/>
          </a:xfrm>
          <a:prstGeom prst="rect">
            <a:avLst/>
          </a:prstGeom>
          <a:noFill/>
        </p:spPr>
        <p:txBody>
          <a:bodyPr lIns="98755" tIns="49378" rIns="98755" bIns="49378">
            <a:spAutoFit/>
          </a:bodyPr>
          <a:lstStyle/>
          <a:p>
            <a:pP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Buses</a:t>
            </a:r>
            <a:endParaRPr lang="fr-FR" sz="1600" i="1" dirty="0">
              <a:solidFill>
                <a:srgbClr val="00B050"/>
              </a:solidFill>
              <a:effectLst>
                <a:outerShdw blurRad="38100" dist="38100" dir="2700000" algn="tl">
                  <a:srgbClr val="000000">
                    <a:alpha val="43137"/>
                  </a:srgbClr>
                </a:outerShdw>
              </a:effectLst>
              <a:latin typeface="+mn-lt"/>
              <a:cs typeface="+mn-cs"/>
            </a:endParaRPr>
          </a:p>
        </p:txBody>
      </p:sp>
      <p:sp>
        <p:nvSpPr>
          <p:cNvPr id="33" name="Double flèche verticale 60"/>
          <p:cNvSpPr/>
          <p:nvPr/>
        </p:nvSpPr>
        <p:spPr>
          <a:xfrm rot="5400000">
            <a:off x="6563406" y="4042683"/>
            <a:ext cx="241662" cy="596662"/>
          </a:xfrm>
          <a:prstGeom prst="upDownArrow">
            <a:avLst>
              <a:gd name="adj1" fmla="val 35261"/>
              <a:gd name="adj2" fmla="val 32369"/>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35" name="Up Arrow 34"/>
          <p:cNvSpPr/>
          <p:nvPr/>
        </p:nvSpPr>
        <p:spPr>
          <a:xfrm flipV="1">
            <a:off x="3181319" y="4328807"/>
            <a:ext cx="266912" cy="429830"/>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Up Arrow 35"/>
          <p:cNvSpPr/>
          <p:nvPr/>
        </p:nvSpPr>
        <p:spPr>
          <a:xfrm rot="5400000">
            <a:off x="4451405" y="3025189"/>
            <a:ext cx="310047" cy="2647730"/>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Up Arrow 36"/>
          <p:cNvSpPr/>
          <p:nvPr/>
        </p:nvSpPr>
        <p:spPr>
          <a:xfrm>
            <a:off x="3181319" y="3886523"/>
            <a:ext cx="266912" cy="442284"/>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p:cNvSpPr/>
          <p:nvPr/>
        </p:nvSpPr>
        <p:spPr>
          <a:xfrm rot="16200000">
            <a:off x="3599813" y="5245919"/>
            <a:ext cx="1971370" cy="16787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Up Arrow 37"/>
          <p:cNvSpPr/>
          <p:nvPr/>
        </p:nvSpPr>
        <p:spPr>
          <a:xfrm rot="5400000">
            <a:off x="4689589" y="5419171"/>
            <a:ext cx="310047" cy="68080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p:cNvSpPr/>
          <p:nvPr/>
        </p:nvSpPr>
        <p:spPr>
          <a:xfrm>
            <a:off x="2954735" y="3717647"/>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p:cNvSpPr/>
          <p:nvPr/>
        </p:nvSpPr>
        <p:spPr>
          <a:xfrm>
            <a:off x="2998515" y="3788716"/>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Up Arrow 39"/>
          <p:cNvSpPr/>
          <p:nvPr/>
        </p:nvSpPr>
        <p:spPr>
          <a:xfrm rot="5400000">
            <a:off x="4689796" y="5890701"/>
            <a:ext cx="310047" cy="68080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p:cNvSpPr/>
          <p:nvPr/>
        </p:nvSpPr>
        <p:spPr>
          <a:xfrm>
            <a:off x="5185016" y="5675136"/>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p:cNvSpPr/>
          <p:nvPr/>
        </p:nvSpPr>
        <p:spPr>
          <a:xfrm>
            <a:off x="5228796" y="5746205"/>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à coins arrondis 51"/>
          <p:cNvSpPr/>
          <p:nvPr/>
        </p:nvSpPr>
        <p:spPr>
          <a:xfrm>
            <a:off x="2693737" y="3217920"/>
            <a:ext cx="1242076" cy="55086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6" name="ZoneTexte 61"/>
          <p:cNvSpPr txBox="1"/>
          <p:nvPr/>
        </p:nvSpPr>
        <p:spPr>
          <a:xfrm>
            <a:off x="2693737" y="3295707"/>
            <a:ext cx="1242076"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47" name="ZoneTexte 58"/>
          <p:cNvSpPr txBox="1"/>
          <p:nvPr/>
        </p:nvSpPr>
        <p:spPr>
          <a:xfrm>
            <a:off x="3602807" y="3708950"/>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48" name="Rectangle 47"/>
          <p:cNvSpPr/>
          <p:nvPr/>
        </p:nvSpPr>
        <p:spPr>
          <a:xfrm>
            <a:off x="5204605" y="6146666"/>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p:cNvSpPr/>
          <p:nvPr/>
        </p:nvSpPr>
        <p:spPr>
          <a:xfrm>
            <a:off x="5248385" y="6217735"/>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58"/>
          <p:cNvSpPr txBox="1"/>
          <p:nvPr/>
        </p:nvSpPr>
        <p:spPr>
          <a:xfrm>
            <a:off x="5852677" y="5588623"/>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51" name="ZoneTexte 58"/>
          <p:cNvSpPr txBox="1"/>
          <p:nvPr/>
        </p:nvSpPr>
        <p:spPr>
          <a:xfrm>
            <a:off x="5875982" y="6060153"/>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55" name="Rectangle à coins arrondis 51"/>
          <p:cNvSpPr/>
          <p:nvPr/>
        </p:nvSpPr>
        <p:spPr>
          <a:xfrm>
            <a:off x="5063820" y="5242117"/>
            <a:ext cx="934244" cy="495292"/>
          </a:xfrm>
          <a:prstGeom prst="roundRect">
            <a:avLst>
              <a:gd name="adj" fmla="val 27611"/>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6" name="ZoneTexte 61"/>
          <p:cNvSpPr txBox="1"/>
          <p:nvPr/>
        </p:nvSpPr>
        <p:spPr>
          <a:xfrm>
            <a:off x="5063820" y="5236006"/>
            <a:ext cx="934244" cy="469052"/>
          </a:xfrm>
          <a:prstGeom prst="rect">
            <a:avLst/>
          </a:prstGeom>
          <a:noFill/>
        </p:spPr>
        <p:txBody>
          <a:bodyPr wrap="square" lIns="98755" tIns="49378" rIns="98755" bIns="49378">
            <a:spAutoFit/>
          </a:bodyPr>
          <a:lstStyle/>
          <a:p>
            <a:pPr algn="ctr" fontAlgn="auto">
              <a:spcBef>
                <a:spcPts val="0"/>
              </a:spcBef>
              <a:spcAft>
                <a:spcPts val="0"/>
              </a:spcAft>
              <a:defRPr/>
            </a:pPr>
            <a:r>
              <a:rPr lang="fr-FR" sz="1200" b="1" i="1" dirty="0">
                <a:solidFill>
                  <a:schemeClr val="accent1">
                    <a:lumMod val="75000"/>
                  </a:schemeClr>
                </a:solidFill>
                <a:effectLst>
                  <a:outerShdw blurRad="38100" dist="38100" dir="2700000" algn="tl">
                    <a:srgbClr val="000000">
                      <a:alpha val="43137"/>
                    </a:srgbClr>
                  </a:outerShdw>
                </a:effectLst>
                <a:latin typeface="+mn-lt"/>
                <a:cs typeface="+mn-cs"/>
              </a:rPr>
              <a:t>New </a:t>
            </a:r>
            <a:r>
              <a:rPr lang="fr-FR" sz="1200" b="1" i="1" dirty="0" err="1">
                <a:solidFill>
                  <a:schemeClr val="accent1">
                    <a:lumMod val="75000"/>
                  </a:schemeClr>
                </a:solidFill>
                <a:effectLst>
                  <a:outerShdw blurRad="38100" dist="38100" dir="2700000" algn="tl">
                    <a:srgbClr val="000000">
                      <a:alpha val="43137"/>
                    </a:srgbClr>
                  </a:outerShdw>
                </a:effectLst>
                <a:latin typeface="+mn-lt"/>
                <a:cs typeface="+mn-cs"/>
              </a:rPr>
              <a:t>Peripheral</a:t>
            </a:r>
            <a:endParaRPr lang="fr-FR" sz="11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57" name="ZoneTexte 58"/>
          <p:cNvSpPr txBox="1"/>
          <p:nvPr/>
        </p:nvSpPr>
        <p:spPr>
          <a:xfrm>
            <a:off x="2584945" y="2702714"/>
            <a:ext cx="2158777" cy="469052"/>
          </a:xfrm>
          <a:prstGeom prst="rect">
            <a:avLst/>
          </a:prstGeom>
          <a:noFill/>
        </p:spPr>
        <p:txBody>
          <a:bodyPr wrap="square" lIns="98755" tIns="49378" rIns="98755" bIns="49378">
            <a:spAutoFit/>
          </a:bodyPr>
          <a:lstStyle/>
          <a:p>
            <a:pPr fontAlgn="auto">
              <a:spcBef>
                <a:spcPts val="0"/>
              </a:spcBef>
              <a:spcAft>
                <a:spcPts val="0"/>
              </a:spcAft>
              <a:defRPr/>
            </a:pPr>
            <a:r>
              <a:rPr lang="fr-FR" sz="2400" b="1" i="1" dirty="0" err="1">
                <a:solidFill>
                  <a:srgbClr val="00B050"/>
                </a:solidFill>
                <a:effectLst>
                  <a:outerShdw blurRad="38100" dist="38100" dir="2700000" algn="tl">
                    <a:srgbClr val="000000">
                      <a:alpha val="43137"/>
                    </a:srgbClr>
                  </a:outerShdw>
                </a:effectLst>
                <a:latin typeface="+mn-lt"/>
                <a:cs typeface="+mn-cs"/>
              </a:rPr>
              <a:t>Mother</a:t>
            </a:r>
            <a:r>
              <a:rPr lang="fr-FR" sz="2400" b="1" i="1" dirty="0">
                <a:solidFill>
                  <a:srgbClr val="00B050"/>
                </a:solidFill>
                <a:effectLst>
                  <a:outerShdw blurRad="38100" dist="38100" dir="2700000" algn="tl">
                    <a:srgbClr val="000000">
                      <a:alpha val="43137"/>
                    </a:srgbClr>
                  </a:outerShdw>
                </a:effectLst>
                <a:latin typeface="+mn-lt"/>
                <a:cs typeface="+mn-cs"/>
              </a:rPr>
              <a:t> </a:t>
            </a:r>
            <a:r>
              <a:rPr lang="fr-FR" sz="2400" b="1" i="1" dirty="0" err="1">
                <a:solidFill>
                  <a:srgbClr val="00B050"/>
                </a:solidFill>
                <a:effectLst>
                  <a:outerShdw blurRad="38100" dist="38100" dir="2700000" algn="tl">
                    <a:srgbClr val="000000">
                      <a:alpha val="43137"/>
                    </a:srgbClr>
                  </a:outerShdw>
                </a:effectLst>
                <a:latin typeface="+mn-lt"/>
                <a:cs typeface="+mn-cs"/>
              </a:rPr>
              <a:t>Board</a:t>
            </a:r>
            <a:endParaRPr lang="fr-FR" sz="2000" i="1" dirty="0">
              <a:solidFill>
                <a:srgbClr val="00B050"/>
              </a:solidFill>
              <a:effectLst>
                <a:outerShdw blurRad="38100" dist="38100" dir="2700000" algn="tl">
                  <a:srgbClr val="000000">
                    <a:alpha val="43137"/>
                  </a:srgbClr>
                </a:outerShdw>
              </a:effectLst>
              <a:latin typeface="+mn-lt"/>
              <a:cs typeface="+mn-cs"/>
            </a:endParaRPr>
          </a:p>
        </p:txBody>
      </p:sp>
      <p:sp>
        <p:nvSpPr>
          <p:cNvPr id="58" name="Rectangle 57"/>
          <p:cNvSpPr/>
          <p:nvPr/>
        </p:nvSpPr>
        <p:spPr>
          <a:xfrm>
            <a:off x="2954735" y="4758637"/>
            <a:ext cx="720080" cy="16887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p:cNvSpPr/>
          <p:nvPr/>
        </p:nvSpPr>
        <p:spPr>
          <a:xfrm>
            <a:off x="2998515" y="4829706"/>
            <a:ext cx="604292" cy="45719"/>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ZoneTexte 58"/>
          <p:cNvSpPr txBox="1"/>
          <p:nvPr/>
        </p:nvSpPr>
        <p:spPr>
          <a:xfrm>
            <a:off x="3618484" y="4619434"/>
            <a:ext cx="634658" cy="315164"/>
          </a:xfrm>
          <a:prstGeom prst="rect">
            <a:avLst/>
          </a:prstGeom>
          <a:noFill/>
        </p:spPr>
        <p:txBody>
          <a:bodyPr wrap="square" lIns="98755" tIns="49378" rIns="98755" bIns="49378">
            <a:spAutoFit/>
          </a:bodyPr>
          <a:lstStyle/>
          <a:p>
            <a:pPr fontAlgn="auto">
              <a:spcBef>
                <a:spcPts val="0"/>
              </a:spcBef>
              <a:spcAft>
                <a:spcPts val="0"/>
              </a:spcAft>
              <a:defRPr/>
            </a:pPr>
            <a:r>
              <a:rPr lang="fr-FR" sz="1400" b="1" i="1" dirty="0">
                <a:solidFill>
                  <a:srgbClr val="00B050"/>
                </a:solidFill>
                <a:effectLst>
                  <a:outerShdw blurRad="38100" dist="38100" dir="2700000" algn="tl">
                    <a:srgbClr val="000000">
                      <a:alpha val="43137"/>
                    </a:srgbClr>
                  </a:outerShdw>
                </a:effectLst>
                <a:latin typeface="+mn-lt"/>
                <a:cs typeface="+mn-cs"/>
              </a:rPr>
              <a:t>Slot</a:t>
            </a:r>
            <a:endParaRPr lang="fr-FR" sz="1200" i="1" dirty="0">
              <a:solidFill>
                <a:srgbClr val="00B050"/>
              </a:solidFill>
              <a:effectLst>
                <a:outerShdw blurRad="38100" dist="38100" dir="2700000" algn="tl">
                  <a:srgbClr val="000000">
                    <a:alpha val="43137"/>
                  </a:srgbClr>
                </a:outerShdw>
              </a:effectLst>
              <a:latin typeface="+mn-lt"/>
              <a:cs typeface="+mn-cs"/>
            </a:endParaRPr>
          </a:p>
        </p:txBody>
      </p:sp>
      <p:sp>
        <p:nvSpPr>
          <p:cNvPr id="61" name="Rectangle à coins arrondis 49"/>
          <p:cNvSpPr/>
          <p:nvPr/>
        </p:nvSpPr>
        <p:spPr>
          <a:xfrm>
            <a:off x="2737608" y="4882517"/>
            <a:ext cx="1216024" cy="953396"/>
          </a:xfrm>
          <a:prstGeom prst="roundRect">
            <a:avLst>
              <a:gd name="adj" fmla="val 16314"/>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62" name="ZoneTexte 50"/>
          <p:cNvSpPr txBox="1"/>
          <p:nvPr/>
        </p:nvSpPr>
        <p:spPr>
          <a:xfrm>
            <a:off x="2737608" y="4882517"/>
            <a:ext cx="1499857" cy="961495"/>
          </a:xfrm>
          <a:prstGeom prst="rect">
            <a:avLst/>
          </a:prstGeom>
          <a:noFill/>
        </p:spPr>
        <p:txBody>
          <a:bodyPr wrap="square" lIns="98755" tIns="49378" rIns="98755" bIns="49378">
            <a:spAutoFit/>
          </a:bodyPr>
          <a:lstStyle/>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Central</a:t>
            </a:r>
          </a:p>
          <a:p>
            <a:pPr fontAlgn="auto">
              <a:spcBef>
                <a:spcPts val="0"/>
              </a:spcBef>
              <a:spcAft>
                <a:spcPts val="0"/>
              </a:spcAft>
              <a:defRPr/>
            </a:pPr>
            <a:r>
              <a:rPr lang="fr-FR" b="1" i="1" dirty="0" err="1">
                <a:solidFill>
                  <a:schemeClr val="accent1">
                    <a:lumMod val="75000"/>
                  </a:schemeClr>
                </a:solidFill>
                <a:effectLst>
                  <a:outerShdw blurRad="38100" dist="38100" dir="2700000" algn="tl">
                    <a:srgbClr val="000000">
                      <a:alpha val="43137"/>
                    </a:srgbClr>
                  </a:outerShdw>
                </a:effectLst>
                <a:latin typeface="+mn-lt"/>
                <a:cs typeface="+mn-cs"/>
              </a:rPr>
              <a:t>Processing</a:t>
            </a:r>
            <a:endParaRPr lang="fr-FR" b="1" i="1" dirty="0">
              <a:solidFill>
                <a:schemeClr val="accent1">
                  <a:lumMod val="75000"/>
                </a:schemeClr>
              </a:solidFill>
              <a:effectLst>
                <a:outerShdw blurRad="38100" dist="38100" dir="2700000" algn="tl">
                  <a:srgbClr val="000000">
                    <a:alpha val="43137"/>
                  </a:srgbClr>
                </a:outerShdw>
              </a:effectLst>
              <a:latin typeface="+mn-lt"/>
              <a:cs typeface="+mn-cs"/>
            </a:endParaRPr>
          </a:p>
          <a:p>
            <a:pP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Unit</a:t>
            </a:r>
          </a:p>
        </p:txBody>
      </p:sp>
      <p:sp>
        <p:nvSpPr>
          <p:cNvPr id="64" name="Double flèche verticale 60"/>
          <p:cNvSpPr/>
          <p:nvPr/>
        </p:nvSpPr>
        <p:spPr>
          <a:xfrm rot="5400000">
            <a:off x="6369981" y="4998007"/>
            <a:ext cx="241662" cy="983512"/>
          </a:xfrm>
          <a:prstGeom prst="upDownArrow">
            <a:avLst>
              <a:gd name="adj1" fmla="val 35261"/>
              <a:gd name="adj2" fmla="val 32369"/>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44" name="Rectangle à coins arrondis 52"/>
          <p:cNvSpPr/>
          <p:nvPr/>
        </p:nvSpPr>
        <p:spPr>
          <a:xfrm rot="5400000">
            <a:off x="4932568" y="2541932"/>
            <a:ext cx="381095" cy="815653"/>
          </a:xfrm>
          <a:prstGeom prst="roundRect">
            <a:avLst>
              <a:gd name="adj" fmla="val 29134"/>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2" name="ZoneTexte 53"/>
          <p:cNvSpPr txBox="1"/>
          <p:nvPr/>
        </p:nvSpPr>
        <p:spPr>
          <a:xfrm>
            <a:off x="4715290" y="2773792"/>
            <a:ext cx="815652"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solidFill>
                  <a:srgbClr val="00B050"/>
                </a:solidFill>
                <a:effectLst>
                  <a:outerShdw blurRad="38100" dist="38100" dir="2700000" algn="tl">
                    <a:srgbClr val="000000">
                      <a:alpha val="43137"/>
                    </a:srgbClr>
                  </a:outerShdw>
                </a:effectLst>
              </a:rPr>
              <a:t>C</a:t>
            </a:r>
            <a:r>
              <a:rPr lang="fr-FR" b="1" i="1" dirty="0" err="1">
                <a:solidFill>
                  <a:srgbClr val="00B050"/>
                </a:solidFill>
                <a:effectLst>
                  <a:outerShdw blurRad="38100" dist="38100" dir="2700000" algn="tl">
                    <a:srgbClr val="000000">
                      <a:alpha val="43137"/>
                    </a:srgbClr>
                  </a:outerShdw>
                </a:effectLst>
                <a:latin typeface="+mn-lt"/>
                <a:cs typeface="+mn-cs"/>
              </a:rPr>
              <a:t>lock</a:t>
            </a:r>
            <a:endParaRPr lang="fr-FR" sz="1600" b="1" i="1" dirty="0">
              <a:solidFill>
                <a:srgbClr val="00B050"/>
              </a:solidFill>
              <a:effectLst>
                <a:outerShdw blurRad="38100" dist="38100" dir="2700000" algn="tl">
                  <a:srgbClr val="000000">
                    <a:alpha val="43137"/>
                  </a:srgbClr>
                </a:outerShdw>
              </a:effectLst>
              <a:latin typeface="+mn-lt"/>
              <a:cs typeface="+mn-cs"/>
            </a:endParaRPr>
          </a:p>
        </p:txBody>
      </p:sp>
      <p:sp>
        <p:nvSpPr>
          <p:cNvPr id="53" name="Rectangle à coins arrondis 52"/>
          <p:cNvSpPr/>
          <p:nvPr/>
        </p:nvSpPr>
        <p:spPr>
          <a:xfrm rot="5400000">
            <a:off x="5887125" y="2544355"/>
            <a:ext cx="381095" cy="815653"/>
          </a:xfrm>
          <a:prstGeom prst="roundRect">
            <a:avLst>
              <a:gd name="adj" fmla="val 29134"/>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anchor="ctr"/>
          <a:lstStyle/>
          <a:p>
            <a:pPr algn="ctr">
              <a:defRPr/>
            </a:pPr>
            <a:endParaRPr lang="fr-FR"/>
          </a:p>
        </p:txBody>
      </p:sp>
      <p:sp>
        <p:nvSpPr>
          <p:cNvPr id="54" name="ZoneTexte 53"/>
          <p:cNvSpPr txBox="1"/>
          <p:nvPr/>
        </p:nvSpPr>
        <p:spPr>
          <a:xfrm>
            <a:off x="5669846" y="2776215"/>
            <a:ext cx="840791"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rgbClr val="00B050"/>
                </a:solidFill>
                <a:effectLst>
                  <a:outerShdw blurRad="38100" dist="38100" dir="2700000" algn="tl">
                    <a:srgbClr val="000000">
                      <a:alpha val="43137"/>
                    </a:srgbClr>
                  </a:outerShdw>
                </a:effectLst>
                <a:latin typeface="+mn-lt"/>
                <a:cs typeface="+mn-cs"/>
              </a:rPr>
              <a:t>Power</a:t>
            </a:r>
            <a:endParaRPr lang="fr-FR" sz="1600" b="1" i="1" dirty="0">
              <a:solidFill>
                <a:srgbClr val="00B050"/>
              </a:solidFill>
              <a:effectLst>
                <a:outerShdw blurRad="38100" dist="38100" dir="2700000" algn="tl">
                  <a:srgbClr val="000000">
                    <a:alpha val="43137"/>
                  </a:srgbClr>
                </a:outerShdw>
              </a:effectLst>
              <a:latin typeface="+mn-lt"/>
              <a:cs typeface="+mn-cs"/>
            </a:endParaRPr>
          </a:p>
        </p:txBody>
      </p:sp>
      <p:cxnSp>
        <p:nvCxnSpPr>
          <p:cNvPr id="6" name="Straight Arrow Connector 5"/>
          <p:cNvCxnSpPr/>
          <p:nvPr/>
        </p:nvCxnSpPr>
        <p:spPr>
          <a:xfrm>
            <a:off x="4810863" y="3150511"/>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4954879" y="3150511"/>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5123115" y="3150511"/>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5314919" y="3150511"/>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5458935" y="3140023"/>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5741855" y="3146783"/>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5885871" y="3146783"/>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6054107" y="3146783"/>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6245911" y="3146783"/>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6389927" y="3136295"/>
            <a:ext cx="0" cy="316226"/>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753953C1-5BC5-34ED-D449-A63CA9C4AF77}"/>
              </a:ext>
            </a:extLst>
          </p:cNvPr>
          <p:cNvSpPr txBox="1"/>
          <p:nvPr/>
        </p:nvSpPr>
        <p:spPr>
          <a:xfrm>
            <a:off x="1755988" y="561301"/>
            <a:ext cx="4691798" cy="800219"/>
          </a:xfrm>
          <a:prstGeom prst="rect">
            <a:avLst/>
          </a:prstGeom>
          <a:noFill/>
        </p:spPr>
        <p:txBody>
          <a:bodyPr wrap="none" rtlCol="0">
            <a:spAutoFit/>
          </a:bodyPr>
          <a:lstStyle/>
          <a:p>
            <a:pPr algn="ctr" defTabSz="914400">
              <a:spcBef>
                <a:spcPct val="0"/>
              </a:spcBef>
            </a:pPr>
            <a:r>
              <a:rPr lang="fr-FR" sz="2800" b="1" cap="all" spc="200" dirty="0">
                <a:solidFill>
                  <a:schemeClr val="bg1"/>
                </a:solidFill>
                <a:latin typeface="Calibri"/>
                <a:ea typeface="+mj-ea"/>
                <a:cs typeface="Calibri"/>
              </a:rPr>
              <a:t>Carte mère - Structure</a:t>
            </a:r>
          </a:p>
          <a:p>
            <a:endParaRPr lang="fr-FR" dirty="0"/>
          </a:p>
        </p:txBody>
      </p:sp>
    </p:spTree>
    <p:extLst>
      <p:ext uri="{BB962C8B-B14F-4D97-AF65-F5344CB8AC3E}">
        <p14:creationId xmlns:p14="http://schemas.microsoft.com/office/powerpoint/2010/main" val="3979658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1719071"/>
            <a:ext cx="8407893" cy="3830829"/>
          </a:xfrm>
        </p:spPr>
        <p:txBody>
          <a:bodyPr>
            <a:normAutofit/>
          </a:bodyPr>
          <a:lstStyle/>
          <a:p>
            <a:pPr algn="just"/>
            <a:r>
              <a:rPr lang="en-US" sz="1800" i="1" dirty="0" err="1">
                <a:solidFill>
                  <a:schemeClr val="tx1"/>
                </a:solidFill>
                <a:latin typeface="Arial"/>
                <a:ea typeface="+mj-ea"/>
                <a:cs typeface="Arial"/>
              </a:rPr>
              <a:t>L’horloge</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système</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permet</a:t>
            </a:r>
            <a:r>
              <a:rPr lang="en-US" sz="1800" i="1" dirty="0">
                <a:solidFill>
                  <a:schemeClr val="tx1"/>
                </a:solidFill>
                <a:latin typeface="Arial"/>
                <a:ea typeface="+mj-ea"/>
                <a:cs typeface="Arial"/>
              </a:rPr>
              <a:t> la </a:t>
            </a:r>
            <a:r>
              <a:rPr lang="en-US" sz="1800" i="1" dirty="0" err="1">
                <a:solidFill>
                  <a:schemeClr val="tx1"/>
                </a:solidFill>
                <a:latin typeface="Arial"/>
                <a:ea typeface="+mj-ea"/>
                <a:cs typeface="Arial"/>
              </a:rPr>
              <a:t>synchronisation</a:t>
            </a:r>
            <a:r>
              <a:rPr lang="en-US" sz="1800" i="1" dirty="0">
                <a:solidFill>
                  <a:schemeClr val="tx1"/>
                </a:solidFill>
                <a:latin typeface="Arial"/>
                <a:ea typeface="+mj-ea"/>
                <a:cs typeface="Arial"/>
              </a:rPr>
              <a:t> des </a:t>
            </a:r>
            <a:r>
              <a:rPr lang="en-US" sz="1800" i="1" dirty="0" err="1">
                <a:solidFill>
                  <a:schemeClr val="tx1"/>
                </a:solidFill>
                <a:latin typeface="Arial"/>
                <a:ea typeface="+mj-ea"/>
                <a:cs typeface="Arial"/>
              </a:rPr>
              <a:t>échanges</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entres</a:t>
            </a:r>
            <a:r>
              <a:rPr lang="en-US" sz="1800" i="1" dirty="0">
                <a:solidFill>
                  <a:schemeClr val="tx1"/>
                </a:solidFill>
                <a:latin typeface="Arial"/>
                <a:ea typeface="+mj-ea"/>
                <a:cs typeface="Arial"/>
              </a:rPr>
              <a:t> les </a:t>
            </a:r>
            <a:r>
              <a:rPr lang="en-US" sz="1800" i="1" dirty="0" err="1">
                <a:solidFill>
                  <a:schemeClr val="tx1"/>
                </a:solidFill>
                <a:latin typeface="Arial"/>
                <a:ea typeface="+mj-ea"/>
                <a:cs typeface="Arial"/>
              </a:rPr>
              <a:t>composants</a:t>
            </a:r>
            <a:r>
              <a:rPr lang="en-US" sz="1800" i="1" dirty="0">
                <a:solidFill>
                  <a:schemeClr val="tx1"/>
                </a:solidFill>
                <a:latin typeface="Arial"/>
                <a:ea typeface="+mj-ea"/>
                <a:cs typeface="Arial"/>
              </a:rPr>
              <a:t>.</a:t>
            </a:r>
          </a:p>
          <a:p>
            <a:pPr algn="just"/>
            <a:endParaRPr lang="en-US" sz="1800" i="1" dirty="0">
              <a:solidFill>
                <a:schemeClr val="tx1"/>
              </a:solidFill>
              <a:latin typeface="Arial"/>
              <a:ea typeface="+mj-ea"/>
              <a:cs typeface="Arial"/>
            </a:endParaRPr>
          </a:p>
          <a:p>
            <a:pPr algn="just"/>
            <a:r>
              <a:rPr lang="en-US" sz="1800" i="1" dirty="0">
                <a:solidFill>
                  <a:schemeClr val="tx1"/>
                </a:solidFill>
                <a:latin typeface="Arial"/>
                <a:ea typeface="+mj-ea"/>
                <a:cs typeface="Arial"/>
              </a:rPr>
              <a:t>Elle </a:t>
            </a:r>
            <a:r>
              <a:rPr lang="en-US" sz="1800" i="1" dirty="0" err="1">
                <a:solidFill>
                  <a:schemeClr val="tx1"/>
                </a:solidFill>
                <a:latin typeface="Arial"/>
                <a:ea typeface="+mj-ea"/>
                <a:cs typeface="Arial"/>
              </a:rPr>
              <a:t>émet</a:t>
            </a:r>
            <a:r>
              <a:rPr lang="en-US" sz="1800" i="1" dirty="0">
                <a:solidFill>
                  <a:schemeClr val="tx1"/>
                </a:solidFill>
                <a:latin typeface="Arial"/>
                <a:ea typeface="+mj-ea"/>
                <a:cs typeface="Arial"/>
              </a:rPr>
              <a:t> des tops </a:t>
            </a:r>
            <a:r>
              <a:rPr lang="en-US" sz="1800" i="1" dirty="0" err="1">
                <a:solidFill>
                  <a:schemeClr val="tx1"/>
                </a:solidFill>
                <a:latin typeface="Arial"/>
                <a:ea typeface="+mj-ea"/>
                <a:cs typeface="Arial"/>
              </a:rPr>
              <a:t>électroniques</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régulièrement</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délivrés</a:t>
            </a:r>
            <a:r>
              <a:rPr lang="en-US" sz="1800" i="1" dirty="0">
                <a:solidFill>
                  <a:schemeClr val="tx1"/>
                </a:solidFill>
                <a:latin typeface="Arial"/>
                <a:ea typeface="+mj-ea"/>
                <a:cs typeface="Arial"/>
              </a:rPr>
              <a:t> par un </a:t>
            </a:r>
            <a:r>
              <a:rPr lang="en-US" sz="1800" i="1" dirty="0" err="1">
                <a:solidFill>
                  <a:schemeClr val="tx1"/>
                </a:solidFill>
                <a:latin typeface="Arial"/>
                <a:ea typeface="+mj-ea"/>
                <a:cs typeface="Arial"/>
              </a:rPr>
              <a:t>système</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électronique</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dont</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l’élément</a:t>
            </a:r>
            <a:r>
              <a:rPr lang="en-US" sz="1800" i="1" dirty="0">
                <a:solidFill>
                  <a:schemeClr val="tx1"/>
                </a:solidFill>
                <a:latin typeface="Arial"/>
                <a:ea typeface="+mj-ea"/>
                <a:cs typeface="Arial"/>
              </a:rPr>
              <a:t> principal </a:t>
            </a:r>
            <a:r>
              <a:rPr lang="en-US" sz="1800" i="1" dirty="0" err="1">
                <a:solidFill>
                  <a:schemeClr val="tx1"/>
                </a:solidFill>
                <a:latin typeface="Arial"/>
                <a:ea typeface="+mj-ea"/>
                <a:cs typeface="Arial"/>
              </a:rPr>
              <a:t>est</a:t>
            </a:r>
            <a:r>
              <a:rPr lang="en-US" sz="1800" i="1" dirty="0">
                <a:solidFill>
                  <a:schemeClr val="tx1"/>
                </a:solidFill>
                <a:latin typeface="Arial"/>
                <a:ea typeface="+mj-ea"/>
                <a:cs typeface="Arial"/>
              </a:rPr>
              <a:t> un quartz. </a:t>
            </a:r>
          </a:p>
          <a:p>
            <a:pPr algn="just"/>
            <a:endParaRPr lang="en-US" sz="1800" i="1" dirty="0">
              <a:solidFill>
                <a:schemeClr val="tx1"/>
              </a:solidFill>
              <a:latin typeface="Arial"/>
              <a:ea typeface="+mj-ea"/>
              <a:cs typeface="Arial"/>
            </a:endParaRPr>
          </a:p>
          <a:p>
            <a:pPr algn="just"/>
            <a:r>
              <a:rPr lang="en-US" sz="1800" i="1" dirty="0" err="1">
                <a:solidFill>
                  <a:schemeClr val="tx1"/>
                </a:solidFill>
                <a:latin typeface="Arial"/>
                <a:ea typeface="+mj-ea"/>
                <a:cs typeface="Arial"/>
              </a:rPr>
              <a:t>Ainsi</a:t>
            </a:r>
            <a:r>
              <a:rPr lang="en-US" sz="1800" i="1" dirty="0">
                <a:solidFill>
                  <a:schemeClr val="tx1"/>
                </a:solidFill>
                <a:latin typeface="Arial"/>
                <a:ea typeface="+mj-ea"/>
                <a:cs typeface="Arial"/>
              </a:rPr>
              <a:t>, les </a:t>
            </a:r>
            <a:r>
              <a:rPr lang="en-US" sz="1800" i="1" dirty="0" err="1">
                <a:solidFill>
                  <a:schemeClr val="tx1"/>
                </a:solidFill>
                <a:latin typeface="Arial"/>
                <a:ea typeface="+mj-ea"/>
                <a:cs typeface="Arial"/>
              </a:rPr>
              <a:t>composants</a:t>
            </a:r>
            <a:r>
              <a:rPr lang="en-US" sz="1800" i="1" dirty="0">
                <a:solidFill>
                  <a:schemeClr val="tx1"/>
                </a:solidFill>
                <a:latin typeface="Arial"/>
                <a:ea typeface="+mj-ea"/>
                <a:cs typeface="Arial"/>
              </a:rPr>
              <a:t> du pc, </a:t>
            </a:r>
            <a:r>
              <a:rPr lang="en-US" sz="1800" i="1" dirty="0" err="1">
                <a:solidFill>
                  <a:schemeClr val="tx1"/>
                </a:solidFill>
                <a:latin typeface="Arial"/>
                <a:ea typeface="+mj-ea"/>
                <a:cs typeface="Arial"/>
              </a:rPr>
              <a:t>verront</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leur</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fréquence</a:t>
            </a:r>
            <a:r>
              <a:rPr lang="en-US" sz="1800" i="1" dirty="0">
                <a:solidFill>
                  <a:schemeClr val="tx1"/>
                </a:solidFill>
                <a:latin typeface="Arial"/>
                <a:ea typeface="+mj-ea"/>
                <a:cs typeface="Arial"/>
              </a:rPr>
              <a:t> de </a:t>
            </a:r>
            <a:r>
              <a:rPr lang="en-US" sz="1800" i="1" dirty="0" err="1">
                <a:solidFill>
                  <a:schemeClr val="tx1"/>
                </a:solidFill>
                <a:latin typeface="Arial"/>
                <a:ea typeface="+mj-ea"/>
                <a:cs typeface="Arial"/>
              </a:rPr>
              <a:t>fonctionnement</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réglée</a:t>
            </a:r>
            <a:r>
              <a:rPr lang="en-US" sz="1800" i="1" dirty="0">
                <a:solidFill>
                  <a:schemeClr val="tx1"/>
                </a:solidFill>
                <a:latin typeface="Arial"/>
                <a:ea typeface="+mj-ea"/>
                <a:cs typeface="Arial"/>
              </a:rPr>
              <a:t>, par </a:t>
            </a:r>
            <a:r>
              <a:rPr lang="en-US" sz="1800" i="1" dirty="0" err="1">
                <a:solidFill>
                  <a:schemeClr val="tx1"/>
                </a:solidFill>
                <a:latin typeface="Arial"/>
                <a:ea typeface="+mj-ea"/>
                <a:cs typeface="Arial"/>
              </a:rPr>
              <a:t>l’intermédiaire</a:t>
            </a:r>
            <a:r>
              <a:rPr lang="en-US" sz="1800" i="1" dirty="0">
                <a:solidFill>
                  <a:schemeClr val="tx1"/>
                </a:solidFill>
                <a:latin typeface="Arial"/>
                <a:ea typeface="+mj-ea"/>
                <a:cs typeface="Arial"/>
              </a:rPr>
              <a:t> d’un coefficient </a:t>
            </a:r>
            <a:r>
              <a:rPr lang="en-US" sz="1800" i="1" dirty="0" err="1">
                <a:solidFill>
                  <a:schemeClr val="tx1"/>
                </a:solidFill>
                <a:latin typeface="Arial"/>
                <a:ea typeface="+mj-ea"/>
                <a:cs typeface="Arial"/>
              </a:rPr>
              <a:t>multiplicateur</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appliquée</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sur</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l’horloge</a:t>
            </a:r>
            <a:r>
              <a:rPr lang="en-US" sz="1800" i="1" dirty="0">
                <a:solidFill>
                  <a:schemeClr val="tx1"/>
                </a:solidFill>
                <a:latin typeface="Arial"/>
                <a:ea typeface="+mj-ea"/>
                <a:cs typeface="Arial"/>
              </a:rPr>
              <a:t> </a:t>
            </a:r>
            <a:r>
              <a:rPr lang="en-US" sz="1800" i="1" dirty="0" err="1">
                <a:solidFill>
                  <a:schemeClr val="tx1"/>
                </a:solidFill>
                <a:latin typeface="Arial"/>
                <a:ea typeface="+mj-ea"/>
                <a:cs typeface="Arial"/>
              </a:rPr>
              <a:t>système</a:t>
            </a:r>
            <a:r>
              <a:rPr lang="en-US" sz="1800" i="1" dirty="0">
                <a:solidFill>
                  <a:schemeClr val="tx1"/>
                </a:solidFill>
                <a:latin typeface="Arial"/>
                <a:ea typeface="+mj-ea"/>
                <a:cs typeface="Arial"/>
              </a:rPr>
              <a:t>.</a:t>
            </a:r>
            <a:endParaRPr lang="fr-FR" sz="1800" i="1" dirty="0">
              <a:solidFill>
                <a:schemeClr val="tx1"/>
              </a:solidFill>
              <a:latin typeface="Arial"/>
              <a:ea typeface="+mj-ea"/>
              <a:cs typeface="Arial"/>
            </a:endParaRPr>
          </a:p>
        </p:txBody>
      </p:sp>
      <p:sp>
        <p:nvSpPr>
          <p:cNvPr id="3" name="Title 2"/>
          <p:cNvSpPr>
            <a:spLocks noGrp="1"/>
          </p:cNvSpPr>
          <p:nvPr>
            <p:ph type="title"/>
          </p:nvPr>
        </p:nvSpPr>
        <p:spPr/>
        <p:txBody>
          <a:bodyPr/>
          <a:lstStyle/>
          <a:p>
            <a:r>
              <a:rPr lang="en-US" sz="2800" b="1" dirty="0" err="1">
                <a:latin typeface="Calibri"/>
                <a:cs typeface="Calibri"/>
              </a:rPr>
              <a:t>L’horloge</a:t>
            </a:r>
            <a:r>
              <a:rPr lang="en-US" sz="2800" b="1" dirty="0">
                <a:latin typeface="Calibri"/>
                <a:cs typeface="Calibri"/>
              </a:rPr>
              <a:t> </a:t>
            </a:r>
            <a:r>
              <a:rPr lang="en-US" sz="2800" b="1" dirty="0" err="1">
                <a:latin typeface="Calibri"/>
                <a:cs typeface="Calibri"/>
              </a:rPr>
              <a:t>système</a:t>
            </a:r>
            <a:r>
              <a:rPr lang="en-US" sz="2800" b="1" dirty="0">
                <a:latin typeface="Calibri"/>
                <a:cs typeface="Calibri"/>
              </a:rPr>
              <a:t> des </a:t>
            </a:r>
            <a:r>
              <a:rPr lang="en-US" sz="2800" b="1" dirty="0" err="1">
                <a:latin typeface="Calibri"/>
                <a:cs typeface="Calibri"/>
              </a:rPr>
              <a:t>composants</a:t>
            </a:r>
            <a:endParaRPr lang="fr-FR" sz="2800" b="1" dirty="0">
              <a:latin typeface="Calibri"/>
              <a:cs typeface="Calibri"/>
            </a:endParaRPr>
          </a:p>
        </p:txBody>
      </p:sp>
    </p:spTree>
    <p:extLst>
      <p:ext uri="{BB962C8B-B14F-4D97-AF65-F5344CB8AC3E}">
        <p14:creationId xmlns:p14="http://schemas.microsoft.com/office/powerpoint/2010/main" val="1045608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fr-FR" sz="3200" i="1" dirty="0">
              <a:latin typeface="Arial"/>
              <a:cs typeface="Arial"/>
              <a:sym typeface="Wingdings"/>
            </a:endParaRPr>
          </a:p>
          <a:p>
            <a:endParaRPr lang="fr-FR" dirty="0"/>
          </a:p>
        </p:txBody>
      </p:sp>
      <p:sp>
        <p:nvSpPr>
          <p:cNvPr id="3" name="Title 2"/>
          <p:cNvSpPr>
            <a:spLocks noGrp="1"/>
          </p:cNvSpPr>
          <p:nvPr>
            <p:ph type="title"/>
          </p:nvPr>
        </p:nvSpPr>
        <p:spPr/>
        <p:txBody>
          <a:bodyPr/>
          <a:lstStyle/>
          <a:p>
            <a:pPr algn="ctr" defTabSz="914400">
              <a:spcBef>
                <a:spcPct val="0"/>
              </a:spcBef>
            </a:pPr>
            <a:r>
              <a:rPr lang="fr-FR" sz="2800" b="1" dirty="0">
                <a:latin typeface="Calibri"/>
                <a:cs typeface="Calibri"/>
              </a:rPr>
              <a:t>Carte mère - Structure</a:t>
            </a:r>
          </a:p>
        </p:txBody>
      </p:sp>
      <p:pic>
        <p:nvPicPr>
          <p:cNvPr id="4" name="Picture 4" descr="Capture d’écran 2017-02-28 à 06.38.36.png">
            <a:extLst>
              <a:ext uri="{FF2B5EF4-FFF2-40B4-BE49-F238E27FC236}">
                <a16:creationId xmlns:a16="http://schemas.microsoft.com/office/drawing/2014/main" id="{97077E28-015E-E2AD-DE52-838A2B287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986" y="1679210"/>
            <a:ext cx="7163420" cy="4937378"/>
          </a:xfrm>
          <a:prstGeom prst="rect">
            <a:avLst/>
          </a:prstGeom>
        </p:spPr>
      </p:pic>
    </p:spTree>
    <p:extLst>
      <p:ext uri="{BB962C8B-B14F-4D97-AF65-F5344CB8AC3E}">
        <p14:creationId xmlns:p14="http://schemas.microsoft.com/office/powerpoint/2010/main" val="406277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sz="1600" i="1" dirty="0">
                <a:latin typeface="Arial"/>
                <a:cs typeface="Arial"/>
              </a:rPr>
              <a:t>Un bus </a:t>
            </a:r>
            <a:r>
              <a:rPr lang="en-US" sz="1600" i="1" dirty="0" err="1">
                <a:latin typeface="Arial"/>
                <a:cs typeface="Arial"/>
              </a:rPr>
              <a:t>informatique</a:t>
            </a:r>
            <a:r>
              <a:rPr lang="en-US" sz="1600" i="1" dirty="0">
                <a:latin typeface="Arial"/>
                <a:cs typeface="Arial"/>
              </a:rPr>
              <a:t> </a:t>
            </a:r>
            <a:r>
              <a:rPr lang="en-US" sz="1600" i="1" dirty="0" err="1">
                <a:latin typeface="Arial"/>
                <a:cs typeface="Arial"/>
              </a:rPr>
              <a:t>est</a:t>
            </a:r>
            <a:r>
              <a:rPr lang="en-US" sz="1600" i="1" dirty="0">
                <a:latin typeface="Arial"/>
                <a:cs typeface="Arial"/>
              </a:rPr>
              <a:t> </a:t>
            </a:r>
            <a:r>
              <a:rPr lang="en-US" sz="1600" i="1" dirty="0" err="1">
                <a:latin typeface="Arial"/>
                <a:cs typeface="Arial"/>
              </a:rPr>
              <a:t>une</a:t>
            </a:r>
            <a:r>
              <a:rPr lang="en-US" sz="1600" i="1" dirty="0">
                <a:latin typeface="Arial"/>
                <a:cs typeface="Arial"/>
              </a:rPr>
              <a:t> </a:t>
            </a:r>
            <a:r>
              <a:rPr lang="en-US" sz="1600" i="1" dirty="0" err="1">
                <a:latin typeface="Arial"/>
                <a:cs typeface="Arial"/>
              </a:rPr>
              <a:t>voie</a:t>
            </a:r>
            <a:r>
              <a:rPr lang="en-US" sz="1600" i="1" dirty="0">
                <a:latin typeface="Arial"/>
                <a:cs typeface="Arial"/>
              </a:rPr>
              <a:t> de communication, </a:t>
            </a:r>
            <a:r>
              <a:rPr lang="en-US" sz="1600" i="1" dirty="0" err="1">
                <a:latin typeface="Arial"/>
                <a:cs typeface="Arial"/>
              </a:rPr>
              <a:t>formée</a:t>
            </a:r>
            <a:r>
              <a:rPr lang="en-US" sz="1600" i="1" dirty="0">
                <a:latin typeface="Arial"/>
                <a:cs typeface="Arial"/>
              </a:rPr>
              <a:t> d'un </a:t>
            </a:r>
            <a:r>
              <a:rPr lang="en-US" sz="1600" i="1" dirty="0" err="1">
                <a:latin typeface="Arial"/>
                <a:cs typeface="Arial"/>
              </a:rPr>
              <a:t>ou</a:t>
            </a:r>
            <a:r>
              <a:rPr lang="en-US" sz="1600" i="1" dirty="0">
                <a:latin typeface="Arial"/>
                <a:cs typeface="Arial"/>
              </a:rPr>
              <a:t> </a:t>
            </a:r>
            <a:r>
              <a:rPr lang="en-US" sz="1600" i="1" dirty="0" err="1">
                <a:latin typeface="Arial"/>
                <a:cs typeface="Arial"/>
              </a:rPr>
              <a:t>plusieurs</a:t>
            </a:r>
            <a:r>
              <a:rPr lang="en-US" sz="1600" i="1" dirty="0">
                <a:latin typeface="Arial"/>
                <a:cs typeface="Arial"/>
              </a:rPr>
              <a:t> </a:t>
            </a:r>
            <a:r>
              <a:rPr lang="en-US" sz="1600" i="1" dirty="0" err="1">
                <a:latin typeface="Arial"/>
                <a:cs typeface="Arial"/>
              </a:rPr>
              <a:t>conducteurs</a:t>
            </a:r>
            <a:r>
              <a:rPr lang="en-US" sz="1600" i="1" dirty="0">
                <a:latin typeface="Arial"/>
                <a:cs typeface="Arial"/>
              </a:rPr>
              <a:t>, </a:t>
            </a:r>
            <a:r>
              <a:rPr lang="en-US" sz="1600" i="1" dirty="0" err="1">
                <a:latin typeface="Arial"/>
                <a:cs typeface="Arial"/>
              </a:rPr>
              <a:t>sur</a:t>
            </a:r>
            <a:r>
              <a:rPr lang="en-US" sz="1600" i="1" dirty="0">
                <a:latin typeface="Arial"/>
                <a:cs typeface="Arial"/>
              </a:rPr>
              <a:t> </a:t>
            </a:r>
            <a:r>
              <a:rPr lang="en-US" sz="1600" i="1" dirty="0" err="1">
                <a:latin typeface="Arial"/>
                <a:cs typeface="Arial"/>
              </a:rPr>
              <a:t>laquelle</a:t>
            </a:r>
            <a:r>
              <a:rPr lang="en-US" sz="1600" i="1" dirty="0">
                <a:latin typeface="Arial"/>
                <a:cs typeface="Arial"/>
              </a:rPr>
              <a:t> </a:t>
            </a:r>
            <a:r>
              <a:rPr lang="en-US" sz="1600" i="1" dirty="0" err="1">
                <a:latin typeface="Arial"/>
                <a:cs typeface="Arial"/>
              </a:rPr>
              <a:t>sont</a:t>
            </a:r>
            <a:r>
              <a:rPr lang="en-US" sz="1600" i="1" dirty="0">
                <a:latin typeface="Arial"/>
                <a:cs typeface="Arial"/>
              </a:rPr>
              <a:t> </a:t>
            </a:r>
            <a:r>
              <a:rPr lang="en-US" sz="1600" i="1" dirty="0" err="1">
                <a:latin typeface="Arial"/>
                <a:cs typeface="Arial"/>
              </a:rPr>
              <a:t>disposées</a:t>
            </a:r>
            <a:r>
              <a:rPr lang="en-US" sz="1600" i="1" dirty="0">
                <a:latin typeface="Arial"/>
                <a:cs typeface="Arial"/>
              </a:rPr>
              <a:t> </a:t>
            </a:r>
            <a:r>
              <a:rPr lang="en-US" sz="1600" i="1" dirty="0" err="1">
                <a:latin typeface="Arial"/>
                <a:cs typeface="Arial"/>
              </a:rPr>
              <a:t>plusieurs</a:t>
            </a:r>
            <a:r>
              <a:rPr lang="en-US" sz="1600" i="1" dirty="0">
                <a:latin typeface="Arial"/>
                <a:cs typeface="Arial"/>
              </a:rPr>
              <a:t> </a:t>
            </a:r>
            <a:r>
              <a:rPr lang="en-US" sz="1600" i="1" dirty="0" err="1">
                <a:latin typeface="Arial"/>
                <a:cs typeface="Arial"/>
              </a:rPr>
              <a:t>connexions</a:t>
            </a:r>
            <a:r>
              <a:rPr lang="en-US" sz="1600" i="1" dirty="0">
                <a:latin typeface="Arial"/>
                <a:cs typeface="Arial"/>
              </a:rPr>
              <a:t>. </a:t>
            </a:r>
          </a:p>
          <a:p>
            <a:pPr marL="45720" indent="0">
              <a:buNone/>
            </a:pPr>
            <a:endParaRPr lang="en-US" sz="1600" b="1" i="1" dirty="0">
              <a:latin typeface="Arial"/>
              <a:cs typeface="Arial"/>
            </a:endParaRPr>
          </a:p>
          <a:p>
            <a:endParaRPr lang="en-US" dirty="0"/>
          </a:p>
          <a:p>
            <a:endParaRPr lang="fr-FR" dirty="0"/>
          </a:p>
        </p:txBody>
      </p:sp>
      <p:sp>
        <p:nvSpPr>
          <p:cNvPr id="3" name="Title 2"/>
          <p:cNvSpPr>
            <a:spLocks noGrp="1"/>
          </p:cNvSpPr>
          <p:nvPr>
            <p:ph type="title"/>
          </p:nvPr>
        </p:nvSpPr>
        <p:spPr/>
        <p:txBody>
          <a:bodyPr/>
          <a:lstStyle/>
          <a:p>
            <a:r>
              <a:rPr lang="fr-MA" dirty="0"/>
              <a:t>Schéma bloc d'un ordinateur</a:t>
            </a:r>
          </a:p>
        </p:txBody>
      </p:sp>
      <p:pic>
        <p:nvPicPr>
          <p:cNvPr id="4" name="Picture 3" descr="Capture d’écran 2020-01-30 à 21.18.46.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679700"/>
            <a:ext cx="6883400" cy="3760061"/>
          </a:xfrm>
          <a:prstGeom prst="rect">
            <a:avLst/>
          </a:prstGeom>
        </p:spPr>
      </p:pic>
    </p:spTree>
    <p:extLst>
      <p:ext uri="{BB962C8B-B14F-4D97-AF65-F5344CB8AC3E}">
        <p14:creationId xmlns:p14="http://schemas.microsoft.com/office/powerpoint/2010/main" val="2315633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1600" dirty="0">
                <a:latin typeface="Arial"/>
                <a:cs typeface="Arial"/>
              </a:rPr>
              <a:t>Nous </a:t>
            </a:r>
            <a:r>
              <a:rPr lang="en-US" sz="1600" dirty="0" err="1">
                <a:latin typeface="Arial"/>
                <a:cs typeface="Arial"/>
              </a:rPr>
              <a:t>distinguons</a:t>
            </a:r>
            <a:r>
              <a:rPr lang="en-US" sz="1600" dirty="0">
                <a:latin typeface="Arial"/>
                <a:cs typeface="Arial"/>
              </a:rPr>
              <a:t> le bus de </a:t>
            </a:r>
            <a:r>
              <a:rPr lang="en-US" sz="1600" dirty="0" err="1">
                <a:latin typeface="Arial"/>
                <a:cs typeface="Arial"/>
              </a:rPr>
              <a:t>donnée</a:t>
            </a:r>
            <a:r>
              <a:rPr lang="en-US" sz="1600" dirty="0">
                <a:latin typeface="Arial"/>
                <a:cs typeface="Arial"/>
              </a:rPr>
              <a:t> du bus </a:t>
            </a:r>
            <a:r>
              <a:rPr lang="en-US" sz="1600" dirty="0" err="1">
                <a:latin typeface="Arial"/>
                <a:cs typeface="Arial"/>
              </a:rPr>
              <a:t>d'adressage</a:t>
            </a:r>
            <a:r>
              <a:rPr lang="en-US" sz="1600" dirty="0">
                <a:latin typeface="Arial"/>
                <a:cs typeface="Arial"/>
              </a:rPr>
              <a:t> et du bus de </a:t>
            </a:r>
            <a:r>
              <a:rPr lang="en-US" sz="1600" dirty="0" err="1">
                <a:latin typeface="Arial"/>
                <a:cs typeface="Arial"/>
              </a:rPr>
              <a:t>contrôle</a:t>
            </a:r>
            <a:r>
              <a:rPr lang="en-US" sz="1600" dirty="0">
                <a:latin typeface="Arial"/>
                <a:cs typeface="Arial"/>
              </a:rPr>
              <a:t>. </a:t>
            </a:r>
          </a:p>
          <a:p>
            <a:pPr algn="just"/>
            <a:endParaRPr lang="en-US" sz="1600" dirty="0">
              <a:latin typeface="Arial"/>
              <a:cs typeface="Arial"/>
            </a:endParaRPr>
          </a:p>
          <a:p>
            <a:pPr algn="just"/>
            <a:r>
              <a:rPr lang="en-US" sz="1600" b="1" dirty="0">
                <a:latin typeface="Arial"/>
                <a:cs typeface="Arial"/>
              </a:rPr>
              <a:t>Le bus </a:t>
            </a:r>
            <a:r>
              <a:rPr lang="en-US" sz="1600" b="1" dirty="0" err="1">
                <a:latin typeface="Arial"/>
                <a:cs typeface="Arial"/>
              </a:rPr>
              <a:t>d'adressage</a:t>
            </a:r>
            <a:r>
              <a:rPr lang="en-US" sz="1600" b="1" dirty="0">
                <a:latin typeface="Arial"/>
                <a:cs typeface="Arial"/>
              </a:rPr>
              <a:t> (Address Bus) </a:t>
            </a:r>
            <a:r>
              <a:rPr lang="en-US" sz="1600" dirty="0" err="1">
                <a:latin typeface="Arial"/>
                <a:cs typeface="Arial"/>
              </a:rPr>
              <a:t>sur</a:t>
            </a:r>
            <a:r>
              <a:rPr lang="en-US" sz="1600" dirty="0">
                <a:latin typeface="Arial"/>
                <a:cs typeface="Arial"/>
              </a:rPr>
              <a:t> </a:t>
            </a:r>
            <a:r>
              <a:rPr lang="en-US" sz="1600" dirty="0" err="1">
                <a:latin typeface="Arial"/>
                <a:cs typeface="Arial"/>
              </a:rPr>
              <a:t>lequel</a:t>
            </a:r>
            <a:r>
              <a:rPr lang="en-US" sz="1600" dirty="0">
                <a:latin typeface="Arial"/>
                <a:cs typeface="Arial"/>
              </a:rPr>
              <a:t> le </a:t>
            </a:r>
            <a:r>
              <a:rPr lang="en-US" sz="1600" dirty="0" err="1">
                <a:latin typeface="Arial"/>
                <a:cs typeface="Arial"/>
              </a:rPr>
              <a:t>processeur</a:t>
            </a:r>
            <a:r>
              <a:rPr lang="en-US" sz="1600" dirty="0">
                <a:latin typeface="Arial"/>
                <a:cs typeface="Arial"/>
              </a:rPr>
              <a:t> </a:t>
            </a:r>
            <a:r>
              <a:rPr lang="en-US" sz="1600" dirty="0" err="1">
                <a:latin typeface="Arial"/>
                <a:cs typeface="Arial"/>
              </a:rPr>
              <a:t>envoie</a:t>
            </a:r>
            <a:r>
              <a:rPr lang="en-US" sz="1600" dirty="0">
                <a:latin typeface="Arial"/>
                <a:cs typeface="Arial"/>
              </a:rPr>
              <a:t> les </a:t>
            </a:r>
            <a:r>
              <a:rPr lang="en-US" sz="1600" dirty="0" err="1">
                <a:latin typeface="Arial"/>
                <a:cs typeface="Arial"/>
              </a:rPr>
              <a:t>adresses</a:t>
            </a:r>
            <a:r>
              <a:rPr lang="en-US" sz="1600" dirty="0">
                <a:latin typeface="Arial"/>
                <a:cs typeface="Arial"/>
              </a:rPr>
              <a:t> des cellules </a:t>
            </a:r>
            <a:r>
              <a:rPr lang="en-US" sz="1600" dirty="0" err="1">
                <a:latin typeface="Arial"/>
                <a:cs typeface="Arial"/>
              </a:rPr>
              <a:t>mémoire</a:t>
            </a:r>
            <a:r>
              <a:rPr lang="en-US" sz="1600" dirty="0">
                <a:latin typeface="Arial"/>
                <a:cs typeface="Arial"/>
              </a:rPr>
              <a:t> et des entrées/sorties </a:t>
            </a:r>
            <a:r>
              <a:rPr lang="en-US" sz="1600" dirty="0" err="1">
                <a:latin typeface="Arial"/>
                <a:cs typeface="Arial"/>
              </a:rPr>
              <a:t>auxquelles</a:t>
            </a:r>
            <a:r>
              <a:rPr lang="en-US" sz="1600" dirty="0">
                <a:latin typeface="Arial"/>
                <a:cs typeface="Arial"/>
              </a:rPr>
              <a:t> </a:t>
            </a:r>
            <a:r>
              <a:rPr lang="en-US" sz="1600" dirty="0" err="1">
                <a:latin typeface="Arial"/>
                <a:cs typeface="Arial"/>
              </a:rPr>
              <a:t>il</a:t>
            </a:r>
            <a:r>
              <a:rPr lang="en-US" sz="1600" dirty="0">
                <a:latin typeface="Arial"/>
                <a:cs typeface="Arial"/>
              </a:rPr>
              <a:t> </a:t>
            </a:r>
            <a:r>
              <a:rPr lang="en-US" sz="1600" dirty="0" err="1">
                <a:latin typeface="Arial"/>
                <a:cs typeface="Arial"/>
              </a:rPr>
              <a:t>veut</a:t>
            </a:r>
            <a:r>
              <a:rPr lang="en-US" sz="1600" dirty="0">
                <a:latin typeface="Arial"/>
                <a:cs typeface="Arial"/>
              </a:rPr>
              <a:t> </a:t>
            </a:r>
            <a:r>
              <a:rPr lang="en-US" sz="1600" dirty="0" err="1">
                <a:latin typeface="Arial"/>
                <a:cs typeface="Arial"/>
              </a:rPr>
              <a:t>accéder</a:t>
            </a:r>
            <a:r>
              <a:rPr lang="en-US" sz="1600" dirty="0">
                <a:latin typeface="Arial"/>
                <a:cs typeface="Arial"/>
              </a:rPr>
              <a:t> </a:t>
            </a:r>
          </a:p>
          <a:p>
            <a:pPr algn="just"/>
            <a:endParaRPr lang="en-US" sz="1600" dirty="0">
              <a:latin typeface="Arial"/>
              <a:cs typeface="Arial"/>
            </a:endParaRPr>
          </a:p>
          <a:p>
            <a:pPr algn="just"/>
            <a:r>
              <a:rPr lang="en-US" sz="1600" b="1" dirty="0">
                <a:latin typeface="Arial"/>
                <a:cs typeface="Arial"/>
              </a:rPr>
              <a:t>Le bus de </a:t>
            </a:r>
            <a:r>
              <a:rPr lang="en-US" sz="1600" b="1" dirty="0" err="1">
                <a:latin typeface="Arial"/>
                <a:cs typeface="Arial"/>
              </a:rPr>
              <a:t>données</a:t>
            </a:r>
            <a:r>
              <a:rPr lang="en-US" sz="1600" b="1" dirty="0">
                <a:latin typeface="Arial"/>
                <a:cs typeface="Arial"/>
              </a:rPr>
              <a:t> (Data Bus) </a:t>
            </a:r>
            <a:r>
              <a:rPr lang="en-US" sz="1600" dirty="0" err="1">
                <a:latin typeface="Arial"/>
                <a:cs typeface="Arial"/>
              </a:rPr>
              <a:t>est</a:t>
            </a:r>
            <a:r>
              <a:rPr lang="en-US" sz="1600" dirty="0">
                <a:latin typeface="Arial"/>
                <a:cs typeface="Arial"/>
              </a:rPr>
              <a:t> </a:t>
            </a:r>
            <a:r>
              <a:rPr lang="en-US" sz="1600" dirty="0" err="1">
                <a:latin typeface="Arial"/>
                <a:cs typeface="Arial"/>
              </a:rPr>
              <a:t>bidirectionnel</a:t>
            </a:r>
            <a:r>
              <a:rPr lang="en-US" sz="1600" dirty="0">
                <a:latin typeface="Arial"/>
                <a:cs typeface="Arial"/>
              </a:rPr>
              <a:t> </a:t>
            </a:r>
            <a:r>
              <a:rPr lang="en-US" sz="1600" dirty="0" err="1">
                <a:latin typeface="Arial"/>
                <a:cs typeface="Arial"/>
              </a:rPr>
              <a:t>puisque</a:t>
            </a:r>
            <a:r>
              <a:rPr lang="en-US" sz="1600" dirty="0">
                <a:latin typeface="Arial"/>
                <a:cs typeface="Arial"/>
              </a:rPr>
              <a:t> le </a:t>
            </a:r>
            <a:r>
              <a:rPr lang="en-US" sz="1600" dirty="0" err="1">
                <a:latin typeface="Arial"/>
                <a:cs typeface="Arial"/>
              </a:rPr>
              <a:t>processeur</a:t>
            </a:r>
            <a:r>
              <a:rPr lang="en-US" sz="1600" dirty="0">
                <a:latin typeface="Arial"/>
                <a:cs typeface="Arial"/>
              </a:rPr>
              <a:t> </a:t>
            </a:r>
            <a:r>
              <a:rPr lang="en-US" sz="1600" dirty="0" err="1">
                <a:latin typeface="Arial"/>
                <a:cs typeface="Arial"/>
              </a:rPr>
              <a:t>l'utilise</a:t>
            </a:r>
            <a:r>
              <a:rPr lang="en-US" sz="1600" dirty="0">
                <a:latin typeface="Arial"/>
                <a:cs typeface="Arial"/>
              </a:rPr>
              <a:t> pour lire et pour </a:t>
            </a:r>
            <a:r>
              <a:rPr lang="en-US" sz="1600" dirty="0" err="1">
                <a:latin typeface="Arial"/>
                <a:cs typeface="Arial"/>
              </a:rPr>
              <a:t>écrire</a:t>
            </a:r>
            <a:r>
              <a:rPr lang="en-US" sz="1600" dirty="0">
                <a:latin typeface="Arial"/>
                <a:cs typeface="Arial"/>
              </a:rPr>
              <a:t> en </a:t>
            </a:r>
            <a:r>
              <a:rPr lang="en-US" sz="1600" dirty="0" err="1">
                <a:latin typeface="Arial"/>
                <a:cs typeface="Arial"/>
              </a:rPr>
              <a:t>mémoire</a:t>
            </a:r>
            <a:r>
              <a:rPr lang="en-US" sz="1600" dirty="0">
                <a:latin typeface="Arial"/>
                <a:cs typeface="Arial"/>
              </a:rPr>
              <a:t> </a:t>
            </a:r>
            <a:r>
              <a:rPr lang="en-US" sz="1600" dirty="0" err="1">
                <a:latin typeface="Arial"/>
                <a:cs typeface="Arial"/>
              </a:rPr>
              <a:t>ou</a:t>
            </a:r>
            <a:r>
              <a:rPr lang="en-US" sz="1600" dirty="0">
                <a:latin typeface="Arial"/>
                <a:cs typeface="Arial"/>
              </a:rPr>
              <a:t> </a:t>
            </a:r>
            <a:r>
              <a:rPr lang="en-US" sz="1600" dirty="0" err="1">
                <a:latin typeface="Arial"/>
                <a:cs typeface="Arial"/>
              </a:rPr>
              <a:t>dans</a:t>
            </a:r>
            <a:r>
              <a:rPr lang="en-US" sz="1600" dirty="0">
                <a:latin typeface="Arial"/>
                <a:cs typeface="Arial"/>
              </a:rPr>
              <a:t> les I/O</a:t>
            </a:r>
          </a:p>
          <a:p>
            <a:pPr algn="just"/>
            <a:endParaRPr lang="en-US" sz="1600" dirty="0">
              <a:latin typeface="Arial"/>
              <a:cs typeface="Arial"/>
            </a:endParaRPr>
          </a:p>
          <a:p>
            <a:pPr algn="just"/>
            <a:r>
              <a:rPr lang="en-US" sz="1600" b="1" dirty="0">
                <a:latin typeface="Arial"/>
                <a:cs typeface="Arial"/>
              </a:rPr>
              <a:t>Le bus de </a:t>
            </a:r>
            <a:r>
              <a:rPr lang="en-US" sz="1600" b="1" dirty="0" err="1">
                <a:latin typeface="Arial"/>
                <a:cs typeface="Arial"/>
              </a:rPr>
              <a:t>commande</a:t>
            </a:r>
            <a:r>
              <a:rPr lang="en-US" sz="1600" b="1" dirty="0">
                <a:latin typeface="Arial"/>
                <a:cs typeface="Arial"/>
              </a:rPr>
              <a:t> (Control Bus) </a:t>
            </a:r>
            <a:r>
              <a:rPr lang="en-US" sz="1600" dirty="0" err="1">
                <a:latin typeface="Arial"/>
                <a:cs typeface="Arial"/>
              </a:rPr>
              <a:t>véhicule</a:t>
            </a:r>
            <a:r>
              <a:rPr lang="en-US" sz="1600" dirty="0">
                <a:latin typeface="Arial"/>
                <a:cs typeface="Arial"/>
              </a:rPr>
              <a:t> </a:t>
            </a:r>
            <a:r>
              <a:rPr lang="en-US" sz="1600" dirty="0" err="1">
                <a:latin typeface="Arial"/>
                <a:cs typeface="Arial"/>
              </a:rPr>
              <a:t>tous</a:t>
            </a:r>
            <a:r>
              <a:rPr lang="en-US" sz="1600" dirty="0">
                <a:latin typeface="Arial"/>
                <a:cs typeface="Arial"/>
              </a:rPr>
              <a:t> les </a:t>
            </a:r>
            <a:r>
              <a:rPr lang="en-US" sz="1600" dirty="0" err="1">
                <a:latin typeface="Arial"/>
                <a:cs typeface="Arial"/>
              </a:rPr>
              <a:t>autres</a:t>
            </a:r>
            <a:r>
              <a:rPr lang="en-US" sz="1600" dirty="0">
                <a:latin typeface="Arial"/>
                <a:cs typeface="Arial"/>
              </a:rPr>
              <a:t> </a:t>
            </a:r>
            <a:r>
              <a:rPr lang="en-US" sz="1600" dirty="0" err="1">
                <a:latin typeface="Arial"/>
                <a:cs typeface="Arial"/>
              </a:rPr>
              <a:t>signaux</a:t>
            </a:r>
            <a:r>
              <a:rPr lang="en-US" sz="1600" dirty="0">
                <a:latin typeface="Arial"/>
                <a:cs typeface="Arial"/>
              </a:rPr>
              <a:t>. Le CPU </a:t>
            </a:r>
            <a:r>
              <a:rPr lang="en-US" sz="1600" dirty="0" err="1">
                <a:latin typeface="Arial"/>
                <a:cs typeface="Arial"/>
              </a:rPr>
              <a:t>utilise</a:t>
            </a:r>
            <a:r>
              <a:rPr lang="en-US" sz="1600" dirty="0">
                <a:latin typeface="Arial"/>
                <a:cs typeface="Arial"/>
              </a:rPr>
              <a:t> </a:t>
            </a:r>
            <a:r>
              <a:rPr lang="en-US" sz="1600" dirty="0" err="1">
                <a:latin typeface="Arial"/>
                <a:cs typeface="Arial"/>
              </a:rPr>
              <a:t>l'un</a:t>
            </a:r>
            <a:r>
              <a:rPr lang="en-US" sz="1600" dirty="0">
                <a:latin typeface="Arial"/>
                <a:cs typeface="Arial"/>
              </a:rPr>
              <a:t> </a:t>
            </a:r>
            <a:r>
              <a:rPr lang="en-US" sz="1600" dirty="0" err="1">
                <a:latin typeface="Arial"/>
                <a:cs typeface="Arial"/>
              </a:rPr>
              <a:t>d'eux</a:t>
            </a:r>
            <a:r>
              <a:rPr lang="en-US" sz="1600" dirty="0">
                <a:latin typeface="Arial"/>
                <a:cs typeface="Arial"/>
              </a:rPr>
              <a:t> pour </a:t>
            </a:r>
            <a:r>
              <a:rPr lang="en-US" sz="1600" dirty="0" err="1">
                <a:latin typeface="Arial"/>
                <a:cs typeface="Arial"/>
              </a:rPr>
              <a:t>indiquer</a:t>
            </a:r>
            <a:r>
              <a:rPr lang="en-US" sz="1600" dirty="0">
                <a:latin typeface="Arial"/>
                <a:cs typeface="Arial"/>
              </a:rPr>
              <a:t> le </a:t>
            </a:r>
            <a:r>
              <a:rPr lang="en-US" sz="1600" dirty="0" err="1">
                <a:latin typeface="Arial"/>
                <a:cs typeface="Arial"/>
              </a:rPr>
              <a:t>sens</a:t>
            </a:r>
            <a:r>
              <a:rPr lang="en-US" sz="1600" dirty="0">
                <a:latin typeface="Arial"/>
                <a:cs typeface="Arial"/>
              </a:rPr>
              <a:t> des </a:t>
            </a:r>
            <a:r>
              <a:rPr lang="en-US" sz="1600" dirty="0" err="1">
                <a:latin typeface="Arial"/>
                <a:cs typeface="Arial"/>
              </a:rPr>
              <a:t>transferts</a:t>
            </a:r>
            <a:r>
              <a:rPr lang="en-US" sz="1600" dirty="0">
                <a:latin typeface="Arial"/>
                <a:cs typeface="Arial"/>
              </a:rPr>
              <a:t> </a:t>
            </a:r>
            <a:r>
              <a:rPr lang="en-US" sz="1600" dirty="0" err="1">
                <a:latin typeface="Arial"/>
                <a:cs typeface="Arial"/>
              </a:rPr>
              <a:t>sur</a:t>
            </a:r>
            <a:r>
              <a:rPr lang="en-US" sz="1600" dirty="0">
                <a:latin typeface="Arial"/>
                <a:cs typeface="Arial"/>
              </a:rPr>
              <a:t> le bus de </a:t>
            </a:r>
            <a:r>
              <a:rPr lang="en-US" sz="1600" dirty="0" err="1">
                <a:latin typeface="Arial"/>
                <a:cs typeface="Arial"/>
              </a:rPr>
              <a:t>données</a:t>
            </a:r>
            <a:r>
              <a:rPr lang="en-US" sz="1600" dirty="0">
                <a:latin typeface="Arial"/>
                <a:cs typeface="Arial"/>
              </a:rPr>
              <a:t> (lecture </a:t>
            </a:r>
            <a:r>
              <a:rPr lang="en-US" sz="1600" dirty="0" err="1">
                <a:latin typeface="Arial"/>
                <a:cs typeface="Arial"/>
              </a:rPr>
              <a:t>ou</a:t>
            </a:r>
            <a:r>
              <a:rPr lang="en-US" sz="1600" dirty="0">
                <a:latin typeface="Arial"/>
                <a:cs typeface="Arial"/>
              </a:rPr>
              <a:t> </a:t>
            </a:r>
            <a:r>
              <a:rPr lang="en-US" sz="1600" dirty="0" err="1">
                <a:latin typeface="Arial"/>
                <a:cs typeface="Arial"/>
              </a:rPr>
              <a:t>écriture</a:t>
            </a:r>
            <a:r>
              <a:rPr lang="en-US" sz="1600" dirty="0">
                <a:latin typeface="Arial"/>
                <a:cs typeface="Arial"/>
              </a:rPr>
              <a:t>).</a:t>
            </a:r>
            <a:br>
              <a:rPr lang="en-US" sz="1600" dirty="0">
                <a:latin typeface="Arial"/>
                <a:cs typeface="Arial"/>
              </a:rPr>
            </a:br>
            <a:r>
              <a:rPr lang="en-US" sz="1600" dirty="0">
                <a:latin typeface="Arial"/>
                <a:cs typeface="Arial"/>
              </a:rPr>
              <a:t>Un </a:t>
            </a:r>
            <a:r>
              <a:rPr lang="en-US" sz="1600" dirty="0" err="1">
                <a:latin typeface="Arial"/>
                <a:cs typeface="Arial"/>
              </a:rPr>
              <a:t>autre</a:t>
            </a:r>
            <a:r>
              <a:rPr lang="en-US" sz="1600" dirty="0">
                <a:latin typeface="Arial"/>
                <a:cs typeface="Arial"/>
              </a:rPr>
              <a:t> </a:t>
            </a:r>
            <a:r>
              <a:rPr lang="en-US" sz="1600" dirty="0" err="1">
                <a:latin typeface="Arial"/>
                <a:cs typeface="Arial"/>
              </a:rPr>
              <a:t>est</a:t>
            </a:r>
            <a:r>
              <a:rPr lang="en-US" sz="1600" dirty="0">
                <a:latin typeface="Arial"/>
                <a:cs typeface="Arial"/>
              </a:rPr>
              <a:t> </a:t>
            </a:r>
            <a:r>
              <a:rPr lang="en-US" sz="1600" dirty="0" err="1">
                <a:latin typeface="Arial"/>
                <a:cs typeface="Arial"/>
              </a:rPr>
              <a:t>utilisé</a:t>
            </a:r>
            <a:r>
              <a:rPr lang="en-US" sz="1600" dirty="0">
                <a:latin typeface="Arial"/>
                <a:cs typeface="Arial"/>
              </a:rPr>
              <a:t> par les </a:t>
            </a:r>
            <a:r>
              <a:rPr lang="en-US" sz="1600" dirty="0" err="1">
                <a:latin typeface="Arial"/>
                <a:cs typeface="Arial"/>
              </a:rPr>
              <a:t>mémoires</a:t>
            </a:r>
            <a:r>
              <a:rPr lang="en-US" sz="1600" dirty="0">
                <a:latin typeface="Arial"/>
                <a:cs typeface="Arial"/>
              </a:rPr>
              <a:t> pour signaler </a:t>
            </a:r>
            <a:r>
              <a:rPr lang="en-US" sz="1600" dirty="0" err="1">
                <a:latin typeface="Arial"/>
                <a:cs typeface="Arial"/>
              </a:rPr>
              <a:t>quand</a:t>
            </a:r>
            <a:r>
              <a:rPr lang="en-US" sz="1600" dirty="0">
                <a:latin typeface="Arial"/>
                <a:cs typeface="Arial"/>
              </a:rPr>
              <a:t> </a:t>
            </a:r>
            <a:r>
              <a:rPr lang="en-US" sz="1600" dirty="0" err="1">
                <a:latin typeface="Arial"/>
                <a:cs typeface="Arial"/>
              </a:rPr>
              <a:t>elles</a:t>
            </a:r>
            <a:r>
              <a:rPr lang="en-US" sz="1600" dirty="0">
                <a:latin typeface="Arial"/>
                <a:cs typeface="Arial"/>
              </a:rPr>
              <a:t> </a:t>
            </a:r>
            <a:r>
              <a:rPr lang="en-US" sz="1600" dirty="0" err="1">
                <a:latin typeface="Arial"/>
                <a:cs typeface="Arial"/>
              </a:rPr>
              <a:t>sont</a:t>
            </a:r>
            <a:r>
              <a:rPr lang="en-US" sz="1600" dirty="0">
                <a:latin typeface="Arial"/>
                <a:cs typeface="Arial"/>
              </a:rPr>
              <a:t> </a:t>
            </a:r>
            <a:r>
              <a:rPr lang="en-US" sz="1600" dirty="0" err="1">
                <a:latin typeface="Arial"/>
                <a:cs typeface="Arial"/>
              </a:rPr>
              <a:t>prêtes</a:t>
            </a:r>
            <a:r>
              <a:rPr lang="en-US" sz="1600" dirty="0">
                <a:latin typeface="Arial"/>
                <a:cs typeface="Arial"/>
              </a:rPr>
              <a:t> pour </a:t>
            </a:r>
            <a:r>
              <a:rPr lang="en-US" sz="1600" dirty="0" err="1">
                <a:latin typeface="Arial"/>
                <a:cs typeface="Arial"/>
              </a:rPr>
              <a:t>répondre</a:t>
            </a:r>
            <a:r>
              <a:rPr lang="en-US" sz="1600" dirty="0">
                <a:latin typeface="Arial"/>
                <a:cs typeface="Arial"/>
              </a:rPr>
              <a:t> </a:t>
            </a:r>
            <a:r>
              <a:rPr lang="en-US" sz="1600" dirty="0" err="1">
                <a:latin typeface="Arial"/>
                <a:cs typeface="Arial"/>
              </a:rPr>
              <a:t>à</a:t>
            </a:r>
            <a:r>
              <a:rPr lang="en-US" sz="1600" dirty="0">
                <a:latin typeface="Arial"/>
                <a:cs typeface="Arial"/>
              </a:rPr>
              <a:t> </a:t>
            </a:r>
            <a:r>
              <a:rPr lang="en-US" sz="1600" dirty="0" err="1">
                <a:latin typeface="Arial"/>
                <a:cs typeface="Arial"/>
              </a:rPr>
              <a:t>une</a:t>
            </a:r>
            <a:r>
              <a:rPr lang="en-US" sz="1600" dirty="0">
                <a:latin typeface="Arial"/>
                <a:cs typeface="Arial"/>
              </a:rPr>
              <a:t> </a:t>
            </a:r>
            <a:r>
              <a:rPr lang="en-US" sz="1600" dirty="0" err="1">
                <a:latin typeface="Arial"/>
                <a:cs typeface="Arial"/>
              </a:rPr>
              <a:t>commande</a:t>
            </a:r>
            <a:r>
              <a:rPr lang="en-US" sz="1600" dirty="0">
                <a:latin typeface="Arial"/>
                <a:cs typeface="Arial"/>
              </a:rPr>
              <a:t> de lecture.</a:t>
            </a:r>
          </a:p>
          <a:p>
            <a:pPr algn="just"/>
            <a:endParaRPr lang="fr-FR" dirty="0"/>
          </a:p>
        </p:txBody>
      </p:sp>
      <p:sp>
        <p:nvSpPr>
          <p:cNvPr id="3" name="Title 2"/>
          <p:cNvSpPr>
            <a:spLocks noGrp="1"/>
          </p:cNvSpPr>
          <p:nvPr>
            <p:ph type="title"/>
          </p:nvPr>
        </p:nvSpPr>
        <p:spPr/>
        <p:txBody>
          <a:bodyPr/>
          <a:lstStyle/>
          <a:p>
            <a:r>
              <a:rPr lang="fr-FR" dirty="0"/>
              <a:t>Le Bus </a:t>
            </a:r>
          </a:p>
        </p:txBody>
      </p:sp>
    </p:spTree>
    <p:extLst>
      <p:ext uri="{BB962C8B-B14F-4D97-AF65-F5344CB8AC3E}">
        <p14:creationId xmlns:p14="http://schemas.microsoft.com/office/powerpoint/2010/main" val="128400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705BF592-EE0E-631C-E342-F1788767028A}"/>
              </a:ext>
            </a:extLst>
          </p:cNvPr>
          <p:cNvSpPr>
            <a:spLocks noGrp="1"/>
          </p:cNvSpPr>
          <p:nvPr>
            <p:ph sz="half" idx="1"/>
          </p:nvPr>
        </p:nvSpPr>
        <p:spPr/>
        <p:txBody>
          <a:bodyPr>
            <a:normAutofit fontScale="55000" lnSpcReduction="20000"/>
          </a:bodyPr>
          <a:lstStyle/>
          <a:p>
            <a:pPr algn="just"/>
            <a:endParaRPr lang="fr-MA" b="0" i="0" dirty="0">
              <a:solidFill>
                <a:srgbClr val="000000"/>
              </a:solidFill>
              <a:effectLst/>
              <a:latin typeface="Arial" panose="020B0604020202020204" pitchFamily="34" charset="0"/>
            </a:endParaRPr>
          </a:p>
          <a:p>
            <a:pPr algn="just"/>
            <a:r>
              <a:rPr lang="fr-MA" b="0" i="0" dirty="0">
                <a:solidFill>
                  <a:srgbClr val="000000"/>
                </a:solidFill>
                <a:effectLst/>
                <a:latin typeface="Arial" panose="020B0604020202020204" pitchFamily="34" charset="0"/>
              </a:rPr>
              <a:t>Plus simplement, sans distinction entre la nature des signaux échangés (données, adresses et signaux de contrôle) –Bus singulier-</a:t>
            </a:r>
          </a:p>
          <a:p>
            <a:pPr algn="just"/>
            <a:endParaRPr lang="fr-MA" b="0" i="0" dirty="0">
              <a:solidFill>
                <a:srgbClr val="000000"/>
              </a:solidFill>
              <a:effectLst/>
              <a:latin typeface="Arial" panose="020B0604020202020204" pitchFamily="34" charset="0"/>
            </a:endParaRPr>
          </a:p>
          <a:p>
            <a:pPr algn="just"/>
            <a:r>
              <a:rPr lang="fr-MA" b="0" i="0" dirty="0">
                <a:solidFill>
                  <a:srgbClr val="000000"/>
                </a:solidFill>
                <a:effectLst/>
                <a:latin typeface="Arial" panose="020B0604020202020204" pitchFamily="34" charset="0"/>
              </a:rPr>
              <a:t>Les microprocesseurs les plus anciens avec la mémoire et les unités d'entrées / sorties.</a:t>
            </a:r>
            <a:br>
              <a:rPr lang="fr-MA" b="0" i="0" dirty="0">
                <a:solidFill>
                  <a:srgbClr val="000000"/>
                </a:solidFill>
                <a:effectLst/>
                <a:latin typeface="Arial" panose="020B0604020202020204" pitchFamily="34" charset="0"/>
              </a:rPr>
            </a:br>
            <a:r>
              <a:rPr lang="fr-MA" b="0" i="0" dirty="0">
                <a:solidFill>
                  <a:srgbClr val="000000"/>
                </a:solidFill>
                <a:effectLst/>
                <a:latin typeface="Arial" panose="020B0604020202020204" pitchFamily="34" charset="0"/>
              </a:rPr>
              <a:t>étaient cadencés à la même fréquence, celle du CPU. (ce n’est plus le cas)</a:t>
            </a:r>
          </a:p>
          <a:p>
            <a:pPr algn="just"/>
            <a:endParaRPr lang="fr-MA" dirty="0">
              <a:solidFill>
                <a:srgbClr val="000000"/>
              </a:solidFill>
              <a:latin typeface="Arial" panose="020B0604020202020204" pitchFamily="34" charset="0"/>
            </a:endParaRPr>
          </a:p>
          <a:p>
            <a:pPr algn="just"/>
            <a:r>
              <a:rPr lang="fr-MA" b="0" i="0" dirty="0">
                <a:solidFill>
                  <a:srgbClr val="000000"/>
                </a:solidFill>
                <a:effectLst/>
                <a:latin typeface="Arial" panose="020B0604020202020204" pitchFamily="34" charset="0"/>
              </a:rPr>
              <a:t>Le bus des premiers PC fonctionnait à une fréquence de 4,77 MHz.</a:t>
            </a:r>
          </a:p>
          <a:p>
            <a:pPr marL="45720" indent="0">
              <a:buNone/>
            </a:pPr>
            <a:br>
              <a:rPr lang="fr-MA" dirty="0"/>
            </a:br>
            <a:endParaRPr lang="fr-FR" dirty="0"/>
          </a:p>
        </p:txBody>
      </p:sp>
      <p:pic>
        <p:nvPicPr>
          <p:cNvPr id="6" name="Espace réservé du contenu 5">
            <a:extLst>
              <a:ext uri="{FF2B5EF4-FFF2-40B4-BE49-F238E27FC236}">
                <a16:creationId xmlns:a16="http://schemas.microsoft.com/office/drawing/2014/main" id="{AE0C49E6-EEA9-FFB2-950A-41787B181B5B}"/>
              </a:ext>
            </a:extLst>
          </p:cNvPr>
          <p:cNvPicPr>
            <a:picLocks noGrp="1" noChangeAspect="1"/>
          </p:cNvPicPr>
          <p:nvPr>
            <p:ph sz="half" idx="2"/>
          </p:nvPr>
        </p:nvPicPr>
        <p:blipFill>
          <a:blip r:embed="rId2"/>
          <a:stretch>
            <a:fillRect/>
          </a:stretch>
        </p:blipFill>
        <p:spPr>
          <a:xfrm>
            <a:off x="5238750" y="2487613"/>
            <a:ext cx="2857500" cy="2870200"/>
          </a:xfrm>
        </p:spPr>
      </p:pic>
      <p:sp>
        <p:nvSpPr>
          <p:cNvPr id="4" name="Titre 3">
            <a:extLst>
              <a:ext uri="{FF2B5EF4-FFF2-40B4-BE49-F238E27FC236}">
                <a16:creationId xmlns:a16="http://schemas.microsoft.com/office/drawing/2014/main" id="{A975F37D-3FB3-AF01-ED86-F40918C0B555}"/>
              </a:ext>
            </a:extLst>
          </p:cNvPr>
          <p:cNvSpPr>
            <a:spLocks noGrp="1"/>
          </p:cNvSpPr>
          <p:nvPr>
            <p:ph type="title"/>
          </p:nvPr>
        </p:nvSpPr>
        <p:spPr/>
        <p:txBody>
          <a:bodyPr/>
          <a:lstStyle/>
          <a:p>
            <a:r>
              <a:rPr lang="fr-MA" dirty="0"/>
              <a:t>Schéma bloc d'un ordinateur</a:t>
            </a:r>
            <a:endParaRPr lang="fr-FR" b="1" dirty="0"/>
          </a:p>
        </p:txBody>
      </p:sp>
    </p:spTree>
    <p:extLst>
      <p:ext uri="{BB962C8B-B14F-4D97-AF65-F5344CB8AC3E}">
        <p14:creationId xmlns:p14="http://schemas.microsoft.com/office/powerpoint/2010/main" val="362832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fr-MA" sz="1600" b="1" dirty="0">
                <a:solidFill>
                  <a:schemeClr val="tx1"/>
                </a:solidFill>
              </a:rPr>
              <a:t>Largeur du bus</a:t>
            </a:r>
            <a:r>
              <a:rPr lang="fr-MA" sz="1600" dirty="0">
                <a:solidFill>
                  <a:schemeClr val="tx1"/>
                </a:solidFill>
              </a:rPr>
              <a:t> : Nombre de bits transportés simultanément.</a:t>
            </a:r>
          </a:p>
          <a:p>
            <a:pPr algn="just"/>
            <a:endParaRPr lang="fr-MA" sz="1600" dirty="0">
              <a:solidFill>
                <a:schemeClr val="tx1"/>
              </a:solidFill>
            </a:endParaRPr>
          </a:p>
          <a:p>
            <a:pPr algn="just"/>
            <a:r>
              <a:rPr lang="fr-MA" sz="1600" b="1" dirty="0">
                <a:solidFill>
                  <a:schemeClr val="tx1"/>
                </a:solidFill>
              </a:rPr>
              <a:t>Fréquence d'horloge du bus</a:t>
            </a:r>
            <a:r>
              <a:rPr lang="fr-MA" sz="1600" dirty="0">
                <a:solidFill>
                  <a:schemeClr val="tx1"/>
                </a:solidFill>
              </a:rPr>
              <a:t> (Vitesse de transfert des données):</a:t>
            </a:r>
          </a:p>
          <a:p>
            <a:pPr marL="320040" lvl="1" indent="0" algn="just">
              <a:buNone/>
            </a:pPr>
            <a:r>
              <a:rPr lang="fr-MA" sz="1600" spc="150" dirty="0">
                <a:solidFill>
                  <a:schemeClr val="tx1"/>
                </a:solidFill>
              </a:rPr>
              <a:t>Elle est mesurée en Hz (MHz, GHz…) , et détermine le nombre de cycles d'horloge par seconde ; il peut y avoir un ou plusieurs transferts de données par cycle d'horloge</a:t>
            </a:r>
            <a:r>
              <a:rPr lang="fr-MA" sz="1200" b="0" i="0" dirty="0">
                <a:solidFill>
                  <a:srgbClr val="474747"/>
                </a:solidFill>
                <a:effectLst/>
                <a:latin typeface="Google Sans"/>
              </a:rPr>
              <a:t>.</a:t>
            </a:r>
          </a:p>
          <a:p>
            <a:pPr marL="320040" lvl="1" indent="0" algn="just">
              <a:buNone/>
            </a:pPr>
            <a:endParaRPr lang="fr-MA" sz="1400" dirty="0">
              <a:solidFill>
                <a:schemeClr val="tx1"/>
              </a:solidFill>
            </a:endParaRPr>
          </a:p>
          <a:p>
            <a:pPr algn="just"/>
            <a:r>
              <a:rPr lang="fr-MA" sz="1600" b="1" dirty="0">
                <a:solidFill>
                  <a:schemeClr val="tx1"/>
                </a:solidFill>
              </a:rPr>
              <a:t>Bande passante du bus </a:t>
            </a:r>
            <a:r>
              <a:rPr lang="fr-MA" sz="1600" dirty="0">
                <a:solidFill>
                  <a:schemeClr val="tx1"/>
                </a:solidFill>
              </a:rPr>
              <a:t> : Quantité de données transférées par unité de temps.</a:t>
            </a:r>
          </a:p>
          <a:p>
            <a:pPr algn="just"/>
            <a:endParaRPr lang="en-US" sz="1600" dirty="0">
              <a:solidFill>
                <a:srgbClr val="FF0000"/>
              </a:solidFill>
              <a:latin typeface="Arial"/>
              <a:cs typeface="Arial"/>
            </a:endParaRPr>
          </a:p>
          <a:p>
            <a:pPr marL="320040" lvl="1" indent="0" algn="just">
              <a:buNone/>
            </a:pPr>
            <a:r>
              <a:rPr lang="en-US" sz="1600" spc="150" dirty="0">
                <a:solidFill>
                  <a:schemeClr val="tx1"/>
                </a:solidFill>
              </a:rPr>
              <a:t>La </a:t>
            </a:r>
            <a:r>
              <a:rPr lang="en-US" sz="1600" spc="150" dirty="0" err="1">
                <a:solidFill>
                  <a:schemeClr val="tx1"/>
                </a:solidFill>
              </a:rPr>
              <a:t>bande</a:t>
            </a:r>
            <a:r>
              <a:rPr lang="en-US" sz="1600" spc="150" dirty="0">
                <a:solidFill>
                  <a:schemeClr val="tx1"/>
                </a:solidFill>
              </a:rPr>
              <a:t> </a:t>
            </a:r>
            <a:r>
              <a:rPr lang="en-US" sz="1600" spc="150" dirty="0" err="1">
                <a:solidFill>
                  <a:schemeClr val="tx1"/>
                </a:solidFill>
              </a:rPr>
              <a:t>passante</a:t>
            </a:r>
            <a:r>
              <a:rPr lang="en-US" sz="1600" spc="150" dirty="0">
                <a:solidFill>
                  <a:schemeClr val="tx1"/>
                </a:solidFill>
              </a:rPr>
              <a:t>, </a:t>
            </a:r>
            <a:r>
              <a:rPr lang="en-US" sz="1600" spc="150" dirty="0" err="1">
                <a:solidFill>
                  <a:schemeClr val="tx1"/>
                </a:solidFill>
              </a:rPr>
              <a:t>aussi</a:t>
            </a:r>
            <a:r>
              <a:rPr lang="en-US" sz="1600" spc="150" dirty="0">
                <a:solidFill>
                  <a:schemeClr val="tx1"/>
                </a:solidFill>
              </a:rPr>
              <a:t> </a:t>
            </a:r>
            <a:r>
              <a:rPr lang="en-US" sz="1600" spc="150" dirty="0" err="1">
                <a:solidFill>
                  <a:schemeClr val="tx1"/>
                </a:solidFill>
              </a:rPr>
              <a:t>appelée</a:t>
            </a:r>
            <a:r>
              <a:rPr lang="en-US" sz="1600" spc="150" dirty="0">
                <a:solidFill>
                  <a:schemeClr val="tx1"/>
                </a:solidFill>
              </a:rPr>
              <a:t> </a:t>
            </a:r>
            <a:r>
              <a:rPr lang="en-US" sz="1600" spc="150" dirty="0" err="1">
                <a:solidFill>
                  <a:schemeClr val="tx1"/>
                </a:solidFill>
              </a:rPr>
              <a:t>taux</a:t>
            </a:r>
            <a:r>
              <a:rPr lang="en-US" sz="1600" spc="150" dirty="0">
                <a:solidFill>
                  <a:schemeClr val="tx1"/>
                </a:solidFill>
              </a:rPr>
              <a:t> de </a:t>
            </a:r>
            <a:r>
              <a:rPr lang="en-US" sz="1600" spc="150" dirty="0" err="1">
                <a:solidFill>
                  <a:schemeClr val="tx1"/>
                </a:solidFill>
              </a:rPr>
              <a:t>transfert</a:t>
            </a:r>
            <a:r>
              <a:rPr lang="en-US" sz="1600" spc="150" dirty="0">
                <a:solidFill>
                  <a:schemeClr val="tx1"/>
                </a:solidFill>
              </a:rPr>
              <a:t>, </a:t>
            </a:r>
            <a:r>
              <a:rPr lang="en-US" sz="1600" spc="150" dirty="0" err="1">
                <a:solidFill>
                  <a:schemeClr val="tx1"/>
                </a:solidFill>
              </a:rPr>
              <a:t>représente</a:t>
            </a:r>
            <a:r>
              <a:rPr lang="en-US" sz="1600" spc="150" dirty="0">
                <a:solidFill>
                  <a:schemeClr val="tx1"/>
                </a:solidFill>
              </a:rPr>
              <a:t> le </a:t>
            </a:r>
            <a:r>
              <a:rPr lang="en-US" sz="1600" spc="150" dirty="0" err="1">
                <a:solidFill>
                  <a:schemeClr val="tx1"/>
                </a:solidFill>
              </a:rPr>
              <a:t>débit</a:t>
            </a:r>
            <a:r>
              <a:rPr lang="en-US" sz="1600" spc="150" dirty="0">
                <a:solidFill>
                  <a:schemeClr val="tx1"/>
                </a:solidFill>
              </a:rPr>
              <a:t> maximum des données. Elle </a:t>
            </a:r>
            <a:r>
              <a:rPr lang="en-US" sz="1600" spc="150" dirty="0" err="1">
                <a:solidFill>
                  <a:schemeClr val="tx1"/>
                </a:solidFill>
              </a:rPr>
              <a:t>s'exprime</a:t>
            </a:r>
            <a:r>
              <a:rPr lang="en-US" sz="1600" spc="150" dirty="0">
                <a:solidFill>
                  <a:schemeClr val="tx1"/>
                </a:solidFill>
              </a:rPr>
              <a:t> </a:t>
            </a:r>
            <a:r>
              <a:rPr lang="en-US" sz="1600" spc="150" dirty="0" err="1">
                <a:solidFill>
                  <a:schemeClr val="tx1"/>
                </a:solidFill>
              </a:rPr>
              <a:t>en</a:t>
            </a:r>
            <a:r>
              <a:rPr lang="en-US" sz="1600" spc="150" dirty="0">
                <a:solidFill>
                  <a:schemeClr val="tx1"/>
                </a:solidFill>
              </a:rPr>
              <a:t> </a:t>
            </a:r>
            <a:r>
              <a:rPr lang="en-US" sz="1600" spc="150" dirty="0" err="1">
                <a:solidFill>
                  <a:schemeClr val="tx1"/>
                </a:solidFill>
              </a:rPr>
              <a:t>méga</a:t>
            </a:r>
            <a:r>
              <a:rPr lang="en-US" sz="1600" spc="150" dirty="0">
                <a:solidFill>
                  <a:schemeClr val="tx1"/>
                </a:solidFill>
              </a:rPr>
              <a:t> octets par </a:t>
            </a:r>
            <a:r>
              <a:rPr lang="en-US" sz="1600" spc="150" dirty="0" err="1">
                <a:solidFill>
                  <a:schemeClr val="tx1"/>
                </a:solidFill>
              </a:rPr>
              <a:t>seconde</a:t>
            </a:r>
            <a:r>
              <a:rPr lang="en-US" sz="1600" spc="150" dirty="0">
                <a:solidFill>
                  <a:schemeClr val="tx1"/>
                </a:solidFill>
              </a:rPr>
              <a:t> (Mo/s).</a:t>
            </a:r>
          </a:p>
          <a:p>
            <a:pPr algn="just"/>
            <a:endParaRPr lang="en-US" sz="1600" dirty="0">
              <a:solidFill>
                <a:schemeClr val="tx1"/>
              </a:solidFill>
            </a:endParaRPr>
          </a:p>
          <a:p>
            <a:pPr marL="320040" lvl="1" indent="0" algn="just">
              <a:buNone/>
            </a:pPr>
            <a:r>
              <a:rPr lang="en-US" sz="1600" spc="150" dirty="0">
                <a:solidFill>
                  <a:schemeClr val="tx1"/>
                </a:solidFill>
              </a:rPr>
              <a:t>Bande </a:t>
            </a:r>
            <a:r>
              <a:rPr lang="en-US" sz="1600" spc="150" dirty="0" err="1">
                <a:solidFill>
                  <a:schemeClr val="tx1"/>
                </a:solidFill>
              </a:rPr>
              <a:t>passante</a:t>
            </a:r>
            <a:r>
              <a:rPr lang="en-US" sz="1600" spc="150" dirty="0">
                <a:solidFill>
                  <a:schemeClr val="tx1"/>
                </a:solidFill>
              </a:rPr>
              <a:t> (</a:t>
            </a:r>
            <a:r>
              <a:rPr lang="en-US" sz="1600" spc="150" dirty="0" err="1">
                <a:solidFill>
                  <a:schemeClr val="tx1"/>
                </a:solidFill>
              </a:rPr>
              <a:t>en</a:t>
            </a:r>
            <a:r>
              <a:rPr lang="en-US" sz="1600" spc="150" dirty="0">
                <a:solidFill>
                  <a:schemeClr val="tx1"/>
                </a:solidFill>
              </a:rPr>
              <a:t> Mo/s)  =   </a:t>
            </a:r>
            <a:r>
              <a:rPr lang="en-US" sz="1600" spc="150" dirty="0" err="1">
                <a:solidFill>
                  <a:schemeClr val="tx1"/>
                </a:solidFill>
              </a:rPr>
              <a:t>largeur</a:t>
            </a:r>
            <a:r>
              <a:rPr lang="en-US" sz="1600" spc="150" dirty="0">
                <a:solidFill>
                  <a:schemeClr val="tx1"/>
                </a:solidFill>
              </a:rPr>
              <a:t> du bus (</a:t>
            </a:r>
            <a:r>
              <a:rPr lang="en-US" sz="1600" spc="150" dirty="0" err="1">
                <a:solidFill>
                  <a:schemeClr val="tx1"/>
                </a:solidFill>
              </a:rPr>
              <a:t>en</a:t>
            </a:r>
            <a:r>
              <a:rPr lang="en-US" sz="1600" spc="150" dirty="0">
                <a:solidFill>
                  <a:schemeClr val="tx1"/>
                </a:solidFill>
              </a:rPr>
              <a:t> octets)   x   </a:t>
            </a:r>
            <a:r>
              <a:rPr lang="en-US" sz="1600" spc="150" dirty="0" err="1">
                <a:solidFill>
                  <a:schemeClr val="tx1"/>
                </a:solidFill>
              </a:rPr>
              <a:t>fréquence</a:t>
            </a:r>
            <a:r>
              <a:rPr lang="en-US" sz="1600" spc="150" dirty="0">
                <a:solidFill>
                  <a:schemeClr val="tx1"/>
                </a:solidFill>
              </a:rPr>
              <a:t> (en Hz) </a:t>
            </a:r>
          </a:p>
          <a:p>
            <a:pPr marL="45720" indent="0" algn="just">
              <a:buNone/>
            </a:pPr>
            <a:endParaRPr lang="en-US" sz="1600" dirty="0">
              <a:solidFill>
                <a:schemeClr val="tx1"/>
              </a:solidFill>
              <a:latin typeface="Arial"/>
              <a:cs typeface="Arial"/>
            </a:endParaRPr>
          </a:p>
          <a:p>
            <a:pPr algn="just"/>
            <a:r>
              <a:rPr lang="en-US" sz="1600" dirty="0">
                <a:solidFill>
                  <a:schemeClr val="tx1"/>
                </a:solidFill>
              </a:rPr>
              <a:t>Il y a deux manières </a:t>
            </a:r>
            <a:r>
              <a:rPr lang="en-US" sz="1600" dirty="0" err="1">
                <a:solidFill>
                  <a:schemeClr val="tx1"/>
                </a:solidFill>
              </a:rPr>
              <a:t>d'accroître</a:t>
            </a:r>
            <a:r>
              <a:rPr lang="en-US" sz="1600" dirty="0">
                <a:solidFill>
                  <a:schemeClr val="tx1"/>
                </a:solidFill>
              </a:rPr>
              <a:t> </a:t>
            </a:r>
            <a:r>
              <a:rPr lang="en-US" sz="1600" dirty="0" err="1">
                <a:solidFill>
                  <a:schemeClr val="tx1"/>
                </a:solidFill>
              </a:rPr>
              <a:t>ce</a:t>
            </a:r>
            <a:r>
              <a:rPr lang="en-US" sz="1600" dirty="0">
                <a:solidFill>
                  <a:schemeClr val="tx1"/>
                </a:solidFill>
              </a:rPr>
              <a:t> </a:t>
            </a:r>
            <a:r>
              <a:rPr lang="en-US" sz="1600" dirty="0" err="1">
                <a:solidFill>
                  <a:schemeClr val="tx1"/>
                </a:solidFill>
              </a:rPr>
              <a:t>débit</a:t>
            </a:r>
            <a:r>
              <a:rPr lang="en-US" sz="1600" dirty="0">
                <a:solidFill>
                  <a:schemeClr val="tx1"/>
                </a:solidFill>
              </a:rPr>
              <a:t> : </a:t>
            </a:r>
            <a:r>
              <a:rPr lang="en-US" sz="1600" dirty="0" err="1">
                <a:solidFill>
                  <a:schemeClr val="tx1"/>
                </a:solidFill>
              </a:rPr>
              <a:t>élargir</a:t>
            </a:r>
            <a:r>
              <a:rPr lang="en-US" sz="1600" dirty="0">
                <a:solidFill>
                  <a:schemeClr val="tx1"/>
                </a:solidFill>
              </a:rPr>
              <a:t> la </a:t>
            </a:r>
            <a:r>
              <a:rPr lang="en-US" sz="1600" dirty="0" err="1">
                <a:solidFill>
                  <a:schemeClr val="tx1"/>
                </a:solidFill>
              </a:rPr>
              <a:t>voie</a:t>
            </a:r>
            <a:r>
              <a:rPr lang="en-US" sz="1600" dirty="0">
                <a:solidFill>
                  <a:schemeClr val="tx1"/>
                </a:solidFill>
              </a:rPr>
              <a:t> de circulation pour </a:t>
            </a:r>
            <a:r>
              <a:rPr lang="en-US" sz="1600" dirty="0" err="1">
                <a:solidFill>
                  <a:schemeClr val="tx1"/>
                </a:solidFill>
              </a:rPr>
              <a:t>permettre</a:t>
            </a:r>
            <a:r>
              <a:rPr lang="en-US" sz="1600" dirty="0">
                <a:solidFill>
                  <a:schemeClr val="tx1"/>
                </a:solidFill>
              </a:rPr>
              <a:t> le </a:t>
            </a:r>
            <a:r>
              <a:rPr lang="en-US" sz="1600" dirty="0" err="1">
                <a:solidFill>
                  <a:schemeClr val="tx1"/>
                </a:solidFill>
              </a:rPr>
              <a:t>déplacement</a:t>
            </a:r>
            <a:r>
              <a:rPr lang="en-US" sz="1600" dirty="0">
                <a:solidFill>
                  <a:schemeClr val="tx1"/>
                </a:solidFill>
              </a:rPr>
              <a:t> de plus de bits </a:t>
            </a:r>
            <a:r>
              <a:rPr lang="en-US" sz="1600" dirty="0" err="1">
                <a:solidFill>
                  <a:schemeClr val="tx1"/>
                </a:solidFill>
              </a:rPr>
              <a:t>en</a:t>
            </a:r>
            <a:r>
              <a:rPr lang="en-US" sz="1600" dirty="0">
                <a:solidFill>
                  <a:schemeClr val="tx1"/>
                </a:solidFill>
              </a:rPr>
              <a:t> </a:t>
            </a:r>
            <a:r>
              <a:rPr lang="en-US" sz="1600" dirty="0" err="1">
                <a:solidFill>
                  <a:schemeClr val="tx1"/>
                </a:solidFill>
              </a:rPr>
              <a:t>parallèle</a:t>
            </a:r>
            <a:r>
              <a:rPr lang="en-US" sz="1600" dirty="0">
                <a:solidFill>
                  <a:schemeClr val="tx1"/>
                </a:solidFill>
              </a:rPr>
              <a:t> </a:t>
            </a:r>
            <a:r>
              <a:rPr lang="en-US" sz="1600" dirty="0" err="1">
                <a:solidFill>
                  <a:schemeClr val="tx1"/>
                </a:solidFill>
              </a:rPr>
              <a:t>ou</a:t>
            </a:r>
            <a:r>
              <a:rPr lang="en-US" sz="1600" dirty="0">
                <a:solidFill>
                  <a:schemeClr val="tx1"/>
                </a:solidFill>
              </a:rPr>
              <a:t> </a:t>
            </a:r>
            <a:r>
              <a:rPr lang="en-US" sz="1600" dirty="0" err="1">
                <a:solidFill>
                  <a:schemeClr val="tx1"/>
                </a:solidFill>
              </a:rPr>
              <a:t>accélérer</a:t>
            </a:r>
            <a:r>
              <a:rPr lang="en-US" sz="1600" dirty="0">
                <a:solidFill>
                  <a:schemeClr val="tx1"/>
                </a:solidFill>
              </a:rPr>
              <a:t> la cadence des </a:t>
            </a:r>
            <a:r>
              <a:rPr lang="en-US" sz="1600" dirty="0" err="1">
                <a:solidFill>
                  <a:schemeClr val="tx1"/>
                </a:solidFill>
              </a:rPr>
              <a:t>échanges</a:t>
            </a:r>
            <a:r>
              <a:rPr lang="en-US" sz="1600" dirty="0">
                <a:solidFill>
                  <a:schemeClr val="tx1"/>
                </a:solidFill>
              </a:rPr>
              <a:t> ( la </a:t>
            </a:r>
            <a:r>
              <a:rPr lang="en-US" sz="1600" dirty="0" err="1">
                <a:solidFill>
                  <a:schemeClr val="tx1"/>
                </a:solidFill>
              </a:rPr>
              <a:t>fréquence</a:t>
            </a:r>
            <a:r>
              <a:rPr lang="en-US" sz="1600" dirty="0">
                <a:solidFill>
                  <a:schemeClr val="tx1"/>
                </a:solidFill>
              </a:rPr>
              <a:t>)</a:t>
            </a:r>
          </a:p>
          <a:p>
            <a:pPr algn="just"/>
            <a:endParaRPr lang="en-US" sz="1600" dirty="0">
              <a:solidFill>
                <a:srgbClr val="FF0000"/>
              </a:solidFill>
              <a:latin typeface="Arial"/>
              <a:cs typeface="Arial"/>
            </a:endParaRPr>
          </a:p>
          <a:p>
            <a:pPr algn="just"/>
            <a:endParaRPr lang="en-US" sz="1600" dirty="0">
              <a:solidFill>
                <a:srgbClr val="FF0000"/>
              </a:solidFill>
              <a:latin typeface="Arial"/>
              <a:cs typeface="Arial"/>
            </a:endParaRPr>
          </a:p>
          <a:p>
            <a:pPr algn="just"/>
            <a:endParaRPr lang="fr-FR" sz="1600" dirty="0">
              <a:latin typeface="Arial"/>
              <a:cs typeface="Arial"/>
            </a:endParaRPr>
          </a:p>
        </p:txBody>
      </p:sp>
      <p:sp>
        <p:nvSpPr>
          <p:cNvPr id="3" name="Title 2"/>
          <p:cNvSpPr>
            <a:spLocks noGrp="1"/>
          </p:cNvSpPr>
          <p:nvPr>
            <p:ph type="title"/>
          </p:nvPr>
        </p:nvSpPr>
        <p:spPr/>
        <p:txBody>
          <a:bodyPr/>
          <a:lstStyle/>
          <a:p>
            <a:r>
              <a:rPr lang="fr-MA" sz="2800" b="1" dirty="0">
                <a:latin typeface="Calibri"/>
                <a:cs typeface="Calibri"/>
              </a:rPr>
              <a:t>Caractéristiques Clés</a:t>
            </a:r>
            <a:endParaRPr lang="fr-FR" sz="2800" b="1" dirty="0">
              <a:latin typeface="Calibri"/>
              <a:cs typeface="Calibri"/>
            </a:endParaRPr>
          </a:p>
        </p:txBody>
      </p:sp>
    </p:spTree>
    <p:extLst>
      <p:ext uri="{BB962C8B-B14F-4D97-AF65-F5344CB8AC3E}">
        <p14:creationId xmlns:p14="http://schemas.microsoft.com/office/powerpoint/2010/main" val="2595482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935EE5A-8C68-2DE8-E1E8-94B9C69999BE}"/>
              </a:ext>
            </a:extLst>
          </p:cNvPr>
          <p:cNvSpPr>
            <a:spLocks noGrp="1"/>
          </p:cNvSpPr>
          <p:nvPr>
            <p:ph idx="1"/>
          </p:nvPr>
        </p:nvSpPr>
        <p:spPr/>
        <p:txBody>
          <a:bodyPr>
            <a:normAutofit lnSpcReduction="10000"/>
          </a:bodyPr>
          <a:lstStyle/>
          <a:p>
            <a:pPr marL="525780" indent="-342900"/>
            <a:r>
              <a:rPr lang="fr-MA" b="0" i="0" dirty="0">
                <a:solidFill>
                  <a:srgbClr val="0D0D0D"/>
                </a:solidFill>
                <a:effectLst/>
                <a:latin typeface="ui-sans-serif"/>
              </a:rPr>
              <a:t>Les processeurs et mémoires évoluent constamment et plus rapidement que les circuits d’entrées/sorties.</a:t>
            </a:r>
          </a:p>
          <a:p>
            <a:pPr marL="525780" indent="-342900"/>
            <a:endParaRPr lang="fr-MA" b="0" i="0" dirty="0">
              <a:solidFill>
                <a:srgbClr val="0D0D0D"/>
              </a:solidFill>
              <a:effectLst/>
              <a:latin typeface="ui-sans-serif"/>
            </a:endParaRPr>
          </a:p>
          <a:p>
            <a:pPr marL="525780" indent="-342900"/>
            <a:r>
              <a:rPr lang="fr-MA" b="0" i="0" dirty="0">
                <a:solidFill>
                  <a:srgbClr val="0D0D0D"/>
                </a:solidFill>
                <a:effectLst/>
                <a:latin typeface="ui-sans-serif"/>
              </a:rPr>
              <a:t>Les unités d’E/S sont longtemps restées limitées à 8 MHz.</a:t>
            </a:r>
          </a:p>
          <a:p>
            <a:pPr marL="525780" indent="-342900"/>
            <a:endParaRPr lang="fr-MA" b="0" i="0" dirty="0">
              <a:solidFill>
                <a:srgbClr val="0D0D0D"/>
              </a:solidFill>
              <a:effectLst/>
              <a:latin typeface="ui-sans-serif"/>
            </a:endParaRPr>
          </a:p>
          <a:p>
            <a:pPr marL="525780" indent="-342900"/>
            <a:r>
              <a:rPr lang="fr-MA" b="0" i="0" dirty="0">
                <a:solidFill>
                  <a:srgbClr val="00B050"/>
                </a:solidFill>
                <a:effectLst/>
                <a:latin typeface="ui-sans-serif"/>
              </a:rPr>
              <a:t>Les architectures des bus  ont été repensées pour accélérer l’accès aux mémoires tout en maintenant la compatibilité avec les périphériques plus lents: </a:t>
            </a:r>
            <a:r>
              <a:rPr lang="en-US" sz="2000" b="1" dirty="0" err="1">
                <a:latin typeface="Calibri"/>
                <a:cs typeface="Calibri"/>
              </a:rPr>
              <a:t>L'architecture</a:t>
            </a:r>
            <a:r>
              <a:rPr lang="en-US" sz="2000" b="1" dirty="0">
                <a:latin typeface="Calibri"/>
                <a:cs typeface="Calibri"/>
              </a:rPr>
              <a:t> multi-bus</a:t>
            </a:r>
          </a:p>
          <a:p>
            <a:pPr marL="525780" indent="-342900"/>
            <a:endParaRPr lang="en-US" sz="2000" b="1" dirty="0">
              <a:latin typeface="Calibri"/>
              <a:cs typeface="Calibri"/>
            </a:endParaRPr>
          </a:p>
          <a:p>
            <a:pPr marL="525780" indent="-342900"/>
            <a:r>
              <a:rPr lang="fr-MA" b="1" i="0" dirty="0">
                <a:solidFill>
                  <a:srgbClr val="0D0D0D"/>
                </a:solidFill>
                <a:effectLst/>
                <a:latin typeface="ui-sans-serif"/>
              </a:rPr>
              <a:t>Bus système :</a:t>
            </a:r>
            <a:endParaRPr lang="fr-MA" b="0" i="0" dirty="0">
              <a:solidFill>
                <a:srgbClr val="0D0D0D"/>
              </a:solidFill>
              <a:effectLst/>
              <a:latin typeface="ui-sans-serif"/>
            </a:endParaRPr>
          </a:p>
          <a:p>
            <a:pPr marL="742950" lvl="1" indent="-285750" algn="l">
              <a:buFont typeface="Arial" panose="020B0604020202020204" pitchFamily="34" charset="0"/>
              <a:buChar char="•"/>
            </a:pPr>
            <a:r>
              <a:rPr lang="fr-MA" b="0" i="0" dirty="0">
                <a:solidFill>
                  <a:srgbClr val="0D0D0D"/>
                </a:solidFill>
                <a:effectLst/>
                <a:latin typeface="ui-sans-serif"/>
              </a:rPr>
              <a:t>Fonctionne à la vitesse du processeur, adaptée aux mémoires.</a:t>
            </a:r>
          </a:p>
          <a:p>
            <a:pPr marL="742950" lvl="1" indent="-285750" algn="l">
              <a:buFont typeface="Arial" panose="020B0604020202020204" pitchFamily="34" charset="0"/>
              <a:buChar char="•"/>
            </a:pPr>
            <a:r>
              <a:rPr lang="fr-MA" dirty="0">
                <a:solidFill>
                  <a:srgbClr val="0D0D0D"/>
                </a:solidFill>
                <a:latin typeface="ui-sans-serif"/>
              </a:rPr>
              <a:t>Ajout d’u</a:t>
            </a:r>
            <a:r>
              <a:rPr lang="fr-MA" b="0" i="0" dirty="0">
                <a:solidFill>
                  <a:srgbClr val="0D0D0D"/>
                </a:solidFill>
                <a:effectLst/>
                <a:latin typeface="ui-sans-serif"/>
              </a:rPr>
              <a:t>n </a:t>
            </a:r>
            <a:r>
              <a:rPr lang="fr-MA" b="1" i="0" dirty="0">
                <a:solidFill>
                  <a:srgbClr val="0D0D0D"/>
                </a:solidFill>
                <a:effectLst/>
                <a:latin typeface="ui-sans-serif"/>
              </a:rPr>
              <a:t>pont (bridge)</a:t>
            </a:r>
            <a:r>
              <a:rPr lang="fr-MA" b="0" i="0" dirty="0">
                <a:solidFill>
                  <a:srgbClr val="0D0D0D"/>
                </a:solidFill>
                <a:effectLst/>
                <a:latin typeface="ui-sans-serif"/>
              </a:rPr>
              <a:t> pour temporiser les signaux pour les périphériques plus lents sur un bus plus étroit.</a:t>
            </a:r>
          </a:p>
          <a:p>
            <a:pPr marL="525780" indent="-342900"/>
            <a:endParaRPr lang="fr-MA" b="0" i="0" dirty="0">
              <a:solidFill>
                <a:srgbClr val="FF0000"/>
              </a:solidFill>
              <a:effectLst/>
              <a:latin typeface="ui-sans-serif"/>
            </a:endParaRPr>
          </a:p>
          <a:p>
            <a:endParaRPr lang="fr-FR" dirty="0"/>
          </a:p>
        </p:txBody>
      </p:sp>
      <p:sp>
        <p:nvSpPr>
          <p:cNvPr id="3" name="Titre 2">
            <a:extLst>
              <a:ext uri="{FF2B5EF4-FFF2-40B4-BE49-F238E27FC236}">
                <a16:creationId xmlns:a16="http://schemas.microsoft.com/office/drawing/2014/main" id="{DF2BB215-5A57-0C5B-3EE9-6C06E51C81BF}"/>
              </a:ext>
            </a:extLst>
          </p:cNvPr>
          <p:cNvSpPr>
            <a:spLocks noGrp="1"/>
          </p:cNvSpPr>
          <p:nvPr>
            <p:ph type="title"/>
          </p:nvPr>
        </p:nvSpPr>
        <p:spPr/>
        <p:txBody>
          <a:bodyPr/>
          <a:lstStyle/>
          <a:p>
            <a:r>
              <a:rPr lang="en-US" sz="3200" b="1" dirty="0" err="1">
                <a:latin typeface="Calibri"/>
                <a:cs typeface="Calibri"/>
              </a:rPr>
              <a:t>L'architecture</a:t>
            </a:r>
            <a:r>
              <a:rPr lang="en-US" sz="3200" b="1" dirty="0">
                <a:latin typeface="Calibri"/>
                <a:cs typeface="Calibri"/>
              </a:rPr>
              <a:t> multi-bus</a:t>
            </a:r>
            <a:br>
              <a:rPr lang="en-US" sz="3200" b="1" dirty="0">
                <a:latin typeface="Calibri"/>
                <a:cs typeface="Calibri"/>
              </a:rPr>
            </a:br>
            <a:endParaRPr lang="fr-FR" dirty="0"/>
          </a:p>
        </p:txBody>
      </p:sp>
      <p:pic>
        <p:nvPicPr>
          <p:cNvPr id="5" name="Image 4">
            <a:extLst>
              <a:ext uri="{FF2B5EF4-FFF2-40B4-BE49-F238E27FC236}">
                <a16:creationId xmlns:a16="http://schemas.microsoft.com/office/drawing/2014/main" id="{24496E96-0477-33B6-8B35-73C4E9CB588A}"/>
              </a:ext>
            </a:extLst>
          </p:cNvPr>
          <p:cNvPicPr>
            <a:picLocks noChangeAspect="1"/>
          </p:cNvPicPr>
          <p:nvPr/>
        </p:nvPicPr>
        <p:blipFill>
          <a:blip r:embed="rId2"/>
          <a:stretch>
            <a:fillRect/>
          </a:stretch>
        </p:blipFill>
        <p:spPr>
          <a:xfrm>
            <a:off x="5683198" y="2501653"/>
            <a:ext cx="3124200" cy="4000500"/>
          </a:xfrm>
          <a:prstGeom prst="rect">
            <a:avLst/>
          </a:prstGeom>
        </p:spPr>
      </p:pic>
    </p:spTree>
    <p:extLst>
      <p:ext uri="{BB962C8B-B14F-4D97-AF65-F5344CB8AC3E}">
        <p14:creationId xmlns:p14="http://schemas.microsoft.com/office/powerpoint/2010/main" val="319288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93B5F3C-ED38-ABA2-8D09-393FAF500DE8}"/>
              </a:ext>
            </a:extLst>
          </p:cNvPr>
          <p:cNvSpPr>
            <a:spLocks noGrp="1"/>
          </p:cNvSpPr>
          <p:nvPr>
            <p:ph idx="1"/>
          </p:nvPr>
        </p:nvSpPr>
        <p:spPr/>
        <p:txBody>
          <a:bodyPr>
            <a:normAutofit fontScale="85000" lnSpcReduction="10000"/>
          </a:bodyPr>
          <a:lstStyle/>
          <a:p>
            <a:pPr marL="45720" indent="0">
              <a:buNone/>
            </a:pPr>
            <a:r>
              <a:rPr lang="fr-MA" b="1" i="0" dirty="0">
                <a:solidFill>
                  <a:srgbClr val="0D0D0D"/>
                </a:solidFill>
                <a:effectLst/>
                <a:latin typeface="ui-sans-serif"/>
              </a:rPr>
              <a:t>La vitesse des processeurs progresse plus rapidement que celle des mémoires et des E/S.</a:t>
            </a:r>
          </a:p>
          <a:p>
            <a:endParaRPr lang="fr-MA" b="1" i="0" dirty="0">
              <a:solidFill>
                <a:srgbClr val="0D0D0D"/>
              </a:solidFill>
              <a:effectLst/>
              <a:latin typeface="ui-sans-serif"/>
            </a:endParaRPr>
          </a:p>
          <a:p>
            <a:r>
              <a:rPr lang="fr-MA" b="1" i="0" dirty="0">
                <a:solidFill>
                  <a:srgbClr val="0D0D0D"/>
                </a:solidFill>
                <a:effectLst/>
                <a:latin typeface="ui-sans-serif"/>
              </a:rPr>
              <a:t>Évolution des processeurs :</a:t>
            </a:r>
            <a:endParaRPr lang="fr-MA" b="0" i="0" dirty="0">
              <a:solidFill>
                <a:srgbClr val="0D0D0D"/>
              </a:solidFill>
              <a:effectLst/>
              <a:latin typeface="ui-sans-serif"/>
            </a:endParaRPr>
          </a:p>
          <a:p>
            <a:pPr marL="457200" lvl="1" indent="0" algn="l">
              <a:buNone/>
            </a:pPr>
            <a:r>
              <a:rPr lang="fr-MA" b="0" i="0" dirty="0">
                <a:solidFill>
                  <a:srgbClr val="0D0D0D"/>
                </a:solidFill>
                <a:effectLst/>
                <a:latin typeface="ui-sans-serif"/>
              </a:rPr>
              <a:t>La fréquence interne doublée grâce à un </a:t>
            </a:r>
            <a:r>
              <a:rPr lang="fr-MA" b="1" i="0" dirty="0">
                <a:solidFill>
                  <a:srgbClr val="0D0D0D"/>
                </a:solidFill>
                <a:effectLst/>
                <a:latin typeface="ui-sans-serif"/>
              </a:rPr>
              <a:t>doubleur de fréquence</a:t>
            </a:r>
            <a:r>
              <a:rPr lang="fr-MA" dirty="0">
                <a:solidFill>
                  <a:srgbClr val="0D0D0D"/>
                </a:solidFill>
                <a:latin typeface="ui-sans-serif"/>
              </a:rPr>
              <a:t> (sans changement complet de l’architecture)</a:t>
            </a:r>
            <a:r>
              <a:rPr lang="fr-MA" b="0" i="0" dirty="0">
                <a:solidFill>
                  <a:srgbClr val="0D0D0D"/>
                </a:solidFill>
                <a:effectLst/>
                <a:latin typeface="ui-sans-serif"/>
              </a:rPr>
              <a:t> </a:t>
            </a:r>
          </a:p>
          <a:p>
            <a:pPr marL="457200" lvl="1" indent="0" algn="l">
              <a:buNone/>
            </a:pPr>
            <a:r>
              <a:rPr lang="fr-MA" b="0" i="0" dirty="0">
                <a:solidFill>
                  <a:schemeClr val="tx1"/>
                </a:solidFill>
                <a:effectLst/>
                <a:highlight>
                  <a:srgbClr val="FF0000"/>
                </a:highlight>
                <a:latin typeface="ui-sans-serif"/>
              </a:rPr>
              <a:t>Cache interne indispensable </a:t>
            </a:r>
            <a:r>
              <a:rPr lang="fr-MA" b="0" i="0" dirty="0">
                <a:solidFill>
                  <a:srgbClr val="0D0D0D"/>
                </a:solidFill>
                <a:effectLst/>
                <a:latin typeface="ui-sans-serif"/>
              </a:rPr>
              <a:t>pour suivre la cadence des processeurs.</a:t>
            </a:r>
          </a:p>
          <a:p>
            <a:pPr marL="457200" lvl="1" indent="0" algn="l">
              <a:buNone/>
            </a:pPr>
            <a:endParaRPr lang="fr-MA" b="0" i="0" dirty="0">
              <a:solidFill>
                <a:srgbClr val="0D0D0D"/>
              </a:solidFill>
              <a:effectLst/>
              <a:latin typeface="ui-sans-serif"/>
            </a:endParaRPr>
          </a:p>
          <a:p>
            <a:r>
              <a:rPr lang="fr-MA" b="1" i="0" dirty="0">
                <a:solidFill>
                  <a:srgbClr val="0D0D0D"/>
                </a:solidFill>
                <a:effectLst/>
                <a:latin typeface="ui-sans-serif"/>
              </a:rPr>
              <a:t>Hiérarchie des bus :</a:t>
            </a:r>
            <a:endParaRPr lang="fr-MA" b="0" i="0" dirty="0">
              <a:solidFill>
                <a:srgbClr val="0D0D0D"/>
              </a:solidFill>
              <a:effectLst/>
              <a:latin typeface="ui-sans-serif"/>
            </a:endParaRPr>
          </a:p>
          <a:p>
            <a:pPr marL="742950" lvl="1" indent="-285750" algn="l">
              <a:buFont typeface="Arial" panose="020B0604020202020204" pitchFamily="34" charset="0"/>
              <a:buChar char="•"/>
            </a:pPr>
            <a:r>
              <a:rPr lang="fr-MA" b="1" i="0" dirty="0">
                <a:solidFill>
                  <a:srgbClr val="0D0D0D"/>
                </a:solidFill>
                <a:effectLst/>
                <a:latin typeface="ui-sans-serif"/>
              </a:rPr>
              <a:t>Back </a:t>
            </a:r>
            <a:r>
              <a:rPr lang="fr-MA" b="1" i="0" dirty="0" err="1">
                <a:solidFill>
                  <a:srgbClr val="0D0D0D"/>
                </a:solidFill>
                <a:effectLst/>
                <a:latin typeface="ui-sans-serif"/>
              </a:rPr>
              <a:t>Side</a:t>
            </a:r>
            <a:r>
              <a:rPr lang="fr-MA" b="1" i="0" dirty="0">
                <a:solidFill>
                  <a:srgbClr val="0D0D0D"/>
                </a:solidFill>
                <a:effectLst/>
                <a:latin typeface="ui-sans-serif"/>
              </a:rPr>
              <a:t> Bus (BSB)</a:t>
            </a:r>
            <a:r>
              <a:rPr lang="fr-MA" b="0" i="0" dirty="0">
                <a:solidFill>
                  <a:srgbClr val="0D0D0D"/>
                </a:solidFill>
                <a:effectLst/>
                <a:latin typeface="ui-sans-serif"/>
              </a:rPr>
              <a:t> : relie le CPU au cache externe, </a:t>
            </a:r>
            <a:r>
              <a:rPr lang="fr-MA" b="0" i="0" dirty="0">
                <a:solidFill>
                  <a:srgbClr val="0D0D0D"/>
                </a:solidFill>
                <a:effectLst/>
                <a:highlight>
                  <a:srgbClr val="FF0000"/>
                </a:highlight>
                <a:latin typeface="ui-sans-serif"/>
              </a:rPr>
              <a:t>plus rapide.</a:t>
            </a:r>
          </a:p>
          <a:p>
            <a:pPr marL="742950" lvl="1" indent="-285750" algn="l">
              <a:buFont typeface="Arial" panose="020B0604020202020204" pitchFamily="34" charset="0"/>
              <a:buChar char="•"/>
            </a:pPr>
            <a:r>
              <a:rPr lang="fr-MA" b="1" i="0" dirty="0">
                <a:solidFill>
                  <a:srgbClr val="0D0D0D"/>
                </a:solidFill>
                <a:effectLst/>
                <a:latin typeface="ui-sans-serif"/>
              </a:rPr>
              <a:t>Front </a:t>
            </a:r>
            <a:r>
              <a:rPr lang="fr-MA" b="1" i="0" dirty="0" err="1">
                <a:solidFill>
                  <a:srgbClr val="0D0D0D"/>
                </a:solidFill>
                <a:effectLst/>
                <a:latin typeface="ui-sans-serif"/>
              </a:rPr>
              <a:t>Side</a:t>
            </a:r>
            <a:r>
              <a:rPr lang="fr-MA" b="1" i="0" dirty="0">
                <a:solidFill>
                  <a:srgbClr val="0D0D0D"/>
                </a:solidFill>
                <a:effectLst/>
                <a:latin typeface="ui-sans-serif"/>
              </a:rPr>
              <a:t> Bus (FSB)</a:t>
            </a:r>
            <a:r>
              <a:rPr lang="fr-MA" b="0" i="0" dirty="0">
                <a:solidFill>
                  <a:srgbClr val="0D0D0D"/>
                </a:solidFill>
                <a:effectLst/>
                <a:latin typeface="ui-sans-serif"/>
              </a:rPr>
              <a:t> : relie le processeur à la RAM dynamique.</a:t>
            </a:r>
          </a:p>
          <a:p>
            <a:pPr marL="742950" lvl="1" indent="-285750" algn="l">
              <a:buFont typeface="Arial" panose="020B0604020202020204" pitchFamily="34" charset="0"/>
              <a:buChar char="•"/>
            </a:pPr>
            <a:endParaRPr lang="fr-MA" b="0" i="0" dirty="0">
              <a:solidFill>
                <a:srgbClr val="0D0D0D"/>
              </a:solidFill>
              <a:effectLst/>
              <a:latin typeface="ui-sans-serif"/>
            </a:endParaRPr>
          </a:p>
          <a:p>
            <a:pPr marL="468630" indent="-285750">
              <a:buFont typeface="Arial" panose="020B0604020202020204" pitchFamily="34" charset="0"/>
              <a:buChar char="•"/>
            </a:pPr>
            <a:endParaRPr lang="fr-MA" b="0" i="0" dirty="0">
              <a:solidFill>
                <a:srgbClr val="0D0D0D"/>
              </a:solidFill>
              <a:effectLst/>
              <a:latin typeface="ui-sans-serif"/>
            </a:endParaRPr>
          </a:p>
          <a:p>
            <a:pPr algn="just"/>
            <a:r>
              <a:rPr lang="en-US" dirty="0" err="1"/>
              <a:t>Ces</a:t>
            </a:r>
            <a:r>
              <a:rPr lang="en-US" dirty="0"/>
              <a:t> differences de </a:t>
            </a:r>
            <a:r>
              <a:rPr lang="en-US" dirty="0" err="1"/>
              <a:t>fréquence</a:t>
            </a:r>
            <a:r>
              <a:rPr lang="en-US" dirty="0"/>
              <a:t> </a:t>
            </a:r>
            <a:r>
              <a:rPr lang="en-US" dirty="0" err="1"/>
              <a:t>nécessite</a:t>
            </a:r>
            <a:r>
              <a:rPr lang="en-US" dirty="0"/>
              <a:t> des </a:t>
            </a:r>
            <a:r>
              <a:rPr lang="en-US" dirty="0" err="1"/>
              <a:t>ponts</a:t>
            </a:r>
            <a:r>
              <a:rPr lang="en-US" dirty="0"/>
              <a:t> (Bridge) pour </a:t>
            </a:r>
            <a:r>
              <a:rPr lang="en-US" dirty="0" err="1"/>
              <a:t>temporiser</a:t>
            </a:r>
            <a:r>
              <a:rPr lang="en-US" dirty="0"/>
              <a:t> les </a:t>
            </a:r>
            <a:r>
              <a:rPr lang="en-US" dirty="0" err="1"/>
              <a:t>signaux</a:t>
            </a:r>
            <a:r>
              <a:rPr lang="en-US" dirty="0"/>
              <a:t>  et </a:t>
            </a:r>
            <a:r>
              <a:rPr lang="en-US" dirty="0" err="1"/>
              <a:t>en</a:t>
            </a:r>
            <a:r>
              <a:rPr lang="en-US" dirty="0"/>
              <a:t> adapter la cadence aux </a:t>
            </a:r>
            <a:r>
              <a:rPr lang="en-US" dirty="0" err="1"/>
              <a:t>périphériques</a:t>
            </a:r>
            <a:r>
              <a:rPr lang="en-US" dirty="0"/>
              <a:t> plus </a:t>
            </a:r>
            <a:r>
              <a:rPr lang="en-US" dirty="0" err="1"/>
              <a:t>lents</a:t>
            </a:r>
            <a:r>
              <a:rPr lang="en-US" dirty="0"/>
              <a:t>.</a:t>
            </a:r>
            <a:br>
              <a:rPr lang="en-US" sz="2000" b="1" dirty="0">
                <a:latin typeface="Calibri"/>
                <a:cs typeface="Calibri"/>
              </a:rPr>
            </a:br>
            <a:endParaRPr lang="fr-FR" dirty="0"/>
          </a:p>
        </p:txBody>
      </p:sp>
      <p:sp>
        <p:nvSpPr>
          <p:cNvPr id="3" name="Titre 2">
            <a:extLst>
              <a:ext uri="{FF2B5EF4-FFF2-40B4-BE49-F238E27FC236}">
                <a16:creationId xmlns:a16="http://schemas.microsoft.com/office/drawing/2014/main" id="{B494F3AD-B5FF-1F8B-FB25-759FCFBD28CC}"/>
              </a:ext>
            </a:extLst>
          </p:cNvPr>
          <p:cNvSpPr>
            <a:spLocks noGrp="1"/>
          </p:cNvSpPr>
          <p:nvPr>
            <p:ph type="title"/>
          </p:nvPr>
        </p:nvSpPr>
        <p:spPr/>
        <p:txBody>
          <a:bodyPr/>
          <a:lstStyle/>
          <a:p>
            <a:r>
              <a:rPr lang="en-US" sz="3200" b="1" dirty="0" err="1">
                <a:latin typeface="Calibri"/>
                <a:cs typeface="Calibri"/>
              </a:rPr>
              <a:t>L'architecture</a:t>
            </a:r>
            <a:r>
              <a:rPr lang="en-US" sz="3200" b="1" dirty="0">
                <a:latin typeface="Calibri"/>
                <a:cs typeface="Calibri"/>
              </a:rPr>
              <a:t> multi-bus</a:t>
            </a:r>
            <a:br>
              <a:rPr lang="en-US" sz="3200" b="1" dirty="0">
                <a:latin typeface="Calibri"/>
                <a:cs typeface="Calibri"/>
              </a:rPr>
            </a:br>
            <a:endParaRPr lang="fr-FR" dirty="0"/>
          </a:p>
        </p:txBody>
      </p:sp>
    </p:spTree>
    <p:extLst>
      <p:ext uri="{BB962C8B-B14F-4D97-AF65-F5344CB8AC3E}">
        <p14:creationId xmlns:p14="http://schemas.microsoft.com/office/powerpoint/2010/main" val="3649029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583D776-00AD-996B-B1E4-C4FD42624AF3}"/>
              </a:ext>
            </a:extLst>
          </p:cNvPr>
          <p:cNvSpPr>
            <a:spLocks noGrp="1"/>
          </p:cNvSpPr>
          <p:nvPr>
            <p:ph idx="1"/>
          </p:nvPr>
        </p:nvSpPr>
        <p:spPr/>
        <p:txBody>
          <a:bodyPr>
            <a:normAutofit fontScale="92500" lnSpcReduction="20000"/>
          </a:bodyPr>
          <a:lstStyle/>
          <a:p>
            <a:pPr marL="45720" indent="0" algn="just">
              <a:buNone/>
            </a:pPr>
            <a:r>
              <a:rPr lang="fr-MA" b="1" i="0" dirty="0">
                <a:solidFill>
                  <a:srgbClr val="0D0D0D"/>
                </a:solidFill>
                <a:effectLst/>
                <a:latin typeface="ui-sans-serif"/>
              </a:rPr>
              <a:t>Premières générations :</a:t>
            </a:r>
            <a:endParaRPr lang="fr-MA" b="0" i="0" dirty="0">
              <a:solidFill>
                <a:srgbClr val="0D0D0D"/>
              </a:solidFill>
              <a:effectLst/>
              <a:latin typeface="ui-sans-serif"/>
            </a:endParaRPr>
          </a:p>
          <a:p>
            <a:pPr marL="457200" lvl="1" indent="0" algn="just">
              <a:buNone/>
            </a:pPr>
            <a:r>
              <a:rPr lang="fr-MA" b="0" i="0" dirty="0">
                <a:solidFill>
                  <a:srgbClr val="0D0D0D"/>
                </a:solidFill>
                <a:effectLst/>
                <a:latin typeface="ui-sans-serif"/>
              </a:rPr>
              <a:t>Bus unique pour le CPU, la mémoire, et les périphériques.</a:t>
            </a:r>
          </a:p>
          <a:p>
            <a:pPr marL="457200" lvl="1" indent="0" algn="just">
              <a:buNone/>
            </a:pPr>
            <a:r>
              <a:rPr lang="fr-MA" b="0" i="0" dirty="0">
                <a:solidFill>
                  <a:srgbClr val="0D0D0D"/>
                </a:solidFill>
                <a:effectLst/>
                <a:latin typeface="ui-sans-serif"/>
              </a:rPr>
              <a:t>Vitesse limitée par les E/S les plus lentes (8 MHz).</a:t>
            </a:r>
          </a:p>
          <a:p>
            <a:pPr marL="45720" indent="0" algn="just">
              <a:buNone/>
            </a:pPr>
            <a:r>
              <a:rPr lang="fr-MA" b="1" i="0" dirty="0">
                <a:solidFill>
                  <a:srgbClr val="0D0D0D"/>
                </a:solidFill>
                <a:effectLst/>
                <a:latin typeface="ui-sans-serif"/>
              </a:rPr>
              <a:t>Introduction des ponts (bridges) :</a:t>
            </a:r>
            <a:endParaRPr lang="fr-MA" b="0" i="0" dirty="0">
              <a:solidFill>
                <a:srgbClr val="0D0D0D"/>
              </a:solidFill>
              <a:effectLst/>
              <a:latin typeface="ui-sans-serif"/>
            </a:endParaRPr>
          </a:p>
          <a:p>
            <a:pPr marL="457200" lvl="1" indent="0" algn="just">
              <a:buNone/>
            </a:pPr>
            <a:r>
              <a:rPr lang="fr-MA" b="1" i="0" dirty="0">
                <a:solidFill>
                  <a:srgbClr val="0D0D0D"/>
                </a:solidFill>
                <a:effectLst/>
                <a:latin typeface="ui-sans-serif"/>
              </a:rPr>
              <a:t>Northbridge</a:t>
            </a:r>
            <a:r>
              <a:rPr lang="fr-MA" b="0" i="0" dirty="0">
                <a:solidFill>
                  <a:srgbClr val="0D0D0D"/>
                </a:solidFill>
                <a:effectLst/>
                <a:latin typeface="ui-sans-serif"/>
              </a:rPr>
              <a:t> : gestion CPU, RAM, et GPU (processor calcul graphique) rapide.</a:t>
            </a:r>
          </a:p>
          <a:p>
            <a:pPr marL="457200" lvl="1" indent="0" algn="just">
              <a:buNone/>
            </a:pPr>
            <a:r>
              <a:rPr lang="fr-MA" b="1" i="0" dirty="0">
                <a:solidFill>
                  <a:srgbClr val="0D0D0D"/>
                </a:solidFill>
                <a:effectLst/>
                <a:latin typeface="ui-sans-serif"/>
              </a:rPr>
              <a:t>Southbridge</a:t>
            </a:r>
            <a:r>
              <a:rPr lang="fr-MA" b="0" i="0" dirty="0">
                <a:solidFill>
                  <a:srgbClr val="0D0D0D"/>
                </a:solidFill>
                <a:effectLst/>
                <a:latin typeface="ui-sans-serif"/>
              </a:rPr>
              <a:t> : gestion des E/S et périphériques lents.</a:t>
            </a:r>
          </a:p>
          <a:p>
            <a:pPr marL="45720" indent="0" algn="just">
              <a:buNone/>
            </a:pPr>
            <a:r>
              <a:rPr lang="fr-MA" b="1" i="0" dirty="0">
                <a:solidFill>
                  <a:srgbClr val="0D0D0D"/>
                </a:solidFill>
                <a:effectLst/>
                <a:latin typeface="ui-sans-serif"/>
              </a:rPr>
              <a:t>Doubleur de fréquence et caches :</a:t>
            </a:r>
            <a:endParaRPr lang="fr-MA" b="0" i="0" dirty="0">
              <a:solidFill>
                <a:srgbClr val="0D0D0D"/>
              </a:solidFill>
              <a:effectLst/>
              <a:latin typeface="ui-sans-serif"/>
            </a:endParaRPr>
          </a:p>
          <a:p>
            <a:pPr marL="457200" lvl="1" indent="0" algn="just">
              <a:buNone/>
            </a:pPr>
            <a:r>
              <a:rPr lang="fr-MA" b="0" i="0" dirty="0">
                <a:solidFill>
                  <a:srgbClr val="0D0D0D"/>
                </a:solidFill>
                <a:effectLst/>
                <a:latin typeface="ui-sans-serif"/>
              </a:rPr>
              <a:t>Processeurs comme le 486DX2 introduisent des fréquences internes supérieures au bus système.</a:t>
            </a:r>
          </a:p>
          <a:p>
            <a:pPr marL="457200" lvl="1" indent="0" algn="just">
              <a:buNone/>
            </a:pPr>
            <a:r>
              <a:rPr lang="fr-MA" b="0" i="0" dirty="0">
                <a:solidFill>
                  <a:srgbClr val="0D0D0D"/>
                </a:solidFill>
                <a:effectLst/>
                <a:highlight>
                  <a:srgbClr val="FF0000"/>
                </a:highlight>
                <a:latin typeface="ui-sans-serif"/>
              </a:rPr>
              <a:t>Obligation</a:t>
            </a:r>
            <a:r>
              <a:rPr lang="fr-MA" b="0" i="0" dirty="0">
                <a:solidFill>
                  <a:srgbClr val="0D0D0D"/>
                </a:solidFill>
                <a:effectLst/>
                <a:latin typeface="ui-sans-serif"/>
              </a:rPr>
              <a:t> Cache interne et externe (via BSB) pour compenser les écarts de vitesse.</a:t>
            </a:r>
          </a:p>
          <a:p>
            <a:pPr marL="45720" indent="0" algn="just">
              <a:buNone/>
            </a:pPr>
            <a:r>
              <a:rPr lang="fr-MA" b="1" i="0" dirty="0">
                <a:solidFill>
                  <a:srgbClr val="0D0D0D"/>
                </a:solidFill>
                <a:effectLst/>
                <a:latin typeface="ui-sans-serif"/>
              </a:rPr>
              <a:t>Architecture moderne :</a:t>
            </a:r>
            <a:endParaRPr lang="fr-MA" b="0" i="0" dirty="0">
              <a:solidFill>
                <a:srgbClr val="0D0D0D"/>
              </a:solidFill>
              <a:effectLst/>
              <a:latin typeface="ui-sans-serif"/>
            </a:endParaRPr>
          </a:p>
          <a:p>
            <a:pPr marL="457200" lvl="1" indent="0" algn="just">
              <a:buNone/>
            </a:pPr>
            <a:r>
              <a:rPr lang="fr-MA" b="1" i="0" dirty="0">
                <a:solidFill>
                  <a:srgbClr val="0D0D0D"/>
                </a:solidFill>
                <a:effectLst/>
                <a:latin typeface="ui-sans-serif"/>
              </a:rPr>
              <a:t>Intégration dans le CPU</a:t>
            </a:r>
            <a:r>
              <a:rPr lang="fr-MA" b="0" i="0" dirty="0">
                <a:solidFill>
                  <a:srgbClr val="0D0D0D"/>
                </a:solidFill>
                <a:effectLst/>
                <a:latin typeface="ui-sans-serif"/>
              </a:rPr>
              <a:t> : </a:t>
            </a:r>
            <a:r>
              <a:rPr lang="fr-MA" b="0" i="0" dirty="0">
                <a:solidFill>
                  <a:srgbClr val="0D0D0D"/>
                </a:solidFill>
                <a:effectLst/>
                <a:highlight>
                  <a:srgbClr val="FF0000"/>
                </a:highlight>
                <a:latin typeface="ui-sans-serif"/>
              </a:rPr>
              <a:t>Contrôleurs mémoire et GPU intégrés.</a:t>
            </a:r>
          </a:p>
          <a:p>
            <a:pPr marL="457200" lvl="1" indent="0" algn="just">
              <a:buNone/>
            </a:pPr>
            <a:r>
              <a:rPr lang="fr-MA" b="1" i="0" dirty="0">
                <a:solidFill>
                  <a:srgbClr val="0D0D0D"/>
                </a:solidFill>
                <a:effectLst/>
                <a:latin typeface="ui-sans-serif"/>
              </a:rPr>
              <a:t>Chipset unique</a:t>
            </a:r>
            <a:r>
              <a:rPr lang="fr-MA" b="0" i="0" dirty="0">
                <a:solidFill>
                  <a:srgbClr val="0D0D0D"/>
                </a:solidFill>
                <a:effectLst/>
                <a:latin typeface="ui-sans-serif"/>
              </a:rPr>
              <a:t> : Remplacement des Northbridge/Southbridge par des PCH (Platform Controller Hub).</a:t>
            </a:r>
          </a:p>
          <a:p>
            <a:pPr marL="457200" lvl="1" indent="0" algn="just">
              <a:buNone/>
            </a:pPr>
            <a:r>
              <a:rPr lang="fr-MA" b="0" i="0" dirty="0">
                <a:solidFill>
                  <a:srgbClr val="0D0D0D"/>
                </a:solidFill>
                <a:effectLst/>
                <a:latin typeface="ui-sans-serif"/>
              </a:rPr>
              <a:t>Optimisation des flux via des bus dédiés (</a:t>
            </a:r>
            <a:r>
              <a:rPr lang="fr-MA" b="0" i="0" dirty="0" err="1">
                <a:solidFill>
                  <a:srgbClr val="0D0D0D"/>
                </a:solidFill>
                <a:effectLst/>
                <a:latin typeface="ui-sans-serif"/>
              </a:rPr>
              <a:t>PCIe</a:t>
            </a:r>
            <a:r>
              <a:rPr lang="fr-MA" b="0" i="0" dirty="0">
                <a:solidFill>
                  <a:srgbClr val="0D0D0D"/>
                </a:solidFill>
                <a:effectLst/>
                <a:latin typeface="ui-sans-serif"/>
              </a:rPr>
              <a:t>, USB…).</a:t>
            </a:r>
          </a:p>
          <a:p>
            <a:endParaRPr lang="fr-FR" dirty="0"/>
          </a:p>
        </p:txBody>
      </p:sp>
      <p:sp>
        <p:nvSpPr>
          <p:cNvPr id="3" name="Titre 2">
            <a:extLst>
              <a:ext uri="{FF2B5EF4-FFF2-40B4-BE49-F238E27FC236}">
                <a16:creationId xmlns:a16="http://schemas.microsoft.com/office/drawing/2014/main" id="{44638FEA-13FA-5DEF-159E-01FC0C11B211}"/>
              </a:ext>
            </a:extLst>
          </p:cNvPr>
          <p:cNvSpPr>
            <a:spLocks noGrp="1"/>
          </p:cNvSpPr>
          <p:nvPr>
            <p:ph type="title"/>
          </p:nvPr>
        </p:nvSpPr>
        <p:spPr/>
        <p:txBody>
          <a:bodyPr/>
          <a:lstStyle/>
          <a:p>
            <a:r>
              <a:rPr lang="fr-FR" b="1" dirty="0">
                <a:latin typeface="Calibri"/>
                <a:cs typeface="Calibri"/>
              </a:rPr>
              <a:t>Evolutions des </a:t>
            </a:r>
            <a:r>
              <a:rPr lang="fr-FR" b="1" dirty="0">
                <a:latin typeface="Calibri"/>
                <a:cs typeface="Calibri"/>
                <a:sym typeface="Wingdings"/>
              </a:rPr>
              <a:t>Chipset </a:t>
            </a:r>
            <a:r>
              <a:rPr lang="fr-FR" b="1" dirty="0">
                <a:latin typeface="Calibri"/>
                <a:cs typeface="Calibri"/>
              </a:rPr>
              <a:t>:  </a:t>
            </a:r>
            <a:r>
              <a:rPr lang="fr-FR" b="1" dirty="0" err="1">
                <a:latin typeface="Calibri"/>
                <a:cs typeface="Calibri"/>
                <a:sym typeface="Wingdings"/>
              </a:rPr>
              <a:t>NorthBridge</a:t>
            </a:r>
            <a:r>
              <a:rPr lang="fr-FR" b="1" dirty="0">
                <a:latin typeface="Calibri"/>
                <a:cs typeface="Calibri"/>
                <a:sym typeface="Wingdings"/>
              </a:rPr>
              <a:t>, </a:t>
            </a:r>
            <a:r>
              <a:rPr lang="fr-FR" b="1" dirty="0" err="1">
                <a:latin typeface="Calibri"/>
                <a:cs typeface="Calibri"/>
                <a:sym typeface="Wingdings"/>
              </a:rPr>
              <a:t>SouthBridge</a:t>
            </a:r>
            <a:r>
              <a:rPr lang="fr-FR" b="1" dirty="0">
                <a:latin typeface="Calibri"/>
                <a:cs typeface="Calibri"/>
                <a:sym typeface="Wingdings"/>
              </a:rPr>
              <a:t> </a:t>
            </a:r>
            <a:br>
              <a:rPr lang="fr-FR" b="1" dirty="0">
                <a:latin typeface="Calibri"/>
                <a:cs typeface="Calibri"/>
              </a:rPr>
            </a:br>
            <a:endParaRPr lang="fr-FR" b="1" dirty="0">
              <a:latin typeface="Calibri"/>
              <a:cs typeface="Calibri"/>
            </a:endParaRPr>
          </a:p>
        </p:txBody>
      </p:sp>
    </p:spTree>
    <p:extLst>
      <p:ext uri="{BB962C8B-B14F-4D97-AF65-F5344CB8AC3E}">
        <p14:creationId xmlns:p14="http://schemas.microsoft.com/office/powerpoint/2010/main" val="3739900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p:cNvSpPr txBox="1">
            <a:spLocks/>
          </p:cNvSpPr>
          <p:nvPr/>
        </p:nvSpPr>
        <p:spPr>
          <a:xfrm>
            <a:off x="395536" y="1638300"/>
            <a:ext cx="8748464" cy="1220292"/>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400" i="1" dirty="0">
                <a:latin typeface="Arial"/>
                <a:cs typeface="Arial"/>
              </a:rPr>
              <a:t>Le </a:t>
            </a:r>
            <a:r>
              <a:rPr lang="fr-FR" sz="1400" i="1" dirty="0" err="1">
                <a:latin typeface="Arial"/>
                <a:cs typeface="Arial"/>
              </a:rPr>
              <a:t>northBridge</a:t>
            </a:r>
            <a:r>
              <a:rPr lang="fr-FR" sz="1400" i="1" dirty="0">
                <a:latin typeface="Arial"/>
                <a:cs typeface="Arial"/>
              </a:rPr>
              <a:t> est un composant matériel servant de passerelle entre CPU et mémoire principale et vidéo</a:t>
            </a:r>
            <a:endParaRPr lang="fr-FR" sz="1400" i="1" dirty="0">
              <a:latin typeface="Arial"/>
              <a:cs typeface="Arial"/>
              <a:sym typeface="Wingdings"/>
            </a:endParaRPr>
          </a:p>
          <a:p>
            <a:pPr algn="l"/>
            <a:r>
              <a:rPr lang="fr-FR" sz="1400" i="1" dirty="0">
                <a:latin typeface="Arial"/>
                <a:cs typeface="Arial"/>
              </a:rPr>
              <a:t>Le </a:t>
            </a:r>
            <a:r>
              <a:rPr lang="fr-FR" sz="1400" i="1" dirty="0" err="1">
                <a:latin typeface="Arial"/>
                <a:cs typeface="Arial"/>
              </a:rPr>
              <a:t>southBridge</a:t>
            </a:r>
            <a:r>
              <a:rPr lang="fr-FR" sz="1400" i="1" dirty="0">
                <a:latin typeface="Arial"/>
                <a:cs typeface="Arial"/>
              </a:rPr>
              <a:t> est un composant matériel servant de passerelle entre </a:t>
            </a:r>
            <a:r>
              <a:rPr lang="fr-FR" sz="1400" i="1" dirty="0" err="1">
                <a:latin typeface="Arial"/>
                <a:cs typeface="Arial"/>
              </a:rPr>
              <a:t>northBridge</a:t>
            </a:r>
            <a:r>
              <a:rPr lang="fr-FR" sz="1400" i="1" dirty="0">
                <a:latin typeface="Arial"/>
                <a:cs typeface="Arial"/>
              </a:rPr>
              <a:t> et les interfaces ‘’plus lentes’’ (PCI, USB, S-ATA…)</a:t>
            </a:r>
            <a:r>
              <a:rPr lang="fr-FR" sz="1400" i="1" dirty="0">
                <a:latin typeface="Arial"/>
                <a:cs typeface="Arial"/>
                <a:sym typeface="Wingdings"/>
              </a:rPr>
              <a:t>:</a:t>
            </a:r>
          </a:p>
          <a:p>
            <a:pPr algn="l"/>
            <a:r>
              <a:rPr lang="fr-FR" sz="1400" i="1" dirty="0">
                <a:latin typeface="Arial"/>
                <a:cs typeface="Arial"/>
              </a:rPr>
              <a:t>On appel </a:t>
            </a:r>
            <a:r>
              <a:rPr lang="fr-FR" sz="1400" i="1" dirty="0">
                <a:highlight>
                  <a:srgbClr val="FF0000"/>
                </a:highlight>
                <a:latin typeface="Arial"/>
                <a:cs typeface="Arial"/>
              </a:rPr>
              <a:t>Chipset</a:t>
            </a:r>
            <a:r>
              <a:rPr lang="fr-FR" sz="1400" i="1" dirty="0">
                <a:latin typeface="Arial"/>
                <a:cs typeface="Arial"/>
              </a:rPr>
              <a:t> (jeu de composants)</a:t>
            </a:r>
          </a:p>
          <a:p>
            <a:pPr algn="l"/>
            <a:r>
              <a:rPr lang="fr-FR" sz="1400" i="1" dirty="0">
                <a:latin typeface="Arial"/>
                <a:cs typeface="Arial"/>
              </a:rPr>
              <a:t>l’ensemble </a:t>
            </a:r>
            <a:r>
              <a:rPr lang="fr-FR" sz="1400" i="1" dirty="0" err="1">
                <a:latin typeface="Arial"/>
                <a:cs typeface="Arial"/>
              </a:rPr>
              <a:t>northBridge</a:t>
            </a:r>
            <a:r>
              <a:rPr lang="fr-FR" sz="1400" i="1" dirty="0">
                <a:latin typeface="Arial"/>
                <a:cs typeface="Arial"/>
              </a:rPr>
              <a:t> et </a:t>
            </a:r>
            <a:r>
              <a:rPr lang="fr-FR" sz="1400" i="1" dirty="0" err="1">
                <a:latin typeface="Arial"/>
                <a:cs typeface="Arial"/>
              </a:rPr>
              <a:t>southBridge</a:t>
            </a:r>
            <a:r>
              <a:rPr lang="fr-FR" sz="1400" i="1" dirty="0">
                <a:latin typeface="Arial"/>
                <a:cs typeface="Arial"/>
              </a:rPr>
              <a:t>.</a:t>
            </a:r>
            <a:endParaRPr lang="fr-FR" sz="1400" i="1" dirty="0">
              <a:latin typeface="Arial"/>
              <a:cs typeface="Arial"/>
              <a:sym typeface="Wingdings"/>
            </a:endParaRPr>
          </a:p>
          <a:p>
            <a:pPr algn="l"/>
            <a:r>
              <a:rPr lang="fr-FR" sz="1200" i="1" dirty="0">
                <a:latin typeface="+mn-lt"/>
                <a:sym typeface="Wingdings"/>
              </a:rPr>
              <a:t>	</a:t>
            </a:r>
            <a:endParaRPr lang="fr-FR" sz="1200" i="1" dirty="0">
              <a:latin typeface="+mn-lt"/>
            </a:endParaRPr>
          </a:p>
        </p:txBody>
      </p:sp>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31</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3" name="Rounded Rectangle 2"/>
          <p:cNvSpPr/>
          <p:nvPr/>
        </p:nvSpPr>
        <p:spPr>
          <a:xfrm>
            <a:off x="3995936" y="2374121"/>
            <a:ext cx="1008112" cy="69912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61"/>
          <p:cNvSpPr txBox="1"/>
          <p:nvPr/>
        </p:nvSpPr>
        <p:spPr>
          <a:xfrm>
            <a:off x="3995936" y="2537462"/>
            <a:ext cx="1008112" cy="376719"/>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latin typeface="+mn-lt"/>
                <a:cs typeface="+mn-cs"/>
              </a:rPr>
              <a:t>CPU</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12" name="Up Arrow 11"/>
          <p:cNvSpPr/>
          <p:nvPr/>
        </p:nvSpPr>
        <p:spPr>
          <a:xfrm flipV="1">
            <a:off x="4366536" y="3246882"/>
            <a:ext cx="266912" cy="383098"/>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Up Arrow 12"/>
          <p:cNvSpPr/>
          <p:nvPr/>
        </p:nvSpPr>
        <p:spPr>
          <a:xfrm>
            <a:off x="4366536" y="3073241"/>
            <a:ext cx="266912" cy="221142"/>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61"/>
          <p:cNvSpPr txBox="1"/>
          <p:nvPr/>
        </p:nvSpPr>
        <p:spPr>
          <a:xfrm>
            <a:off x="4448935" y="3089300"/>
            <a:ext cx="183866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FSB </a:t>
            </a:r>
            <a:r>
              <a:rPr lang="fr-FR" sz="1400" i="1" dirty="0">
                <a:solidFill>
                  <a:schemeClr val="accent1">
                    <a:lumMod val="75000"/>
                  </a:schemeClr>
                </a:solidFill>
              </a:rPr>
              <a:t>Front-</a:t>
            </a:r>
            <a:r>
              <a:rPr lang="fr-FR" sz="1400" i="1" dirty="0" err="1">
                <a:solidFill>
                  <a:schemeClr val="accent1">
                    <a:lumMod val="75000"/>
                  </a:schemeClr>
                </a:solidFill>
              </a:rPr>
              <a:t>Side</a:t>
            </a:r>
            <a:r>
              <a:rPr lang="fr-FR" sz="1400" i="1" dirty="0">
                <a:solidFill>
                  <a:schemeClr val="accent1">
                    <a:lumMod val="75000"/>
                  </a:schemeClr>
                </a:solidFill>
              </a:rPr>
              <a:t> Bus </a:t>
            </a:r>
          </a:p>
        </p:txBody>
      </p:sp>
      <p:sp>
        <p:nvSpPr>
          <p:cNvPr id="15" name="Rounded Rectangle 14"/>
          <p:cNvSpPr/>
          <p:nvPr/>
        </p:nvSpPr>
        <p:spPr>
          <a:xfrm>
            <a:off x="3977804" y="3654438"/>
            <a:ext cx="1008112" cy="699120"/>
          </a:xfrm>
          <a:prstGeom prst="roundRect">
            <a:avLst/>
          </a:prstGeom>
          <a:solidFill>
            <a:srgbClr val="F2DCDB"/>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61"/>
          <p:cNvSpPr txBox="1"/>
          <p:nvPr/>
        </p:nvSpPr>
        <p:spPr>
          <a:xfrm>
            <a:off x="3851920" y="3817779"/>
            <a:ext cx="129614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err="1">
                <a:solidFill>
                  <a:schemeClr val="accent4">
                    <a:lumMod val="75000"/>
                  </a:schemeClr>
                </a:solidFill>
                <a:effectLst>
                  <a:outerShdw blurRad="38100" dist="38100" dir="2700000" algn="tl">
                    <a:srgbClr val="000000">
                      <a:alpha val="43137"/>
                    </a:srgbClr>
                  </a:outerShdw>
                </a:effectLst>
                <a:latin typeface="+mn-lt"/>
                <a:cs typeface="+mn-cs"/>
              </a:rPr>
              <a:t>NorthBridge</a:t>
            </a:r>
            <a:endParaRPr lang="fr-FR" sz="1200" i="1" dirty="0">
              <a:solidFill>
                <a:schemeClr val="accent4">
                  <a:lumMod val="75000"/>
                </a:schemeClr>
              </a:solidFill>
              <a:effectLst>
                <a:outerShdw blurRad="38100" dist="38100" dir="2700000" algn="tl">
                  <a:srgbClr val="000000">
                    <a:alpha val="43137"/>
                  </a:srgbClr>
                </a:outerShdw>
              </a:effectLst>
              <a:latin typeface="+mn-lt"/>
              <a:cs typeface="+mn-cs"/>
            </a:endParaRPr>
          </a:p>
        </p:txBody>
      </p:sp>
      <p:sp>
        <p:nvSpPr>
          <p:cNvPr id="21" name="Rounded Rectangle 20"/>
          <p:cNvSpPr/>
          <p:nvPr/>
        </p:nvSpPr>
        <p:spPr>
          <a:xfrm>
            <a:off x="3972372" y="4885765"/>
            <a:ext cx="1008112" cy="699120"/>
          </a:xfrm>
          <a:prstGeom prst="roundRect">
            <a:avLst/>
          </a:prstGeom>
          <a:solidFill>
            <a:srgbClr val="F2DCDB"/>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61"/>
          <p:cNvSpPr txBox="1"/>
          <p:nvPr/>
        </p:nvSpPr>
        <p:spPr>
          <a:xfrm>
            <a:off x="3846488" y="5049106"/>
            <a:ext cx="129614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err="1">
                <a:solidFill>
                  <a:schemeClr val="accent4">
                    <a:lumMod val="75000"/>
                  </a:schemeClr>
                </a:solidFill>
                <a:effectLst>
                  <a:outerShdw blurRad="38100" dist="38100" dir="2700000" algn="tl">
                    <a:srgbClr val="000000">
                      <a:alpha val="43137"/>
                    </a:srgbClr>
                  </a:outerShdw>
                </a:effectLst>
                <a:latin typeface="+mn-lt"/>
                <a:cs typeface="+mn-cs"/>
              </a:rPr>
              <a:t>SouthBridge</a:t>
            </a:r>
            <a:endParaRPr lang="fr-FR" sz="1200" i="1" dirty="0">
              <a:solidFill>
                <a:schemeClr val="accent4">
                  <a:lumMod val="75000"/>
                </a:schemeClr>
              </a:solidFill>
              <a:effectLst>
                <a:outerShdw blurRad="38100" dist="38100" dir="2700000" algn="tl">
                  <a:srgbClr val="000000">
                    <a:alpha val="43137"/>
                  </a:srgbClr>
                </a:outerShdw>
              </a:effectLst>
              <a:latin typeface="+mn-lt"/>
              <a:cs typeface="+mn-cs"/>
            </a:endParaRPr>
          </a:p>
        </p:txBody>
      </p:sp>
      <p:sp>
        <p:nvSpPr>
          <p:cNvPr id="23" name="Up Arrow 22"/>
          <p:cNvSpPr/>
          <p:nvPr/>
        </p:nvSpPr>
        <p:spPr>
          <a:xfrm flipV="1">
            <a:off x="4366536" y="4527199"/>
            <a:ext cx="266912" cy="383098"/>
          </a:xfrm>
          <a:prstGeom prst="up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Up Arrow 23"/>
          <p:cNvSpPr/>
          <p:nvPr/>
        </p:nvSpPr>
        <p:spPr>
          <a:xfrm>
            <a:off x="4366536" y="4353558"/>
            <a:ext cx="266912" cy="221142"/>
          </a:xfrm>
          <a:prstGeom prst="up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Up Arrow 25"/>
          <p:cNvSpPr/>
          <p:nvPr/>
        </p:nvSpPr>
        <p:spPr>
          <a:xfrm rot="16200000">
            <a:off x="5046708" y="3843277"/>
            <a:ext cx="292936" cy="321442"/>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Up Arrow 27"/>
          <p:cNvSpPr/>
          <p:nvPr/>
        </p:nvSpPr>
        <p:spPr>
          <a:xfrm rot="16200000" flipV="1">
            <a:off x="5309646" y="3843767"/>
            <a:ext cx="292937" cy="320459"/>
          </a:xfrm>
          <a:prstGeom prst="upArrow">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61"/>
          <p:cNvSpPr txBox="1"/>
          <p:nvPr/>
        </p:nvSpPr>
        <p:spPr>
          <a:xfrm>
            <a:off x="4414930" y="4369162"/>
            <a:ext cx="2414728"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DMI </a:t>
            </a:r>
            <a:r>
              <a:rPr lang="fr-FR" sz="1400" i="1" dirty="0">
                <a:solidFill>
                  <a:schemeClr val="accent1">
                    <a:lumMod val="75000"/>
                  </a:schemeClr>
                </a:solidFill>
              </a:rPr>
              <a:t>Direct Media Interface</a:t>
            </a:r>
          </a:p>
        </p:txBody>
      </p:sp>
      <p:cxnSp>
        <p:nvCxnSpPr>
          <p:cNvPr id="6" name="Straight Arrow Connector 5"/>
          <p:cNvCxnSpPr/>
          <p:nvPr/>
        </p:nvCxnSpPr>
        <p:spPr>
          <a:xfrm>
            <a:off x="4987958" y="5092157"/>
            <a:ext cx="799350" cy="0"/>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5787308" y="4935002"/>
            <a:ext cx="655334"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61"/>
          <p:cNvSpPr txBox="1"/>
          <p:nvPr/>
        </p:nvSpPr>
        <p:spPr>
          <a:xfrm>
            <a:off x="5787308" y="4953792"/>
            <a:ext cx="65533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PCI</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37" name="Rounded Rectangle 36"/>
          <p:cNvSpPr/>
          <p:nvPr/>
        </p:nvSpPr>
        <p:spPr>
          <a:xfrm>
            <a:off x="2941008" y="6004101"/>
            <a:ext cx="655334"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61"/>
          <p:cNvSpPr txBox="1"/>
          <p:nvPr/>
        </p:nvSpPr>
        <p:spPr>
          <a:xfrm>
            <a:off x="2941008" y="6022891"/>
            <a:ext cx="65533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USB</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cxnSp>
        <p:nvCxnSpPr>
          <p:cNvPr id="39" name="Straight Arrow Connector 38"/>
          <p:cNvCxnSpPr/>
          <p:nvPr/>
        </p:nvCxnSpPr>
        <p:spPr>
          <a:xfrm flipV="1">
            <a:off x="3572697" y="5584885"/>
            <a:ext cx="567255" cy="436403"/>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2" name="Rounded Rectangle 41"/>
          <p:cNvSpPr/>
          <p:nvPr/>
        </p:nvSpPr>
        <p:spPr>
          <a:xfrm>
            <a:off x="2418731" y="5439892"/>
            <a:ext cx="655334"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61"/>
          <p:cNvSpPr txBox="1"/>
          <p:nvPr/>
        </p:nvSpPr>
        <p:spPr>
          <a:xfrm>
            <a:off x="2418731" y="5458682"/>
            <a:ext cx="65533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BIOS</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cxnSp>
        <p:nvCxnSpPr>
          <p:cNvPr id="45" name="Straight Arrow Connector 44"/>
          <p:cNvCxnSpPr/>
          <p:nvPr/>
        </p:nvCxnSpPr>
        <p:spPr>
          <a:xfrm>
            <a:off x="2517688" y="5092157"/>
            <a:ext cx="1478248" cy="1"/>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7" name="Rounded Rectangle 46"/>
          <p:cNvSpPr/>
          <p:nvPr/>
        </p:nvSpPr>
        <p:spPr>
          <a:xfrm>
            <a:off x="1714749" y="4946438"/>
            <a:ext cx="800916"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61"/>
          <p:cNvSpPr txBox="1"/>
          <p:nvPr/>
        </p:nvSpPr>
        <p:spPr>
          <a:xfrm>
            <a:off x="1714749" y="4965228"/>
            <a:ext cx="800916"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err="1">
                <a:solidFill>
                  <a:schemeClr val="accent1">
                    <a:lumMod val="75000"/>
                  </a:schemeClr>
                </a:solidFill>
                <a:effectLst>
                  <a:outerShdw blurRad="38100" dist="38100" dir="2700000" algn="tl">
                    <a:srgbClr val="000000">
                      <a:alpha val="43137"/>
                    </a:srgbClr>
                  </a:outerShdw>
                </a:effectLst>
              </a:rPr>
              <a:t>Legacy</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49" name="Rounded Rectangle 48"/>
          <p:cNvSpPr/>
          <p:nvPr/>
        </p:nvSpPr>
        <p:spPr>
          <a:xfrm>
            <a:off x="5787308" y="5428563"/>
            <a:ext cx="800916"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61"/>
          <p:cNvSpPr txBox="1"/>
          <p:nvPr/>
        </p:nvSpPr>
        <p:spPr>
          <a:xfrm>
            <a:off x="5787308" y="5447353"/>
            <a:ext cx="800916"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S-ATA</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cxnSp>
        <p:nvCxnSpPr>
          <p:cNvPr id="51" name="Straight Arrow Connector 50"/>
          <p:cNvCxnSpPr>
            <a:endCxn id="49" idx="1"/>
          </p:cNvCxnSpPr>
          <p:nvPr/>
        </p:nvCxnSpPr>
        <p:spPr>
          <a:xfrm>
            <a:off x="5004048" y="5374446"/>
            <a:ext cx="783260" cy="228897"/>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 name="Rounded Rectangle 53"/>
          <p:cNvSpPr/>
          <p:nvPr/>
        </p:nvSpPr>
        <p:spPr>
          <a:xfrm>
            <a:off x="5571284" y="5882792"/>
            <a:ext cx="800916"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61"/>
          <p:cNvSpPr txBox="1"/>
          <p:nvPr/>
        </p:nvSpPr>
        <p:spPr>
          <a:xfrm>
            <a:off x="5571284" y="5901582"/>
            <a:ext cx="800916"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Audio</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cxnSp>
        <p:nvCxnSpPr>
          <p:cNvPr id="56" name="Straight Arrow Connector 55"/>
          <p:cNvCxnSpPr>
            <a:stCxn id="54" idx="1"/>
          </p:cNvCxnSpPr>
          <p:nvPr/>
        </p:nvCxnSpPr>
        <p:spPr>
          <a:xfrm flipH="1" flipV="1">
            <a:off x="4887069" y="5584886"/>
            <a:ext cx="684215" cy="472686"/>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4233080" y="5580072"/>
            <a:ext cx="133456" cy="473653"/>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flipV="1">
            <a:off x="4669484" y="5598573"/>
            <a:ext cx="151898" cy="460591"/>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5" name="ZoneTexte 61"/>
          <p:cNvSpPr txBox="1"/>
          <p:nvPr/>
        </p:nvSpPr>
        <p:spPr>
          <a:xfrm>
            <a:off x="4233080" y="6036894"/>
            <a:ext cx="65533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6" name="Rounded Rectangle 65"/>
          <p:cNvSpPr/>
          <p:nvPr/>
        </p:nvSpPr>
        <p:spPr>
          <a:xfrm>
            <a:off x="5616344" y="3654436"/>
            <a:ext cx="1008112" cy="69912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ZoneTexte 61"/>
          <p:cNvSpPr txBox="1"/>
          <p:nvPr/>
        </p:nvSpPr>
        <p:spPr>
          <a:xfrm>
            <a:off x="5616344" y="3669167"/>
            <a:ext cx="1008112" cy="622941"/>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a:solidFill>
                  <a:schemeClr val="accent1">
                    <a:lumMod val="75000"/>
                  </a:schemeClr>
                </a:solidFill>
                <a:effectLst>
                  <a:outerShdw blurRad="38100" dist="38100" dir="2700000" algn="tl">
                    <a:srgbClr val="000000">
                      <a:alpha val="43137"/>
                    </a:srgbClr>
                  </a:outerShdw>
                </a:effectLst>
              </a:rPr>
              <a:t>Main</a:t>
            </a:r>
          </a:p>
          <a:p>
            <a:pPr algn="ctr" fontAlgn="auto">
              <a:spcBef>
                <a:spcPts val="0"/>
              </a:spcBef>
              <a:spcAft>
                <a:spcPts val="0"/>
              </a:spcAft>
              <a:defRPr/>
            </a:pPr>
            <a:r>
              <a:rPr lang="fr-FR" sz="1600" b="1" i="1" dirty="0">
                <a:solidFill>
                  <a:schemeClr val="accent1">
                    <a:lumMod val="75000"/>
                  </a:schemeClr>
                </a:solidFill>
                <a:effectLst>
                  <a:outerShdw blurRad="38100" dist="38100" dir="2700000" algn="tl">
                    <a:srgbClr val="000000">
                      <a:alpha val="43137"/>
                    </a:srgbClr>
                  </a:outerShdw>
                </a:effectLst>
                <a:latin typeface="+mn-lt"/>
                <a:cs typeface="+mn-cs"/>
              </a:rPr>
              <a:t>Memory</a:t>
            </a:r>
            <a:endParaRPr lang="fr-FR" sz="1600" i="1" dirty="0">
              <a:solidFill>
                <a:schemeClr val="accent1">
                  <a:lumMod val="75000"/>
                </a:schemeClr>
              </a:solidFill>
              <a:effectLst>
                <a:outerShdw blurRad="38100" dist="38100" dir="2700000" algn="tl">
                  <a:srgbClr val="000000">
                    <a:alpha val="43137"/>
                  </a:srgbClr>
                </a:outerShdw>
              </a:effectLst>
              <a:latin typeface="+mn-lt"/>
              <a:cs typeface="+mn-cs"/>
            </a:endParaRPr>
          </a:p>
        </p:txBody>
      </p:sp>
      <p:sp>
        <p:nvSpPr>
          <p:cNvPr id="68" name="ZoneTexte 61"/>
          <p:cNvSpPr txBox="1"/>
          <p:nvPr/>
        </p:nvSpPr>
        <p:spPr>
          <a:xfrm>
            <a:off x="6488138" y="3448531"/>
            <a:ext cx="671139"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DDR</a:t>
            </a:r>
            <a:endParaRPr lang="fr-FR" sz="1400" i="1" dirty="0">
              <a:solidFill>
                <a:schemeClr val="accent1">
                  <a:lumMod val="75000"/>
                </a:schemeClr>
              </a:solidFill>
            </a:endParaRPr>
          </a:p>
        </p:txBody>
      </p:sp>
      <p:cxnSp>
        <p:nvCxnSpPr>
          <p:cNvPr id="69" name="Straight Arrow Connector 68"/>
          <p:cNvCxnSpPr/>
          <p:nvPr/>
        </p:nvCxnSpPr>
        <p:spPr>
          <a:xfrm>
            <a:off x="3196667" y="3747052"/>
            <a:ext cx="799350" cy="0"/>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0" name="Rounded Rectangle 69"/>
          <p:cNvSpPr/>
          <p:nvPr/>
        </p:nvSpPr>
        <p:spPr>
          <a:xfrm>
            <a:off x="2517688" y="3570680"/>
            <a:ext cx="655334"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ZoneTexte 61"/>
          <p:cNvSpPr txBox="1"/>
          <p:nvPr/>
        </p:nvSpPr>
        <p:spPr>
          <a:xfrm>
            <a:off x="2517688" y="3589470"/>
            <a:ext cx="65533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VGA</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cxnSp>
        <p:nvCxnSpPr>
          <p:cNvPr id="72" name="Straight Arrow Connector 71"/>
          <p:cNvCxnSpPr/>
          <p:nvPr/>
        </p:nvCxnSpPr>
        <p:spPr>
          <a:xfrm>
            <a:off x="3173022" y="4170645"/>
            <a:ext cx="799350" cy="0"/>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2515665" y="4019602"/>
            <a:ext cx="655334" cy="349560"/>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ZoneTexte 61"/>
          <p:cNvSpPr txBox="1"/>
          <p:nvPr/>
        </p:nvSpPr>
        <p:spPr>
          <a:xfrm>
            <a:off x="2515665" y="4038392"/>
            <a:ext cx="655334"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err="1">
                <a:solidFill>
                  <a:schemeClr val="accent1">
                    <a:lumMod val="75000"/>
                  </a:schemeClr>
                </a:solidFill>
                <a:effectLst>
                  <a:outerShdw blurRad="38100" dist="38100" dir="2700000" algn="tl">
                    <a:srgbClr val="000000">
                      <a:alpha val="43137"/>
                    </a:srgbClr>
                  </a:outerShdw>
                </a:effectLst>
              </a:rPr>
              <a:t>PCIe</a:t>
            </a:r>
            <a:endParaRPr lang="fr-FR" sz="1200" i="1" dirty="0">
              <a:solidFill>
                <a:schemeClr val="accent1">
                  <a:lumMod val="75000"/>
                </a:schemeClr>
              </a:solidFill>
              <a:effectLst>
                <a:outerShdw blurRad="38100" dist="38100" dir="2700000" algn="tl">
                  <a:srgbClr val="000000">
                    <a:alpha val="43137"/>
                  </a:srgbClr>
                </a:outerShdw>
              </a:effectLst>
              <a:latin typeface="+mn-lt"/>
              <a:cs typeface="+mn-cs"/>
            </a:endParaRPr>
          </a:p>
        </p:txBody>
      </p:sp>
      <p:cxnSp>
        <p:nvCxnSpPr>
          <p:cNvPr id="75" name="Straight Arrow Connector 74"/>
          <p:cNvCxnSpPr/>
          <p:nvPr/>
        </p:nvCxnSpPr>
        <p:spPr>
          <a:xfrm flipH="1">
            <a:off x="6372429" y="6053725"/>
            <a:ext cx="451278" cy="8672"/>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a:off x="1237005" y="4969223"/>
            <a:ext cx="451278" cy="8672"/>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2" name="ZoneTexte 61"/>
          <p:cNvSpPr txBox="1"/>
          <p:nvPr/>
        </p:nvSpPr>
        <p:spPr>
          <a:xfrm>
            <a:off x="455117" y="4788856"/>
            <a:ext cx="648072"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solidFill>
                  <a:schemeClr val="accent1">
                    <a:lumMod val="75000"/>
                  </a:schemeClr>
                </a:solidFill>
              </a:rPr>
              <a:t>PS/2</a:t>
            </a:r>
          </a:p>
        </p:txBody>
      </p:sp>
      <p:cxnSp>
        <p:nvCxnSpPr>
          <p:cNvPr id="83" name="Straight Arrow Connector 82"/>
          <p:cNvCxnSpPr/>
          <p:nvPr/>
        </p:nvCxnSpPr>
        <p:spPr>
          <a:xfrm flipH="1">
            <a:off x="1237005" y="5120877"/>
            <a:ext cx="451278" cy="8672"/>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H="1">
            <a:off x="1237005" y="5259809"/>
            <a:ext cx="451278" cy="8672"/>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5" name="ZoneTexte 61"/>
          <p:cNvSpPr txBox="1"/>
          <p:nvPr/>
        </p:nvSpPr>
        <p:spPr>
          <a:xfrm>
            <a:off x="464363" y="4961083"/>
            <a:ext cx="648072"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solidFill>
                  <a:schemeClr val="accent1">
                    <a:lumMod val="75000"/>
                  </a:schemeClr>
                </a:solidFill>
              </a:rPr>
              <a:t>serial</a:t>
            </a:r>
          </a:p>
        </p:txBody>
      </p:sp>
      <p:sp>
        <p:nvSpPr>
          <p:cNvPr id="86" name="ZoneTexte 61"/>
          <p:cNvSpPr txBox="1"/>
          <p:nvPr/>
        </p:nvSpPr>
        <p:spPr>
          <a:xfrm>
            <a:off x="455117" y="5129410"/>
            <a:ext cx="852023"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err="1">
                <a:solidFill>
                  <a:schemeClr val="accent1">
                    <a:lumMod val="75000"/>
                  </a:schemeClr>
                </a:solidFill>
              </a:rPr>
              <a:t>parallel</a:t>
            </a:r>
            <a:endParaRPr lang="fr-FR" sz="1400" i="1" dirty="0">
              <a:solidFill>
                <a:schemeClr val="accent1">
                  <a:lumMod val="75000"/>
                </a:schemeClr>
              </a:solidFill>
            </a:endParaRPr>
          </a:p>
        </p:txBody>
      </p:sp>
      <p:cxnSp>
        <p:nvCxnSpPr>
          <p:cNvPr id="87" name="Straight Arrow Connector 86"/>
          <p:cNvCxnSpPr/>
          <p:nvPr/>
        </p:nvCxnSpPr>
        <p:spPr>
          <a:xfrm flipH="1">
            <a:off x="6604019" y="5607592"/>
            <a:ext cx="451278" cy="8672"/>
          </a:xfrm>
          <a:prstGeom prst="straightConnector1">
            <a:avLst/>
          </a:prstGeom>
          <a:ln w="28575">
            <a:solidFill>
              <a:schemeClr val="accent1">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8" name="ZoneTexte 61"/>
          <p:cNvSpPr txBox="1"/>
          <p:nvPr/>
        </p:nvSpPr>
        <p:spPr>
          <a:xfrm>
            <a:off x="6850563" y="5428563"/>
            <a:ext cx="1238462"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solidFill>
                  <a:schemeClr val="accent1">
                    <a:lumMod val="75000"/>
                  </a:schemeClr>
                </a:solidFill>
              </a:rPr>
              <a:t>Hard </a:t>
            </a:r>
            <a:r>
              <a:rPr lang="fr-FR" sz="1400" i="1" dirty="0" err="1">
                <a:solidFill>
                  <a:schemeClr val="accent1">
                    <a:lumMod val="75000"/>
                  </a:schemeClr>
                </a:solidFill>
              </a:rPr>
              <a:t>Disk</a:t>
            </a:r>
            <a:endParaRPr lang="fr-FR" sz="1400" i="1" dirty="0">
              <a:solidFill>
                <a:schemeClr val="accent1">
                  <a:lumMod val="75000"/>
                </a:schemeClr>
              </a:solidFill>
            </a:endParaRPr>
          </a:p>
        </p:txBody>
      </p:sp>
      <p:sp>
        <p:nvSpPr>
          <p:cNvPr id="89" name="ZoneTexte 61"/>
          <p:cNvSpPr txBox="1"/>
          <p:nvPr/>
        </p:nvSpPr>
        <p:spPr>
          <a:xfrm>
            <a:off x="6701505" y="5882792"/>
            <a:ext cx="1238462"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err="1">
                <a:solidFill>
                  <a:schemeClr val="accent1">
                    <a:lumMod val="75000"/>
                  </a:schemeClr>
                </a:solidFill>
              </a:rPr>
              <a:t>connectors</a:t>
            </a:r>
            <a:endParaRPr lang="fr-FR" sz="1400" i="1" dirty="0">
              <a:solidFill>
                <a:schemeClr val="accent1">
                  <a:lumMod val="75000"/>
                </a:schemeClr>
              </a:solidFill>
            </a:endParaRPr>
          </a:p>
        </p:txBody>
      </p:sp>
      <p:sp>
        <p:nvSpPr>
          <p:cNvPr id="100" name="ZoneTexte 61"/>
          <p:cNvSpPr txBox="1"/>
          <p:nvPr/>
        </p:nvSpPr>
        <p:spPr>
          <a:xfrm rot="16200000">
            <a:off x="1841391" y="3802674"/>
            <a:ext cx="1033385"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err="1">
                <a:solidFill>
                  <a:schemeClr val="accent1">
                    <a:lumMod val="75000"/>
                  </a:schemeClr>
                </a:solidFill>
                <a:effectLst>
                  <a:outerShdw blurRad="38100" dist="38100" dir="2700000" algn="tl">
                    <a:srgbClr val="000000">
                      <a:alpha val="43137"/>
                    </a:srgbClr>
                  </a:outerShdw>
                </a:effectLst>
              </a:rPr>
              <a:t>Graphical</a:t>
            </a:r>
            <a:endParaRPr lang="fr-FR" sz="1400" i="1" dirty="0">
              <a:solidFill>
                <a:schemeClr val="accent1">
                  <a:lumMod val="75000"/>
                </a:schemeClr>
              </a:solidFill>
            </a:endParaRPr>
          </a:p>
        </p:txBody>
      </p:sp>
      <p:sp>
        <p:nvSpPr>
          <p:cNvPr id="102" name="ZoneTexte 61"/>
          <p:cNvSpPr txBox="1"/>
          <p:nvPr/>
        </p:nvSpPr>
        <p:spPr>
          <a:xfrm>
            <a:off x="2515665" y="4796210"/>
            <a:ext cx="1004162"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b="1" i="1" dirty="0">
                <a:solidFill>
                  <a:schemeClr val="accent1">
                    <a:lumMod val="75000"/>
                  </a:schemeClr>
                </a:solidFill>
                <a:effectLst>
                  <a:outerShdw blurRad="38100" dist="38100" dir="2700000" algn="tl">
                    <a:srgbClr val="000000">
                      <a:alpha val="43137"/>
                    </a:srgbClr>
                  </a:outerShdw>
                </a:effectLst>
              </a:rPr>
              <a:t>LPC</a:t>
            </a:r>
            <a:endParaRPr lang="fr-FR" sz="1400" i="1" dirty="0">
              <a:solidFill>
                <a:schemeClr val="accent1">
                  <a:lumMod val="75000"/>
                </a:schemeClr>
              </a:solidFill>
            </a:endParaRPr>
          </a:p>
        </p:txBody>
      </p:sp>
      <p:cxnSp>
        <p:nvCxnSpPr>
          <p:cNvPr id="103" name="Straight Arrow Connector 102"/>
          <p:cNvCxnSpPr>
            <a:endCxn id="42" idx="0"/>
          </p:cNvCxnSpPr>
          <p:nvPr/>
        </p:nvCxnSpPr>
        <p:spPr>
          <a:xfrm>
            <a:off x="2746398" y="5104020"/>
            <a:ext cx="0" cy="335872"/>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04A6B77B-306E-E5F3-C80D-F9CFC23E65E7}"/>
              </a:ext>
            </a:extLst>
          </p:cNvPr>
          <p:cNvSpPr txBox="1"/>
          <p:nvPr/>
        </p:nvSpPr>
        <p:spPr>
          <a:xfrm>
            <a:off x="238876" y="333985"/>
            <a:ext cx="8511368" cy="1077218"/>
          </a:xfrm>
          <a:prstGeom prst="rect">
            <a:avLst/>
          </a:prstGeom>
          <a:noFill/>
        </p:spPr>
        <p:txBody>
          <a:bodyPr wrap="square" rtlCol="0">
            <a:spAutoFit/>
          </a:bodyPr>
          <a:lstStyle/>
          <a:p>
            <a:r>
              <a:rPr lang="fr-FR" sz="3200" b="1" cap="all" spc="200" dirty="0">
                <a:solidFill>
                  <a:schemeClr val="bg1"/>
                </a:solidFill>
                <a:latin typeface="Calibri"/>
                <a:ea typeface="+mj-ea"/>
                <a:cs typeface="Calibri"/>
              </a:rPr>
              <a:t>Evolutions des </a:t>
            </a:r>
            <a:r>
              <a:rPr lang="fr-FR" sz="3200" b="1" cap="all" spc="200" dirty="0">
                <a:solidFill>
                  <a:schemeClr val="bg1"/>
                </a:solidFill>
                <a:latin typeface="Calibri"/>
                <a:ea typeface="+mj-ea"/>
                <a:cs typeface="Calibri"/>
                <a:sym typeface="Wingdings"/>
              </a:rPr>
              <a:t>Chipset </a:t>
            </a:r>
            <a:r>
              <a:rPr lang="fr-FR" sz="3200" b="1" cap="all" spc="200" dirty="0">
                <a:solidFill>
                  <a:schemeClr val="bg1"/>
                </a:solidFill>
                <a:latin typeface="Calibri"/>
                <a:ea typeface="+mj-ea"/>
                <a:cs typeface="Calibri"/>
              </a:rPr>
              <a:t>:  </a:t>
            </a:r>
            <a:r>
              <a:rPr lang="fr-FR" sz="3200" b="1" cap="all" spc="200" dirty="0" err="1">
                <a:solidFill>
                  <a:schemeClr val="bg1"/>
                </a:solidFill>
                <a:latin typeface="Calibri"/>
                <a:ea typeface="+mj-ea"/>
                <a:cs typeface="Calibri"/>
                <a:sym typeface="Wingdings"/>
              </a:rPr>
              <a:t>NorthBridge</a:t>
            </a:r>
            <a:r>
              <a:rPr lang="fr-FR" sz="3200" b="1" cap="all" spc="200" dirty="0">
                <a:solidFill>
                  <a:schemeClr val="bg1"/>
                </a:solidFill>
                <a:latin typeface="Calibri"/>
                <a:ea typeface="+mj-ea"/>
                <a:cs typeface="Calibri"/>
                <a:sym typeface="Wingdings"/>
              </a:rPr>
              <a:t>, </a:t>
            </a:r>
            <a:r>
              <a:rPr lang="fr-FR" sz="3200" b="1" cap="all" spc="200" dirty="0" err="1">
                <a:solidFill>
                  <a:schemeClr val="bg1"/>
                </a:solidFill>
                <a:latin typeface="Calibri"/>
                <a:ea typeface="+mj-ea"/>
                <a:cs typeface="Calibri"/>
                <a:sym typeface="Wingdings"/>
              </a:rPr>
              <a:t>SouthBridge</a:t>
            </a:r>
            <a:endParaRPr lang="fr-FR" sz="3200" b="1" cap="all" spc="200" dirty="0">
              <a:solidFill>
                <a:schemeClr val="bg1"/>
              </a:solidFill>
              <a:latin typeface="Calibri"/>
              <a:ea typeface="+mj-ea"/>
              <a:cs typeface="Calibri"/>
            </a:endParaRPr>
          </a:p>
        </p:txBody>
      </p:sp>
    </p:spTree>
    <p:extLst>
      <p:ext uri="{BB962C8B-B14F-4D97-AF65-F5344CB8AC3E}">
        <p14:creationId xmlns:p14="http://schemas.microsoft.com/office/powerpoint/2010/main" val="3603677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par>
                                <p:cTn id="38" presetID="10" presetClass="entr" presetSubtype="0" fill="hold"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500"/>
                                        <p:tgtEl>
                                          <p:spTgt spid="4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500"/>
                                        <p:tgtEl>
                                          <p:spTgt spid="4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500"/>
                                        <p:tgtEl>
                                          <p:spTgt spid="4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500"/>
                                        <p:tgtEl>
                                          <p:spTgt spid="4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500"/>
                                        <p:tgtEl>
                                          <p:spTgt spid="50"/>
                                        </p:tgtEl>
                                      </p:cBhvr>
                                    </p:animEffect>
                                  </p:childTnLst>
                                </p:cTn>
                              </p:par>
                              <p:par>
                                <p:cTn id="53" presetID="10" presetClass="entr" presetSubtype="0" fill="hold"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500"/>
                                        <p:tgtEl>
                                          <p:spTgt spid="5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00"/>
                                        <p:tgtEl>
                                          <p:spTgt spid="55"/>
                                        </p:tgtEl>
                                      </p:cBhvr>
                                    </p:animEffect>
                                  </p:childTnLst>
                                </p:cTn>
                              </p:par>
                              <p:par>
                                <p:cTn id="62" presetID="10" presetClass="entr" presetSubtype="0" fill="hold" nodeType="withEffect">
                                  <p:stCondLst>
                                    <p:cond delay="0"/>
                                  </p:stCondLst>
                                  <p:childTnLst>
                                    <p:set>
                                      <p:cBhvr>
                                        <p:cTn id="63" dur="1" fill="hold">
                                          <p:stCondLst>
                                            <p:cond delay="0"/>
                                          </p:stCondLst>
                                        </p:cTn>
                                        <p:tgtEl>
                                          <p:spTgt spid="56"/>
                                        </p:tgtEl>
                                        <p:attrNameLst>
                                          <p:attrName>style.visibility</p:attrName>
                                        </p:attrNameLst>
                                      </p:cBhvr>
                                      <p:to>
                                        <p:strVal val="visible"/>
                                      </p:to>
                                    </p:set>
                                    <p:animEffect transition="in" filter="fade">
                                      <p:cBhvr>
                                        <p:cTn id="64" dur="500"/>
                                        <p:tgtEl>
                                          <p:spTgt spid="56"/>
                                        </p:tgtEl>
                                      </p:cBhvr>
                                    </p:animEffect>
                                  </p:childTnLst>
                                </p:cTn>
                              </p:par>
                              <p:par>
                                <p:cTn id="65" presetID="10"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500"/>
                                        <p:tgtEl>
                                          <p:spTgt spid="59"/>
                                        </p:tgtEl>
                                      </p:cBhvr>
                                    </p:animEffect>
                                  </p:childTnLst>
                                </p:cTn>
                              </p:par>
                              <p:par>
                                <p:cTn id="68" presetID="10" presetClass="entr" presetSubtype="0"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500"/>
                                        <p:tgtEl>
                                          <p:spTgt spid="61"/>
                                        </p:tgtEl>
                                      </p:cBhvr>
                                    </p:animEffect>
                                  </p:childTnLst>
                                </p:cTn>
                              </p:par>
                              <p:par>
                                <p:cTn id="71" presetID="10" presetClass="entr" presetSubtype="0" fill="hold" nodeType="withEffect">
                                  <p:stCondLst>
                                    <p:cond delay="0"/>
                                  </p:stCondLst>
                                  <p:childTnLst>
                                    <p:set>
                                      <p:cBhvr>
                                        <p:cTn id="72" dur="1" fill="hold">
                                          <p:stCondLst>
                                            <p:cond delay="0"/>
                                          </p:stCondLst>
                                        </p:cTn>
                                        <p:tgtEl>
                                          <p:spTgt spid="75"/>
                                        </p:tgtEl>
                                        <p:attrNameLst>
                                          <p:attrName>style.visibility</p:attrName>
                                        </p:attrNameLst>
                                      </p:cBhvr>
                                      <p:to>
                                        <p:strVal val="visible"/>
                                      </p:to>
                                    </p:set>
                                    <p:animEffect transition="in" filter="fade">
                                      <p:cBhvr>
                                        <p:cTn id="73" dur="500"/>
                                        <p:tgtEl>
                                          <p:spTgt spid="75"/>
                                        </p:tgtEl>
                                      </p:cBhvr>
                                    </p:animEffect>
                                  </p:childTnLst>
                                </p:cTn>
                              </p:par>
                              <p:par>
                                <p:cTn id="74" presetID="10" presetClass="entr" presetSubtype="0" fill="hold" nodeType="withEffect">
                                  <p:stCondLst>
                                    <p:cond delay="0"/>
                                  </p:stCondLst>
                                  <p:childTnLst>
                                    <p:set>
                                      <p:cBhvr>
                                        <p:cTn id="75" dur="1" fill="hold">
                                          <p:stCondLst>
                                            <p:cond delay="0"/>
                                          </p:stCondLst>
                                        </p:cTn>
                                        <p:tgtEl>
                                          <p:spTgt spid="81"/>
                                        </p:tgtEl>
                                        <p:attrNameLst>
                                          <p:attrName>style.visibility</p:attrName>
                                        </p:attrNameLst>
                                      </p:cBhvr>
                                      <p:to>
                                        <p:strVal val="visible"/>
                                      </p:to>
                                    </p:set>
                                    <p:animEffect transition="in" filter="fade">
                                      <p:cBhvr>
                                        <p:cTn id="76" dur="500"/>
                                        <p:tgtEl>
                                          <p:spTgt spid="8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2"/>
                                        </p:tgtEl>
                                        <p:attrNameLst>
                                          <p:attrName>style.visibility</p:attrName>
                                        </p:attrNameLst>
                                      </p:cBhvr>
                                      <p:to>
                                        <p:strVal val="visible"/>
                                      </p:to>
                                    </p:set>
                                    <p:animEffect transition="in" filter="fade">
                                      <p:cBhvr>
                                        <p:cTn id="79" dur="500"/>
                                        <p:tgtEl>
                                          <p:spTgt spid="82"/>
                                        </p:tgtEl>
                                      </p:cBhvr>
                                    </p:animEffect>
                                  </p:childTnLst>
                                </p:cTn>
                              </p:par>
                              <p:par>
                                <p:cTn id="80" presetID="10" presetClass="entr" presetSubtype="0" fill="hold" nodeType="withEffect">
                                  <p:stCondLst>
                                    <p:cond delay="0"/>
                                  </p:stCondLst>
                                  <p:childTnLst>
                                    <p:set>
                                      <p:cBhvr>
                                        <p:cTn id="81" dur="1" fill="hold">
                                          <p:stCondLst>
                                            <p:cond delay="0"/>
                                          </p:stCondLst>
                                        </p:cTn>
                                        <p:tgtEl>
                                          <p:spTgt spid="83"/>
                                        </p:tgtEl>
                                        <p:attrNameLst>
                                          <p:attrName>style.visibility</p:attrName>
                                        </p:attrNameLst>
                                      </p:cBhvr>
                                      <p:to>
                                        <p:strVal val="visible"/>
                                      </p:to>
                                    </p:set>
                                    <p:animEffect transition="in" filter="fade">
                                      <p:cBhvr>
                                        <p:cTn id="82" dur="500"/>
                                        <p:tgtEl>
                                          <p:spTgt spid="83"/>
                                        </p:tgtEl>
                                      </p:cBhvr>
                                    </p:animEffect>
                                  </p:childTnLst>
                                </p:cTn>
                              </p:par>
                              <p:par>
                                <p:cTn id="83" presetID="10" presetClass="entr" presetSubtype="0" fill="hold" nodeType="with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fade">
                                      <p:cBhvr>
                                        <p:cTn id="85" dur="500"/>
                                        <p:tgtEl>
                                          <p:spTgt spid="8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5"/>
                                        </p:tgtEl>
                                        <p:attrNameLst>
                                          <p:attrName>style.visibility</p:attrName>
                                        </p:attrNameLst>
                                      </p:cBhvr>
                                      <p:to>
                                        <p:strVal val="visible"/>
                                      </p:to>
                                    </p:set>
                                    <p:animEffect transition="in" filter="fade">
                                      <p:cBhvr>
                                        <p:cTn id="88" dur="500"/>
                                        <p:tgtEl>
                                          <p:spTgt spid="8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6"/>
                                        </p:tgtEl>
                                        <p:attrNameLst>
                                          <p:attrName>style.visibility</p:attrName>
                                        </p:attrNameLst>
                                      </p:cBhvr>
                                      <p:to>
                                        <p:strVal val="visible"/>
                                      </p:to>
                                    </p:set>
                                    <p:animEffect transition="in" filter="fade">
                                      <p:cBhvr>
                                        <p:cTn id="91" dur="500"/>
                                        <p:tgtEl>
                                          <p:spTgt spid="86"/>
                                        </p:tgtEl>
                                      </p:cBhvr>
                                    </p:animEffect>
                                  </p:childTnLst>
                                </p:cTn>
                              </p:par>
                              <p:par>
                                <p:cTn id="92" presetID="10" presetClass="entr" presetSubtype="0" fill="hold" nodeType="withEffect">
                                  <p:stCondLst>
                                    <p:cond delay="0"/>
                                  </p:stCondLst>
                                  <p:childTnLst>
                                    <p:set>
                                      <p:cBhvr>
                                        <p:cTn id="93" dur="1" fill="hold">
                                          <p:stCondLst>
                                            <p:cond delay="0"/>
                                          </p:stCondLst>
                                        </p:cTn>
                                        <p:tgtEl>
                                          <p:spTgt spid="87"/>
                                        </p:tgtEl>
                                        <p:attrNameLst>
                                          <p:attrName>style.visibility</p:attrName>
                                        </p:attrNameLst>
                                      </p:cBhvr>
                                      <p:to>
                                        <p:strVal val="visible"/>
                                      </p:to>
                                    </p:set>
                                    <p:animEffect transition="in" filter="fade">
                                      <p:cBhvr>
                                        <p:cTn id="94" dur="500"/>
                                        <p:tgtEl>
                                          <p:spTgt spid="8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88"/>
                                        </p:tgtEl>
                                        <p:attrNameLst>
                                          <p:attrName>style.visibility</p:attrName>
                                        </p:attrNameLst>
                                      </p:cBhvr>
                                      <p:to>
                                        <p:strVal val="visible"/>
                                      </p:to>
                                    </p:set>
                                    <p:animEffect transition="in" filter="fade">
                                      <p:cBhvr>
                                        <p:cTn id="97" dur="500"/>
                                        <p:tgtEl>
                                          <p:spTgt spid="8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89"/>
                                        </p:tgtEl>
                                        <p:attrNameLst>
                                          <p:attrName>style.visibility</p:attrName>
                                        </p:attrNameLst>
                                      </p:cBhvr>
                                      <p:to>
                                        <p:strVal val="visible"/>
                                      </p:to>
                                    </p:set>
                                    <p:animEffect transition="in" filter="fade">
                                      <p:cBhvr>
                                        <p:cTn id="100" dur="500"/>
                                        <p:tgtEl>
                                          <p:spTgt spid="8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childTnLst>
                                </p:cTn>
                              </p:par>
                              <p:par>
                                <p:cTn id="104" presetID="10" presetClass="entr" presetSubtype="0" fill="hold" nodeType="withEffect">
                                  <p:stCondLst>
                                    <p:cond delay="0"/>
                                  </p:stCondLst>
                                  <p:childTnLst>
                                    <p:set>
                                      <p:cBhvr>
                                        <p:cTn id="105" dur="1" fill="hold">
                                          <p:stCondLst>
                                            <p:cond delay="0"/>
                                          </p:stCondLst>
                                        </p:cTn>
                                        <p:tgtEl>
                                          <p:spTgt spid="103"/>
                                        </p:tgtEl>
                                        <p:attrNameLst>
                                          <p:attrName>style.visibility</p:attrName>
                                        </p:attrNameLst>
                                      </p:cBhvr>
                                      <p:to>
                                        <p:strVal val="visible"/>
                                      </p:to>
                                    </p:set>
                                    <p:animEffect transition="in" filter="fade">
                                      <p:cBhvr>
                                        <p:cTn id="106" dur="500"/>
                                        <p:tgtEl>
                                          <p:spTgt spid="10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02"/>
                                        </p:tgtEl>
                                        <p:attrNameLst>
                                          <p:attrName>style.visibility</p:attrName>
                                        </p:attrNameLst>
                                      </p:cBhvr>
                                      <p:to>
                                        <p:strVal val="visible"/>
                                      </p:to>
                                    </p:set>
                                    <p:animEffect transition="in" filter="fade">
                                      <p:cBhvr>
                                        <p:cTn id="109" dur="500"/>
                                        <p:tgtEl>
                                          <p:spTgt spid="10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65"/>
                                        </p:tgtEl>
                                        <p:attrNameLst>
                                          <p:attrName>style.visibility</p:attrName>
                                        </p:attrNameLst>
                                      </p:cBhvr>
                                      <p:to>
                                        <p:strVal val="visible"/>
                                      </p:to>
                                    </p:set>
                                    <p:animEffect transition="in" filter="fade">
                                      <p:cBhvr>
                                        <p:cTn id="11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animBg="1"/>
      <p:bldP spid="24" grpId="0" animBg="1"/>
      <p:bldP spid="29" grpId="0"/>
      <p:bldP spid="34" grpId="0" animBg="1"/>
      <p:bldP spid="35" grpId="0"/>
      <p:bldP spid="37" grpId="0" animBg="1"/>
      <p:bldP spid="38" grpId="0"/>
      <p:bldP spid="42" grpId="0" animBg="1"/>
      <p:bldP spid="43" grpId="0"/>
      <p:bldP spid="47" grpId="0" animBg="1"/>
      <p:bldP spid="48" grpId="0"/>
      <p:bldP spid="49" grpId="0" animBg="1"/>
      <p:bldP spid="50" grpId="0"/>
      <p:bldP spid="54" grpId="0" animBg="1"/>
      <p:bldP spid="55" grpId="0"/>
      <p:bldP spid="65" grpId="0"/>
      <p:bldP spid="82" grpId="0"/>
      <p:bldP spid="85" grpId="0"/>
      <p:bldP spid="86" grpId="0"/>
      <p:bldP spid="88" grpId="0"/>
      <p:bldP spid="89" grpId="0"/>
      <p:bldP spid="10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32</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476673"/>
            <a:ext cx="6193601" cy="6217468"/>
          </a:xfrm>
          <a:prstGeom prst="roundRect">
            <a:avLst>
              <a:gd name="adj" fmla="val 2703"/>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12" name="Rectangle 11"/>
          <p:cNvSpPr/>
          <p:nvPr/>
        </p:nvSpPr>
        <p:spPr>
          <a:xfrm>
            <a:off x="7197738" y="6386364"/>
            <a:ext cx="1839671" cy="307777"/>
          </a:xfrm>
          <a:prstGeom prst="rect">
            <a:avLst/>
          </a:prstGeom>
        </p:spPr>
        <p:txBody>
          <a:bodyPr wrap="none">
            <a:spAutoFit/>
          </a:bodyPr>
          <a:lstStyle/>
          <a:p>
            <a:r>
              <a:rPr lang="fr-FR" sz="1400" b="1" i="1" dirty="0">
                <a:effectLst>
                  <a:outerShdw blurRad="38100" dist="38100" dir="2700000" algn="tl">
                    <a:srgbClr val="000000">
                      <a:alpha val="43137"/>
                    </a:srgbClr>
                  </a:outerShdw>
                </a:effectLst>
                <a:hlinkClick r:id="rId4"/>
              </a:rPr>
              <a:t>http://www.intel.com</a:t>
            </a:r>
            <a:endParaRPr lang="fr-FR" sz="1400" b="1" i="1" dirty="0">
              <a:solidFill>
                <a:schemeClr val="accent1">
                  <a:lumMod val="60000"/>
                  <a:lumOff val="40000"/>
                </a:schemeClr>
              </a:solidFill>
              <a:effectLst>
                <a:outerShdw blurRad="38100" dist="38100" dir="2700000" algn="tl">
                  <a:srgbClr val="000000">
                    <a:alpha val="43137"/>
                  </a:srgbClr>
                </a:outerShdw>
              </a:effectLst>
            </a:endParaRPr>
          </a:p>
        </p:txBody>
      </p:sp>
      <p:cxnSp>
        <p:nvCxnSpPr>
          <p:cNvPr id="13" name="Straight Arrow Connector 12"/>
          <p:cNvCxnSpPr/>
          <p:nvPr/>
        </p:nvCxnSpPr>
        <p:spPr>
          <a:xfrm flipV="1">
            <a:off x="2447764" y="4077072"/>
            <a:ext cx="2700300" cy="156414"/>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ZoneTexte 61"/>
          <p:cNvSpPr txBox="1"/>
          <p:nvPr/>
        </p:nvSpPr>
        <p:spPr>
          <a:xfrm>
            <a:off x="802570" y="3829682"/>
            <a:ext cx="1647558" cy="807607"/>
          </a:xfrm>
          <a:prstGeom prst="rect">
            <a:avLst/>
          </a:prstGeom>
          <a:noFill/>
        </p:spPr>
        <p:txBody>
          <a:bodyPr wrap="square" lIns="98755" tIns="49378" rIns="98755" bIns="49378">
            <a:spAutoFit/>
          </a:bodyPr>
          <a:lstStyle/>
          <a:p>
            <a:pPr algn="ctr" fontAlgn="auto">
              <a:spcBef>
                <a:spcPts val="0"/>
              </a:spcBef>
              <a:spcAft>
                <a:spcPts val="0"/>
              </a:spcAft>
              <a:defRPr/>
            </a:pPr>
            <a:r>
              <a:rPr lang="fr-FR" b="1" i="1" dirty="0" err="1">
                <a:effectLst>
                  <a:outerShdw blurRad="38100" dist="38100" dir="2700000" algn="tl">
                    <a:srgbClr val="000000">
                      <a:alpha val="43137"/>
                    </a:srgbClr>
                  </a:outerShdw>
                </a:effectLst>
              </a:rPr>
              <a:t>SouthBridge</a:t>
            </a:r>
            <a:endParaRPr lang="fr-FR" b="1" i="1" dirty="0">
              <a:effectLst>
                <a:outerShdw blurRad="38100" dist="38100" dir="2700000" algn="tl">
                  <a:srgbClr val="000000">
                    <a:alpha val="43137"/>
                  </a:srgbClr>
                </a:outerShdw>
              </a:effectLst>
            </a:endParaRPr>
          </a:p>
          <a:p>
            <a:pPr algn="ctr" fontAlgn="auto">
              <a:spcBef>
                <a:spcPts val="0"/>
              </a:spcBef>
              <a:spcAft>
                <a:spcPts val="0"/>
              </a:spcAft>
              <a:defRPr/>
            </a:pPr>
            <a:r>
              <a:rPr lang="fr-FR" sz="1400" i="1" dirty="0" err="1"/>
              <a:t>Integrated</a:t>
            </a:r>
            <a:r>
              <a:rPr lang="fr-FR" sz="1400" i="1" dirty="0"/>
              <a:t> Controller Hub</a:t>
            </a:r>
          </a:p>
        </p:txBody>
      </p:sp>
      <p:cxnSp>
        <p:nvCxnSpPr>
          <p:cNvPr id="16" name="Straight Arrow Connector 15"/>
          <p:cNvCxnSpPr/>
          <p:nvPr/>
        </p:nvCxnSpPr>
        <p:spPr>
          <a:xfrm>
            <a:off x="1907704" y="6021288"/>
            <a:ext cx="1080120" cy="518964"/>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9" name="ZoneTexte 61"/>
          <p:cNvSpPr txBox="1"/>
          <p:nvPr/>
        </p:nvSpPr>
        <p:spPr>
          <a:xfrm>
            <a:off x="1221482" y="5863706"/>
            <a:ext cx="781855"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t>Slots</a:t>
            </a:r>
            <a:endParaRPr lang="fr-FR" sz="1100" i="1" dirty="0"/>
          </a:p>
        </p:txBody>
      </p:sp>
      <p:cxnSp>
        <p:nvCxnSpPr>
          <p:cNvPr id="20" name="Straight Arrow Connector 19"/>
          <p:cNvCxnSpPr/>
          <p:nvPr/>
        </p:nvCxnSpPr>
        <p:spPr>
          <a:xfrm>
            <a:off x="2597018" y="2708920"/>
            <a:ext cx="1614942" cy="360040"/>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ZoneTexte 61"/>
          <p:cNvSpPr txBox="1"/>
          <p:nvPr/>
        </p:nvSpPr>
        <p:spPr>
          <a:xfrm>
            <a:off x="1773240" y="2551338"/>
            <a:ext cx="919412" cy="530608"/>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err="1"/>
              <a:t>Legacy</a:t>
            </a:r>
            <a:endParaRPr lang="fr-FR" sz="1400" i="1" dirty="0"/>
          </a:p>
          <a:p>
            <a:pPr algn="ctr" fontAlgn="auto">
              <a:spcBef>
                <a:spcPts val="0"/>
              </a:spcBef>
              <a:spcAft>
                <a:spcPts val="0"/>
              </a:spcAft>
              <a:defRPr/>
            </a:pPr>
            <a:r>
              <a:rPr lang="fr-FR" sz="1400" i="1" dirty="0"/>
              <a:t>Interface</a:t>
            </a:r>
            <a:endParaRPr lang="fr-FR" sz="1100" i="1" dirty="0"/>
          </a:p>
        </p:txBody>
      </p:sp>
      <p:cxnSp>
        <p:nvCxnSpPr>
          <p:cNvPr id="24" name="Straight Arrow Connector 23"/>
          <p:cNvCxnSpPr/>
          <p:nvPr/>
        </p:nvCxnSpPr>
        <p:spPr>
          <a:xfrm flipV="1">
            <a:off x="1663154" y="4509120"/>
            <a:ext cx="1324670" cy="50405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ZoneTexte 61"/>
          <p:cNvSpPr txBox="1"/>
          <p:nvPr/>
        </p:nvSpPr>
        <p:spPr>
          <a:xfrm>
            <a:off x="1036346" y="4855594"/>
            <a:ext cx="722442" cy="315164"/>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t>BIOS</a:t>
            </a:r>
            <a:endParaRPr lang="fr-FR" sz="1100" i="1" dirty="0"/>
          </a:p>
        </p:txBody>
      </p:sp>
      <p:cxnSp>
        <p:nvCxnSpPr>
          <p:cNvPr id="28" name="Straight Arrow Connector 27"/>
          <p:cNvCxnSpPr/>
          <p:nvPr/>
        </p:nvCxnSpPr>
        <p:spPr>
          <a:xfrm flipV="1">
            <a:off x="1612409" y="1174014"/>
            <a:ext cx="1591439" cy="50405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2232946" y="1016732"/>
            <a:ext cx="2771102" cy="1223556"/>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1" name="ZoneTexte 61"/>
          <p:cNvSpPr txBox="1"/>
          <p:nvPr/>
        </p:nvSpPr>
        <p:spPr>
          <a:xfrm>
            <a:off x="650118" y="2020730"/>
            <a:ext cx="1891340" cy="530608"/>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t>CPU Corei7</a:t>
            </a:r>
          </a:p>
          <a:p>
            <a:pPr algn="ctr" fontAlgn="auto">
              <a:spcBef>
                <a:spcPts val="0"/>
              </a:spcBef>
              <a:spcAft>
                <a:spcPts val="0"/>
              </a:spcAft>
              <a:defRPr/>
            </a:pPr>
            <a:r>
              <a:rPr lang="fr-FR" sz="1400" i="1" dirty="0" err="1"/>
              <a:t>northBridge</a:t>
            </a:r>
            <a:r>
              <a:rPr lang="fr-FR" sz="1400" i="1" dirty="0"/>
              <a:t> intégré</a:t>
            </a:r>
            <a:endParaRPr lang="fr-FR" sz="1100" i="1" dirty="0"/>
          </a:p>
        </p:txBody>
      </p:sp>
      <p:sp>
        <p:nvSpPr>
          <p:cNvPr id="35" name="ZoneTexte 61"/>
          <p:cNvSpPr txBox="1"/>
          <p:nvPr/>
        </p:nvSpPr>
        <p:spPr>
          <a:xfrm>
            <a:off x="120963" y="1472119"/>
            <a:ext cx="1566035" cy="530608"/>
          </a:xfrm>
          <a:prstGeom prst="rect">
            <a:avLst/>
          </a:prstGeom>
          <a:noFill/>
        </p:spPr>
        <p:txBody>
          <a:bodyPr wrap="square" lIns="98755" tIns="49378" rIns="98755" bIns="49378">
            <a:spAutoFit/>
          </a:bodyPr>
          <a:lstStyle/>
          <a:p>
            <a:pPr algn="ctr" fontAlgn="auto">
              <a:spcBef>
                <a:spcPts val="0"/>
              </a:spcBef>
              <a:spcAft>
                <a:spcPts val="0"/>
              </a:spcAft>
              <a:defRPr/>
            </a:pPr>
            <a:r>
              <a:rPr lang="fr-FR" sz="1400" i="1" dirty="0"/>
              <a:t>Carte Graphique Externe sur </a:t>
            </a:r>
            <a:r>
              <a:rPr lang="fr-FR" sz="1400" i="1" dirty="0" err="1"/>
              <a:t>PCIe</a:t>
            </a:r>
            <a:endParaRPr lang="fr-FR" sz="1100" i="1" dirty="0"/>
          </a:p>
        </p:txBody>
      </p:sp>
    </p:spTree>
    <p:extLst>
      <p:ext uri="{BB962C8B-B14F-4D97-AF65-F5344CB8AC3E}">
        <p14:creationId xmlns:p14="http://schemas.microsoft.com/office/powerpoint/2010/main" val="4077256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1" grpId="0"/>
      <p:bldP spid="25" grpId="0"/>
      <p:bldP spid="31" grpId="0"/>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0682C17-CF29-C975-4A87-FCD087F18F7C}"/>
              </a:ext>
            </a:extLst>
          </p:cNvPr>
          <p:cNvSpPr>
            <a:spLocks noGrp="1"/>
          </p:cNvSpPr>
          <p:nvPr>
            <p:ph type="body" idx="1"/>
          </p:nvPr>
        </p:nvSpPr>
        <p:spPr/>
        <p:txBody>
          <a:bodyPr/>
          <a:lstStyle/>
          <a:p>
            <a:endParaRPr lang="fr-FR"/>
          </a:p>
        </p:txBody>
      </p:sp>
      <p:sp>
        <p:nvSpPr>
          <p:cNvPr id="3" name="Titre 2">
            <a:extLst>
              <a:ext uri="{FF2B5EF4-FFF2-40B4-BE49-F238E27FC236}">
                <a16:creationId xmlns:a16="http://schemas.microsoft.com/office/drawing/2014/main" id="{DAD5042E-52D8-9ECB-7D50-FA4773D1ED1A}"/>
              </a:ext>
            </a:extLst>
          </p:cNvPr>
          <p:cNvSpPr>
            <a:spLocks noGrp="1"/>
          </p:cNvSpPr>
          <p:nvPr>
            <p:ph type="title"/>
          </p:nvPr>
        </p:nvSpPr>
        <p:spPr/>
        <p:txBody>
          <a:bodyPr/>
          <a:lstStyle/>
          <a:p>
            <a:r>
              <a:rPr lang="fr-FR" dirty="0"/>
              <a:t>A retenir </a:t>
            </a:r>
          </a:p>
        </p:txBody>
      </p:sp>
    </p:spTree>
    <p:extLst>
      <p:ext uri="{BB962C8B-B14F-4D97-AF65-F5344CB8AC3E}">
        <p14:creationId xmlns:p14="http://schemas.microsoft.com/office/powerpoint/2010/main" val="3463608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a:xfrm>
            <a:off x="7380312" y="6381328"/>
            <a:ext cx="1763688" cy="365125"/>
          </a:xfrm>
        </p:spPr>
        <p:txBody>
          <a:bodyPr/>
          <a:lstStyle/>
          <a:p>
            <a:fld id="{6B6F9A8F-BF42-49C4-B13D-A9E60ACFB25C}" type="slidenum">
              <a:rPr lang="fr-FR" sz="1600" b="1" i="1" smtClean="0">
                <a:solidFill>
                  <a:schemeClr val="accent1">
                    <a:lumMod val="20000"/>
                    <a:lumOff val="80000"/>
                  </a:schemeClr>
                </a:solidFill>
              </a:rPr>
              <a:t>34</a:t>
            </a:fld>
            <a:r>
              <a:rPr lang="fr-FR" sz="1600" b="1" i="1" dirty="0">
                <a:solidFill>
                  <a:schemeClr val="accent1">
                    <a:lumMod val="20000"/>
                    <a:lumOff val="80000"/>
                  </a:schemeClr>
                </a:solidFill>
              </a:rPr>
              <a:t> </a:t>
            </a:r>
            <a:r>
              <a:rPr lang="fr-FR" b="1" i="1" dirty="0">
                <a:solidFill>
                  <a:schemeClr val="accent1">
                    <a:lumMod val="20000"/>
                    <a:lumOff val="80000"/>
                  </a:schemeClr>
                </a:solidFill>
              </a:rPr>
              <a:t>– copyleft</a:t>
            </a:r>
            <a:endParaRPr lang="fr-FR" sz="1600" b="1" i="1" dirty="0">
              <a:solidFill>
                <a:schemeClr val="accent1">
                  <a:lumMod val="20000"/>
                  <a:lumOff val="80000"/>
                </a:schemeClr>
              </a:solidFill>
            </a:endParaRPr>
          </a:p>
        </p:txBody>
      </p:sp>
      <p:sp>
        <p:nvSpPr>
          <p:cNvPr id="8" name="Title 3"/>
          <p:cNvSpPr txBox="1">
            <a:spLocks/>
          </p:cNvSpPr>
          <p:nvPr/>
        </p:nvSpPr>
        <p:spPr>
          <a:xfrm>
            <a:off x="539552" y="1665700"/>
            <a:ext cx="8604448" cy="874492"/>
          </a:xfrm>
          <a:prstGeom prst="rect">
            <a:avLst/>
          </a:prstGeom>
        </p:spPr>
        <p:txBody>
          <a:bodyPr vert="horz" lIns="91440" tIns="45720" rIns="91440" bIns="4572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FR" sz="1600" i="1" dirty="0">
                <a:latin typeface="Arial"/>
                <a:cs typeface="Arial"/>
              </a:rPr>
              <a:t>La gamme Corei7 Sandy Bridge de Intel embarque notamment le </a:t>
            </a:r>
            <a:r>
              <a:rPr lang="fr-FR" sz="1600" i="1" dirty="0" err="1">
                <a:latin typeface="Arial"/>
                <a:cs typeface="Arial"/>
              </a:rPr>
              <a:t>northBridge</a:t>
            </a:r>
            <a:r>
              <a:rPr lang="fr-FR" sz="1600" i="1" dirty="0">
                <a:latin typeface="Arial"/>
                <a:cs typeface="Arial"/>
              </a:rPr>
              <a:t> (interface </a:t>
            </a:r>
            <a:r>
              <a:rPr lang="fr-FR" sz="1600" i="1" dirty="0" err="1">
                <a:latin typeface="Arial"/>
                <a:cs typeface="Arial"/>
              </a:rPr>
              <a:t>PCIe</a:t>
            </a:r>
            <a:r>
              <a:rPr lang="fr-FR" sz="1600" i="1" dirty="0">
                <a:latin typeface="Arial"/>
                <a:cs typeface="Arial"/>
              </a:rPr>
              <a:t>, interface mémoire principale et sortie vidéo) :</a:t>
            </a:r>
          </a:p>
          <a:p>
            <a:pPr algn="l"/>
            <a:endParaRPr lang="fr-FR" sz="1600" i="1" dirty="0">
              <a:latin typeface="Arial"/>
              <a:cs typeface="Arial"/>
            </a:endParaRPr>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2932" y="2780928"/>
            <a:ext cx="5608004" cy="2804002"/>
          </a:xfrm>
          <a:prstGeom prst="roundRect">
            <a:avLst>
              <a:gd name="adj" fmla="val 4292"/>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4265" y="4642424"/>
            <a:ext cx="2332796" cy="1454110"/>
          </a:xfrm>
          <a:prstGeom prst="roundRect">
            <a:avLst>
              <a:gd name="adj" fmla="val 4292"/>
            </a:avLst>
          </a:prstGeom>
          <a:solidFill>
            <a:srgbClr val="FFFFFF">
              <a:shade val="85000"/>
            </a:srgbClr>
          </a:solidFill>
          <a:ln w="12700">
            <a:solidFill>
              <a:schemeClr val="accent1">
                <a:lumMod val="40000"/>
                <a:lumOff val="60000"/>
              </a:schemeClr>
            </a:solidFill>
          </a:ln>
          <a:effectLst>
            <a:reflection blurRad="12700" stA="38000" endPos="28000" dist="5000" dir="5400000" sy="-100000" algn="bl" rotWithShape="0"/>
          </a:effectLst>
        </p:spPr>
      </p:pic>
      <p:sp>
        <p:nvSpPr>
          <p:cNvPr id="18" name="Rectangle 17"/>
          <p:cNvSpPr/>
          <p:nvPr/>
        </p:nvSpPr>
        <p:spPr>
          <a:xfrm>
            <a:off x="1320930" y="6096534"/>
            <a:ext cx="2385140" cy="307777"/>
          </a:xfrm>
          <a:prstGeom prst="rect">
            <a:avLst/>
          </a:prstGeom>
        </p:spPr>
        <p:txBody>
          <a:bodyPr wrap="none">
            <a:spAutoFit/>
          </a:bodyPr>
          <a:lstStyle/>
          <a:p>
            <a:r>
              <a:rPr lang="fr-FR" sz="1400" b="1" i="1" dirty="0">
                <a:solidFill>
                  <a:schemeClr val="accent1">
                    <a:lumMod val="60000"/>
                    <a:lumOff val="40000"/>
                  </a:schemeClr>
                </a:solidFill>
                <a:effectLst>
                  <a:outerShdw blurRad="38100" dist="38100" dir="2700000" algn="tl">
                    <a:srgbClr val="000000">
                      <a:alpha val="43137"/>
                    </a:srgbClr>
                  </a:outerShdw>
                </a:effectLst>
                <a:hlinkClick r:id="rId5"/>
              </a:rPr>
              <a:t>http://www.presence-pc.com</a:t>
            </a:r>
            <a:endParaRPr lang="fr-FR" sz="1400" b="1" i="1" dirty="0">
              <a:solidFill>
                <a:schemeClr val="accent1">
                  <a:lumMod val="60000"/>
                  <a:lumOff val="40000"/>
                </a:schemeClr>
              </a:solidFill>
              <a:effectLst>
                <a:outerShdw blurRad="38100" dist="38100" dir="2700000" algn="tl">
                  <a:srgbClr val="000000">
                    <a:alpha val="43137"/>
                  </a:srgbClr>
                </a:outerShdw>
              </a:effectLst>
            </a:endParaRPr>
          </a:p>
        </p:txBody>
      </p:sp>
      <p:sp>
        <p:nvSpPr>
          <p:cNvPr id="11" name="Oval 10"/>
          <p:cNvSpPr/>
          <p:nvPr/>
        </p:nvSpPr>
        <p:spPr>
          <a:xfrm>
            <a:off x="6444208" y="4182929"/>
            <a:ext cx="866728" cy="686231"/>
          </a:xfrm>
          <a:prstGeom prst="ellipse">
            <a:avLst/>
          </a:prstGeom>
          <a:noFill/>
          <a:ln w="38100">
            <a:solidFill>
              <a:srgbClr val="FFFF0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61"/>
          <p:cNvSpPr txBox="1"/>
          <p:nvPr/>
        </p:nvSpPr>
        <p:spPr>
          <a:xfrm>
            <a:off x="7310936" y="4153018"/>
            <a:ext cx="1956927" cy="961495"/>
          </a:xfrm>
          <a:prstGeom prst="rect">
            <a:avLst/>
          </a:prstGeom>
          <a:noFill/>
        </p:spPr>
        <p:txBody>
          <a:bodyPr wrap="square" lIns="98755" tIns="49378" rIns="98755" bIns="49378">
            <a:spAutoFit/>
          </a:bodyPr>
          <a:lstStyle/>
          <a:p>
            <a:pPr marL="285750" indent="-285750" fontAlgn="auto">
              <a:spcBef>
                <a:spcPts val="0"/>
              </a:spcBef>
              <a:spcAft>
                <a:spcPts val="0"/>
              </a:spcAft>
              <a:buFont typeface="Arial" pitchFamily="34" charset="0"/>
              <a:buChar char="•"/>
              <a:defRPr/>
            </a:pPr>
            <a:r>
              <a:rPr lang="fr-FR" sz="1400" i="1" dirty="0"/>
              <a:t>Display</a:t>
            </a:r>
          </a:p>
          <a:p>
            <a:pPr marL="285750" indent="-285750" fontAlgn="auto">
              <a:spcBef>
                <a:spcPts val="0"/>
              </a:spcBef>
              <a:spcAft>
                <a:spcPts val="0"/>
              </a:spcAft>
              <a:buFont typeface="Arial" pitchFamily="34" charset="0"/>
              <a:buChar char="•"/>
              <a:defRPr/>
            </a:pPr>
            <a:r>
              <a:rPr lang="fr-FR" sz="1400" i="1" dirty="0"/>
              <a:t>DMI</a:t>
            </a:r>
          </a:p>
          <a:p>
            <a:pPr marL="285750" indent="-285750" fontAlgn="auto">
              <a:spcBef>
                <a:spcPts val="0"/>
              </a:spcBef>
              <a:spcAft>
                <a:spcPts val="0"/>
              </a:spcAft>
              <a:buFont typeface="Arial" pitchFamily="34" charset="0"/>
              <a:buChar char="•"/>
              <a:defRPr/>
            </a:pPr>
            <a:r>
              <a:rPr lang="fr-FR" sz="1400" i="1" dirty="0" err="1"/>
              <a:t>Miscellaneaous</a:t>
            </a:r>
            <a:r>
              <a:rPr lang="fr-FR" sz="1400" i="1" dirty="0"/>
              <a:t> I/O</a:t>
            </a:r>
          </a:p>
          <a:p>
            <a:pPr algn="ctr" fontAlgn="auto">
              <a:spcBef>
                <a:spcPts val="0"/>
              </a:spcBef>
              <a:spcAft>
                <a:spcPts val="0"/>
              </a:spcAft>
              <a:defRPr/>
            </a:pPr>
            <a:r>
              <a:rPr lang="fr-FR" sz="1400" i="1" dirty="0"/>
              <a:t>(</a:t>
            </a:r>
            <a:r>
              <a:rPr lang="fr-FR" sz="1400" i="1" dirty="0" err="1"/>
              <a:t>PCIe</a:t>
            </a:r>
            <a:r>
              <a:rPr lang="fr-FR" sz="1400" i="1" dirty="0"/>
              <a:t>, DMM..)</a:t>
            </a:r>
            <a:endParaRPr lang="fr-FR" sz="1100" i="1" dirty="0"/>
          </a:p>
        </p:txBody>
      </p:sp>
      <p:sp>
        <p:nvSpPr>
          <p:cNvPr id="2" name="ZoneTexte 1">
            <a:extLst>
              <a:ext uri="{FF2B5EF4-FFF2-40B4-BE49-F238E27FC236}">
                <a16:creationId xmlns:a16="http://schemas.microsoft.com/office/drawing/2014/main" id="{1F661BA6-C403-4EA0-F8F4-346A87B4C6F3}"/>
              </a:ext>
            </a:extLst>
          </p:cNvPr>
          <p:cNvSpPr txBox="1"/>
          <p:nvPr/>
        </p:nvSpPr>
        <p:spPr>
          <a:xfrm>
            <a:off x="2264778" y="453689"/>
            <a:ext cx="4591065" cy="584775"/>
          </a:xfrm>
          <a:prstGeom prst="rect">
            <a:avLst/>
          </a:prstGeom>
          <a:noFill/>
        </p:spPr>
        <p:txBody>
          <a:bodyPr wrap="none" rtlCol="0">
            <a:spAutoFit/>
          </a:bodyPr>
          <a:lstStyle/>
          <a:p>
            <a:r>
              <a:rPr lang="fr-FR" sz="3200" b="1" cap="all" spc="200" dirty="0">
                <a:solidFill>
                  <a:schemeClr val="bg1"/>
                </a:solidFill>
                <a:latin typeface="Calibri"/>
                <a:ea typeface="+mj-ea"/>
                <a:cs typeface="Calibri"/>
              </a:rPr>
              <a:t>L’architecture </a:t>
            </a:r>
            <a:r>
              <a:rPr lang="fr-FR" sz="3200" b="1" cap="all" spc="200" dirty="0" err="1">
                <a:solidFill>
                  <a:schemeClr val="bg1"/>
                </a:solidFill>
                <a:latin typeface="Calibri"/>
                <a:ea typeface="+mj-ea"/>
                <a:cs typeface="Calibri"/>
              </a:rPr>
              <a:t>core</a:t>
            </a:r>
            <a:r>
              <a:rPr lang="fr-FR" sz="3200" b="1" cap="all" spc="200" dirty="0">
                <a:solidFill>
                  <a:schemeClr val="bg1"/>
                </a:solidFill>
                <a:latin typeface="Calibri"/>
                <a:ea typeface="+mj-ea"/>
                <a:cs typeface="Calibri"/>
              </a:rPr>
              <a:t> </a:t>
            </a:r>
          </a:p>
        </p:txBody>
      </p:sp>
    </p:spTree>
    <p:extLst>
      <p:ext uri="{BB962C8B-B14F-4D97-AF65-F5344CB8AC3E}">
        <p14:creationId xmlns:p14="http://schemas.microsoft.com/office/powerpoint/2010/main" val="334246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1" grpId="0" animBg="1"/>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20-02-03 à 19.58.38.png"/>
          <p:cNvPicPr>
            <a:picLocks noGrp="1" noChangeAspect="1"/>
          </p:cNvPicPr>
          <p:nvPr>
            <p:ph idx="1"/>
          </p:nvPr>
        </p:nvPicPr>
        <p:blipFill>
          <a:blip r:embed="rId2">
            <a:extLst>
              <a:ext uri="{28A0092B-C50C-407E-A947-70E740481C1C}">
                <a14:useLocalDpi xmlns:a14="http://schemas.microsoft.com/office/drawing/2010/main" val="0"/>
              </a:ext>
            </a:extLst>
          </a:blip>
          <a:srcRect l="-10020" r="-10020"/>
          <a:stretch>
            <a:fillRect/>
          </a:stretch>
        </p:blipFill>
        <p:spPr>
          <a:xfrm>
            <a:off x="1136212" y="1719071"/>
            <a:ext cx="7652680" cy="4407408"/>
          </a:xfrm>
        </p:spPr>
      </p:pic>
      <p:sp>
        <p:nvSpPr>
          <p:cNvPr id="3" name="Title 2"/>
          <p:cNvSpPr>
            <a:spLocks noGrp="1"/>
          </p:cNvSpPr>
          <p:nvPr>
            <p:ph type="title"/>
          </p:nvPr>
        </p:nvSpPr>
        <p:spPr/>
        <p:txBody>
          <a:bodyPr/>
          <a:lstStyle/>
          <a:p>
            <a:r>
              <a:rPr lang="fr-FR" dirty="0"/>
              <a:t>Architecture haute performance des bus</a:t>
            </a:r>
          </a:p>
        </p:txBody>
      </p:sp>
      <p:sp>
        <p:nvSpPr>
          <p:cNvPr id="6" name="TextBox 5"/>
          <p:cNvSpPr txBox="1"/>
          <p:nvPr/>
        </p:nvSpPr>
        <p:spPr>
          <a:xfrm>
            <a:off x="324083" y="2523570"/>
            <a:ext cx="881847" cy="400110"/>
          </a:xfrm>
          <a:prstGeom prst="rect">
            <a:avLst/>
          </a:prstGeom>
          <a:noFill/>
        </p:spPr>
        <p:txBody>
          <a:bodyPr wrap="none" rtlCol="0">
            <a:spAutoFit/>
          </a:bodyPr>
          <a:lstStyle/>
          <a:p>
            <a:r>
              <a:rPr lang="fr-FR" sz="2000" dirty="0"/>
              <a:t>rapide</a:t>
            </a:r>
          </a:p>
        </p:txBody>
      </p:sp>
      <p:sp>
        <p:nvSpPr>
          <p:cNvPr id="7" name="TextBox 6"/>
          <p:cNvSpPr txBox="1"/>
          <p:nvPr/>
        </p:nvSpPr>
        <p:spPr>
          <a:xfrm>
            <a:off x="324083" y="5757147"/>
            <a:ext cx="982604" cy="400110"/>
          </a:xfrm>
          <a:prstGeom prst="rect">
            <a:avLst/>
          </a:prstGeom>
          <a:noFill/>
        </p:spPr>
        <p:txBody>
          <a:bodyPr wrap="square" rtlCol="0">
            <a:spAutoFit/>
          </a:bodyPr>
          <a:lstStyle/>
          <a:p>
            <a:r>
              <a:rPr lang="fr-FR" sz="2000" dirty="0"/>
              <a:t>lent</a:t>
            </a:r>
          </a:p>
        </p:txBody>
      </p:sp>
      <p:cxnSp>
        <p:nvCxnSpPr>
          <p:cNvPr id="9" name="Straight Arrow Connector 8"/>
          <p:cNvCxnSpPr/>
          <p:nvPr/>
        </p:nvCxnSpPr>
        <p:spPr>
          <a:xfrm>
            <a:off x="648559" y="2923680"/>
            <a:ext cx="13511" cy="283346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1557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Capture d’écran 2020-02-01 à 18.49.32.png"/>
          <p:cNvPicPr>
            <a:picLocks noGrp="1" noChangeAspect="1"/>
          </p:cNvPicPr>
          <p:nvPr>
            <p:ph idx="1"/>
          </p:nvPr>
        </p:nvPicPr>
        <p:blipFill>
          <a:blip r:embed="rId2">
            <a:extLst>
              <a:ext uri="{28A0092B-C50C-407E-A947-70E740481C1C}">
                <a14:useLocalDpi xmlns:a14="http://schemas.microsoft.com/office/drawing/2010/main" val="0"/>
              </a:ext>
            </a:extLst>
          </a:blip>
          <a:srcRect l="-12185" r="-12185"/>
          <a:stretch>
            <a:fillRect/>
          </a:stretch>
        </p:blipFill>
        <p:spPr/>
      </p:pic>
      <p:sp>
        <p:nvSpPr>
          <p:cNvPr id="3" name="Title 2"/>
          <p:cNvSpPr>
            <a:spLocks noGrp="1"/>
          </p:cNvSpPr>
          <p:nvPr>
            <p:ph type="title"/>
          </p:nvPr>
        </p:nvSpPr>
        <p:spPr/>
        <p:txBody>
          <a:bodyPr/>
          <a:lstStyle/>
          <a:p>
            <a:r>
              <a:rPr lang="en-US" sz="2800" dirty="0" err="1"/>
              <a:t>Décomposition</a:t>
            </a:r>
            <a:r>
              <a:rPr lang="en-US" sz="2800" dirty="0"/>
              <a:t> </a:t>
            </a:r>
            <a:r>
              <a:rPr lang="en-US" sz="2800" dirty="0" err="1"/>
              <a:t>Fonctionnelle</a:t>
            </a:r>
            <a:r>
              <a:rPr lang="en-US" sz="2800" dirty="0"/>
              <a:t> d’un </a:t>
            </a:r>
            <a:r>
              <a:rPr lang="en-US" sz="2800" dirty="0" err="1"/>
              <a:t>ordinateur</a:t>
            </a:r>
            <a:r>
              <a:rPr lang="en-US" sz="2800" dirty="0"/>
              <a:t> </a:t>
            </a:r>
            <a:endParaRPr lang="fr-FR" sz="2800" dirty="0"/>
          </a:p>
        </p:txBody>
      </p:sp>
    </p:spTree>
    <p:extLst>
      <p:ext uri="{BB962C8B-B14F-4D97-AF65-F5344CB8AC3E}">
        <p14:creationId xmlns:p14="http://schemas.microsoft.com/office/powerpoint/2010/main" val="2370474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endParaRPr lang="fr-FR" sz="2000" b="1" dirty="0"/>
          </a:p>
        </p:txBody>
      </p:sp>
      <p:sp>
        <p:nvSpPr>
          <p:cNvPr id="3" name="Title 2"/>
          <p:cNvSpPr>
            <a:spLocks noGrp="1"/>
          </p:cNvSpPr>
          <p:nvPr>
            <p:ph type="title"/>
          </p:nvPr>
        </p:nvSpPr>
        <p:spPr/>
        <p:txBody>
          <a:bodyPr/>
          <a:lstStyle/>
          <a:p>
            <a:r>
              <a:rPr lang="fr-FR" dirty="0"/>
              <a:t>Fonctionnement des processeurs</a:t>
            </a:r>
            <a:br>
              <a:rPr lang="fr-FR" dirty="0"/>
            </a:br>
            <a:br>
              <a:rPr lang="fr-FR" dirty="0"/>
            </a:br>
            <a:r>
              <a:rPr lang="fr-FR" sz="4400" b="1" dirty="0"/>
              <a:t>Les mémoires</a:t>
            </a:r>
            <a:br>
              <a:rPr lang="fr-FR" sz="4400" b="1" dirty="0"/>
            </a:br>
            <a:r>
              <a:rPr lang="fr-FR" dirty="0"/>
              <a:t> </a:t>
            </a:r>
          </a:p>
        </p:txBody>
      </p:sp>
    </p:spTree>
    <p:extLst>
      <p:ext uri="{BB962C8B-B14F-4D97-AF65-F5344CB8AC3E}">
        <p14:creationId xmlns:p14="http://schemas.microsoft.com/office/powerpoint/2010/main" val="3616785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20-02-03 à 20.06.15.png"/>
          <p:cNvPicPr>
            <a:picLocks noGrp="1" noChangeAspect="1"/>
          </p:cNvPicPr>
          <p:nvPr>
            <p:ph idx="1"/>
          </p:nvPr>
        </p:nvPicPr>
        <p:blipFill>
          <a:blip r:embed="rId2">
            <a:extLst>
              <a:ext uri="{28A0092B-C50C-407E-A947-70E740481C1C}">
                <a14:useLocalDpi xmlns:a14="http://schemas.microsoft.com/office/drawing/2010/main" val="0"/>
              </a:ext>
            </a:extLst>
          </a:blip>
          <a:srcRect l="-14583" r="-14583"/>
          <a:stretch>
            <a:fillRect/>
          </a:stretch>
        </p:blipFill>
        <p:spPr/>
      </p:pic>
      <p:sp>
        <p:nvSpPr>
          <p:cNvPr id="3" name="Title 2"/>
          <p:cNvSpPr>
            <a:spLocks noGrp="1"/>
          </p:cNvSpPr>
          <p:nvPr>
            <p:ph type="title"/>
          </p:nvPr>
        </p:nvSpPr>
        <p:spPr/>
        <p:txBody>
          <a:bodyPr/>
          <a:lstStyle/>
          <a:p>
            <a:r>
              <a:rPr lang="fr-FR" dirty="0"/>
              <a:t>La mémoire</a:t>
            </a:r>
          </a:p>
        </p:txBody>
      </p:sp>
    </p:spTree>
    <p:extLst>
      <p:ext uri="{BB962C8B-B14F-4D97-AF65-F5344CB8AC3E}">
        <p14:creationId xmlns:p14="http://schemas.microsoft.com/office/powerpoint/2010/main" val="3766081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4367" y="1857095"/>
            <a:ext cx="8407893" cy="4407408"/>
          </a:xfrm>
        </p:spPr>
        <p:txBody>
          <a:bodyPr>
            <a:normAutofit fontScale="85000" lnSpcReduction="20000"/>
          </a:bodyPr>
          <a:lstStyle/>
          <a:p>
            <a:pPr marL="615315" indent="-158750" algn="just">
              <a:lnSpc>
                <a:spcPct val="100000"/>
              </a:lnSpc>
              <a:buChar char="•"/>
              <a:tabLst>
                <a:tab pos="615950" algn="l"/>
              </a:tabLst>
            </a:pPr>
            <a:r>
              <a:rPr lang="en-US" spc="114" dirty="0" err="1">
                <a:solidFill>
                  <a:srgbClr val="0032CC"/>
                </a:solidFill>
                <a:cs typeface="Georgia"/>
              </a:rPr>
              <a:t>Stocke</a:t>
            </a:r>
            <a:r>
              <a:rPr lang="en-US" spc="114" dirty="0">
                <a:solidFill>
                  <a:srgbClr val="0032CC"/>
                </a:solidFill>
                <a:cs typeface="Georgia"/>
              </a:rPr>
              <a:t> </a:t>
            </a:r>
            <a:r>
              <a:rPr lang="en-US" spc="65" dirty="0">
                <a:solidFill>
                  <a:srgbClr val="0032CC"/>
                </a:solidFill>
                <a:cs typeface="Georgia"/>
              </a:rPr>
              <a:t>des </a:t>
            </a:r>
            <a:r>
              <a:rPr lang="en-US" spc="45" dirty="0" err="1">
                <a:solidFill>
                  <a:srgbClr val="0032CC"/>
                </a:solidFill>
                <a:cs typeface="Georgia"/>
              </a:rPr>
              <a:t>informations</a:t>
            </a:r>
            <a:r>
              <a:rPr lang="en-US" spc="45" dirty="0">
                <a:solidFill>
                  <a:srgbClr val="0032CC"/>
                </a:solidFill>
                <a:cs typeface="Georgia"/>
              </a:rPr>
              <a:t> </a:t>
            </a:r>
            <a:r>
              <a:rPr lang="en-US" spc="55" dirty="0" err="1">
                <a:solidFill>
                  <a:srgbClr val="0032CC"/>
                </a:solidFill>
                <a:cs typeface="Georgia"/>
              </a:rPr>
              <a:t>utilisées</a:t>
            </a:r>
            <a:r>
              <a:rPr lang="en-US" spc="55" dirty="0">
                <a:solidFill>
                  <a:srgbClr val="0032CC"/>
                </a:solidFill>
                <a:cs typeface="Georgia"/>
              </a:rPr>
              <a:t> par </a:t>
            </a:r>
            <a:r>
              <a:rPr lang="en-US" spc="30" dirty="0">
                <a:solidFill>
                  <a:srgbClr val="0032CC"/>
                </a:solidFill>
                <a:cs typeface="Georgia"/>
              </a:rPr>
              <a:t>le</a:t>
            </a:r>
            <a:r>
              <a:rPr lang="en-US" spc="40" dirty="0">
                <a:solidFill>
                  <a:srgbClr val="0032CC"/>
                </a:solidFill>
                <a:cs typeface="Georgia"/>
              </a:rPr>
              <a:t> </a:t>
            </a:r>
            <a:r>
              <a:rPr lang="en-US" spc="60" dirty="0" err="1">
                <a:solidFill>
                  <a:srgbClr val="0032CC"/>
                </a:solidFill>
                <a:cs typeface="Georgia"/>
              </a:rPr>
              <a:t>processeur</a:t>
            </a:r>
            <a:endParaRPr lang="en-US" spc="60" dirty="0">
              <a:solidFill>
                <a:srgbClr val="0032CC"/>
              </a:solidFill>
              <a:cs typeface="Georgia"/>
            </a:endParaRPr>
          </a:p>
          <a:p>
            <a:pPr marL="615315" indent="-158750" algn="just">
              <a:lnSpc>
                <a:spcPct val="100000"/>
              </a:lnSpc>
              <a:buChar char="•"/>
              <a:tabLst>
                <a:tab pos="615950" algn="l"/>
              </a:tabLst>
            </a:pPr>
            <a:endParaRPr lang="en-US" dirty="0">
              <a:cs typeface="Georgia"/>
            </a:endParaRPr>
          </a:p>
          <a:p>
            <a:pPr marL="615315" marR="941705" indent="-158750" algn="just">
              <a:lnSpc>
                <a:spcPts val="1180"/>
              </a:lnSpc>
              <a:spcBef>
                <a:spcPts val="420"/>
              </a:spcBef>
              <a:buChar char="•"/>
              <a:tabLst>
                <a:tab pos="615950" algn="l"/>
              </a:tabLst>
            </a:pPr>
            <a:r>
              <a:rPr lang="en-US" spc="95" dirty="0">
                <a:solidFill>
                  <a:srgbClr val="0032CC"/>
                </a:solidFill>
                <a:cs typeface="Georgia"/>
              </a:rPr>
              <a:t>Juxtaposition </a:t>
            </a:r>
            <a:r>
              <a:rPr lang="en-US" spc="45" dirty="0">
                <a:solidFill>
                  <a:srgbClr val="0032CC"/>
                </a:solidFill>
                <a:cs typeface="Georgia"/>
              </a:rPr>
              <a:t>de </a:t>
            </a:r>
            <a:r>
              <a:rPr lang="en-US" spc="55" dirty="0">
                <a:solidFill>
                  <a:srgbClr val="0032CC"/>
                </a:solidFill>
                <a:cs typeface="Georgia"/>
              </a:rPr>
              <a:t>cellules </a:t>
            </a:r>
            <a:r>
              <a:rPr lang="en-US" spc="10" dirty="0">
                <a:solidFill>
                  <a:srgbClr val="0032CC"/>
                </a:solidFill>
                <a:cs typeface="Georgia"/>
              </a:rPr>
              <a:t>(la </a:t>
            </a:r>
            <a:r>
              <a:rPr lang="en-US" spc="70" dirty="0">
                <a:solidFill>
                  <a:srgbClr val="0032CC"/>
                </a:solidFill>
                <a:cs typeface="Georgia"/>
              </a:rPr>
              <a:t>plus </a:t>
            </a:r>
            <a:r>
              <a:rPr lang="en-US" spc="35" dirty="0">
                <a:solidFill>
                  <a:srgbClr val="0032CC"/>
                </a:solidFill>
                <a:cs typeface="Georgia"/>
              </a:rPr>
              <a:t>petite </a:t>
            </a:r>
            <a:r>
              <a:rPr lang="en-US" spc="50" dirty="0" err="1">
                <a:solidFill>
                  <a:srgbClr val="0032CC"/>
                </a:solidFill>
                <a:cs typeface="Georgia"/>
              </a:rPr>
              <a:t>quantité</a:t>
            </a:r>
            <a:r>
              <a:rPr lang="en-US" spc="50" dirty="0">
                <a:solidFill>
                  <a:srgbClr val="0032CC"/>
                </a:solidFill>
                <a:cs typeface="Georgia"/>
              </a:rPr>
              <a:t> </a:t>
            </a:r>
            <a:r>
              <a:rPr lang="en-US" spc="45" dirty="0">
                <a:solidFill>
                  <a:srgbClr val="0032CC"/>
                </a:solidFill>
                <a:cs typeface="Georgia"/>
              </a:rPr>
              <a:t>de  </a:t>
            </a:r>
            <a:r>
              <a:rPr lang="en-US" spc="40" dirty="0" err="1">
                <a:solidFill>
                  <a:srgbClr val="0032CC"/>
                </a:solidFill>
                <a:cs typeface="Georgia"/>
              </a:rPr>
              <a:t>mémoire</a:t>
            </a:r>
            <a:r>
              <a:rPr lang="en-US" spc="55" dirty="0">
                <a:solidFill>
                  <a:srgbClr val="0032CC"/>
                </a:solidFill>
                <a:cs typeface="Georgia"/>
              </a:rPr>
              <a:t> </a:t>
            </a:r>
          </a:p>
          <a:p>
            <a:pPr marL="615315" marR="941705" indent="-158750" algn="just">
              <a:lnSpc>
                <a:spcPts val="1180"/>
              </a:lnSpc>
              <a:spcBef>
                <a:spcPts val="420"/>
              </a:spcBef>
              <a:buChar char="•"/>
              <a:tabLst>
                <a:tab pos="615950" algn="l"/>
              </a:tabLst>
            </a:pPr>
            <a:endParaRPr lang="en-US" spc="55" dirty="0">
              <a:solidFill>
                <a:srgbClr val="0032CC"/>
              </a:solidFill>
              <a:cs typeface="Georgia"/>
            </a:endParaRPr>
          </a:p>
          <a:p>
            <a:pPr marL="456565" marR="941705" indent="0" algn="just">
              <a:lnSpc>
                <a:spcPts val="1180"/>
              </a:lnSpc>
              <a:spcBef>
                <a:spcPts val="420"/>
              </a:spcBef>
              <a:buNone/>
              <a:tabLst>
                <a:tab pos="615950" algn="l"/>
              </a:tabLst>
            </a:pPr>
            <a:r>
              <a:rPr lang="en-US" spc="50" dirty="0">
                <a:solidFill>
                  <a:srgbClr val="0032CC"/>
                </a:solidFill>
                <a:cs typeface="Georgia"/>
              </a:rPr>
              <a:t> </a:t>
            </a:r>
            <a:r>
              <a:rPr lang="en-US" spc="50" dirty="0" err="1">
                <a:solidFill>
                  <a:srgbClr val="0032CC"/>
                </a:solidFill>
                <a:cs typeface="Georgia"/>
              </a:rPr>
              <a:t>adressable</a:t>
            </a:r>
            <a:r>
              <a:rPr lang="en-US" spc="50" dirty="0">
                <a:solidFill>
                  <a:srgbClr val="0032CC"/>
                </a:solidFill>
                <a:cs typeface="Georgia"/>
              </a:rPr>
              <a:t>).</a:t>
            </a:r>
          </a:p>
          <a:p>
            <a:pPr marL="456565" marR="941705" indent="0" algn="just">
              <a:lnSpc>
                <a:spcPts val="1180"/>
              </a:lnSpc>
              <a:spcBef>
                <a:spcPts val="420"/>
              </a:spcBef>
              <a:buNone/>
              <a:tabLst>
                <a:tab pos="615950" algn="l"/>
              </a:tabLst>
            </a:pPr>
            <a:endParaRPr lang="en-US" dirty="0">
              <a:cs typeface="Georgia"/>
            </a:endParaRPr>
          </a:p>
          <a:p>
            <a:pPr marL="615315" indent="-158750" algn="just">
              <a:lnSpc>
                <a:spcPct val="100000"/>
              </a:lnSpc>
              <a:spcBef>
                <a:spcPts val="254"/>
              </a:spcBef>
              <a:buChar char="•"/>
              <a:tabLst>
                <a:tab pos="615950" algn="l"/>
              </a:tabLst>
            </a:pPr>
            <a:r>
              <a:rPr lang="en-US" spc="75" dirty="0" err="1">
                <a:solidFill>
                  <a:srgbClr val="0032CC"/>
                </a:solidFill>
                <a:cs typeface="Georgia"/>
              </a:rPr>
              <a:t>Chaque</a:t>
            </a:r>
            <a:r>
              <a:rPr lang="en-US" spc="75" dirty="0">
                <a:solidFill>
                  <a:srgbClr val="0032CC"/>
                </a:solidFill>
                <a:cs typeface="Georgia"/>
              </a:rPr>
              <a:t> </a:t>
            </a:r>
            <a:r>
              <a:rPr lang="en-US" spc="50" dirty="0">
                <a:solidFill>
                  <a:srgbClr val="0032CC"/>
                </a:solidFill>
                <a:cs typeface="Georgia"/>
              </a:rPr>
              <a:t>cellule </a:t>
            </a:r>
            <a:r>
              <a:rPr lang="en-US" spc="60" dirty="0" err="1">
                <a:solidFill>
                  <a:srgbClr val="0032CC"/>
                </a:solidFill>
                <a:cs typeface="Georgia"/>
              </a:rPr>
              <a:t>est</a:t>
            </a:r>
            <a:r>
              <a:rPr lang="en-US" spc="60" dirty="0">
                <a:solidFill>
                  <a:srgbClr val="0032CC"/>
                </a:solidFill>
                <a:cs typeface="Georgia"/>
              </a:rPr>
              <a:t> </a:t>
            </a:r>
            <a:r>
              <a:rPr lang="en-US" spc="50" dirty="0" err="1">
                <a:solidFill>
                  <a:srgbClr val="0032CC"/>
                </a:solidFill>
                <a:cs typeface="Georgia"/>
              </a:rPr>
              <a:t>numérotée</a:t>
            </a:r>
            <a:r>
              <a:rPr lang="en-US" spc="40" dirty="0">
                <a:solidFill>
                  <a:srgbClr val="0032CC"/>
                </a:solidFill>
                <a:cs typeface="Georgia"/>
              </a:rPr>
              <a:t> </a:t>
            </a:r>
            <a:r>
              <a:rPr lang="en-US" spc="50" dirty="0">
                <a:solidFill>
                  <a:srgbClr val="0032CC"/>
                </a:solidFill>
                <a:cs typeface="Georgia"/>
              </a:rPr>
              <a:t>(</a:t>
            </a:r>
            <a:r>
              <a:rPr lang="en-US" spc="50" dirty="0" err="1">
                <a:solidFill>
                  <a:srgbClr val="0032CC"/>
                </a:solidFill>
                <a:cs typeface="Georgia"/>
              </a:rPr>
              <a:t>adresse</a:t>
            </a:r>
            <a:r>
              <a:rPr lang="en-US" spc="50" dirty="0">
                <a:solidFill>
                  <a:srgbClr val="0032CC"/>
                </a:solidFill>
                <a:cs typeface="Georgia"/>
              </a:rPr>
              <a:t>)</a:t>
            </a:r>
          </a:p>
          <a:p>
            <a:pPr marL="615315" indent="-158750" algn="just">
              <a:lnSpc>
                <a:spcPct val="100000"/>
              </a:lnSpc>
              <a:spcBef>
                <a:spcPts val="254"/>
              </a:spcBef>
              <a:buChar char="•"/>
              <a:tabLst>
                <a:tab pos="615950" algn="l"/>
              </a:tabLst>
            </a:pPr>
            <a:endParaRPr lang="en-US" dirty="0">
              <a:cs typeface="Georgia"/>
            </a:endParaRPr>
          </a:p>
          <a:p>
            <a:pPr marL="615315" marR="1146175" indent="-158750" algn="just">
              <a:lnSpc>
                <a:spcPts val="1190"/>
              </a:lnSpc>
              <a:spcBef>
                <a:spcPts val="400"/>
              </a:spcBef>
              <a:buChar char="•"/>
              <a:tabLst>
                <a:tab pos="615950" algn="l"/>
              </a:tabLst>
            </a:pPr>
            <a:r>
              <a:rPr lang="en-US" spc="50" dirty="0" err="1">
                <a:solidFill>
                  <a:srgbClr val="0032CC"/>
                </a:solidFill>
                <a:cs typeface="Georgia"/>
              </a:rPr>
              <a:t>Généralement</a:t>
            </a:r>
            <a:r>
              <a:rPr lang="en-US" spc="50" dirty="0">
                <a:solidFill>
                  <a:srgbClr val="0032CC"/>
                </a:solidFill>
                <a:cs typeface="Georgia"/>
              </a:rPr>
              <a:t> </a:t>
            </a:r>
            <a:r>
              <a:rPr lang="en-US" spc="55" dirty="0">
                <a:solidFill>
                  <a:srgbClr val="0032CC"/>
                </a:solidFill>
                <a:cs typeface="Georgia"/>
              </a:rPr>
              <a:t>les </a:t>
            </a:r>
            <a:r>
              <a:rPr lang="en-US" spc="45" dirty="0" err="1">
                <a:solidFill>
                  <a:srgbClr val="0032CC"/>
                </a:solidFill>
                <a:cs typeface="Georgia"/>
              </a:rPr>
              <a:t>mémoires</a:t>
            </a:r>
            <a:r>
              <a:rPr lang="en-US" spc="45" dirty="0">
                <a:solidFill>
                  <a:srgbClr val="0032CC"/>
                </a:solidFill>
                <a:cs typeface="Georgia"/>
              </a:rPr>
              <a:t> </a:t>
            </a:r>
            <a:r>
              <a:rPr lang="en-US" spc="60" dirty="0" err="1">
                <a:solidFill>
                  <a:srgbClr val="0032CC"/>
                </a:solidFill>
                <a:cs typeface="Georgia"/>
              </a:rPr>
              <a:t>sont</a:t>
            </a:r>
            <a:r>
              <a:rPr lang="en-US" spc="60" dirty="0">
                <a:solidFill>
                  <a:srgbClr val="0032CC"/>
                </a:solidFill>
                <a:cs typeface="Georgia"/>
              </a:rPr>
              <a:t> </a:t>
            </a:r>
            <a:r>
              <a:rPr lang="en-US" spc="65" dirty="0" err="1">
                <a:solidFill>
                  <a:srgbClr val="0032CC"/>
                </a:solidFill>
                <a:cs typeface="Georgia"/>
              </a:rPr>
              <a:t>adressables</a:t>
            </a:r>
            <a:r>
              <a:rPr lang="en-US" spc="65" dirty="0">
                <a:solidFill>
                  <a:srgbClr val="0032CC"/>
                </a:solidFill>
                <a:cs typeface="Georgia"/>
              </a:rPr>
              <a:t> </a:t>
            </a:r>
            <a:r>
              <a:rPr lang="en-US" spc="55" dirty="0">
                <a:solidFill>
                  <a:srgbClr val="0032CC"/>
                </a:solidFill>
                <a:cs typeface="Georgia"/>
              </a:rPr>
              <a:t>par  octets</a:t>
            </a:r>
          </a:p>
          <a:p>
            <a:pPr marL="615315" marR="1146175" indent="-158750" algn="just">
              <a:lnSpc>
                <a:spcPts val="1190"/>
              </a:lnSpc>
              <a:spcBef>
                <a:spcPts val="400"/>
              </a:spcBef>
              <a:buChar char="•"/>
              <a:tabLst>
                <a:tab pos="615950" algn="l"/>
              </a:tabLst>
            </a:pPr>
            <a:endParaRPr lang="en-US" dirty="0">
              <a:cs typeface="Georgia"/>
            </a:endParaRPr>
          </a:p>
          <a:p>
            <a:pPr marL="615315" indent="-158750" algn="just">
              <a:lnSpc>
                <a:spcPct val="100000"/>
              </a:lnSpc>
              <a:spcBef>
                <a:spcPts val="259"/>
              </a:spcBef>
              <a:buChar char="•"/>
              <a:tabLst>
                <a:tab pos="615950" algn="l"/>
              </a:tabLst>
            </a:pPr>
            <a:r>
              <a:rPr lang="en-US" spc="75" dirty="0" err="1">
                <a:solidFill>
                  <a:srgbClr val="0032CC"/>
                </a:solidFill>
                <a:cs typeface="Georgia"/>
              </a:rPr>
              <a:t>Taille</a:t>
            </a:r>
            <a:r>
              <a:rPr lang="en-US" spc="75" dirty="0">
                <a:solidFill>
                  <a:srgbClr val="0032CC"/>
                </a:solidFill>
                <a:cs typeface="Georgia"/>
              </a:rPr>
              <a:t> </a:t>
            </a:r>
            <a:r>
              <a:rPr lang="en-US" spc="55" dirty="0" err="1">
                <a:solidFill>
                  <a:srgbClr val="0032CC"/>
                </a:solidFill>
                <a:cs typeface="Georgia"/>
              </a:rPr>
              <a:t>d'une</a:t>
            </a:r>
            <a:r>
              <a:rPr lang="en-US" spc="80" dirty="0">
                <a:solidFill>
                  <a:srgbClr val="0032CC"/>
                </a:solidFill>
                <a:cs typeface="Georgia"/>
              </a:rPr>
              <a:t> </a:t>
            </a:r>
            <a:r>
              <a:rPr lang="en-US" spc="50" dirty="0">
                <a:solidFill>
                  <a:srgbClr val="0032CC"/>
                </a:solidFill>
                <a:cs typeface="Georgia"/>
              </a:rPr>
              <a:t>cellule</a:t>
            </a:r>
            <a:endParaRPr lang="en-US" dirty="0">
              <a:cs typeface="Georgia"/>
            </a:endParaRPr>
          </a:p>
          <a:p>
            <a:pPr marL="838200" lvl="1" indent="-127000" algn="just">
              <a:lnSpc>
                <a:spcPct val="100000"/>
              </a:lnSpc>
              <a:spcBef>
                <a:spcPts val="260"/>
              </a:spcBef>
              <a:buChar char="–"/>
              <a:tabLst>
                <a:tab pos="838200" algn="l"/>
              </a:tabLst>
            </a:pPr>
            <a:r>
              <a:rPr lang="en-US" sz="2000" spc="45" dirty="0">
                <a:cs typeface="Georgia"/>
              </a:rPr>
              <a:t>octet </a:t>
            </a:r>
            <a:r>
              <a:rPr lang="en-US" sz="2000" spc="5" dirty="0">
                <a:cs typeface="Georgia"/>
              </a:rPr>
              <a:t>: </a:t>
            </a:r>
            <a:r>
              <a:rPr lang="en-US" sz="2000" spc="25" dirty="0">
                <a:cs typeface="Georgia"/>
              </a:rPr>
              <a:t>8 </a:t>
            </a:r>
            <a:r>
              <a:rPr lang="en-US" sz="2000" spc="50" dirty="0">
                <a:cs typeface="Georgia"/>
              </a:rPr>
              <a:t>bits</a:t>
            </a:r>
            <a:r>
              <a:rPr lang="en-US" sz="2000" spc="254" dirty="0">
                <a:cs typeface="Georgia"/>
              </a:rPr>
              <a:t> </a:t>
            </a:r>
            <a:r>
              <a:rPr lang="en-US" sz="2000" spc="5" dirty="0">
                <a:cs typeface="Georgia"/>
              </a:rPr>
              <a:t>(byte)</a:t>
            </a:r>
            <a:endParaRPr lang="en-US" sz="2000" dirty="0">
              <a:cs typeface="Georgia"/>
            </a:endParaRPr>
          </a:p>
          <a:p>
            <a:pPr marL="838200" marR="1007744" lvl="1" indent="-127000" algn="just">
              <a:lnSpc>
                <a:spcPct val="90000"/>
              </a:lnSpc>
              <a:spcBef>
                <a:spcPts val="415"/>
              </a:spcBef>
              <a:buChar char="–"/>
              <a:tabLst>
                <a:tab pos="838835" algn="l"/>
              </a:tabLst>
            </a:pPr>
            <a:r>
              <a:rPr lang="en-US" sz="2000" spc="40" dirty="0">
                <a:cs typeface="Georgia"/>
              </a:rPr>
              <a:t>word </a:t>
            </a:r>
            <a:r>
              <a:rPr lang="en-US" sz="2000" spc="5" dirty="0">
                <a:cs typeface="Georgia"/>
              </a:rPr>
              <a:t>: </a:t>
            </a:r>
            <a:r>
              <a:rPr lang="en-US" sz="2000" spc="140" dirty="0">
                <a:cs typeface="Georgia"/>
              </a:rPr>
              <a:t>16 </a:t>
            </a:r>
            <a:r>
              <a:rPr lang="en-US" sz="2000" spc="55" dirty="0">
                <a:cs typeface="Georgia"/>
              </a:rPr>
              <a:t>bits, Double </a:t>
            </a:r>
            <a:r>
              <a:rPr lang="en-US" sz="2000" spc="40" dirty="0">
                <a:cs typeface="Georgia"/>
              </a:rPr>
              <a:t>word </a:t>
            </a:r>
            <a:r>
              <a:rPr lang="en-US" sz="2000" spc="5" dirty="0">
                <a:cs typeface="Georgia"/>
              </a:rPr>
              <a:t>: </a:t>
            </a:r>
            <a:r>
              <a:rPr lang="en-US" sz="2000" spc="75" dirty="0">
                <a:cs typeface="Georgia"/>
              </a:rPr>
              <a:t>32 </a:t>
            </a:r>
            <a:r>
              <a:rPr lang="en-US" sz="2000" spc="55" dirty="0">
                <a:cs typeface="Georgia"/>
              </a:rPr>
              <a:t>bits, </a:t>
            </a:r>
            <a:r>
              <a:rPr lang="en-US" sz="2000" spc="80" dirty="0">
                <a:cs typeface="Georgia"/>
              </a:rPr>
              <a:t>Quad </a:t>
            </a:r>
            <a:r>
              <a:rPr lang="en-US" sz="2000" spc="40" dirty="0">
                <a:cs typeface="Georgia"/>
              </a:rPr>
              <a:t>word </a:t>
            </a:r>
            <a:r>
              <a:rPr lang="en-US" sz="2000" spc="65" dirty="0">
                <a:cs typeface="Georgia"/>
              </a:rPr>
              <a:t>64 </a:t>
            </a:r>
            <a:r>
              <a:rPr lang="en-US" sz="2000" spc="50" dirty="0">
                <a:cs typeface="Georgia"/>
              </a:rPr>
              <a:t>bits, </a:t>
            </a:r>
            <a:r>
              <a:rPr lang="en-US" sz="2000" spc="5" dirty="0">
                <a:cs typeface="Georgia"/>
              </a:rPr>
              <a:t> </a:t>
            </a:r>
            <a:r>
              <a:rPr lang="en-US" sz="2000" spc="65" dirty="0">
                <a:cs typeface="Georgia"/>
              </a:rPr>
              <a:t>en </a:t>
            </a:r>
            <a:r>
              <a:rPr lang="en-US" sz="2000" spc="35" dirty="0" err="1">
                <a:cs typeface="Georgia"/>
              </a:rPr>
              <a:t>fonction</a:t>
            </a:r>
            <a:r>
              <a:rPr lang="en-US" sz="2000" spc="35" dirty="0">
                <a:cs typeface="Georgia"/>
              </a:rPr>
              <a:t> </a:t>
            </a:r>
            <a:r>
              <a:rPr lang="en-US" sz="2000" spc="50" dirty="0">
                <a:cs typeface="Georgia"/>
              </a:rPr>
              <a:t>de </a:t>
            </a:r>
            <a:r>
              <a:rPr lang="en-US" sz="2000" spc="65" dirty="0">
                <a:cs typeface="Georgia"/>
              </a:rPr>
              <a:t>machines (16,</a:t>
            </a:r>
            <a:r>
              <a:rPr lang="en-US" sz="2000" spc="70" dirty="0">
                <a:cs typeface="Georgia"/>
              </a:rPr>
              <a:t> </a:t>
            </a:r>
            <a:r>
              <a:rPr lang="en-US" sz="2000" spc="75" dirty="0">
                <a:cs typeface="Georgia"/>
              </a:rPr>
              <a:t>32</a:t>
            </a:r>
            <a:r>
              <a:rPr lang="en-US" sz="2000" spc="70" dirty="0">
                <a:cs typeface="Georgia"/>
              </a:rPr>
              <a:t>  </a:t>
            </a:r>
            <a:r>
              <a:rPr lang="en-US" sz="2000" spc="70" dirty="0" err="1">
                <a:cs typeface="Georgia"/>
              </a:rPr>
              <a:t>ou</a:t>
            </a:r>
            <a:r>
              <a:rPr lang="en-US" sz="2000" spc="70" dirty="0">
                <a:cs typeface="Georgia"/>
              </a:rPr>
              <a:t> 64 </a:t>
            </a:r>
            <a:r>
              <a:rPr lang="en-US" sz="2000" spc="25" dirty="0">
                <a:cs typeface="Georgia"/>
              </a:rPr>
              <a:t>bits)</a:t>
            </a:r>
          </a:p>
          <a:p>
            <a:pPr marL="838200" marR="1007744" lvl="1" indent="-127000" algn="just">
              <a:lnSpc>
                <a:spcPct val="90000"/>
              </a:lnSpc>
              <a:spcBef>
                <a:spcPts val="415"/>
              </a:spcBef>
              <a:buChar char="–"/>
              <a:tabLst>
                <a:tab pos="838835" algn="l"/>
              </a:tabLst>
            </a:pPr>
            <a:endParaRPr lang="en-US" sz="2000" dirty="0">
              <a:cs typeface="Georgia"/>
            </a:endParaRPr>
          </a:p>
          <a:p>
            <a:pPr marL="615315" indent="-158750" algn="just">
              <a:lnSpc>
                <a:spcPct val="100000"/>
              </a:lnSpc>
              <a:spcBef>
                <a:spcPts val="275"/>
              </a:spcBef>
              <a:buChar char="•"/>
              <a:tabLst>
                <a:tab pos="615950" algn="l"/>
              </a:tabLst>
            </a:pPr>
            <a:r>
              <a:rPr lang="en-US" spc="75" dirty="0">
                <a:solidFill>
                  <a:srgbClr val="0032CC"/>
                </a:solidFill>
                <a:cs typeface="Georgia"/>
              </a:rPr>
              <a:t>Notation</a:t>
            </a:r>
            <a:r>
              <a:rPr lang="en-US" spc="70" dirty="0">
                <a:solidFill>
                  <a:srgbClr val="0032CC"/>
                </a:solidFill>
                <a:cs typeface="Georgia"/>
              </a:rPr>
              <a:t> </a:t>
            </a:r>
            <a:r>
              <a:rPr lang="en-US" spc="5" dirty="0">
                <a:solidFill>
                  <a:srgbClr val="0032CC"/>
                </a:solidFill>
                <a:cs typeface="Georgia"/>
              </a:rPr>
              <a:t>:</a:t>
            </a:r>
            <a:endParaRPr lang="en-US" dirty="0">
              <a:cs typeface="Georgia"/>
            </a:endParaRPr>
          </a:p>
          <a:p>
            <a:pPr marL="838200" lvl="1" indent="-127000" algn="just">
              <a:lnSpc>
                <a:spcPct val="100000"/>
              </a:lnSpc>
              <a:spcBef>
                <a:spcPts val="265"/>
              </a:spcBef>
              <a:buChar char="–"/>
              <a:tabLst>
                <a:tab pos="838200" algn="l"/>
              </a:tabLst>
            </a:pPr>
            <a:r>
              <a:rPr lang="en-US" sz="2000" spc="55" dirty="0">
                <a:cs typeface="Georgia"/>
              </a:rPr>
              <a:t>Si </a:t>
            </a:r>
            <a:r>
              <a:rPr lang="en-US" sz="2000" spc="-10" dirty="0">
                <a:cs typeface="Georgia"/>
              </a:rPr>
              <a:t>M </a:t>
            </a:r>
            <a:r>
              <a:rPr lang="en-US" sz="2000" spc="50" dirty="0" err="1">
                <a:cs typeface="Georgia"/>
              </a:rPr>
              <a:t>désigne</a:t>
            </a:r>
            <a:r>
              <a:rPr lang="en-US" sz="2000" spc="50" dirty="0">
                <a:cs typeface="Georgia"/>
              </a:rPr>
              <a:t> </a:t>
            </a:r>
            <a:r>
              <a:rPr lang="en-US" sz="2000" spc="75" dirty="0" err="1">
                <a:cs typeface="Georgia"/>
              </a:rPr>
              <a:t>une</a:t>
            </a:r>
            <a:r>
              <a:rPr lang="en-US" sz="2000" spc="75" dirty="0">
                <a:cs typeface="Georgia"/>
              </a:rPr>
              <a:t> </a:t>
            </a:r>
            <a:r>
              <a:rPr lang="en-US" sz="2000" spc="45" dirty="0">
                <a:cs typeface="Georgia"/>
              </a:rPr>
              <a:t>cellule</a:t>
            </a:r>
            <a:r>
              <a:rPr lang="en-US" sz="2000" spc="-45" dirty="0">
                <a:cs typeface="Georgia"/>
              </a:rPr>
              <a:t> </a:t>
            </a:r>
            <a:r>
              <a:rPr lang="en-US" sz="2000" spc="40" dirty="0" err="1">
                <a:cs typeface="Georgia"/>
              </a:rPr>
              <a:t>mémoire</a:t>
            </a:r>
            <a:endParaRPr lang="en-US" sz="2000" dirty="0">
              <a:cs typeface="Georgia"/>
            </a:endParaRPr>
          </a:p>
          <a:p>
            <a:pPr marL="838200" lvl="1" indent="-127000" algn="just">
              <a:lnSpc>
                <a:spcPct val="100000"/>
              </a:lnSpc>
              <a:spcBef>
                <a:spcPts val="275"/>
              </a:spcBef>
              <a:buChar char="–"/>
              <a:tabLst>
                <a:tab pos="838200" algn="l"/>
              </a:tabLst>
            </a:pPr>
            <a:r>
              <a:rPr lang="en-US" sz="2000" spc="-65" dirty="0">
                <a:cs typeface="Georgia"/>
              </a:rPr>
              <a:t>[M] </a:t>
            </a:r>
            <a:r>
              <a:rPr lang="en-US" sz="2000" spc="50" dirty="0" err="1">
                <a:cs typeface="Georgia"/>
              </a:rPr>
              <a:t>représente</a:t>
            </a:r>
            <a:r>
              <a:rPr lang="en-US" sz="2000" spc="50" dirty="0">
                <a:cs typeface="Georgia"/>
              </a:rPr>
              <a:t> </a:t>
            </a:r>
            <a:r>
              <a:rPr lang="en-US" sz="2000" spc="65" dirty="0">
                <a:cs typeface="Georgia"/>
              </a:rPr>
              <a:t>son</a:t>
            </a:r>
            <a:r>
              <a:rPr lang="en-US" sz="2000" spc="15" dirty="0">
                <a:cs typeface="Georgia"/>
              </a:rPr>
              <a:t> </a:t>
            </a:r>
            <a:r>
              <a:rPr lang="en-US" sz="2000" spc="65" dirty="0" err="1">
                <a:cs typeface="Georgia"/>
              </a:rPr>
              <a:t>contenu</a:t>
            </a:r>
            <a:endParaRPr lang="en-US" sz="2000" dirty="0">
              <a:cs typeface="Georgia"/>
            </a:endParaRPr>
          </a:p>
          <a:p>
            <a:pPr algn="just"/>
            <a:endParaRPr lang="fr-FR" sz="1600" dirty="0"/>
          </a:p>
        </p:txBody>
      </p:sp>
      <p:sp>
        <p:nvSpPr>
          <p:cNvPr id="3" name="Title 2"/>
          <p:cNvSpPr>
            <a:spLocks noGrp="1"/>
          </p:cNvSpPr>
          <p:nvPr>
            <p:ph type="title"/>
          </p:nvPr>
        </p:nvSpPr>
        <p:spPr/>
        <p:txBody>
          <a:bodyPr/>
          <a:lstStyle/>
          <a:p>
            <a:r>
              <a:rPr lang="fr-FR" dirty="0"/>
              <a:t>La mémoire</a:t>
            </a:r>
          </a:p>
        </p:txBody>
      </p:sp>
    </p:spTree>
    <p:extLst>
      <p:ext uri="{BB962C8B-B14F-4D97-AF65-F5344CB8AC3E}">
        <p14:creationId xmlns:p14="http://schemas.microsoft.com/office/powerpoint/2010/main" val="1918426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fr-FR" dirty="0"/>
              <a:t>Une mémoire est un circuit à semi-conducteur permettant d’enregistrer, de conserver et de restituer des informations (instructions et variables).</a:t>
            </a:r>
          </a:p>
          <a:p>
            <a:r>
              <a:rPr lang="fr-FR" dirty="0"/>
              <a:t>Organisation d’une mémoire:</a:t>
            </a:r>
          </a:p>
          <a:p>
            <a:endParaRPr lang="fr-FR" dirty="0"/>
          </a:p>
        </p:txBody>
      </p:sp>
      <p:sp>
        <p:nvSpPr>
          <p:cNvPr id="3" name="Title 2"/>
          <p:cNvSpPr>
            <a:spLocks noGrp="1"/>
          </p:cNvSpPr>
          <p:nvPr>
            <p:ph type="title"/>
          </p:nvPr>
        </p:nvSpPr>
        <p:spPr/>
        <p:txBody>
          <a:bodyPr/>
          <a:lstStyle/>
          <a:p>
            <a:r>
              <a:rPr lang="fr-FR" dirty="0"/>
              <a:t>Définition: Mémoire</a:t>
            </a:r>
          </a:p>
        </p:txBody>
      </p:sp>
      <p:pic>
        <p:nvPicPr>
          <p:cNvPr id="4" name="Picture 3" descr="Capture d’écran 2020-02-03 à 20.16.1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800" y="3141579"/>
            <a:ext cx="8026400" cy="3520574"/>
          </a:xfrm>
          <a:prstGeom prst="rect">
            <a:avLst/>
          </a:prstGeom>
        </p:spPr>
      </p:pic>
    </p:spTree>
    <p:extLst>
      <p:ext uri="{BB962C8B-B14F-4D97-AF65-F5344CB8AC3E}">
        <p14:creationId xmlns:p14="http://schemas.microsoft.com/office/powerpoint/2010/main" val="20321002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fr-FR" dirty="0"/>
              <a:t>Si </a:t>
            </a:r>
            <a:r>
              <a:rPr lang="fr-FR" u="sng" dirty="0">
                <a:solidFill>
                  <a:srgbClr val="FF0000"/>
                </a:solidFill>
              </a:rPr>
              <a:t>les adresses des cases </a:t>
            </a:r>
            <a:r>
              <a:rPr lang="fr-FR" dirty="0"/>
              <a:t>mémoires sont codées sur </a:t>
            </a:r>
            <a:r>
              <a:rPr lang="fr-FR" u="sng" dirty="0">
                <a:solidFill>
                  <a:srgbClr val="FF0000"/>
                </a:solidFill>
              </a:rPr>
              <a:t>n bits</a:t>
            </a:r>
            <a:r>
              <a:rPr lang="fr-FR" dirty="0"/>
              <a:t>, il est possible de référencer au plus </a:t>
            </a:r>
            <a:r>
              <a:rPr lang="fr-FR" u="sng" dirty="0">
                <a:solidFill>
                  <a:srgbClr val="FF0000"/>
                </a:solidFill>
              </a:rPr>
              <a:t>2</a:t>
            </a:r>
            <a:r>
              <a:rPr lang="fr-FR" u="sng" baseline="30000" dirty="0">
                <a:solidFill>
                  <a:srgbClr val="FF0000"/>
                </a:solidFill>
              </a:rPr>
              <a:t>n </a:t>
            </a:r>
            <a:r>
              <a:rPr lang="fr-FR" u="sng" dirty="0">
                <a:solidFill>
                  <a:srgbClr val="FF0000"/>
                </a:solidFill>
              </a:rPr>
              <a:t>cases mémoire</a:t>
            </a:r>
            <a:r>
              <a:rPr lang="fr-FR" dirty="0"/>
              <a:t>.</a:t>
            </a:r>
          </a:p>
          <a:p>
            <a:endParaRPr lang="fr-FR" dirty="0"/>
          </a:p>
          <a:p>
            <a:r>
              <a:rPr lang="fr-FR" dirty="0"/>
              <a:t>Chaque case est remplie par un mot de données</a:t>
            </a:r>
          </a:p>
          <a:p>
            <a:pPr lvl="1"/>
            <a:r>
              <a:rPr lang="fr-FR" dirty="0"/>
              <a:t>Un mot représente un regroupement de bits</a:t>
            </a:r>
          </a:p>
          <a:p>
            <a:pPr lvl="1"/>
            <a:r>
              <a:rPr lang="fr-FR" dirty="0"/>
              <a:t>Sa longueur est toujours une puissance de 2</a:t>
            </a:r>
          </a:p>
          <a:p>
            <a:pPr lvl="1"/>
            <a:endParaRPr lang="fr-FR" dirty="0"/>
          </a:p>
          <a:p>
            <a:r>
              <a:rPr lang="fr-FR" dirty="0"/>
              <a:t>Le </a:t>
            </a:r>
            <a:r>
              <a:rPr lang="fr-FR" u="sng" dirty="0">
                <a:solidFill>
                  <a:srgbClr val="FF0000"/>
                </a:solidFill>
              </a:rPr>
              <a:t>nombre de fils d’adresses </a:t>
            </a:r>
            <a:r>
              <a:rPr lang="fr-FR" dirty="0"/>
              <a:t>d’une mémoires définit le </a:t>
            </a:r>
            <a:r>
              <a:rPr lang="fr-FR" u="sng" dirty="0">
                <a:solidFill>
                  <a:srgbClr val="FF0000"/>
                </a:solidFill>
              </a:rPr>
              <a:t>nombre de cases mémoires qu’elle comprend</a:t>
            </a:r>
            <a:r>
              <a:rPr lang="fr-FR" dirty="0"/>
              <a:t>.</a:t>
            </a:r>
          </a:p>
          <a:p>
            <a:endParaRPr lang="fr-FR" dirty="0"/>
          </a:p>
          <a:p>
            <a:r>
              <a:rPr lang="fr-FR" dirty="0"/>
              <a:t>Le </a:t>
            </a:r>
            <a:r>
              <a:rPr lang="fr-FR" u="sng" dirty="0">
                <a:solidFill>
                  <a:srgbClr val="FF0000"/>
                </a:solidFill>
              </a:rPr>
              <a:t>nombre de fils de données </a:t>
            </a:r>
            <a:r>
              <a:rPr lang="fr-FR" dirty="0"/>
              <a:t>définit </a:t>
            </a:r>
            <a:r>
              <a:rPr lang="fr-FR" u="sng" dirty="0">
                <a:solidFill>
                  <a:srgbClr val="FF0000"/>
                </a:solidFill>
              </a:rPr>
              <a:t>la taille des données </a:t>
            </a:r>
            <a:r>
              <a:rPr lang="fr-FR" dirty="0"/>
              <a:t>que l’on peut sauvegarder dans </a:t>
            </a:r>
            <a:r>
              <a:rPr lang="fr-FR" u="sng" dirty="0">
                <a:solidFill>
                  <a:srgbClr val="FF0000"/>
                </a:solidFill>
              </a:rPr>
              <a:t>chaque case mémoire</a:t>
            </a:r>
            <a:r>
              <a:rPr lang="fr-FR" dirty="0"/>
              <a:t>.</a:t>
            </a:r>
          </a:p>
          <a:p>
            <a:endParaRPr lang="fr-FR" dirty="0"/>
          </a:p>
        </p:txBody>
      </p:sp>
      <p:sp>
        <p:nvSpPr>
          <p:cNvPr id="3" name="Title 2"/>
          <p:cNvSpPr>
            <a:spLocks noGrp="1"/>
          </p:cNvSpPr>
          <p:nvPr>
            <p:ph type="title"/>
          </p:nvPr>
        </p:nvSpPr>
        <p:spPr/>
        <p:txBody>
          <a:bodyPr/>
          <a:lstStyle/>
          <a:p>
            <a:r>
              <a:rPr lang="fr-FR" dirty="0"/>
              <a:t>Organisation d’une mémoire</a:t>
            </a:r>
          </a:p>
        </p:txBody>
      </p:sp>
    </p:spTree>
    <p:extLst>
      <p:ext uri="{BB962C8B-B14F-4D97-AF65-F5344CB8AC3E}">
        <p14:creationId xmlns:p14="http://schemas.microsoft.com/office/powerpoint/2010/main" val="3932645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fr-FR" dirty="0"/>
              <a:t>Un boitier mémoire comprend en plus des fils d’adresses et de données:</a:t>
            </a:r>
          </a:p>
          <a:p>
            <a:pPr lvl="1"/>
            <a:r>
              <a:rPr lang="fr-FR" dirty="0"/>
              <a:t>Une </a:t>
            </a:r>
            <a:r>
              <a:rPr lang="fr-FR" u="sng" dirty="0">
                <a:solidFill>
                  <a:srgbClr val="FF0000"/>
                </a:solidFill>
              </a:rPr>
              <a:t>entrée de commande </a:t>
            </a:r>
            <a:r>
              <a:rPr lang="fr-FR" dirty="0"/>
              <a:t>(R/W) qui permet de définir le type d’action que l’on effectue avec la mémoire (lecture/écriture)</a:t>
            </a:r>
          </a:p>
          <a:p>
            <a:pPr lvl="1"/>
            <a:r>
              <a:rPr lang="fr-FR" dirty="0"/>
              <a:t>Une </a:t>
            </a:r>
            <a:r>
              <a:rPr lang="fr-FR" u="sng" dirty="0">
                <a:solidFill>
                  <a:srgbClr val="FF0000"/>
                </a:solidFill>
              </a:rPr>
              <a:t>entrée de sélection</a:t>
            </a:r>
            <a:r>
              <a:rPr lang="fr-FR" dirty="0">
                <a:solidFill>
                  <a:srgbClr val="FF0000"/>
                </a:solidFill>
              </a:rPr>
              <a:t> </a:t>
            </a:r>
            <a:r>
              <a:rPr lang="fr-FR" dirty="0"/>
              <a:t>CS qui permet de mettre les entrées/sorties du boitier en haute impédance (pour la sélection de la mémoire correspondante)</a:t>
            </a:r>
          </a:p>
        </p:txBody>
      </p:sp>
      <p:sp>
        <p:nvSpPr>
          <p:cNvPr id="3" name="Title 2"/>
          <p:cNvSpPr>
            <a:spLocks noGrp="1"/>
          </p:cNvSpPr>
          <p:nvPr>
            <p:ph type="title"/>
          </p:nvPr>
        </p:nvSpPr>
        <p:spPr/>
        <p:txBody>
          <a:bodyPr/>
          <a:lstStyle/>
          <a:p>
            <a:r>
              <a:rPr lang="fr-FR" dirty="0"/>
              <a:t>Organisation d’une mémoire</a:t>
            </a:r>
          </a:p>
        </p:txBody>
      </p:sp>
      <p:pic>
        <p:nvPicPr>
          <p:cNvPr id="5" name="Picture 4" descr="Capture d’écran 2017-03-06 à 21.40.5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067" y="3881965"/>
            <a:ext cx="3611034" cy="2400301"/>
          </a:xfrm>
          <a:prstGeom prst="rect">
            <a:avLst/>
          </a:prstGeom>
        </p:spPr>
      </p:pic>
      <p:pic>
        <p:nvPicPr>
          <p:cNvPr id="6" name="Picture 5" descr="Capture d’écran 2017-03-06 à 21.42.46.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6101" y="3640667"/>
            <a:ext cx="3941232" cy="2641599"/>
          </a:xfrm>
          <a:prstGeom prst="rect">
            <a:avLst/>
          </a:prstGeom>
        </p:spPr>
      </p:pic>
    </p:spTree>
    <p:extLst>
      <p:ext uri="{BB962C8B-B14F-4D97-AF65-F5344CB8AC3E}">
        <p14:creationId xmlns:p14="http://schemas.microsoft.com/office/powerpoint/2010/main" val="1386529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502920" indent="-457200">
              <a:buFont typeface="+mj-lt"/>
              <a:buAutoNum type="arabicPeriod"/>
            </a:pPr>
            <a:r>
              <a:rPr lang="fr-FR" dirty="0"/>
              <a:t>Choisir l’adresse en mémoire qui donne l’accès à un emplacement mémoire pour une opération de lecture ou d’écriture</a:t>
            </a:r>
          </a:p>
          <a:p>
            <a:pPr marL="502920" indent="-457200">
              <a:buFont typeface="+mj-lt"/>
              <a:buAutoNum type="arabicPeriod"/>
            </a:pPr>
            <a:r>
              <a:rPr lang="fr-FR" dirty="0"/>
              <a:t>Choisir une opération de lecture ou d’écriture (R/W)</a:t>
            </a:r>
          </a:p>
          <a:p>
            <a:pPr marL="502920" indent="-457200">
              <a:buFont typeface="+mj-lt"/>
              <a:buAutoNum type="arabicPeriod"/>
            </a:pPr>
            <a:r>
              <a:rPr lang="fr-FR" dirty="0"/>
              <a:t>Sélectionner le boîtier mémoire (Chip Select) CS</a:t>
            </a:r>
          </a:p>
          <a:p>
            <a:pPr marL="502920" indent="-457200">
              <a:buFont typeface="+mj-lt"/>
              <a:buAutoNum type="arabicPeriod"/>
            </a:pPr>
            <a:r>
              <a:rPr lang="fr-FR" dirty="0"/>
              <a:t>Valider  ou invalider la mémoire: le signal de sélection du boîtier CS sert à ça</a:t>
            </a:r>
          </a:p>
          <a:p>
            <a:pPr marL="777240" lvl="1" indent="-457200">
              <a:buFont typeface="+mj-lt"/>
              <a:buAutoNum type="arabicPeriod"/>
            </a:pPr>
            <a:r>
              <a:rPr lang="fr-FR" dirty="0"/>
              <a:t>Le boîtier est bloqué pour CS=1</a:t>
            </a:r>
          </a:p>
          <a:p>
            <a:pPr marL="777240" lvl="1" indent="-457200">
              <a:buFont typeface="+mj-lt"/>
              <a:buAutoNum type="arabicPeriod"/>
            </a:pPr>
            <a:r>
              <a:rPr lang="fr-FR" dirty="0"/>
              <a:t>Lorsque CS=0, une fonction d’écriture correspond à R/W=0 et une fonction de lecture à R/W=1.</a:t>
            </a:r>
          </a:p>
          <a:p>
            <a:pPr marL="502920" indent="-457200">
              <a:buFont typeface="+mj-lt"/>
              <a:buAutoNum type="arabicPeriod"/>
            </a:pPr>
            <a:endParaRPr lang="fr-FR" dirty="0"/>
          </a:p>
        </p:txBody>
      </p:sp>
      <p:sp>
        <p:nvSpPr>
          <p:cNvPr id="3" name="Title 2"/>
          <p:cNvSpPr>
            <a:spLocks noGrp="1"/>
          </p:cNvSpPr>
          <p:nvPr>
            <p:ph type="title"/>
          </p:nvPr>
        </p:nvSpPr>
        <p:spPr/>
        <p:txBody>
          <a:bodyPr/>
          <a:lstStyle/>
          <a:p>
            <a:r>
              <a:rPr lang="fr-FR" dirty="0"/>
              <a:t>Fonctionnement général d’une mémoire</a:t>
            </a:r>
          </a:p>
        </p:txBody>
      </p:sp>
    </p:spTree>
    <p:extLst>
      <p:ext uri="{BB962C8B-B14F-4D97-AF65-F5344CB8AC3E}">
        <p14:creationId xmlns:p14="http://schemas.microsoft.com/office/powerpoint/2010/main" val="1026473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r-FR" dirty="0"/>
              <a:t>Caractéristiques des mémoires </a:t>
            </a:r>
          </a:p>
        </p:txBody>
      </p:sp>
      <p:sp>
        <p:nvSpPr>
          <p:cNvPr id="4" name="object 29"/>
          <p:cNvSpPr txBox="1">
            <a:spLocks noGrp="1"/>
          </p:cNvSpPr>
          <p:nvPr>
            <p:ph idx="1"/>
          </p:nvPr>
        </p:nvSpPr>
        <p:spPr>
          <a:xfrm>
            <a:off x="380999" y="1719071"/>
            <a:ext cx="8407893" cy="4327467"/>
          </a:xfrm>
          <a:prstGeom prst="rect">
            <a:avLst/>
          </a:prstGeom>
        </p:spPr>
        <p:txBody>
          <a:bodyPr vert="horz" wrap="square" lIns="0" tIns="12700" rIns="0" bIns="0" rtlCol="0">
            <a:spAutoFit/>
          </a:bodyPr>
          <a:lstStyle/>
          <a:p>
            <a:pPr marL="354965" indent="-342900">
              <a:spcBef>
                <a:spcPts val="100"/>
              </a:spcBef>
              <a:tabLst>
                <a:tab pos="171450" algn="l"/>
              </a:tabLst>
            </a:pPr>
            <a:r>
              <a:rPr spc="100" dirty="0">
                <a:solidFill>
                  <a:srgbClr val="0032CC"/>
                </a:solidFill>
                <a:cs typeface="Georgia"/>
              </a:rPr>
              <a:t>Capacité </a:t>
            </a:r>
            <a:r>
              <a:rPr spc="5" dirty="0">
                <a:solidFill>
                  <a:srgbClr val="0032CC"/>
                </a:solidFill>
                <a:cs typeface="Georgia"/>
              </a:rPr>
              <a:t>: </a:t>
            </a:r>
            <a:r>
              <a:rPr spc="50" dirty="0">
                <a:solidFill>
                  <a:srgbClr val="0032CC"/>
                </a:solidFill>
                <a:cs typeface="Georgia"/>
              </a:rPr>
              <a:t>quantité </a:t>
            </a:r>
            <a:r>
              <a:rPr spc="40" dirty="0">
                <a:solidFill>
                  <a:srgbClr val="0032CC"/>
                </a:solidFill>
                <a:cs typeface="Georgia"/>
              </a:rPr>
              <a:t>d'informations </a:t>
            </a:r>
            <a:r>
              <a:rPr spc="35" dirty="0">
                <a:solidFill>
                  <a:srgbClr val="0032CC"/>
                </a:solidFill>
                <a:cs typeface="Georgia"/>
              </a:rPr>
              <a:t>qu'elle </a:t>
            </a:r>
            <a:r>
              <a:rPr spc="65" dirty="0">
                <a:solidFill>
                  <a:srgbClr val="0032CC"/>
                </a:solidFill>
                <a:cs typeface="Georgia"/>
              </a:rPr>
              <a:t>peut</a:t>
            </a:r>
            <a:r>
              <a:rPr spc="300" dirty="0">
                <a:solidFill>
                  <a:srgbClr val="0032CC"/>
                </a:solidFill>
                <a:cs typeface="Georgia"/>
              </a:rPr>
              <a:t> </a:t>
            </a:r>
            <a:r>
              <a:rPr spc="60" dirty="0">
                <a:solidFill>
                  <a:srgbClr val="0032CC"/>
                </a:solidFill>
                <a:cs typeface="Georgia"/>
              </a:rPr>
              <a:t>stocker</a:t>
            </a:r>
            <a:endParaRPr lang="fr-FR" spc="60" dirty="0">
              <a:solidFill>
                <a:srgbClr val="0032CC"/>
              </a:solidFill>
              <a:cs typeface="Georgia"/>
            </a:endParaRPr>
          </a:p>
          <a:p>
            <a:pPr marL="354965" indent="-342900">
              <a:spcBef>
                <a:spcPts val="100"/>
              </a:spcBef>
              <a:tabLst>
                <a:tab pos="171450" algn="l"/>
              </a:tabLst>
            </a:pPr>
            <a:endParaRPr lang="fr-FR" spc="60" dirty="0">
              <a:solidFill>
                <a:srgbClr val="0032CC"/>
              </a:solidFill>
              <a:cs typeface="Georgia"/>
            </a:endParaRPr>
          </a:p>
          <a:p>
            <a:pPr marL="354965" indent="-342900">
              <a:spcBef>
                <a:spcPts val="100"/>
              </a:spcBef>
              <a:tabLst>
                <a:tab pos="171450" algn="l"/>
              </a:tabLst>
            </a:pPr>
            <a:endParaRPr lang="fr-FR" spc="60" dirty="0">
              <a:solidFill>
                <a:srgbClr val="0032CC"/>
              </a:solidFill>
              <a:cs typeface="Georgia"/>
            </a:endParaRPr>
          </a:p>
          <a:p>
            <a:pPr marL="354965" indent="-342900">
              <a:spcBef>
                <a:spcPts val="100"/>
              </a:spcBef>
              <a:tabLst>
                <a:tab pos="171450" algn="l"/>
              </a:tabLst>
            </a:pPr>
            <a:endParaRPr lang="fr-FR" spc="60" dirty="0">
              <a:solidFill>
                <a:srgbClr val="0032CC"/>
              </a:solidFill>
              <a:cs typeface="Georgia"/>
            </a:endParaRPr>
          </a:p>
          <a:p>
            <a:pPr marL="354965" indent="-342900">
              <a:spcBef>
                <a:spcPts val="100"/>
              </a:spcBef>
              <a:tabLst>
                <a:tab pos="171450" algn="l"/>
              </a:tabLst>
            </a:pPr>
            <a:endParaRPr lang="fr-FR" spc="60" dirty="0">
              <a:solidFill>
                <a:srgbClr val="0032CC"/>
              </a:solidFill>
              <a:cs typeface="Georgia"/>
            </a:endParaRPr>
          </a:p>
          <a:p>
            <a:pPr marL="354965" indent="-342900">
              <a:spcBef>
                <a:spcPts val="100"/>
              </a:spcBef>
              <a:tabLst>
                <a:tab pos="171450" algn="l"/>
              </a:tabLst>
            </a:pPr>
            <a:endParaRPr lang="fr-FR" spc="60" dirty="0">
              <a:solidFill>
                <a:srgbClr val="0032CC"/>
              </a:solidFill>
              <a:cs typeface="Georgia"/>
            </a:endParaRPr>
          </a:p>
          <a:p>
            <a:pPr marL="354965" indent="-342900">
              <a:spcBef>
                <a:spcPts val="100"/>
              </a:spcBef>
              <a:tabLst>
                <a:tab pos="171450" algn="l"/>
              </a:tabLst>
            </a:pPr>
            <a:endParaRPr lang="fr-FR" spc="60" dirty="0">
              <a:solidFill>
                <a:srgbClr val="0032CC"/>
              </a:solidFill>
              <a:cs typeface="Georgia"/>
            </a:endParaRPr>
          </a:p>
          <a:p>
            <a:pPr marL="354965" indent="-342900">
              <a:spcBef>
                <a:spcPts val="100"/>
              </a:spcBef>
              <a:tabLst>
                <a:tab pos="171450" algn="l"/>
              </a:tabLst>
            </a:pPr>
            <a:r>
              <a:rPr lang="fr-FR" spc="85" dirty="0">
                <a:solidFill>
                  <a:srgbClr val="0032CC"/>
                </a:solidFill>
                <a:latin typeface="Georgia"/>
                <a:cs typeface="Georgia"/>
              </a:rPr>
              <a:t>Exemple: </a:t>
            </a:r>
            <a:r>
              <a:rPr lang="fr-FR" spc="45" dirty="0">
                <a:solidFill>
                  <a:srgbClr val="0032CC"/>
                </a:solidFill>
                <a:latin typeface="Georgia"/>
                <a:cs typeface="Georgia"/>
              </a:rPr>
              <a:t>Une </a:t>
            </a:r>
            <a:r>
              <a:rPr lang="fr-FR" spc="40" dirty="0">
                <a:solidFill>
                  <a:srgbClr val="0032CC"/>
                </a:solidFill>
                <a:latin typeface="Georgia"/>
                <a:cs typeface="Georgia"/>
              </a:rPr>
              <a:t>mémoire </a:t>
            </a:r>
            <a:r>
              <a:rPr lang="fr-FR" spc="50" dirty="0">
                <a:solidFill>
                  <a:srgbClr val="0032CC"/>
                </a:solidFill>
                <a:latin typeface="Georgia"/>
                <a:cs typeface="Georgia"/>
              </a:rPr>
              <a:t>centrale de </a:t>
            </a:r>
            <a:r>
              <a:rPr lang="fr-FR" spc="220" dirty="0">
                <a:solidFill>
                  <a:srgbClr val="0032CC"/>
                </a:solidFill>
                <a:latin typeface="Georgia"/>
                <a:cs typeface="Georgia"/>
              </a:rPr>
              <a:t>1 </a:t>
            </a:r>
            <a:r>
              <a:rPr lang="fr-FR" spc="40" dirty="0">
                <a:solidFill>
                  <a:srgbClr val="0032CC"/>
                </a:solidFill>
                <a:latin typeface="Georgia"/>
                <a:cs typeface="Georgia"/>
              </a:rPr>
              <a:t>Méga </a:t>
            </a:r>
            <a:r>
              <a:rPr lang="fr-FR" spc="55" dirty="0">
                <a:solidFill>
                  <a:srgbClr val="0032CC"/>
                </a:solidFill>
                <a:latin typeface="Georgia"/>
                <a:cs typeface="Georgia"/>
              </a:rPr>
              <a:t>mots </a:t>
            </a:r>
            <a:r>
              <a:rPr lang="fr-FR" spc="50" dirty="0">
                <a:solidFill>
                  <a:srgbClr val="0032CC"/>
                </a:solidFill>
                <a:latin typeface="Georgia"/>
                <a:cs typeface="Georgia"/>
              </a:rPr>
              <a:t>de </a:t>
            </a:r>
            <a:r>
              <a:rPr lang="fr-FR" spc="140" dirty="0">
                <a:solidFill>
                  <a:srgbClr val="0032CC"/>
                </a:solidFill>
                <a:latin typeface="Georgia"/>
                <a:cs typeface="Georgia"/>
              </a:rPr>
              <a:t>16  </a:t>
            </a:r>
            <a:r>
              <a:rPr lang="fr-FR" spc="50" dirty="0">
                <a:solidFill>
                  <a:srgbClr val="0032CC"/>
                </a:solidFill>
                <a:latin typeface="Georgia"/>
                <a:cs typeface="Georgia"/>
              </a:rPr>
              <a:t>bits</a:t>
            </a:r>
            <a:endParaRPr lang="fr-FR" dirty="0">
              <a:latin typeface="Georgia"/>
              <a:cs typeface="Georgia"/>
            </a:endParaRPr>
          </a:p>
          <a:p>
            <a:pPr marL="354965" indent="-342900">
              <a:spcBef>
                <a:spcPts val="100"/>
              </a:spcBef>
              <a:tabLst>
                <a:tab pos="171450" algn="l"/>
              </a:tabLst>
            </a:pPr>
            <a:endParaRPr lang="fr-FR" spc="60" dirty="0">
              <a:solidFill>
                <a:srgbClr val="0032CC"/>
              </a:solidFill>
              <a:cs typeface="Georgia"/>
            </a:endParaRPr>
          </a:p>
          <a:p>
            <a:pPr marL="541020" lvl="1">
              <a:spcBef>
                <a:spcPts val="125"/>
              </a:spcBef>
            </a:pPr>
            <a:r>
              <a:rPr lang="fi-FI" sz="1400" spc="35" dirty="0">
                <a:solidFill>
                  <a:schemeClr val="tx1"/>
                </a:solidFill>
                <a:latin typeface="Georgia"/>
                <a:cs typeface="Georgia"/>
              </a:rPr>
              <a:t>1 x 1024 </a:t>
            </a:r>
            <a:r>
              <a:rPr lang="fi-FI" sz="1400" spc="35" dirty="0" err="1">
                <a:solidFill>
                  <a:schemeClr val="tx1"/>
                </a:solidFill>
                <a:latin typeface="Georgia"/>
                <a:cs typeface="Georgia"/>
              </a:rPr>
              <a:t>K-mots</a:t>
            </a:r>
            <a:endParaRPr lang="fi-FI" sz="1400" spc="35" dirty="0">
              <a:solidFill>
                <a:schemeClr val="tx1"/>
              </a:solidFill>
              <a:latin typeface="Georgia"/>
              <a:cs typeface="Georgia"/>
            </a:endParaRPr>
          </a:p>
          <a:p>
            <a:pPr marL="541020" lvl="1">
              <a:spcBef>
                <a:spcPts val="120"/>
              </a:spcBef>
            </a:pPr>
            <a:r>
              <a:rPr lang="fi-FI" sz="1400" spc="35" dirty="0">
                <a:solidFill>
                  <a:schemeClr val="tx1"/>
                </a:solidFill>
                <a:latin typeface="Georgia"/>
                <a:cs typeface="Georgia"/>
              </a:rPr>
              <a:t>1 x 1024 x1024 </a:t>
            </a:r>
            <a:r>
              <a:rPr lang="fi-FI" sz="1400" spc="35" dirty="0" err="1">
                <a:solidFill>
                  <a:schemeClr val="tx1"/>
                </a:solidFill>
                <a:latin typeface="Georgia"/>
                <a:cs typeface="Georgia"/>
              </a:rPr>
              <a:t>mots</a:t>
            </a:r>
            <a:endParaRPr lang="fi-FI" sz="1400" spc="35" dirty="0">
              <a:solidFill>
                <a:schemeClr val="tx1"/>
              </a:solidFill>
              <a:latin typeface="Georgia"/>
              <a:cs typeface="Georgia"/>
            </a:endParaRPr>
          </a:p>
          <a:p>
            <a:pPr marL="541020" lvl="1">
              <a:spcBef>
                <a:spcPts val="120"/>
              </a:spcBef>
            </a:pPr>
            <a:r>
              <a:rPr lang="fi-FI" sz="1400" spc="35" dirty="0">
                <a:solidFill>
                  <a:schemeClr val="tx1"/>
                </a:solidFill>
                <a:latin typeface="Georgia"/>
                <a:cs typeface="Georgia"/>
              </a:rPr>
              <a:t>1 x 1024 x1024 x 2 </a:t>
            </a:r>
            <a:r>
              <a:rPr lang="fi-FI" sz="1400" spc="35" dirty="0" err="1">
                <a:solidFill>
                  <a:schemeClr val="tx1"/>
                </a:solidFill>
                <a:latin typeface="Georgia"/>
                <a:cs typeface="Georgia"/>
              </a:rPr>
              <a:t>octets</a:t>
            </a:r>
            <a:endParaRPr lang="fi-FI" sz="1400" spc="35" dirty="0">
              <a:solidFill>
                <a:schemeClr val="tx1"/>
              </a:solidFill>
              <a:latin typeface="Georgia"/>
              <a:cs typeface="Georgia"/>
            </a:endParaRPr>
          </a:p>
          <a:p>
            <a:pPr marL="541020" lvl="1">
              <a:spcBef>
                <a:spcPts val="120"/>
              </a:spcBef>
            </a:pPr>
            <a:r>
              <a:rPr lang="fi-FI" sz="1400" spc="35" dirty="0">
                <a:solidFill>
                  <a:schemeClr val="tx1"/>
                </a:solidFill>
                <a:latin typeface="Georgia"/>
                <a:cs typeface="Georgia"/>
              </a:rPr>
              <a:t>1 x 1024 x1024 x 2 x8 </a:t>
            </a:r>
            <a:r>
              <a:rPr lang="fi-FI" sz="1400" spc="35" dirty="0" err="1">
                <a:solidFill>
                  <a:schemeClr val="tx1"/>
                </a:solidFill>
                <a:latin typeface="Georgia"/>
                <a:cs typeface="Georgia"/>
              </a:rPr>
              <a:t>bits</a:t>
            </a:r>
            <a:endParaRPr lang="fi-FI" sz="1400" spc="35" dirty="0">
              <a:solidFill>
                <a:schemeClr val="tx1"/>
              </a:solidFill>
              <a:latin typeface="Georgia"/>
              <a:cs typeface="Georgia"/>
            </a:endParaRPr>
          </a:p>
          <a:p>
            <a:pPr marL="354965" indent="-342900">
              <a:spcBef>
                <a:spcPts val="100"/>
              </a:spcBef>
              <a:tabLst>
                <a:tab pos="171450" algn="l"/>
              </a:tabLst>
            </a:pPr>
            <a:endParaRPr lang="fr-FR" sz="1200" spc="35" dirty="0">
              <a:solidFill>
                <a:schemeClr val="tx1"/>
              </a:solidFill>
              <a:latin typeface="Georgia"/>
              <a:cs typeface="Georgia"/>
            </a:endParaRPr>
          </a:p>
          <a:p>
            <a:pPr marL="354965" indent="-342900">
              <a:spcBef>
                <a:spcPts val="100"/>
              </a:spcBef>
              <a:tabLst>
                <a:tab pos="171450" algn="l"/>
              </a:tabLst>
            </a:pPr>
            <a:endParaRPr dirty="0">
              <a:cs typeface="Georgia"/>
            </a:endParaRPr>
          </a:p>
        </p:txBody>
      </p:sp>
      <p:graphicFrame>
        <p:nvGraphicFramePr>
          <p:cNvPr id="5" name="object 30"/>
          <p:cNvGraphicFramePr>
            <a:graphicFrameLocks noGrp="1"/>
          </p:cNvGraphicFramePr>
          <p:nvPr>
            <p:extLst>
              <p:ext uri="{D42A27DB-BD31-4B8C-83A1-F6EECF244321}">
                <p14:modId xmlns:p14="http://schemas.microsoft.com/office/powerpoint/2010/main" val="508241027"/>
              </p:ext>
            </p:extLst>
          </p:nvPr>
        </p:nvGraphicFramePr>
        <p:xfrm>
          <a:off x="1034506" y="2495645"/>
          <a:ext cx="5815893" cy="1248068"/>
        </p:xfrm>
        <a:graphic>
          <a:graphicData uri="http://schemas.openxmlformats.org/drawingml/2006/table">
            <a:tbl>
              <a:tblPr firstRow="1" bandRow="1">
                <a:tableStyleId>{2D5ABB26-0587-4C30-8999-92F81FD0307C}</a:tableStyleId>
              </a:tblPr>
              <a:tblGrid>
                <a:gridCol w="1900955">
                  <a:extLst>
                    <a:ext uri="{9D8B030D-6E8A-4147-A177-3AD203B41FA5}">
                      <a16:colId xmlns:a16="http://schemas.microsoft.com/office/drawing/2014/main" val="20000"/>
                    </a:ext>
                  </a:extLst>
                </a:gridCol>
                <a:gridCol w="773224">
                  <a:extLst>
                    <a:ext uri="{9D8B030D-6E8A-4147-A177-3AD203B41FA5}">
                      <a16:colId xmlns:a16="http://schemas.microsoft.com/office/drawing/2014/main" val="20001"/>
                    </a:ext>
                  </a:extLst>
                </a:gridCol>
                <a:gridCol w="1037819">
                  <a:extLst>
                    <a:ext uri="{9D8B030D-6E8A-4147-A177-3AD203B41FA5}">
                      <a16:colId xmlns:a16="http://schemas.microsoft.com/office/drawing/2014/main" val="20002"/>
                    </a:ext>
                  </a:extLst>
                </a:gridCol>
                <a:gridCol w="2103895">
                  <a:extLst>
                    <a:ext uri="{9D8B030D-6E8A-4147-A177-3AD203B41FA5}">
                      <a16:colId xmlns:a16="http://schemas.microsoft.com/office/drawing/2014/main" val="20003"/>
                    </a:ext>
                  </a:extLst>
                </a:gridCol>
              </a:tblGrid>
              <a:tr h="263150">
                <a:tc>
                  <a:txBody>
                    <a:bodyPr/>
                    <a:lstStyle/>
                    <a:p>
                      <a:pPr marL="31750">
                        <a:lnSpc>
                          <a:spcPts val="1140"/>
                        </a:lnSpc>
                      </a:pPr>
                      <a:r>
                        <a:rPr sz="1400" spc="-150" dirty="0">
                          <a:latin typeface="Georgia"/>
                          <a:cs typeface="Georgia"/>
                        </a:rPr>
                        <a:t>–</a:t>
                      </a:r>
                      <a:r>
                        <a:rPr sz="1400" spc="-125" dirty="0">
                          <a:latin typeface="Georgia"/>
                          <a:cs typeface="Georgia"/>
                        </a:rPr>
                        <a:t> </a:t>
                      </a:r>
                      <a:r>
                        <a:rPr lang="fr-FR" sz="1400" spc="-125" dirty="0">
                          <a:latin typeface="Georgia"/>
                          <a:cs typeface="Georgia"/>
                        </a:rPr>
                        <a:t> </a:t>
                      </a:r>
                      <a:r>
                        <a:rPr sz="1400" spc="25" dirty="0">
                          <a:latin typeface="Georgia"/>
                          <a:cs typeface="Georgia"/>
                        </a:rPr>
                        <a:t>kilo-octet</a:t>
                      </a:r>
                      <a:endParaRPr sz="1400" dirty="0">
                        <a:latin typeface="Georgia"/>
                        <a:cs typeface="Georgia"/>
                      </a:endParaRPr>
                    </a:p>
                  </a:txBody>
                  <a:tcPr marL="0" marR="0" marT="0" marB="0"/>
                </a:tc>
                <a:tc>
                  <a:txBody>
                    <a:bodyPr/>
                    <a:lstStyle/>
                    <a:p>
                      <a:pPr marL="106680">
                        <a:lnSpc>
                          <a:spcPts val="1140"/>
                        </a:lnSpc>
                      </a:pPr>
                      <a:r>
                        <a:rPr sz="1400" spc="-15" dirty="0">
                          <a:latin typeface="Georgia"/>
                          <a:cs typeface="Georgia"/>
                        </a:rPr>
                        <a:t>-&gt;</a:t>
                      </a:r>
                      <a:endParaRPr sz="1400" dirty="0">
                        <a:latin typeface="Georgia"/>
                        <a:cs typeface="Georgia"/>
                      </a:endParaRPr>
                    </a:p>
                  </a:txBody>
                  <a:tcPr marL="0" marR="0" marT="0" marB="0"/>
                </a:tc>
                <a:tc>
                  <a:txBody>
                    <a:bodyPr/>
                    <a:lstStyle/>
                    <a:p>
                      <a:pPr marL="148590">
                        <a:lnSpc>
                          <a:spcPts val="1140"/>
                        </a:lnSpc>
                      </a:pPr>
                      <a:r>
                        <a:rPr sz="1400" spc="20" dirty="0">
                          <a:latin typeface="Georgia"/>
                          <a:cs typeface="Georgia"/>
                        </a:rPr>
                        <a:t>Ko</a:t>
                      </a:r>
                      <a:r>
                        <a:rPr sz="1400" spc="45" dirty="0">
                          <a:latin typeface="Georgia"/>
                          <a:cs typeface="Georgia"/>
                        </a:rPr>
                        <a:t> </a:t>
                      </a:r>
                      <a:r>
                        <a:rPr sz="1400" spc="-50" dirty="0">
                          <a:latin typeface="Georgia"/>
                          <a:cs typeface="Georgia"/>
                        </a:rPr>
                        <a:t>=</a:t>
                      </a:r>
                      <a:endParaRPr sz="1400" dirty="0">
                        <a:latin typeface="Georgia"/>
                        <a:cs typeface="Georgia"/>
                      </a:endParaRPr>
                    </a:p>
                  </a:txBody>
                  <a:tcPr marL="0" marR="0" marT="0" marB="0"/>
                </a:tc>
                <a:tc>
                  <a:txBody>
                    <a:bodyPr/>
                    <a:lstStyle/>
                    <a:p>
                      <a:pPr marL="59055">
                        <a:lnSpc>
                          <a:spcPts val="1140"/>
                        </a:lnSpc>
                      </a:pPr>
                      <a:r>
                        <a:rPr sz="1400" spc="65" dirty="0">
                          <a:latin typeface="Georgia"/>
                          <a:cs typeface="Georgia"/>
                        </a:rPr>
                        <a:t>1024</a:t>
                      </a:r>
                      <a:r>
                        <a:rPr sz="1400" spc="90" dirty="0">
                          <a:latin typeface="Georgia"/>
                          <a:cs typeface="Georgia"/>
                        </a:rPr>
                        <a:t> </a:t>
                      </a:r>
                      <a:r>
                        <a:rPr sz="1400" spc="40" dirty="0">
                          <a:latin typeface="Georgia"/>
                          <a:cs typeface="Georgia"/>
                        </a:rPr>
                        <a:t>octets</a:t>
                      </a:r>
                      <a:endParaRPr sz="1400">
                        <a:latin typeface="Georgia"/>
                        <a:cs typeface="Georgia"/>
                      </a:endParaRPr>
                    </a:p>
                  </a:txBody>
                  <a:tcPr marL="0" marR="0" marT="0" marB="0"/>
                </a:tc>
                <a:extLst>
                  <a:ext uri="{0D108BD9-81ED-4DB2-BD59-A6C34878D82A}">
                    <a16:rowId xmlns:a16="http://schemas.microsoft.com/office/drawing/2014/main" val="10000"/>
                  </a:ext>
                </a:extLst>
              </a:tr>
              <a:tr h="279099">
                <a:tc>
                  <a:txBody>
                    <a:bodyPr/>
                    <a:lstStyle/>
                    <a:p>
                      <a:pPr marL="31750">
                        <a:lnSpc>
                          <a:spcPct val="100000"/>
                        </a:lnSpc>
                        <a:spcBef>
                          <a:spcPts val="10"/>
                        </a:spcBef>
                      </a:pPr>
                      <a:r>
                        <a:rPr sz="1400" spc="-150" dirty="0">
                          <a:latin typeface="Georgia"/>
                          <a:cs typeface="Georgia"/>
                        </a:rPr>
                        <a:t>–</a:t>
                      </a:r>
                      <a:r>
                        <a:rPr lang="fr-FR" sz="1400" spc="-150" dirty="0">
                          <a:latin typeface="Georgia"/>
                          <a:cs typeface="Georgia"/>
                        </a:rPr>
                        <a:t> </a:t>
                      </a:r>
                      <a:r>
                        <a:rPr sz="1400" spc="-140" dirty="0">
                          <a:latin typeface="Georgia"/>
                          <a:cs typeface="Georgia"/>
                        </a:rPr>
                        <a:t> </a:t>
                      </a:r>
                      <a:r>
                        <a:rPr sz="1400" spc="35" dirty="0">
                          <a:latin typeface="Georgia"/>
                          <a:cs typeface="Georgia"/>
                        </a:rPr>
                        <a:t>méga-octet</a:t>
                      </a:r>
                      <a:endParaRPr sz="1400" dirty="0">
                        <a:latin typeface="Georgia"/>
                        <a:cs typeface="Georgia"/>
                      </a:endParaRPr>
                    </a:p>
                  </a:txBody>
                  <a:tcPr marL="0" marR="0" marT="1270" marB="0"/>
                </a:tc>
                <a:tc>
                  <a:txBody>
                    <a:bodyPr/>
                    <a:lstStyle/>
                    <a:p>
                      <a:pPr marL="106680">
                        <a:lnSpc>
                          <a:spcPct val="100000"/>
                        </a:lnSpc>
                        <a:spcBef>
                          <a:spcPts val="10"/>
                        </a:spcBef>
                      </a:pPr>
                      <a:r>
                        <a:rPr sz="1400" spc="-15" dirty="0">
                          <a:latin typeface="Georgia"/>
                          <a:cs typeface="Georgia"/>
                        </a:rPr>
                        <a:t>-&gt;</a:t>
                      </a:r>
                      <a:endParaRPr sz="1400" dirty="0">
                        <a:latin typeface="Georgia"/>
                        <a:cs typeface="Georgia"/>
                      </a:endParaRPr>
                    </a:p>
                  </a:txBody>
                  <a:tcPr marL="0" marR="0" marT="1270" marB="0"/>
                </a:tc>
                <a:tc>
                  <a:txBody>
                    <a:bodyPr/>
                    <a:lstStyle/>
                    <a:p>
                      <a:pPr marL="148590">
                        <a:lnSpc>
                          <a:spcPct val="100000"/>
                        </a:lnSpc>
                        <a:spcBef>
                          <a:spcPts val="10"/>
                        </a:spcBef>
                      </a:pPr>
                      <a:r>
                        <a:rPr sz="1400" dirty="0">
                          <a:latin typeface="Georgia"/>
                          <a:cs typeface="Georgia"/>
                        </a:rPr>
                        <a:t>Mo</a:t>
                      </a:r>
                      <a:r>
                        <a:rPr sz="1400" spc="45" dirty="0">
                          <a:latin typeface="Georgia"/>
                          <a:cs typeface="Georgia"/>
                        </a:rPr>
                        <a:t> </a:t>
                      </a:r>
                      <a:r>
                        <a:rPr sz="1400" spc="-50" dirty="0">
                          <a:latin typeface="Georgia"/>
                          <a:cs typeface="Georgia"/>
                        </a:rPr>
                        <a:t>=</a:t>
                      </a:r>
                      <a:endParaRPr sz="1400" dirty="0">
                        <a:latin typeface="Georgia"/>
                        <a:cs typeface="Georgia"/>
                      </a:endParaRPr>
                    </a:p>
                  </a:txBody>
                  <a:tcPr marL="0" marR="0" marT="1270" marB="0"/>
                </a:tc>
                <a:tc>
                  <a:txBody>
                    <a:bodyPr/>
                    <a:lstStyle/>
                    <a:p>
                      <a:pPr marL="59055">
                        <a:lnSpc>
                          <a:spcPct val="100000"/>
                        </a:lnSpc>
                        <a:spcBef>
                          <a:spcPts val="10"/>
                        </a:spcBef>
                      </a:pPr>
                      <a:r>
                        <a:rPr sz="1400" spc="65" dirty="0">
                          <a:latin typeface="Georgia"/>
                          <a:cs typeface="Georgia"/>
                        </a:rPr>
                        <a:t>1024</a:t>
                      </a:r>
                      <a:r>
                        <a:rPr sz="1400" spc="90" dirty="0">
                          <a:latin typeface="Georgia"/>
                          <a:cs typeface="Georgia"/>
                        </a:rPr>
                        <a:t> </a:t>
                      </a:r>
                      <a:r>
                        <a:rPr sz="1400" spc="20" dirty="0">
                          <a:latin typeface="Georgia"/>
                          <a:cs typeface="Georgia"/>
                        </a:rPr>
                        <a:t>Ko</a:t>
                      </a:r>
                      <a:endParaRPr sz="1400">
                        <a:latin typeface="Georgia"/>
                        <a:cs typeface="Georgia"/>
                      </a:endParaRPr>
                    </a:p>
                  </a:txBody>
                  <a:tcPr marL="0" marR="0" marT="1270" marB="0"/>
                </a:tc>
                <a:extLst>
                  <a:ext uri="{0D108BD9-81ED-4DB2-BD59-A6C34878D82A}">
                    <a16:rowId xmlns:a16="http://schemas.microsoft.com/office/drawing/2014/main" val="10001"/>
                  </a:ext>
                </a:extLst>
              </a:tr>
              <a:tr h="279099">
                <a:tc>
                  <a:txBody>
                    <a:bodyPr/>
                    <a:lstStyle/>
                    <a:p>
                      <a:pPr marL="31750">
                        <a:lnSpc>
                          <a:spcPct val="100000"/>
                        </a:lnSpc>
                        <a:spcBef>
                          <a:spcPts val="10"/>
                        </a:spcBef>
                      </a:pPr>
                      <a:r>
                        <a:rPr sz="1400" spc="-150" dirty="0">
                          <a:latin typeface="Georgia"/>
                          <a:cs typeface="Georgia"/>
                        </a:rPr>
                        <a:t>–</a:t>
                      </a:r>
                      <a:r>
                        <a:rPr sz="1400" spc="-130" dirty="0">
                          <a:latin typeface="Georgia"/>
                          <a:cs typeface="Georgia"/>
                        </a:rPr>
                        <a:t> </a:t>
                      </a:r>
                      <a:r>
                        <a:rPr lang="fr-FR" sz="1400" spc="-130" dirty="0">
                          <a:latin typeface="Georgia"/>
                          <a:cs typeface="Georgia"/>
                        </a:rPr>
                        <a:t> </a:t>
                      </a:r>
                      <a:r>
                        <a:rPr sz="1400" spc="30" dirty="0">
                          <a:latin typeface="Georgia"/>
                          <a:cs typeface="Georgia"/>
                        </a:rPr>
                        <a:t>giga-octet</a:t>
                      </a:r>
                      <a:endParaRPr sz="1400" dirty="0">
                        <a:latin typeface="Georgia"/>
                        <a:cs typeface="Georgia"/>
                      </a:endParaRPr>
                    </a:p>
                  </a:txBody>
                  <a:tcPr marL="0" marR="0" marT="1270" marB="0"/>
                </a:tc>
                <a:tc>
                  <a:txBody>
                    <a:bodyPr/>
                    <a:lstStyle/>
                    <a:p>
                      <a:pPr marL="106680">
                        <a:lnSpc>
                          <a:spcPct val="100000"/>
                        </a:lnSpc>
                        <a:spcBef>
                          <a:spcPts val="10"/>
                        </a:spcBef>
                      </a:pPr>
                      <a:r>
                        <a:rPr sz="1400" spc="-15" dirty="0">
                          <a:latin typeface="Georgia"/>
                          <a:cs typeface="Georgia"/>
                        </a:rPr>
                        <a:t>-&gt;</a:t>
                      </a:r>
                      <a:endParaRPr sz="1400" dirty="0">
                        <a:latin typeface="Georgia"/>
                        <a:cs typeface="Georgia"/>
                      </a:endParaRPr>
                    </a:p>
                  </a:txBody>
                  <a:tcPr marL="0" marR="0" marT="1270" marB="0"/>
                </a:tc>
                <a:tc>
                  <a:txBody>
                    <a:bodyPr/>
                    <a:lstStyle/>
                    <a:p>
                      <a:pPr marL="148590">
                        <a:lnSpc>
                          <a:spcPct val="100000"/>
                        </a:lnSpc>
                        <a:spcBef>
                          <a:spcPts val="10"/>
                        </a:spcBef>
                      </a:pPr>
                      <a:r>
                        <a:rPr sz="1400" spc="40" dirty="0">
                          <a:latin typeface="Georgia"/>
                          <a:cs typeface="Georgia"/>
                        </a:rPr>
                        <a:t>Go</a:t>
                      </a:r>
                      <a:r>
                        <a:rPr sz="1400" spc="50" dirty="0">
                          <a:latin typeface="Georgia"/>
                          <a:cs typeface="Georgia"/>
                        </a:rPr>
                        <a:t> </a:t>
                      </a:r>
                      <a:r>
                        <a:rPr sz="1400" spc="-50" dirty="0">
                          <a:latin typeface="Georgia"/>
                          <a:cs typeface="Georgia"/>
                        </a:rPr>
                        <a:t>=</a:t>
                      </a:r>
                      <a:endParaRPr sz="1400" dirty="0">
                        <a:latin typeface="Georgia"/>
                        <a:cs typeface="Georgia"/>
                      </a:endParaRPr>
                    </a:p>
                  </a:txBody>
                  <a:tcPr marL="0" marR="0" marT="1270" marB="0"/>
                </a:tc>
                <a:tc>
                  <a:txBody>
                    <a:bodyPr/>
                    <a:lstStyle/>
                    <a:p>
                      <a:pPr marL="59055">
                        <a:lnSpc>
                          <a:spcPct val="100000"/>
                        </a:lnSpc>
                        <a:spcBef>
                          <a:spcPts val="10"/>
                        </a:spcBef>
                      </a:pPr>
                      <a:r>
                        <a:rPr sz="1400" spc="65" dirty="0">
                          <a:latin typeface="Georgia"/>
                          <a:cs typeface="Georgia"/>
                        </a:rPr>
                        <a:t>1024</a:t>
                      </a:r>
                      <a:r>
                        <a:rPr sz="1400" spc="90" dirty="0">
                          <a:latin typeface="Georgia"/>
                          <a:cs typeface="Georgia"/>
                        </a:rPr>
                        <a:t> </a:t>
                      </a:r>
                      <a:r>
                        <a:rPr sz="1400" dirty="0">
                          <a:latin typeface="Georgia"/>
                          <a:cs typeface="Georgia"/>
                        </a:rPr>
                        <a:t>Mo</a:t>
                      </a:r>
                      <a:endParaRPr sz="1400">
                        <a:latin typeface="Georgia"/>
                        <a:cs typeface="Georgia"/>
                      </a:endParaRPr>
                    </a:p>
                  </a:txBody>
                  <a:tcPr marL="0" marR="0" marT="1270" marB="0"/>
                </a:tc>
                <a:extLst>
                  <a:ext uri="{0D108BD9-81ED-4DB2-BD59-A6C34878D82A}">
                    <a16:rowId xmlns:a16="http://schemas.microsoft.com/office/drawing/2014/main" val="10002"/>
                  </a:ext>
                </a:extLst>
              </a:tr>
              <a:tr h="263150">
                <a:tc>
                  <a:txBody>
                    <a:bodyPr/>
                    <a:lstStyle/>
                    <a:p>
                      <a:pPr marL="31750">
                        <a:lnSpc>
                          <a:spcPts val="1130"/>
                        </a:lnSpc>
                        <a:spcBef>
                          <a:spcPts val="10"/>
                        </a:spcBef>
                      </a:pPr>
                      <a:r>
                        <a:rPr sz="1400" spc="-150" dirty="0">
                          <a:latin typeface="Georgia"/>
                          <a:cs typeface="Georgia"/>
                        </a:rPr>
                        <a:t>–</a:t>
                      </a:r>
                      <a:r>
                        <a:rPr sz="1400" spc="-135" dirty="0">
                          <a:latin typeface="Georgia"/>
                          <a:cs typeface="Georgia"/>
                        </a:rPr>
                        <a:t> </a:t>
                      </a:r>
                      <a:r>
                        <a:rPr lang="fr-FR" sz="1400" spc="-135" dirty="0">
                          <a:latin typeface="Georgia"/>
                          <a:cs typeface="Georgia"/>
                        </a:rPr>
                        <a:t> </a:t>
                      </a:r>
                      <a:r>
                        <a:rPr sz="1400" spc="35" dirty="0">
                          <a:latin typeface="Georgia"/>
                          <a:cs typeface="Georgia"/>
                        </a:rPr>
                        <a:t>téra-octet</a:t>
                      </a:r>
                      <a:endParaRPr sz="1400" dirty="0">
                        <a:latin typeface="Georgia"/>
                        <a:cs typeface="Georgia"/>
                      </a:endParaRPr>
                    </a:p>
                  </a:txBody>
                  <a:tcPr marL="0" marR="0" marT="127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spc="-15" dirty="0">
                          <a:latin typeface="Georgia"/>
                          <a:cs typeface="Georgia"/>
                        </a:rPr>
                        <a:t>   </a:t>
                      </a:r>
                      <a:r>
                        <a:rPr lang="fr-FR" sz="1400" spc="-15" baseline="0" dirty="0">
                          <a:latin typeface="Georgia"/>
                          <a:cs typeface="Georgia"/>
                        </a:rPr>
                        <a:t> </a:t>
                      </a:r>
                      <a:r>
                        <a:rPr lang="mr-IN" sz="1400" spc="-15" dirty="0">
                          <a:latin typeface="Georgia"/>
                          <a:cs typeface="Georgia"/>
                        </a:rPr>
                        <a:t>-&gt;</a:t>
                      </a:r>
                      <a:endParaRPr lang="mr-IN" sz="1400" dirty="0">
                        <a:latin typeface="Georgia"/>
                        <a:cs typeface="Georgia"/>
                      </a:endParaRPr>
                    </a:p>
                    <a:p>
                      <a:pPr>
                        <a:lnSpc>
                          <a:spcPct val="100000"/>
                        </a:lnSpc>
                      </a:pPr>
                      <a:r>
                        <a:rPr lang="fr-FR" sz="1400" dirty="0">
                          <a:latin typeface="Times New Roman"/>
                          <a:cs typeface="Times New Roman"/>
                        </a:rPr>
                        <a:t> </a:t>
                      </a:r>
                      <a:endParaRPr sz="1400" dirty="0">
                        <a:latin typeface="Times New Roman"/>
                        <a:cs typeface="Times New Roman"/>
                      </a:endParaRPr>
                    </a:p>
                  </a:txBody>
                  <a:tcPr marL="0" marR="0" marT="0" marB="0"/>
                </a:tc>
                <a:tc>
                  <a:txBody>
                    <a:bodyPr/>
                    <a:lstStyle/>
                    <a:p>
                      <a:pPr marL="148590">
                        <a:lnSpc>
                          <a:spcPts val="1130"/>
                        </a:lnSpc>
                        <a:spcBef>
                          <a:spcPts val="10"/>
                        </a:spcBef>
                      </a:pPr>
                      <a:r>
                        <a:rPr lang="en-US" sz="1400" dirty="0">
                          <a:latin typeface="Georgia"/>
                          <a:cs typeface="Georgia"/>
                        </a:rPr>
                        <a:t>To =</a:t>
                      </a:r>
                      <a:endParaRPr sz="1400" dirty="0">
                        <a:latin typeface="Georgia"/>
                        <a:cs typeface="Georgia"/>
                      </a:endParaRPr>
                    </a:p>
                  </a:txBody>
                  <a:tcPr marL="0" marR="0" marT="1270" marB="0"/>
                </a:tc>
                <a:tc>
                  <a:txBody>
                    <a:bodyPr/>
                    <a:lstStyle/>
                    <a:p>
                      <a:pPr marL="59055">
                        <a:lnSpc>
                          <a:spcPts val="1130"/>
                        </a:lnSpc>
                        <a:spcBef>
                          <a:spcPts val="10"/>
                        </a:spcBef>
                        <a:tabLst>
                          <a:tab pos="481330" algn="l"/>
                        </a:tabLst>
                      </a:pPr>
                      <a:r>
                        <a:rPr lang="fr-FR" sz="1400" spc="-50" baseline="0" dirty="0">
                          <a:latin typeface="Georgia"/>
                          <a:cs typeface="Georgia"/>
                        </a:rPr>
                        <a:t> </a:t>
                      </a:r>
                      <a:r>
                        <a:rPr sz="1400" spc="65" dirty="0">
                          <a:latin typeface="Georgia"/>
                          <a:cs typeface="Georgia"/>
                        </a:rPr>
                        <a:t>1024</a:t>
                      </a:r>
                      <a:r>
                        <a:rPr sz="1400" spc="55" dirty="0">
                          <a:latin typeface="Georgia"/>
                          <a:cs typeface="Georgia"/>
                        </a:rPr>
                        <a:t> </a:t>
                      </a:r>
                      <a:r>
                        <a:rPr sz="1400" spc="40" dirty="0">
                          <a:latin typeface="Georgia"/>
                          <a:cs typeface="Georgia"/>
                        </a:rPr>
                        <a:t>Go</a:t>
                      </a:r>
                      <a:endParaRPr sz="1400" dirty="0">
                        <a:latin typeface="Georgia"/>
                        <a:cs typeface="Georgia"/>
                      </a:endParaRPr>
                    </a:p>
                  </a:txBody>
                  <a:tcPr marL="0" marR="0" marT="127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938177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83515" indent="-158750">
              <a:lnSpc>
                <a:spcPct val="100000"/>
              </a:lnSpc>
              <a:spcBef>
                <a:spcPts val="250"/>
              </a:spcBef>
              <a:buChar char="•"/>
              <a:tabLst>
                <a:tab pos="184150" algn="l"/>
              </a:tabLst>
            </a:pPr>
            <a:r>
              <a:rPr lang="en-US" sz="1800" spc="90" dirty="0" err="1">
                <a:solidFill>
                  <a:srgbClr val="0032CC"/>
                </a:solidFill>
                <a:cs typeface="Georgia"/>
              </a:rPr>
              <a:t>Volatilité</a:t>
            </a:r>
            <a:endParaRPr lang="en-US" sz="1800" dirty="0">
              <a:cs typeface="Georgia"/>
            </a:endParaRPr>
          </a:p>
          <a:p>
            <a:pPr marL="279400" lvl="1" indent="0">
              <a:lnSpc>
                <a:spcPct val="100000"/>
              </a:lnSpc>
              <a:spcBef>
                <a:spcPts val="125"/>
              </a:spcBef>
              <a:buNone/>
              <a:tabLst>
                <a:tab pos="406400" algn="l"/>
              </a:tabLst>
            </a:pPr>
            <a:r>
              <a:rPr lang="en-US" spc="50" dirty="0">
                <a:cs typeface="Georgia"/>
              </a:rPr>
              <a:t>laps </a:t>
            </a:r>
            <a:r>
              <a:rPr lang="en-US" spc="30" dirty="0">
                <a:cs typeface="Georgia"/>
              </a:rPr>
              <a:t>de </a:t>
            </a:r>
            <a:r>
              <a:rPr lang="en-US" spc="45" dirty="0">
                <a:cs typeface="Georgia"/>
              </a:rPr>
              <a:t>temps </a:t>
            </a:r>
            <a:r>
              <a:rPr lang="en-US" spc="50" dirty="0" err="1">
                <a:cs typeface="Georgia"/>
              </a:rPr>
              <a:t>durant</a:t>
            </a:r>
            <a:r>
              <a:rPr lang="en-US" spc="50" dirty="0">
                <a:cs typeface="Georgia"/>
              </a:rPr>
              <a:t> </a:t>
            </a:r>
            <a:r>
              <a:rPr lang="en-US" spc="30" dirty="0" err="1">
                <a:cs typeface="Georgia"/>
              </a:rPr>
              <a:t>lequel</a:t>
            </a:r>
            <a:r>
              <a:rPr lang="en-US" spc="145" dirty="0">
                <a:cs typeface="Georgia"/>
              </a:rPr>
              <a:t> </a:t>
            </a:r>
            <a:r>
              <a:rPr lang="en-US" spc="20" dirty="0" err="1">
                <a:cs typeface="Georgia"/>
              </a:rPr>
              <a:t>elle</a:t>
            </a:r>
            <a:r>
              <a:rPr lang="en-US" spc="20" dirty="0">
                <a:cs typeface="Georgia"/>
              </a:rPr>
              <a:t> </a:t>
            </a:r>
            <a:r>
              <a:rPr lang="en-US" spc="40" dirty="0" err="1">
                <a:cs typeface="Georgia"/>
              </a:rPr>
              <a:t>maintient</a:t>
            </a:r>
            <a:r>
              <a:rPr lang="en-US" spc="40" dirty="0">
                <a:cs typeface="Georgia"/>
              </a:rPr>
              <a:t> les </a:t>
            </a:r>
            <a:r>
              <a:rPr lang="en-US" spc="35" dirty="0" err="1">
                <a:cs typeface="Georgia"/>
              </a:rPr>
              <a:t>informations</a:t>
            </a:r>
            <a:endParaRPr lang="en-US" dirty="0">
              <a:cs typeface="Georgia"/>
            </a:endParaRPr>
          </a:p>
          <a:p>
            <a:pPr marL="279400" lvl="1" indent="0">
              <a:lnSpc>
                <a:spcPct val="100000"/>
              </a:lnSpc>
              <a:spcBef>
                <a:spcPts val="120"/>
              </a:spcBef>
              <a:buNone/>
              <a:tabLst>
                <a:tab pos="406400" algn="l"/>
              </a:tabLst>
            </a:pPr>
            <a:r>
              <a:rPr lang="en-US" dirty="0"/>
              <a:t>les </a:t>
            </a:r>
            <a:r>
              <a:rPr lang="en-US" dirty="0" err="1"/>
              <a:t>informations</a:t>
            </a:r>
            <a:r>
              <a:rPr lang="en-US" dirty="0"/>
              <a:t> </a:t>
            </a:r>
            <a:r>
              <a:rPr lang="en-US" dirty="0" err="1"/>
              <a:t>sont</a:t>
            </a:r>
            <a:r>
              <a:rPr lang="en-US" dirty="0"/>
              <a:t> </a:t>
            </a:r>
            <a:r>
              <a:rPr lang="en-US" dirty="0" err="1"/>
              <a:t>perdues</a:t>
            </a:r>
            <a:r>
              <a:rPr lang="en-US" dirty="0"/>
              <a:t> </a:t>
            </a:r>
            <a:r>
              <a:rPr lang="en-US" dirty="0" err="1"/>
              <a:t>lors</a:t>
            </a:r>
            <a:r>
              <a:rPr lang="en-US" dirty="0"/>
              <a:t> de la </a:t>
            </a:r>
            <a:r>
              <a:rPr lang="en-US" dirty="0" err="1"/>
              <a:t>mise</a:t>
            </a:r>
            <a:r>
              <a:rPr lang="en-US" dirty="0"/>
              <a:t> hors tension.</a:t>
            </a:r>
          </a:p>
          <a:p>
            <a:pPr marL="553720" lvl="2" indent="0">
              <a:spcBef>
                <a:spcPts val="120"/>
              </a:spcBef>
              <a:buNone/>
              <a:tabLst>
                <a:tab pos="406400" algn="l"/>
              </a:tabLst>
            </a:pPr>
            <a:r>
              <a:rPr lang="en-US" i="1" spc="-10" dirty="0" err="1">
                <a:cs typeface="TeX Gyre Bonum"/>
              </a:rPr>
              <a:t>mémoire</a:t>
            </a:r>
            <a:r>
              <a:rPr lang="en-US" i="1" spc="-10" dirty="0">
                <a:cs typeface="TeX Gyre Bonum"/>
              </a:rPr>
              <a:t> </a:t>
            </a:r>
            <a:r>
              <a:rPr lang="en-US" i="1" spc="-5" dirty="0">
                <a:cs typeface="TeX Gyre Bonum"/>
              </a:rPr>
              <a:t>de </a:t>
            </a:r>
            <a:r>
              <a:rPr lang="en-US" i="1" spc="-15" dirty="0">
                <a:cs typeface="TeX Gyre Bonum"/>
              </a:rPr>
              <a:t>travail </a:t>
            </a:r>
            <a:r>
              <a:rPr lang="en-US" i="1" spc="-5" dirty="0">
                <a:cs typeface="TeX Gyre Bonum"/>
              </a:rPr>
              <a:t>de </a:t>
            </a:r>
            <a:r>
              <a:rPr lang="en-US" i="1" spc="-10" dirty="0" err="1">
                <a:cs typeface="TeX Gyre Bonum"/>
              </a:rPr>
              <a:t>l'ordinateur</a:t>
            </a:r>
            <a:endParaRPr lang="en-US" i="1" spc="-10" dirty="0">
              <a:cs typeface="TeX Gyre Bonum"/>
            </a:endParaRPr>
          </a:p>
          <a:p>
            <a:pPr marL="553720" lvl="2" indent="0">
              <a:spcBef>
                <a:spcPts val="120"/>
              </a:spcBef>
              <a:buNone/>
              <a:tabLst>
                <a:tab pos="406400" algn="l"/>
              </a:tabLst>
            </a:pPr>
            <a:endParaRPr lang="en-US" dirty="0">
              <a:cs typeface="TeX Gyre Bonum"/>
            </a:endParaRPr>
          </a:p>
          <a:p>
            <a:pPr marL="183515" indent="-158750">
              <a:lnSpc>
                <a:spcPct val="100000"/>
              </a:lnSpc>
              <a:spcBef>
                <a:spcPts val="145"/>
              </a:spcBef>
              <a:buChar char="•"/>
              <a:tabLst>
                <a:tab pos="184150" algn="l"/>
              </a:tabLst>
            </a:pPr>
            <a:r>
              <a:rPr lang="en-US" sz="1800" spc="100" dirty="0">
                <a:solidFill>
                  <a:srgbClr val="0032CC"/>
                </a:solidFill>
                <a:cs typeface="Georgia"/>
              </a:rPr>
              <a:t>Temps</a:t>
            </a:r>
            <a:r>
              <a:rPr lang="en-US" sz="1800" spc="110" dirty="0">
                <a:solidFill>
                  <a:srgbClr val="0032CC"/>
                </a:solidFill>
                <a:cs typeface="Georgia"/>
              </a:rPr>
              <a:t> </a:t>
            </a:r>
            <a:r>
              <a:rPr lang="en-US" sz="1800" spc="95" dirty="0" err="1">
                <a:solidFill>
                  <a:srgbClr val="0032CC"/>
                </a:solidFill>
                <a:cs typeface="Georgia"/>
              </a:rPr>
              <a:t>d'accès</a:t>
            </a:r>
            <a:endParaRPr lang="en-US" sz="1800" dirty="0">
              <a:cs typeface="Georgia"/>
            </a:endParaRPr>
          </a:p>
          <a:p>
            <a:pPr marL="279400" lvl="1" indent="0">
              <a:lnSpc>
                <a:spcPct val="100000"/>
              </a:lnSpc>
              <a:spcBef>
                <a:spcPts val="125"/>
              </a:spcBef>
              <a:buNone/>
              <a:tabLst>
                <a:tab pos="406400" algn="l"/>
              </a:tabLst>
            </a:pPr>
            <a:r>
              <a:rPr lang="en-US" spc="45" dirty="0">
                <a:cs typeface="Georgia"/>
              </a:rPr>
              <a:t>temps </a:t>
            </a:r>
            <a:r>
              <a:rPr lang="en-US" spc="40" dirty="0">
                <a:cs typeface="Georgia"/>
              </a:rPr>
              <a:t>pour </a:t>
            </a:r>
            <a:r>
              <a:rPr lang="en-US" spc="40" dirty="0" err="1">
                <a:cs typeface="Georgia"/>
              </a:rPr>
              <a:t>accéder</a:t>
            </a:r>
            <a:r>
              <a:rPr lang="en-US" spc="40" dirty="0">
                <a:cs typeface="Georgia"/>
              </a:rPr>
              <a:t> </a:t>
            </a:r>
            <a:r>
              <a:rPr lang="en-US" spc="70" dirty="0" err="1">
                <a:cs typeface="Georgia"/>
              </a:rPr>
              <a:t>à</a:t>
            </a:r>
            <a:r>
              <a:rPr lang="en-US" spc="240" dirty="0">
                <a:cs typeface="Georgia"/>
              </a:rPr>
              <a:t> </a:t>
            </a:r>
            <a:r>
              <a:rPr lang="en-US" spc="25" dirty="0" err="1">
                <a:cs typeface="Georgia"/>
              </a:rPr>
              <a:t>l'information</a:t>
            </a:r>
            <a:endParaRPr lang="en-US" dirty="0">
              <a:cs typeface="Georgia"/>
            </a:endParaRPr>
          </a:p>
          <a:p>
            <a:pPr marL="278765" marR="335280" lvl="1" indent="0">
              <a:lnSpc>
                <a:spcPct val="80000"/>
              </a:lnSpc>
              <a:spcBef>
                <a:spcPts val="360"/>
              </a:spcBef>
              <a:buNone/>
              <a:tabLst>
                <a:tab pos="406400" algn="l"/>
              </a:tabLst>
            </a:pPr>
            <a:r>
              <a:rPr lang="en-US" spc="30" dirty="0">
                <a:cs typeface="Georgia"/>
              </a:rPr>
              <a:t>de </a:t>
            </a:r>
            <a:r>
              <a:rPr lang="en-US" spc="20" dirty="0" err="1">
                <a:cs typeface="Georgia"/>
              </a:rPr>
              <a:t>l'ordre</a:t>
            </a:r>
            <a:r>
              <a:rPr lang="en-US" spc="20" dirty="0">
                <a:cs typeface="Georgia"/>
              </a:rPr>
              <a:t> </a:t>
            </a:r>
            <a:r>
              <a:rPr lang="en-US" spc="30" dirty="0">
                <a:cs typeface="Georgia"/>
              </a:rPr>
              <a:t>de </a:t>
            </a:r>
            <a:r>
              <a:rPr lang="en-US" spc="40" dirty="0">
                <a:cs typeface="Georgia"/>
              </a:rPr>
              <a:t>la </a:t>
            </a:r>
            <a:r>
              <a:rPr lang="en-US" spc="45" dirty="0" err="1">
                <a:cs typeface="Georgia"/>
              </a:rPr>
              <a:t>nano-seconde</a:t>
            </a:r>
            <a:r>
              <a:rPr lang="en-US" spc="45" dirty="0">
                <a:cs typeface="Georgia"/>
              </a:rPr>
              <a:t> </a:t>
            </a:r>
            <a:r>
              <a:rPr lang="en-US" spc="-80" dirty="0">
                <a:cs typeface="Georgia"/>
              </a:rPr>
              <a:t>( </a:t>
            </a:r>
            <a:r>
              <a:rPr lang="en-US" spc="50" dirty="0">
                <a:cs typeface="Georgia"/>
              </a:rPr>
              <a:t>70 </a:t>
            </a:r>
            <a:r>
              <a:rPr lang="en-US" spc="30" dirty="0">
                <a:cs typeface="Georgia"/>
              </a:rPr>
              <a:t>10</a:t>
            </a:r>
            <a:r>
              <a:rPr lang="en-US" spc="44" baseline="25641" dirty="0">
                <a:cs typeface="Georgia"/>
              </a:rPr>
              <a:t>-9</a:t>
            </a:r>
            <a:r>
              <a:rPr lang="en-US" spc="30" dirty="0">
                <a:cs typeface="Georgia"/>
              </a:rPr>
              <a:t>) </a:t>
            </a:r>
            <a:r>
              <a:rPr lang="en-US" spc="40" dirty="0">
                <a:cs typeface="Georgia"/>
              </a:rPr>
              <a:t>pour les </a:t>
            </a:r>
            <a:r>
              <a:rPr lang="en-US" spc="35" dirty="0" err="1">
                <a:cs typeface="Georgia"/>
              </a:rPr>
              <a:t>mémoires</a:t>
            </a:r>
            <a:r>
              <a:rPr lang="en-US" spc="35" dirty="0">
                <a:cs typeface="Georgia"/>
              </a:rPr>
              <a:t>  </a:t>
            </a:r>
            <a:r>
              <a:rPr lang="en-US" spc="45" dirty="0" err="1">
                <a:cs typeface="Georgia"/>
              </a:rPr>
              <a:t>actuelles</a:t>
            </a:r>
            <a:endParaRPr lang="en-US" dirty="0">
              <a:cs typeface="Georgia"/>
            </a:endParaRPr>
          </a:p>
          <a:p>
            <a:pPr marL="279400" lvl="1" indent="0">
              <a:lnSpc>
                <a:spcPct val="100000"/>
              </a:lnSpc>
              <a:spcBef>
                <a:spcPts val="120"/>
              </a:spcBef>
              <a:buNone/>
              <a:tabLst>
                <a:tab pos="406400" algn="l"/>
              </a:tabLst>
            </a:pPr>
            <a:r>
              <a:rPr lang="en-US" spc="30" dirty="0">
                <a:cs typeface="Georgia"/>
              </a:rPr>
              <a:t>de</a:t>
            </a:r>
            <a:r>
              <a:rPr lang="en-US" spc="80" dirty="0">
                <a:cs typeface="Georgia"/>
              </a:rPr>
              <a:t> </a:t>
            </a:r>
            <a:r>
              <a:rPr lang="en-US" spc="20" dirty="0" err="1">
                <a:cs typeface="Georgia"/>
              </a:rPr>
              <a:t>l'ordre</a:t>
            </a:r>
            <a:r>
              <a:rPr lang="en-US" spc="90" dirty="0">
                <a:cs typeface="Georgia"/>
              </a:rPr>
              <a:t> </a:t>
            </a:r>
            <a:r>
              <a:rPr lang="en-US" spc="30" dirty="0">
                <a:cs typeface="Georgia"/>
              </a:rPr>
              <a:t>de</a:t>
            </a:r>
            <a:r>
              <a:rPr lang="en-US" spc="80" dirty="0">
                <a:cs typeface="Georgia"/>
              </a:rPr>
              <a:t> </a:t>
            </a:r>
            <a:r>
              <a:rPr lang="en-US" spc="40" dirty="0">
                <a:cs typeface="Georgia"/>
              </a:rPr>
              <a:t>la</a:t>
            </a:r>
            <a:r>
              <a:rPr lang="en-US" spc="80" dirty="0">
                <a:cs typeface="Georgia"/>
              </a:rPr>
              <a:t> </a:t>
            </a:r>
            <a:r>
              <a:rPr lang="en-US" spc="30" dirty="0" err="1">
                <a:cs typeface="Georgia"/>
              </a:rPr>
              <a:t>milli-seconde</a:t>
            </a:r>
            <a:r>
              <a:rPr lang="en-US" spc="114" dirty="0">
                <a:cs typeface="Georgia"/>
              </a:rPr>
              <a:t> </a:t>
            </a:r>
            <a:r>
              <a:rPr lang="en-US" spc="40" dirty="0">
                <a:cs typeface="Georgia"/>
              </a:rPr>
              <a:t>pour</a:t>
            </a:r>
            <a:r>
              <a:rPr lang="en-US" dirty="0">
                <a:cs typeface="Georgia"/>
              </a:rPr>
              <a:t> </a:t>
            </a:r>
            <a:r>
              <a:rPr lang="en-US" spc="40" dirty="0">
                <a:cs typeface="Georgia"/>
              </a:rPr>
              <a:t>les</a:t>
            </a:r>
            <a:r>
              <a:rPr lang="en-US" spc="80" dirty="0">
                <a:cs typeface="Georgia"/>
              </a:rPr>
              <a:t> </a:t>
            </a:r>
            <a:r>
              <a:rPr lang="en-US" spc="50" dirty="0">
                <a:cs typeface="Georgia"/>
              </a:rPr>
              <a:t>supports</a:t>
            </a:r>
            <a:r>
              <a:rPr lang="en-US" spc="105" dirty="0">
                <a:cs typeface="Georgia"/>
              </a:rPr>
              <a:t> </a:t>
            </a:r>
            <a:r>
              <a:rPr lang="en-US" spc="45" dirty="0" err="1">
                <a:cs typeface="Georgia"/>
              </a:rPr>
              <a:t>magnétiques</a:t>
            </a:r>
            <a:endParaRPr lang="en-US" spc="45" dirty="0">
              <a:cs typeface="Georgia"/>
            </a:endParaRPr>
          </a:p>
          <a:p>
            <a:pPr marL="406400" lvl="1" indent="-127000">
              <a:lnSpc>
                <a:spcPct val="100000"/>
              </a:lnSpc>
              <a:spcBef>
                <a:spcPts val="120"/>
              </a:spcBef>
              <a:buChar char="–"/>
              <a:tabLst>
                <a:tab pos="406400" algn="l"/>
              </a:tabLst>
            </a:pPr>
            <a:endParaRPr lang="en-US" dirty="0">
              <a:cs typeface="Georgia"/>
            </a:endParaRPr>
          </a:p>
          <a:p>
            <a:pPr marL="183515" indent="-158750">
              <a:lnSpc>
                <a:spcPct val="100000"/>
              </a:lnSpc>
              <a:spcBef>
                <a:spcPts val="125"/>
              </a:spcBef>
              <a:buChar char="•"/>
              <a:tabLst>
                <a:tab pos="184150" algn="l"/>
              </a:tabLst>
            </a:pPr>
            <a:r>
              <a:rPr lang="en-US" sz="1800" spc="105" dirty="0">
                <a:solidFill>
                  <a:srgbClr val="0032CC"/>
                </a:solidFill>
                <a:cs typeface="Georgia"/>
              </a:rPr>
              <a:t>Type</a:t>
            </a:r>
            <a:r>
              <a:rPr lang="en-US" sz="1800" spc="114" dirty="0">
                <a:solidFill>
                  <a:srgbClr val="0032CC"/>
                </a:solidFill>
                <a:cs typeface="Georgia"/>
              </a:rPr>
              <a:t> </a:t>
            </a:r>
            <a:r>
              <a:rPr lang="en-US" sz="1800" spc="95" dirty="0" err="1">
                <a:solidFill>
                  <a:srgbClr val="0032CC"/>
                </a:solidFill>
                <a:cs typeface="Georgia"/>
              </a:rPr>
              <a:t>d'accès</a:t>
            </a:r>
            <a:endParaRPr lang="en-US" sz="1800" dirty="0">
              <a:cs typeface="Georgia"/>
            </a:endParaRPr>
          </a:p>
          <a:p>
            <a:pPr marL="24765" indent="0">
              <a:lnSpc>
                <a:spcPct val="100000"/>
              </a:lnSpc>
              <a:spcBef>
                <a:spcPts val="125"/>
              </a:spcBef>
              <a:buNone/>
              <a:tabLst>
                <a:tab pos="184150" algn="l"/>
              </a:tabLst>
            </a:pPr>
            <a:r>
              <a:rPr lang="en-US" sz="1800" spc="60" dirty="0">
                <a:cs typeface="Georgia"/>
              </a:rPr>
              <a:t>   </a:t>
            </a:r>
            <a:r>
              <a:rPr lang="en-US" sz="1800" spc="60" dirty="0" err="1">
                <a:cs typeface="Georgia"/>
              </a:rPr>
              <a:t>accès</a:t>
            </a:r>
            <a:r>
              <a:rPr lang="en-US" sz="1800" spc="60" dirty="0">
                <a:cs typeface="Georgia"/>
              </a:rPr>
              <a:t> </a:t>
            </a:r>
            <a:r>
              <a:rPr lang="en-US" sz="1800" spc="30" dirty="0">
                <a:cs typeface="Georgia"/>
              </a:rPr>
              <a:t>direct </a:t>
            </a:r>
            <a:r>
              <a:rPr lang="en-US" sz="1800" spc="70" dirty="0" err="1">
                <a:cs typeface="Georgia"/>
              </a:rPr>
              <a:t>à</a:t>
            </a:r>
            <a:r>
              <a:rPr lang="en-US" sz="1800" spc="70" dirty="0">
                <a:cs typeface="Georgia"/>
              </a:rPr>
              <a:t> </a:t>
            </a:r>
            <a:r>
              <a:rPr lang="en-US" sz="1800" spc="25" dirty="0" err="1">
                <a:cs typeface="Georgia"/>
              </a:rPr>
              <a:t>l'information</a:t>
            </a:r>
            <a:r>
              <a:rPr lang="en-US" sz="1800" spc="25" dirty="0">
                <a:cs typeface="Georgia"/>
              </a:rPr>
              <a:t>, </a:t>
            </a:r>
            <a:r>
              <a:rPr lang="en-US" sz="1800" spc="60" dirty="0" err="1">
                <a:cs typeface="Georgia"/>
              </a:rPr>
              <a:t>accès</a:t>
            </a:r>
            <a:r>
              <a:rPr lang="en-US" sz="1800" spc="60" dirty="0">
                <a:cs typeface="Georgia"/>
              </a:rPr>
              <a:t> </a:t>
            </a:r>
            <a:r>
              <a:rPr lang="en-US" sz="1800" spc="70" dirty="0">
                <a:cs typeface="Georgia"/>
              </a:rPr>
              <a:t>aux </a:t>
            </a:r>
            <a:r>
              <a:rPr lang="en-US" sz="1800" spc="75" dirty="0">
                <a:cs typeface="Georgia"/>
              </a:rPr>
              <a:t>mots-</a:t>
            </a:r>
            <a:r>
              <a:rPr lang="en-US" sz="1800" spc="75" dirty="0" err="1">
                <a:cs typeface="Georgia"/>
              </a:rPr>
              <a:t>mémoire</a:t>
            </a:r>
            <a:r>
              <a:rPr lang="en-US" sz="1800" spc="75" dirty="0">
                <a:cs typeface="Georgia"/>
              </a:rPr>
              <a:t> </a:t>
            </a:r>
            <a:r>
              <a:rPr lang="en-US" sz="1800" spc="40" dirty="0">
                <a:cs typeface="Georgia"/>
              </a:rPr>
              <a:t>par</a:t>
            </a:r>
            <a:r>
              <a:rPr lang="en-US" sz="1800" spc="140" dirty="0">
                <a:cs typeface="Georgia"/>
              </a:rPr>
              <a:t> </a:t>
            </a:r>
            <a:r>
              <a:rPr lang="en-US" sz="1800" spc="40" dirty="0" err="1">
                <a:cs typeface="Georgia"/>
              </a:rPr>
              <a:t>leur</a:t>
            </a:r>
            <a:r>
              <a:rPr lang="en-US" sz="1800" dirty="0">
                <a:cs typeface="Georgia"/>
              </a:rPr>
              <a:t> </a:t>
            </a:r>
            <a:r>
              <a:rPr lang="en-US" sz="1800" spc="70" dirty="0" err="1">
                <a:cs typeface="Georgia"/>
              </a:rPr>
              <a:t>adresse</a:t>
            </a:r>
            <a:r>
              <a:rPr lang="en-US" sz="1800" spc="70" dirty="0">
                <a:cs typeface="Georgia"/>
              </a:rPr>
              <a:t>.</a:t>
            </a:r>
            <a:endParaRPr lang="en-US" sz="1800" dirty="0">
              <a:cs typeface="Georgia"/>
            </a:endParaRPr>
          </a:p>
          <a:p>
            <a:pPr marL="24765" indent="0">
              <a:lnSpc>
                <a:spcPct val="100000"/>
              </a:lnSpc>
              <a:spcBef>
                <a:spcPts val="125"/>
              </a:spcBef>
              <a:buNone/>
              <a:tabLst>
                <a:tab pos="184150" algn="l"/>
              </a:tabLst>
            </a:pPr>
            <a:r>
              <a:rPr lang="en-US" sz="1800" spc="60" dirty="0">
                <a:cs typeface="Georgia"/>
              </a:rPr>
              <a:t>   </a:t>
            </a:r>
            <a:r>
              <a:rPr lang="en-US" sz="1800" spc="60" dirty="0" err="1">
                <a:cs typeface="Georgia"/>
              </a:rPr>
              <a:t>accès</a:t>
            </a:r>
            <a:r>
              <a:rPr lang="en-US" sz="1800" spc="85" dirty="0">
                <a:cs typeface="Georgia"/>
              </a:rPr>
              <a:t> </a:t>
            </a:r>
            <a:r>
              <a:rPr lang="en-US" sz="1800" spc="35" dirty="0" err="1">
                <a:cs typeface="Georgia"/>
              </a:rPr>
              <a:t>séquentiel</a:t>
            </a:r>
            <a:r>
              <a:rPr lang="en-US" sz="1800" spc="35" dirty="0">
                <a:cs typeface="Georgia"/>
              </a:rPr>
              <a:t>- semi </a:t>
            </a:r>
            <a:r>
              <a:rPr lang="en-US" sz="1800" spc="35" dirty="0" err="1">
                <a:cs typeface="Georgia"/>
              </a:rPr>
              <a:t>séquentiel</a:t>
            </a:r>
            <a:endParaRPr lang="en-US" sz="1800" dirty="0">
              <a:cs typeface="Georgia"/>
            </a:endParaRPr>
          </a:p>
          <a:p>
            <a:endParaRPr lang="fr-FR" sz="1800" dirty="0"/>
          </a:p>
        </p:txBody>
      </p:sp>
      <p:sp>
        <p:nvSpPr>
          <p:cNvPr id="3" name="Title 2"/>
          <p:cNvSpPr>
            <a:spLocks noGrp="1"/>
          </p:cNvSpPr>
          <p:nvPr>
            <p:ph type="title"/>
          </p:nvPr>
        </p:nvSpPr>
        <p:spPr/>
        <p:txBody>
          <a:bodyPr/>
          <a:lstStyle/>
          <a:p>
            <a:r>
              <a:rPr lang="fr-FR" dirty="0"/>
              <a:t>Caractéristiques des mémoires </a:t>
            </a:r>
          </a:p>
        </p:txBody>
      </p:sp>
    </p:spTree>
    <p:extLst>
      <p:ext uri="{BB962C8B-B14F-4D97-AF65-F5344CB8AC3E}">
        <p14:creationId xmlns:p14="http://schemas.microsoft.com/office/powerpoint/2010/main" val="23134708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83515" indent="-158750">
              <a:spcBef>
                <a:spcPts val="145"/>
              </a:spcBef>
              <a:buClr>
                <a:schemeClr val="accent1"/>
              </a:buClr>
              <a:buFont typeface="Wingdings 2" pitchFamily="18" charset="2"/>
              <a:buChar char="•"/>
              <a:tabLst>
                <a:tab pos="184150" algn="l"/>
              </a:tabLst>
            </a:pPr>
            <a:r>
              <a:rPr lang="fr-FR" dirty="0"/>
              <a:t>Caractéristiques des mémoires </a:t>
            </a:r>
            <a:br>
              <a:rPr lang="fr-FR" dirty="0"/>
            </a:br>
            <a:r>
              <a:rPr lang="fr-FR" sz="2000" spc="100" dirty="0">
                <a:solidFill>
                  <a:srgbClr val="0032CC"/>
                </a:solidFill>
                <a:latin typeface="+mn-lt"/>
                <a:ea typeface="+mn-ea"/>
                <a:cs typeface="Georgia"/>
              </a:rPr>
              <a:t>Temps de Cycle</a:t>
            </a:r>
          </a:p>
        </p:txBody>
      </p:sp>
      <p:pic>
        <p:nvPicPr>
          <p:cNvPr id="3" name="Content Placeholder 3" descr="Capture d’écran 2017-03-06 à 21.54.38.png"/>
          <p:cNvPicPr>
            <a:picLocks noChangeAspect="1"/>
          </p:cNvPicPr>
          <p:nvPr/>
        </p:nvPicPr>
        <p:blipFill>
          <a:blip r:embed="rId2">
            <a:extLst>
              <a:ext uri="{28A0092B-C50C-407E-A947-70E740481C1C}">
                <a14:useLocalDpi xmlns:a14="http://schemas.microsoft.com/office/drawing/2010/main" val="0"/>
              </a:ext>
            </a:extLst>
          </a:blip>
          <a:srcRect t="-1793" b="-1793"/>
          <a:stretch>
            <a:fillRect/>
          </a:stretch>
        </p:blipFill>
        <p:spPr>
          <a:xfrm>
            <a:off x="169333" y="1410241"/>
            <a:ext cx="8822267" cy="5447759"/>
          </a:xfrm>
          <a:prstGeom prst="rect">
            <a:avLst/>
          </a:prstGeom>
        </p:spPr>
      </p:pic>
    </p:spTree>
    <p:extLst>
      <p:ext uri="{BB962C8B-B14F-4D97-AF65-F5344CB8AC3E}">
        <p14:creationId xmlns:p14="http://schemas.microsoft.com/office/powerpoint/2010/main" val="3758461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614045" indent="-159385">
              <a:lnSpc>
                <a:spcPct val="100000"/>
              </a:lnSpc>
              <a:buChar char="•"/>
              <a:tabLst>
                <a:tab pos="614680" algn="l"/>
              </a:tabLst>
            </a:pPr>
            <a:r>
              <a:rPr lang="en-US" sz="1800" spc="40" dirty="0">
                <a:solidFill>
                  <a:srgbClr val="0032CC"/>
                </a:solidFill>
                <a:cs typeface="Georgia"/>
              </a:rPr>
              <a:t>MÉMOIRE </a:t>
            </a:r>
            <a:r>
              <a:rPr lang="en-US" sz="1800" spc="85" dirty="0">
                <a:solidFill>
                  <a:srgbClr val="0032CC"/>
                </a:solidFill>
                <a:cs typeface="Georgia"/>
              </a:rPr>
              <a:t>VIVE:</a:t>
            </a:r>
            <a:r>
              <a:rPr lang="en-US" sz="1800" spc="95" dirty="0">
                <a:solidFill>
                  <a:srgbClr val="0032CC"/>
                </a:solidFill>
                <a:cs typeface="Georgia"/>
              </a:rPr>
              <a:t> </a:t>
            </a:r>
            <a:r>
              <a:rPr lang="en-US" sz="1800" spc="5" dirty="0">
                <a:solidFill>
                  <a:srgbClr val="0032CC"/>
                </a:solidFill>
                <a:cs typeface="Georgia"/>
              </a:rPr>
              <a:t>RAM</a:t>
            </a:r>
            <a:endParaRPr lang="en-US" sz="1800" dirty="0">
              <a:cs typeface="Georgia"/>
            </a:endParaRPr>
          </a:p>
          <a:p>
            <a:pPr marL="709294" lvl="1" indent="0">
              <a:lnSpc>
                <a:spcPct val="100000"/>
              </a:lnSpc>
              <a:spcBef>
                <a:spcPts val="130"/>
              </a:spcBef>
              <a:buNone/>
              <a:tabLst>
                <a:tab pos="836930" algn="l"/>
              </a:tabLst>
            </a:pPr>
            <a:r>
              <a:rPr lang="en-US" spc="20" dirty="0" err="1">
                <a:solidFill>
                  <a:srgbClr val="FF0000"/>
                </a:solidFill>
                <a:cs typeface="Georgia"/>
              </a:rPr>
              <a:t>Mémoire</a:t>
            </a:r>
            <a:r>
              <a:rPr lang="en-US" spc="85" dirty="0">
                <a:solidFill>
                  <a:srgbClr val="FF0000"/>
                </a:solidFill>
                <a:cs typeface="Georgia"/>
              </a:rPr>
              <a:t> </a:t>
            </a:r>
            <a:r>
              <a:rPr lang="en-US" spc="25" dirty="0">
                <a:solidFill>
                  <a:srgbClr val="FF0000"/>
                </a:solidFill>
                <a:cs typeface="Georgia"/>
              </a:rPr>
              <a:t>volatile</a:t>
            </a:r>
            <a:endParaRPr lang="en-US" dirty="0">
              <a:solidFill>
                <a:srgbClr val="FF0000"/>
              </a:solidFill>
              <a:cs typeface="Georgia"/>
            </a:endParaRPr>
          </a:p>
          <a:p>
            <a:pPr marL="836294" marR="256540" lvl="1" indent="-127000">
              <a:lnSpc>
                <a:spcPts val="960"/>
              </a:lnSpc>
              <a:spcBef>
                <a:spcPts val="350"/>
              </a:spcBef>
              <a:buChar char="–"/>
              <a:tabLst>
                <a:tab pos="836930" algn="l"/>
              </a:tabLst>
            </a:pPr>
            <a:endParaRPr lang="en-US" spc="45" dirty="0">
              <a:cs typeface="Georgia"/>
            </a:endParaRPr>
          </a:p>
          <a:p>
            <a:pPr marL="709294" marR="256540" lvl="1" indent="0">
              <a:lnSpc>
                <a:spcPts val="960"/>
              </a:lnSpc>
              <a:spcBef>
                <a:spcPts val="350"/>
              </a:spcBef>
              <a:buNone/>
              <a:tabLst>
                <a:tab pos="836930" algn="l"/>
              </a:tabLst>
            </a:pPr>
            <a:r>
              <a:rPr lang="en-US" spc="45" dirty="0">
                <a:solidFill>
                  <a:srgbClr val="FF0000"/>
                </a:solidFill>
                <a:cs typeface="Georgia"/>
              </a:rPr>
              <a:t>Cycle </a:t>
            </a:r>
            <a:r>
              <a:rPr lang="en-US" spc="30" dirty="0">
                <a:solidFill>
                  <a:srgbClr val="FF0000"/>
                </a:solidFill>
                <a:cs typeface="Georgia"/>
              </a:rPr>
              <a:t>de </a:t>
            </a:r>
            <a:r>
              <a:rPr lang="en-US" spc="45" dirty="0">
                <a:solidFill>
                  <a:srgbClr val="FF0000"/>
                </a:solidFill>
                <a:cs typeface="Georgia"/>
              </a:rPr>
              <a:t>lecture/</a:t>
            </a:r>
            <a:r>
              <a:rPr lang="en-US" spc="45" dirty="0" err="1">
                <a:solidFill>
                  <a:srgbClr val="FF0000"/>
                </a:solidFill>
                <a:cs typeface="Georgia"/>
              </a:rPr>
              <a:t>écriture</a:t>
            </a:r>
            <a:r>
              <a:rPr lang="en-US" spc="45" dirty="0">
                <a:solidFill>
                  <a:srgbClr val="FF0000"/>
                </a:solidFill>
                <a:cs typeface="Georgia"/>
              </a:rPr>
              <a:t> </a:t>
            </a:r>
            <a:r>
              <a:rPr lang="en-US" spc="-95" dirty="0">
                <a:solidFill>
                  <a:srgbClr val="FF0000"/>
                </a:solidFill>
                <a:cs typeface="Georgia"/>
              </a:rPr>
              <a:t>(@ </a:t>
            </a:r>
            <a:r>
              <a:rPr lang="en-US" spc="75" dirty="0">
                <a:solidFill>
                  <a:srgbClr val="FF0000"/>
                </a:solidFill>
                <a:cs typeface="Georgia"/>
              </a:rPr>
              <a:t>bus </a:t>
            </a:r>
            <a:r>
              <a:rPr lang="en-US" spc="40" dirty="0" err="1">
                <a:solidFill>
                  <a:srgbClr val="FF0000"/>
                </a:solidFill>
                <a:cs typeface="Georgia"/>
              </a:rPr>
              <a:t>d'adresse</a:t>
            </a:r>
            <a:r>
              <a:rPr lang="en-US" spc="40" dirty="0">
                <a:solidFill>
                  <a:srgbClr val="FF0000"/>
                </a:solidFill>
                <a:cs typeface="Georgia"/>
              </a:rPr>
              <a:t>, </a:t>
            </a:r>
            <a:r>
              <a:rPr lang="en-US" spc="30" dirty="0">
                <a:solidFill>
                  <a:srgbClr val="FF0000"/>
                </a:solidFill>
                <a:cs typeface="Georgia"/>
              </a:rPr>
              <a:t>V </a:t>
            </a:r>
            <a:r>
              <a:rPr lang="en-US" spc="75" dirty="0">
                <a:solidFill>
                  <a:srgbClr val="FF0000"/>
                </a:solidFill>
                <a:cs typeface="Georgia"/>
              </a:rPr>
              <a:t>bus </a:t>
            </a:r>
            <a:r>
              <a:rPr lang="en-US" spc="30" dirty="0">
                <a:solidFill>
                  <a:srgbClr val="FF0000"/>
                </a:solidFill>
                <a:cs typeface="Georgia"/>
              </a:rPr>
              <a:t>de </a:t>
            </a:r>
            <a:r>
              <a:rPr lang="en-US" spc="40" dirty="0" err="1">
                <a:solidFill>
                  <a:srgbClr val="FF0000"/>
                </a:solidFill>
                <a:cs typeface="Georgia"/>
              </a:rPr>
              <a:t>donnée</a:t>
            </a:r>
            <a:r>
              <a:rPr lang="en-US" spc="40" dirty="0">
                <a:solidFill>
                  <a:srgbClr val="FF0000"/>
                </a:solidFill>
                <a:cs typeface="Georgia"/>
              </a:rPr>
              <a:t>, </a:t>
            </a:r>
            <a:r>
              <a:rPr lang="en-US" spc="75" dirty="0">
                <a:solidFill>
                  <a:srgbClr val="FF0000"/>
                </a:solidFill>
                <a:cs typeface="Georgia"/>
              </a:rPr>
              <a:t>CS,  </a:t>
            </a:r>
            <a:r>
              <a:rPr lang="en-US" spc="10" dirty="0">
                <a:solidFill>
                  <a:srgbClr val="FF0000"/>
                </a:solidFill>
                <a:cs typeface="Georgia"/>
              </a:rPr>
              <a:t>R/W)</a:t>
            </a:r>
          </a:p>
          <a:p>
            <a:pPr marL="709294" marR="256540" lvl="1" indent="0">
              <a:lnSpc>
                <a:spcPts val="960"/>
              </a:lnSpc>
              <a:spcBef>
                <a:spcPts val="350"/>
              </a:spcBef>
              <a:buNone/>
              <a:tabLst>
                <a:tab pos="836930" algn="l"/>
              </a:tabLst>
            </a:pPr>
            <a:endParaRPr lang="en-US" spc="20" dirty="0">
              <a:solidFill>
                <a:srgbClr val="FF0000"/>
              </a:solidFill>
              <a:cs typeface="Georgia"/>
            </a:endParaRPr>
          </a:p>
          <a:p>
            <a:pPr marL="709294" lvl="1" indent="0">
              <a:lnSpc>
                <a:spcPct val="100000"/>
              </a:lnSpc>
              <a:spcBef>
                <a:spcPts val="130"/>
              </a:spcBef>
              <a:buNone/>
              <a:tabLst>
                <a:tab pos="836930" algn="l"/>
                <a:tab pos="2572385" algn="l"/>
                <a:tab pos="2994660" algn="l"/>
              </a:tabLst>
            </a:pPr>
            <a:r>
              <a:rPr lang="en-US" spc="20" dirty="0" err="1">
                <a:cs typeface="Georgia"/>
              </a:rPr>
              <a:t>Mémoire</a:t>
            </a:r>
            <a:r>
              <a:rPr lang="en-US" spc="95" dirty="0">
                <a:cs typeface="Georgia"/>
              </a:rPr>
              <a:t> </a:t>
            </a:r>
            <a:r>
              <a:rPr lang="en-US" spc="25" dirty="0">
                <a:cs typeface="Georgia"/>
              </a:rPr>
              <a:t>vive</a:t>
            </a:r>
            <a:r>
              <a:rPr lang="en-US" spc="60" dirty="0">
                <a:cs typeface="Georgia"/>
              </a:rPr>
              <a:t> </a:t>
            </a:r>
            <a:r>
              <a:rPr lang="en-US" spc="45" dirty="0" err="1">
                <a:cs typeface="Georgia"/>
              </a:rPr>
              <a:t>statique</a:t>
            </a:r>
            <a:r>
              <a:rPr lang="en-US" spc="45" dirty="0">
                <a:cs typeface="Georgia"/>
              </a:rPr>
              <a:t>	</a:t>
            </a:r>
            <a:r>
              <a:rPr lang="en-US" spc="-15" dirty="0">
                <a:cs typeface="Georgia"/>
              </a:rPr>
              <a:t>-&gt;	</a:t>
            </a:r>
            <a:r>
              <a:rPr lang="en-US" spc="20" dirty="0">
                <a:cs typeface="Georgia"/>
              </a:rPr>
              <a:t>SRAM</a:t>
            </a:r>
          </a:p>
          <a:p>
            <a:pPr marL="709294" lvl="1" indent="0">
              <a:lnSpc>
                <a:spcPct val="100000"/>
              </a:lnSpc>
              <a:spcBef>
                <a:spcPts val="120"/>
              </a:spcBef>
              <a:buNone/>
              <a:tabLst>
                <a:tab pos="836930" algn="l"/>
                <a:tab pos="2572385" algn="l"/>
                <a:tab pos="2994660" algn="l"/>
              </a:tabLst>
            </a:pPr>
            <a:r>
              <a:rPr lang="en-US" spc="20" dirty="0" err="1">
                <a:cs typeface="Georgia"/>
              </a:rPr>
              <a:t>Mémoire</a:t>
            </a:r>
            <a:r>
              <a:rPr lang="en-US" spc="90" dirty="0">
                <a:cs typeface="Georgia"/>
              </a:rPr>
              <a:t> </a:t>
            </a:r>
            <a:r>
              <a:rPr lang="en-US" spc="25" dirty="0">
                <a:cs typeface="Georgia"/>
              </a:rPr>
              <a:t>vive</a:t>
            </a:r>
            <a:r>
              <a:rPr lang="en-US" spc="60" dirty="0">
                <a:cs typeface="Georgia"/>
              </a:rPr>
              <a:t> </a:t>
            </a:r>
            <a:r>
              <a:rPr lang="en-US" spc="45" dirty="0" err="1">
                <a:cs typeface="Georgia"/>
              </a:rPr>
              <a:t>dynamique</a:t>
            </a:r>
            <a:r>
              <a:rPr lang="en-US" spc="45" dirty="0">
                <a:cs typeface="Georgia"/>
              </a:rPr>
              <a:t>    </a:t>
            </a:r>
            <a:r>
              <a:rPr lang="en-US" spc="-15" dirty="0">
                <a:cs typeface="Georgia"/>
              </a:rPr>
              <a:t>-&gt;	</a:t>
            </a:r>
            <a:r>
              <a:rPr lang="en-US" spc="10" dirty="0">
                <a:cs typeface="Georgia"/>
              </a:rPr>
              <a:t>DRAM</a:t>
            </a:r>
            <a:endParaRPr lang="en-US" spc="20" dirty="0">
              <a:cs typeface="Georgia"/>
            </a:endParaRPr>
          </a:p>
          <a:p>
            <a:pPr marL="709294" lvl="1" indent="0">
              <a:lnSpc>
                <a:spcPct val="100000"/>
              </a:lnSpc>
              <a:spcBef>
                <a:spcPts val="120"/>
              </a:spcBef>
              <a:buNone/>
              <a:tabLst>
                <a:tab pos="836930" algn="l"/>
              </a:tabLst>
            </a:pPr>
            <a:r>
              <a:rPr lang="en-US" spc="20" dirty="0" err="1">
                <a:cs typeface="Georgia"/>
              </a:rPr>
              <a:t>Mémoire</a:t>
            </a:r>
            <a:r>
              <a:rPr lang="en-US" spc="20" dirty="0">
                <a:cs typeface="Georgia"/>
              </a:rPr>
              <a:t> </a:t>
            </a:r>
            <a:r>
              <a:rPr lang="en-US" spc="25" dirty="0">
                <a:cs typeface="Georgia"/>
              </a:rPr>
              <a:t>vive </a:t>
            </a:r>
            <a:r>
              <a:rPr lang="en-US" spc="45" dirty="0" err="1">
                <a:cs typeface="Georgia"/>
              </a:rPr>
              <a:t>dynamique</a:t>
            </a:r>
            <a:r>
              <a:rPr lang="en-US" spc="45" dirty="0">
                <a:cs typeface="Georgia"/>
              </a:rPr>
              <a:t> </a:t>
            </a:r>
            <a:r>
              <a:rPr lang="en-US" spc="50" dirty="0" err="1">
                <a:cs typeface="Georgia"/>
              </a:rPr>
              <a:t>Synchrone</a:t>
            </a:r>
            <a:r>
              <a:rPr lang="en-US" spc="50" dirty="0">
                <a:cs typeface="Georgia"/>
              </a:rPr>
              <a:t> </a:t>
            </a:r>
            <a:r>
              <a:rPr lang="en-US" spc="-15" dirty="0">
                <a:cs typeface="Georgia"/>
              </a:rPr>
              <a:t>-&gt;</a:t>
            </a:r>
            <a:r>
              <a:rPr lang="en-US" spc="55" dirty="0">
                <a:cs typeface="Georgia"/>
              </a:rPr>
              <a:t> </a:t>
            </a:r>
            <a:r>
              <a:rPr lang="en-US" spc="25" dirty="0">
                <a:cs typeface="Georgia"/>
              </a:rPr>
              <a:t>SDRAM (signal </a:t>
            </a:r>
            <a:r>
              <a:rPr lang="en-US" spc="25" dirty="0" err="1">
                <a:cs typeface="Georgia"/>
              </a:rPr>
              <a:t>d’horloge</a:t>
            </a:r>
            <a:r>
              <a:rPr lang="en-US" spc="25" dirty="0">
                <a:cs typeface="Georgia"/>
              </a:rPr>
              <a:t>, </a:t>
            </a:r>
            <a:r>
              <a:rPr lang="en-US" spc="25" dirty="0" err="1">
                <a:cs typeface="Georgia"/>
              </a:rPr>
              <a:t>obsolète</a:t>
            </a:r>
            <a:r>
              <a:rPr lang="en-US" spc="25" dirty="0">
                <a:cs typeface="Georgia"/>
              </a:rPr>
              <a:t>)</a:t>
            </a:r>
            <a:endParaRPr lang="en-US" dirty="0">
              <a:cs typeface="Georgia"/>
            </a:endParaRPr>
          </a:p>
          <a:p>
            <a:pPr lvl="1">
              <a:lnSpc>
                <a:spcPct val="100000"/>
              </a:lnSpc>
              <a:spcBef>
                <a:spcPts val="35"/>
              </a:spcBef>
              <a:buFont typeface="Georgia"/>
              <a:buChar char="–"/>
            </a:pPr>
            <a:endParaRPr lang="en-US" dirty="0">
              <a:cs typeface="Georgia"/>
            </a:endParaRPr>
          </a:p>
          <a:p>
            <a:pPr marL="614045" indent="-159385">
              <a:lnSpc>
                <a:spcPct val="100000"/>
              </a:lnSpc>
              <a:buChar char="•"/>
              <a:tabLst>
                <a:tab pos="614680" algn="l"/>
              </a:tabLst>
            </a:pPr>
            <a:r>
              <a:rPr lang="en-US" sz="1800" spc="40" dirty="0">
                <a:solidFill>
                  <a:srgbClr val="0032CC"/>
                </a:solidFill>
                <a:cs typeface="Georgia"/>
              </a:rPr>
              <a:t>MÉMOIRE </a:t>
            </a:r>
            <a:r>
              <a:rPr lang="en-US" sz="1800" spc="90" dirty="0">
                <a:solidFill>
                  <a:srgbClr val="0032CC"/>
                </a:solidFill>
                <a:cs typeface="Georgia"/>
              </a:rPr>
              <a:t>MORTE: </a:t>
            </a:r>
            <a:r>
              <a:rPr lang="en-US" sz="1800" spc="30" dirty="0">
                <a:solidFill>
                  <a:srgbClr val="0032CC"/>
                </a:solidFill>
                <a:cs typeface="Georgia"/>
              </a:rPr>
              <a:t>ROM, </a:t>
            </a:r>
            <a:r>
              <a:rPr lang="en-US" sz="1800" spc="25" dirty="0">
                <a:solidFill>
                  <a:srgbClr val="0032CC"/>
                </a:solidFill>
                <a:cs typeface="Georgia"/>
              </a:rPr>
              <a:t>PROM, </a:t>
            </a:r>
            <a:r>
              <a:rPr lang="en-US" sz="1800" spc="35" dirty="0">
                <a:solidFill>
                  <a:srgbClr val="0032CC"/>
                </a:solidFill>
                <a:cs typeface="Georgia"/>
              </a:rPr>
              <a:t>EPROM,</a:t>
            </a:r>
            <a:r>
              <a:rPr lang="en-US" sz="1800" spc="240" dirty="0">
                <a:solidFill>
                  <a:srgbClr val="0032CC"/>
                </a:solidFill>
                <a:cs typeface="Georgia"/>
              </a:rPr>
              <a:t> </a:t>
            </a:r>
            <a:r>
              <a:rPr lang="en-US" sz="1800" spc="40" dirty="0">
                <a:solidFill>
                  <a:srgbClr val="0032CC"/>
                </a:solidFill>
                <a:cs typeface="Georgia"/>
              </a:rPr>
              <a:t>EEPROM</a:t>
            </a:r>
            <a:endParaRPr lang="en-US" sz="1800" dirty="0">
              <a:cs typeface="Georgia"/>
            </a:endParaRPr>
          </a:p>
          <a:p>
            <a:pPr marL="709294" lvl="1" indent="0">
              <a:lnSpc>
                <a:spcPct val="100000"/>
              </a:lnSpc>
              <a:spcBef>
                <a:spcPts val="125"/>
              </a:spcBef>
              <a:buNone/>
              <a:tabLst>
                <a:tab pos="836930" algn="l"/>
              </a:tabLst>
            </a:pPr>
            <a:r>
              <a:rPr lang="en-US" spc="5" dirty="0">
                <a:solidFill>
                  <a:srgbClr val="FF0000"/>
                </a:solidFill>
                <a:cs typeface="Georgia"/>
              </a:rPr>
              <a:t>A </a:t>
            </a:r>
            <a:r>
              <a:rPr lang="en-US" spc="40" dirty="0">
                <a:solidFill>
                  <a:srgbClr val="FF0000"/>
                </a:solidFill>
                <a:cs typeface="Georgia"/>
              </a:rPr>
              <a:t>lecture</a:t>
            </a:r>
            <a:r>
              <a:rPr lang="en-US" spc="155" dirty="0">
                <a:solidFill>
                  <a:srgbClr val="FF0000"/>
                </a:solidFill>
                <a:cs typeface="Georgia"/>
              </a:rPr>
              <a:t> </a:t>
            </a:r>
            <a:r>
              <a:rPr lang="en-US" spc="45" dirty="0" err="1">
                <a:solidFill>
                  <a:srgbClr val="FF0000"/>
                </a:solidFill>
                <a:cs typeface="Georgia"/>
              </a:rPr>
              <a:t>seule</a:t>
            </a:r>
            <a:r>
              <a:rPr lang="en-US" spc="45" dirty="0">
                <a:solidFill>
                  <a:srgbClr val="FF0000"/>
                </a:solidFill>
                <a:cs typeface="Georgia"/>
              </a:rPr>
              <a:t>,</a:t>
            </a:r>
            <a:endParaRPr lang="en-US" dirty="0">
              <a:solidFill>
                <a:srgbClr val="FF0000"/>
              </a:solidFill>
              <a:cs typeface="Georgia"/>
            </a:endParaRPr>
          </a:p>
          <a:p>
            <a:pPr marL="709294" lvl="1" indent="0">
              <a:lnSpc>
                <a:spcPct val="100000"/>
              </a:lnSpc>
              <a:spcBef>
                <a:spcPts val="120"/>
              </a:spcBef>
              <a:buNone/>
              <a:tabLst>
                <a:tab pos="836930" algn="l"/>
              </a:tabLst>
            </a:pPr>
            <a:r>
              <a:rPr lang="en-US" spc="45" dirty="0">
                <a:solidFill>
                  <a:srgbClr val="FF0000"/>
                </a:solidFill>
                <a:cs typeface="Georgia"/>
              </a:rPr>
              <a:t>Conserve</a:t>
            </a:r>
            <a:r>
              <a:rPr lang="en-US" spc="75" dirty="0">
                <a:solidFill>
                  <a:srgbClr val="FF0000"/>
                </a:solidFill>
                <a:cs typeface="Georgia"/>
              </a:rPr>
              <a:t> </a:t>
            </a:r>
            <a:r>
              <a:rPr lang="en-US" spc="25" dirty="0" err="1">
                <a:solidFill>
                  <a:srgbClr val="FF0000"/>
                </a:solidFill>
                <a:cs typeface="Georgia"/>
              </a:rPr>
              <a:t>l'information</a:t>
            </a:r>
            <a:endParaRPr lang="en-US" spc="25" dirty="0">
              <a:solidFill>
                <a:srgbClr val="FF0000"/>
              </a:solidFill>
              <a:cs typeface="Georgia"/>
            </a:endParaRPr>
          </a:p>
          <a:p>
            <a:pPr marL="709294" lvl="1" indent="0">
              <a:lnSpc>
                <a:spcPct val="100000"/>
              </a:lnSpc>
              <a:spcBef>
                <a:spcPts val="120"/>
              </a:spcBef>
              <a:buNone/>
              <a:tabLst>
                <a:tab pos="836930" algn="l"/>
              </a:tabLst>
            </a:pPr>
            <a:endParaRPr lang="en-US" dirty="0">
              <a:solidFill>
                <a:srgbClr val="FF0000"/>
              </a:solidFill>
              <a:cs typeface="Georgia"/>
            </a:endParaRPr>
          </a:p>
          <a:p>
            <a:pPr marL="709294" lvl="1" indent="0">
              <a:lnSpc>
                <a:spcPct val="100000"/>
              </a:lnSpc>
              <a:spcBef>
                <a:spcPts val="120"/>
              </a:spcBef>
              <a:buNone/>
              <a:tabLst>
                <a:tab pos="836930" algn="l"/>
              </a:tabLst>
            </a:pPr>
            <a:r>
              <a:rPr lang="en-US" spc="15" dirty="0">
                <a:cs typeface="Georgia"/>
              </a:rPr>
              <a:t>ROM </a:t>
            </a:r>
            <a:r>
              <a:rPr lang="en-US" spc="5" dirty="0">
                <a:cs typeface="Georgia"/>
              </a:rPr>
              <a:t>: </a:t>
            </a:r>
            <a:r>
              <a:rPr lang="en-US" spc="30" dirty="0">
                <a:cs typeface="Georgia"/>
              </a:rPr>
              <a:t>information </a:t>
            </a:r>
            <a:r>
              <a:rPr lang="en-US" spc="45" dirty="0" err="1">
                <a:cs typeface="Georgia"/>
              </a:rPr>
              <a:t>stockée</a:t>
            </a:r>
            <a:r>
              <a:rPr lang="en-US" spc="45" dirty="0">
                <a:cs typeface="Georgia"/>
              </a:rPr>
              <a:t> </a:t>
            </a:r>
            <a:r>
              <a:rPr lang="en-US" spc="30" dirty="0">
                <a:cs typeface="Georgia"/>
              </a:rPr>
              <a:t>de </a:t>
            </a:r>
            <a:r>
              <a:rPr lang="en-US" spc="40" dirty="0" err="1">
                <a:cs typeface="Georgia"/>
              </a:rPr>
              <a:t>manière</a:t>
            </a:r>
            <a:r>
              <a:rPr lang="en-US" spc="110" dirty="0">
                <a:cs typeface="Georgia"/>
              </a:rPr>
              <a:t> </a:t>
            </a:r>
            <a:r>
              <a:rPr lang="en-US" spc="25" dirty="0" err="1">
                <a:cs typeface="Georgia"/>
              </a:rPr>
              <a:t>définitive</a:t>
            </a:r>
            <a:r>
              <a:rPr lang="en-US" spc="25" dirty="0">
                <a:cs typeface="Georgia"/>
              </a:rPr>
              <a:t>, stocker </a:t>
            </a:r>
            <a:r>
              <a:rPr lang="en-US" spc="25" dirty="0" err="1">
                <a:cs typeface="Georgia"/>
              </a:rPr>
              <a:t>définitivement</a:t>
            </a:r>
            <a:r>
              <a:rPr lang="en-US" spc="25" dirty="0">
                <a:cs typeface="Georgia"/>
              </a:rPr>
              <a:t> des </a:t>
            </a:r>
            <a:r>
              <a:rPr lang="en-US" spc="25" dirty="0" err="1">
                <a:cs typeface="Georgia"/>
              </a:rPr>
              <a:t>logiciels</a:t>
            </a:r>
            <a:r>
              <a:rPr lang="en-US" spc="25" dirty="0">
                <a:cs typeface="Georgia"/>
              </a:rPr>
              <a:t> </a:t>
            </a:r>
            <a:r>
              <a:rPr lang="en-US" spc="25" dirty="0" err="1">
                <a:cs typeface="Georgia"/>
              </a:rPr>
              <a:t>enfouis</a:t>
            </a:r>
            <a:r>
              <a:rPr lang="en-US" spc="25" dirty="0">
                <a:cs typeface="Georgia"/>
              </a:rPr>
              <a:t>.</a:t>
            </a:r>
          </a:p>
          <a:p>
            <a:pPr marL="709294" lvl="1" indent="0">
              <a:lnSpc>
                <a:spcPct val="100000"/>
              </a:lnSpc>
              <a:spcBef>
                <a:spcPts val="120"/>
              </a:spcBef>
              <a:buNone/>
              <a:tabLst>
                <a:tab pos="836930" algn="l"/>
              </a:tabLst>
            </a:pPr>
            <a:r>
              <a:rPr lang="en-US" spc="10" dirty="0">
                <a:cs typeface="Georgia"/>
              </a:rPr>
              <a:t>PROM </a:t>
            </a:r>
            <a:r>
              <a:rPr lang="en-US" spc="5" dirty="0">
                <a:cs typeface="Georgia"/>
              </a:rPr>
              <a:t>: </a:t>
            </a:r>
            <a:r>
              <a:rPr lang="en-US" spc="35" dirty="0">
                <a:cs typeface="Georgia"/>
              </a:rPr>
              <a:t>Programmable </a:t>
            </a:r>
            <a:r>
              <a:rPr lang="en-US" spc="40" dirty="0">
                <a:cs typeface="Georgia"/>
              </a:rPr>
              <a:t>par</a:t>
            </a:r>
            <a:r>
              <a:rPr lang="en-US" spc="300" dirty="0">
                <a:cs typeface="Georgia"/>
              </a:rPr>
              <a:t> </a:t>
            </a:r>
            <a:r>
              <a:rPr lang="en-US" spc="35" dirty="0" err="1">
                <a:cs typeface="Georgia"/>
              </a:rPr>
              <a:t>l'utilisateur</a:t>
            </a:r>
            <a:r>
              <a:rPr lang="en-US" spc="35" dirty="0">
                <a:cs typeface="Georgia"/>
              </a:rPr>
              <a:t> </a:t>
            </a:r>
            <a:r>
              <a:rPr lang="en-US" spc="35" dirty="0" err="1">
                <a:cs typeface="Georgia"/>
              </a:rPr>
              <a:t>une</a:t>
            </a:r>
            <a:r>
              <a:rPr lang="en-US" spc="35" dirty="0">
                <a:cs typeface="Georgia"/>
              </a:rPr>
              <a:t> </a:t>
            </a:r>
            <a:r>
              <a:rPr lang="en-US" spc="35" dirty="0" err="1">
                <a:cs typeface="Georgia"/>
              </a:rPr>
              <a:t>seule</a:t>
            </a:r>
            <a:r>
              <a:rPr lang="en-US" spc="35" dirty="0">
                <a:cs typeface="Georgia"/>
              </a:rPr>
              <a:t> </a:t>
            </a:r>
            <a:r>
              <a:rPr lang="en-US" spc="35" dirty="0" err="1">
                <a:cs typeface="Georgia"/>
              </a:rPr>
              <a:t>fois</a:t>
            </a:r>
            <a:endParaRPr lang="en-US" dirty="0">
              <a:cs typeface="Georgia"/>
            </a:endParaRPr>
          </a:p>
          <a:p>
            <a:pPr marL="709294" marR="623570" lvl="1" indent="0">
              <a:lnSpc>
                <a:spcPct val="80000"/>
              </a:lnSpc>
              <a:spcBef>
                <a:spcPts val="360"/>
              </a:spcBef>
              <a:buNone/>
              <a:tabLst>
                <a:tab pos="836930" algn="l"/>
              </a:tabLst>
            </a:pPr>
            <a:r>
              <a:rPr lang="en-US" spc="20" dirty="0">
                <a:cs typeface="Georgia"/>
              </a:rPr>
              <a:t>EPROM </a:t>
            </a:r>
            <a:r>
              <a:rPr lang="en-US" spc="25" dirty="0">
                <a:cs typeface="Georgia"/>
              </a:rPr>
              <a:t>-EEPROM </a:t>
            </a:r>
            <a:r>
              <a:rPr lang="en-US" spc="5" dirty="0">
                <a:cs typeface="Georgia"/>
              </a:rPr>
              <a:t>: </a:t>
            </a:r>
            <a:r>
              <a:rPr lang="en-US" spc="35" dirty="0">
                <a:cs typeface="Georgia"/>
              </a:rPr>
              <a:t>Programmable </a:t>
            </a:r>
            <a:r>
              <a:rPr lang="en-US" spc="-50" dirty="0">
                <a:cs typeface="Georgia"/>
              </a:rPr>
              <a:t>+ </a:t>
            </a:r>
            <a:r>
              <a:rPr lang="en-US" spc="35" dirty="0">
                <a:cs typeface="Georgia"/>
              </a:rPr>
              <a:t>effacement </a:t>
            </a:r>
            <a:r>
              <a:rPr lang="en-US" spc="40" dirty="0">
                <a:cs typeface="Georgia"/>
              </a:rPr>
              <a:t>par </a:t>
            </a:r>
            <a:r>
              <a:rPr lang="en-US" spc="25" dirty="0">
                <a:cs typeface="Georgia"/>
              </a:rPr>
              <a:t>UV </a:t>
            </a:r>
            <a:r>
              <a:rPr lang="en-US" spc="55" dirty="0" err="1">
                <a:cs typeface="Georgia"/>
              </a:rPr>
              <a:t>ou</a:t>
            </a:r>
            <a:r>
              <a:rPr lang="en-US" spc="55" dirty="0">
                <a:cs typeface="Georgia"/>
              </a:rPr>
              <a:t>  </a:t>
            </a:r>
            <a:r>
              <a:rPr lang="en-US" spc="35" dirty="0" err="1">
                <a:cs typeface="Georgia"/>
              </a:rPr>
              <a:t>électriquement</a:t>
            </a:r>
            <a:r>
              <a:rPr lang="en-US" spc="35" dirty="0">
                <a:cs typeface="Georgia"/>
              </a:rPr>
              <a:t> (</a:t>
            </a:r>
            <a:r>
              <a:rPr lang="en-US" spc="35" dirty="0" err="1">
                <a:cs typeface="Georgia"/>
              </a:rPr>
              <a:t>mémoire</a:t>
            </a:r>
            <a:r>
              <a:rPr lang="en-US" spc="35" dirty="0">
                <a:cs typeface="Georgia"/>
              </a:rPr>
              <a:t> flash)</a:t>
            </a:r>
            <a:endParaRPr lang="en-US" dirty="0">
              <a:cs typeface="Georgia"/>
            </a:endParaRPr>
          </a:p>
          <a:p>
            <a:endParaRPr lang="fr-FR" sz="1800" dirty="0"/>
          </a:p>
        </p:txBody>
      </p:sp>
      <p:sp>
        <p:nvSpPr>
          <p:cNvPr id="3" name="Title 2"/>
          <p:cNvSpPr>
            <a:spLocks noGrp="1"/>
          </p:cNvSpPr>
          <p:nvPr>
            <p:ph type="title"/>
          </p:nvPr>
        </p:nvSpPr>
        <p:spPr/>
        <p:txBody>
          <a:bodyPr/>
          <a:lstStyle/>
          <a:p>
            <a:r>
              <a:rPr lang="fr-FR" dirty="0"/>
              <a:t>Caractéristiques des mémoires </a:t>
            </a:r>
          </a:p>
        </p:txBody>
      </p:sp>
    </p:spTree>
    <p:extLst>
      <p:ext uri="{BB962C8B-B14F-4D97-AF65-F5344CB8AC3E}">
        <p14:creationId xmlns:p14="http://schemas.microsoft.com/office/powerpoint/2010/main" val="1050521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20-02-03 à 20.41.26.png"/>
          <p:cNvPicPr>
            <a:picLocks noGrp="1" noChangeAspect="1"/>
          </p:cNvPicPr>
          <p:nvPr>
            <p:ph idx="1"/>
          </p:nvPr>
        </p:nvPicPr>
        <p:blipFill>
          <a:blip r:embed="rId3">
            <a:extLst>
              <a:ext uri="{28A0092B-C50C-407E-A947-70E740481C1C}">
                <a14:useLocalDpi xmlns:a14="http://schemas.microsoft.com/office/drawing/2010/main" val="0"/>
              </a:ext>
            </a:extLst>
          </a:blip>
          <a:srcRect l="-14575" r="-14575"/>
          <a:stretch>
            <a:fillRect/>
          </a:stretch>
        </p:blipFill>
        <p:spPr/>
      </p:pic>
      <p:sp>
        <p:nvSpPr>
          <p:cNvPr id="3" name="Title 2"/>
          <p:cNvSpPr>
            <a:spLocks noGrp="1"/>
          </p:cNvSpPr>
          <p:nvPr>
            <p:ph type="title"/>
          </p:nvPr>
        </p:nvSpPr>
        <p:spPr/>
        <p:txBody>
          <a:bodyPr/>
          <a:lstStyle/>
          <a:p>
            <a:r>
              <a:rPr lang="en-US" dirty="0" err="1"/>
              <a:t>Différents</a:t>
            </a:r>
            <a:r>
              <a:rPr lang="en-US" dirty="0"/>
              <a:t> types de </a:t>
            </a:r>
            <a:r>
              <a:rPr lang="en-US" dirty="0" err="1"/>
              <a:t>mémoires</a:t>
            </a:r>
            <a:br>
              <a:rPr lang="en-US" dirty="0"/>
            </a:br>
            <a:endParaRPr lang="fr-FR" dirty="0"/>
          </a:p>
        </p:txBody>
      </p:sp>
    </p:spTree>
    <p:extLst>
      <p:ext uri="{BB962C8B-B14F-4D97-AF65-F5344CB8AC3E}">
        <p14:creationId xmlns:p14="http://schemas.microsoft.com/office/powerpoint/2010/main" val="39102047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7 à 07.35.19.png"/>
          <p:cNvPicPr>
            <a:picLocks noGrp="1" noChangeAspect="1"/>
          </p:cNvPicPr>
          <p:nvPr>
            <p:ph idx="1"/>
          </p:nvPr>
        </p:nvPicPr>
        <p:blipFill>
          <a:blip r:embed="rId2">
            <a:extLst>
              <a:ext uri="{28A0092B-C50C-407E-A947-70E740481C1C}">
                <a14:useLocalDpi xmlns:a14="http://schemas.microsoft.com/office/drawing/2010/main" val="0"/>
              </a:ext>
            </a:extLst>
          </a:blip>
          <a:srcRect t="564" b="564"/>
          <a:stretch>
            <a:fillRect/>
          </a:stretch>
        </p:blipFill>
        <p:spPr>
          <a:xfrm>
            <a:off x="380999" y="1719071"/>
            <a:ext cx="8407893" cy="4790516"/>
          </a:xfrm>
        </p:spPr>
      </p:pic>
      <p:sp>
        <p:nvSpPr>
          <p:cNvPr id="3" name="Title 2"/>
          <p:cNvSpPr>
            <a:spLocks noGrp="1"/>
          </p:cNvSpPr>
          <p:nvPr>
            <p:ph type="title"/>
          </p:nvPr>
        </p:nvSpPr>
        <p:spPr/>
        <p:txBody>
          <a:bodyPr/>
          <a:lstStyle/>
          <a:p>
            <a:r>
              <a:rPr lang="fr-FR" dirty="0"/>
              <a:t>les mémoires vives: RAM</a:t>
            </a:r>
          </a:p>
        </p:txBody>
      </p:sp>
    </p:spTree>
    <p:extLst>
      <p:ext uri="{BB962C8B-B14F-4D97-AF65-F5344CB8AC3E}">
        <p14:creationId xmlns:p14="http://schemas.microsoft.com/office/powerpoint/2010/main" val="5923751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7 à 07.35.25.png"/>
          <p:cNvPicPr>
            <a:picLocks noGrp="1" noChangeAspect="1"/>
          </p:cNvPicPr>
          <p:nvPr>
            <p:ph idx="1"/>
          </p:nvPr>
        </p:nvPicPr>
        <p:blipFill>
          <a:blip r:embed="rId2">
            <a:extLst>
              <a:ext uri="{28A0092B-C50C-407E-A947-70E740481C1C}">
                <a14:useLocalDpi xmlns:a14="http://schemas.microsoft.com/office/drawing/2010/main" val="0"/>
              </a:ext>
            </a:extLst>
          </a:blip>
          <a:srcRect t="1152" b="1152"/>
          <a:stretch>
            <a:fillRect/>
          </a:stretch>
        </p:blipFill>
        <p:spPr>
          <a:xfrm>
            <a:off x="380999" y="1719070"/>
            <a:ext cx="8407893" cy="4737593"/>
          </a:xfrm>
        </p:spPr>
      </p:pic>
      <p:sp>
        <p:nvSpPr>
          <p:cNvPr id="3" name="Title 2"/>
          <p:cNvSpPr>
            <a:spLocks noGrp="1"/>
          </p:cNvSpPr>
          <p:nvPr>
            <p:ph type="title"/>
          </p:nvPr>
        </p:nvSpPr>
        <p:spPr/>
        <p:txBody>
          <a:bodyPr/>
          <a:lstStyle/>
          <a:p>
            <a:r>
              <a:rPr lang="fr-FR" dirty="0"/>
              <a:t>les mémoires vives: RAM</a:t>
            </a:r>
          </a:p>
        </p:txBody>
      </p:sp>
    </p:spTree>
    <p:extLst>
      <p:ext uri="{BB962C8B-B14F-4D97-AF65-F5344CB8AC3E}">
        <p14:creationId xmlns:p14="http://schemas.microsoft.com/office/powerpoint/2010/main" val="2166368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7 à 07.42.22.png"/>
          <p:cNvPicPr>
            <a:picLocks noGrp="1" noChangeAspect="1"/>
          </p:cNvPicPr>
          <p:nvPr>
            <p:ph idx="1"/>
          </p:nvPr>
        </p:nvPicPr>
        <p:blipFill>
          <a:blip r:embed="rId2">
            <a:extLst>
              <a:ext uri="{28A0092B-C50C-407E-A947-70E740481C1C}">
                <a14:useLocalDpi xmlns:a14="http://schemas.microsoft.com/office/drawing/2010/main" val="0"/>
              </a:ext>
            </a:extLst>
          </a:blip>
          <a:srcRect l="2210" r="2210"/>
          <a:stretch>
            <a:fillRect/>
          </a:stretch>
        </p:blipFill>
        <p:spPr>
          <a:xfrm>
            <a:off x="380999" y="1719070"/>
            <a:ext cx="8407893" cy="4891049"/>
          </a:xfrm>
        </p:spPr>
      </p:pic>
      <p:sp>
        <p:nvSpPr>
          <p:cNvPr id="3" name="Title 2"/>
          <p:cNvSpPr>
            <a:spLocks noGrp="1"/>
          </p:cNvSpPr>
          <p:nvPr>
            <p:ph type="title"/>
          </p:nvPr>
        </p:nvSpPr>
        <p:spPr/>
        <p:txBody>
          <a:bodyPr/>
          <a:lstStyle/>
          <a:p>
            <a:r>
              <a:rPr lang="fr-FR" dirty="0"/>
              <a:t>les mémoires vives: RAM</a:t>
            </a:r>
          </a:p>
        </p:txBody>
      </p:sp>
    </p:spTree>
    <p:extLst>
      <p:ext uri="{BB962C8B-B14F-4D97-AF65-F5344CB8AC3E}">
        <p14:creationId xmlns:p14="http://schemas.microsoft.com/office/powerpoint/2010/main" val="3865135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7 à 07.42.29.png"/>
          <p:cNvPicPr>
            <a:picLocks noGrp="1" noChangeAspect="1"/>
          </p:cNvPicPr>
          <p:nvPr>
            <p:ph idx="1"/>
          </p:nvPr>
        </p:nvPicPr>
        <p:blipFill>
          <a:blip r:embed="rId2">
            <a:extLst>
              <a:ext uri="{28A0092B-C50C-407E-A947-70E740481C1C}">
                <a14:useLocalDpi xmlns:a14="http://schemas.microsoft.com/office/drawing/2010/main" val="0"/>
              </a:ext>
            </a:extLst>
          </a:blip>
          <a:srcRect t="74" b="74"/>
          <a:stretch>
            <a:fillRect/>
          </a:stretch>
        </p:blipFill>
        <p:spPr>
          <a:xfrm>
            <a:off x="208757" y="1719071"/>
            <a:ext cx="8733009" cy="4873654"/>
          </a:xfrm>
        </p:spPr>
      </p:pic>
      <p:sp>
        <p:nvSpPr>
          <p:cNvPr id="3" name="Title 2"/>
          <p:cNvSpPr>
            <a:spLocks noGrp="1"/>
          </p:cNvSpPr>
          <p:nvPr>
            <p:ph type="title"/>
          </p:nvPr>
        </p:nvSpPr>
        <p:spPr/>
        <p:txBody>
          <a:bodyPr/>
          <a:lstStyle/>
          <a:p>
            <a:r>
              <a:rPr lang="fr-FR" dirty="0"/>
              <a:t>les mémoires vives: RAM</a:t>
            </a:r>
          </a:p>
        </p:txBody>
      </p:sp>
    </p:spTree>
    <p:extLst>
      <p:ext uri="{BB962C8B-B14F-4D97-AF65-F5344CB8AC3E}">
        <p14:creationId xmlns:p14="http://schemas.microsoft.com/office/powerpoint/2010/main" val="1007095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7 à 07.42.34.png"/>
          <p:cNvPicPr>
            <a:picLocks noGrp="1" noChangeAspect="1"/>
          </p:cNvPicPr>
          <p:nvPr>
            <p:ph idx="1"/>
          </p:nvPr>
        </p:nvPicPr>
        <p:blipFill>
          <a:blip r:embed="rId2">
            <a:extLst>
              <a:ext uri="{28A0092B-C50C-407E-A947-70E740481C1C}">
                <a14:useLocalDpi xmlns:a14="http://schemas.microsoft.com/office/drawing/2010/main" val="0"/>
              </a:ext>
            </a:extLst>
          </a:blip>
          <a:srcRect t="-938" b="-938"/>
          <a:stretch>
            <a:fillRect/>
          </a:stretch>
        </p:blipFill>
        <p:spPr>
          <a:xfrm>
            <a:off x="156568" y="1719070"/>
            <a:ext cx="8785197" cy="4978025"/>
          </a:xfrm>
        </p:spPr>
      </p:pic>
      <p:sp>
        <p:nvSpPr>
          <p:cNvPr id="3" name="Title 2"/>
          <p:cNvSpPr>
            <a:spLocks noGrp="1"/>
          </p:cNvSpPr>
          <p:nvPr>
            <p:ph type="title"/>
          </p:nvPr>
        </p:nvSpPr>
        <p:spPr/>
        <p:txBody>
          <a:bodyPr/>
          <a:lstStyle/>
          <a:p>
            <a:r>
              <a:rPr lang="fr-FR" dirty="0"/>
              <a:t>les mémoires vives: RAM</a:t>
            </a:r>
          </a:p>
        </p:txBody>
      </p:sp>
    </p:spTree>
    <p:extLst>
      <p:ext uri="{BB962C8B-B14F-4D97-AF65-F5344CB8AC3E}">
        <p14:creationId xmlns:p14="http://schemas.microsoft.com/office/powerpoint/2010/main" val="1231985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06.36.png"/>
          <p:cNvPicPr>
            <a:picLocks noGrp="1" noChangeAspect="1"/>
          </p:cNvPicPr>
          <p:nvPr>
            <p:ph idx="1"/>
          </p:nvPr>
        </p:nvPicPr>
        <p:blipFill>
          <a:blip r:embed="rId2">
            <a:extLst>
              <a:ext uri="{28A0092B-C50C-407E-A947-70E740481C1C}">
                <a14:useLocalDpi xmlns:a14="http://schemas.microsoft.com/office/drawing/2010/main" val="0"/>
              </a:ext>
            </a:extLst>
          </a:blip>
          <a:srcRect l="2305" r="2305"/>
          <a:stretch>
            <a:fillRect/>
          </a:stretch>
        </p:blipFill>
        <p:spPr>
          <a:xfrm>
            <a:off x="186268" y="1557867"/>
            <a:ext cx="8788400" cy="5113866"/>
          </a:xfrm>
        </p:spPr>
      </p:pic>
      <p:sp>
        <p:nvSpPr>
          <p:cNvPr id="3" name="Title 2"/>
          <p:cNvSpPr>
            <a:spLocks noGrp="1"/>
          </p:cNvSpPr>
          <p:nvPr>
            <p:ph type="title"/>
          </p:nvPr>
        </p:nvSpPr>
        <p:spPr/>
        <p:txBody>
          <a:bodyPr/>
          <a:lstStyle/>
          <a:p>
            <a:r>
              <a:rPr lang="fr-FR" dirty="0"/>
              <a:t>Interfaçage microprocesseur/mémoire</a:t>
            </a:r>
          </a:p>
        </p:txBody>
      </p:sp>
    </p:spTree>
    <p:extLst>
      <p:ext uri="{BB962C8B-B14F-4D97-AF65-F5344CB8AC3E}">
        <p14:creationId xmlns:p14="http://schemas.microsoft.com/office/powerpoint/2010/main" val="10209235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08.07.png"/>
          <p:cNvPicPr>
            <a:picLocks noGrp="1" noChangeAspect="1"/>
          </p:cNvPicPr>
          <p:nvPr>
            <p:ph idx="1"/>
          </p:nvPr>
        </p:nvPicPr>
        <p:blipFill>
          <a:blip r:embed="rId2">
            <a:extLst>
              <a:ext uri="{28A0092B-C50C-407E-A947-70E740481C1C}">
                <a14:useLocalDpi xmlns:a14="http://schemas.microsoft.com/office/drawing/2010/main" val="0"/>
              </a:ext>
            </a:extLst>
          </a:blip>
          <a:srcRect l="-11650" r="-11650"/>
          <a:stretch>
            <a:fillRect/>
          </a:stretch>
        </p:blipFill>
        <p:spPr>
          <a:xfrm>
            <a:off x="-511553" y="1591733"/>
            <a:ext cx="10178129" cy="5080000"/>
          </a:xfrm>
        </p:spPr>
      </p:pic>
      <p:sp>
        <p:nvSpPr>
          <p:cNvPr id="3" name="Title 2"/>
          <p:cNvSpPr>
            <a:spLocks noGrp="1"/>
          </p:cNvSpPr>
          <p:nvPr>
            <p:ph type="title"/>
          </p:nvPr>
        </p:nvSpPr>
        <p:spPr/>
        <p:txBody>
          <a:bodyPr/>
          <a:lstStyle/>
          <a:p>
            <a:r>
              <a:rPr lang="fr-FR" dirty="0"/>
              <a:t>Interfaçage microprocesseur/mémoire</a:t>
            </a:r>
          </a:p>
        </p:txBody>
      </p:sp>
    </p:spTree>
    <p:extLst>
      <p:ext uri="{BB962C8B-B14F-4D97-AF65-F5344CB8AC3E}">
        <p14:creationId xmlns:p14="http://schemas.microsoft.com/office/powerpoint/2010/main" val="18399462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08.15.png"/>
          <p:cNvPicPr>
            <a:picLocks noGrp="1" noChangeAspect="1"/>
          </p:cNvPicPr>
          <p:nvPr>
            <p:ph idx="1"/>
          </p:nvPr>
        </p:nvPicPr>
        <p:blipFill>
          <a:blip r:embed="rId2">
            <a:extLst>
              <a:ext uri="{28A0092B-C50C-407E-A947-70E740481C1C}">
                <a14:useLocalDpi xmlns:a14="http://schemas.microsoft.com/office/drawing/2010/main" val="0"/>
              </a:ext>
            </a:extLst>
          </a:blip>
          <a:srcRect l="-11339" r="-11339"/>
          <a:stretch>
            <a:fillRect/>
          </a:stretch>
        </p:blipFill>
        <p:spPr>
          <a:xfrm>
            <a:off x="-317515" y="1534782"/>
            <a:ext cx="9783248" cy="5133576"/>
          </a:xfrm>
        </p:spPr>
      </p:pic>
      <p:sp>
        <p:nvSpPr>
          <p:cNvPr id="3" name="Title 2"/>
          <p:cNvSpPr>
            <a:spLocks noGrp="1"/>
          </p:cNvSpPr>
          <p:nvPr>
            <p:ph type="title"/>
          </p:nvPr>
        </p:nvSpPr>
        <p:spPr/>
        <p:txBody>
          <a:bodyPr/>
          <a:lstStyle/>
          <a:p>
            <a:r>
              <a:rPr lang="fr-FR" dirty="0"/>
              <a:t>Interfaçage microprocesseur/mémoire</a:t>
            </a:r>
          </a:p>
        </p:txBody>
      </p:sp>
    </p:spTree>
    <p:extLst>
      <p:ext uri="{BB962C8B-B14F-4D97-AF65-F5344CB8AC3E}">
        <p14:creationId xmlns:p14="http://schemas.microsoft.com/office/powerpoint/2010/main" val="2496705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11.53.png"/>
          <p:cNvPicPr>
            <a:picLocks noGrp="1" noChangeAspect="1"/>
          </p:cNvPicPr>
          <p:nvPr>
            <p:ph idx="1"/>
          </p:nvPr>
        </p:nvPicPr>
        <p:blipFill>
          <a:blip r:embed="rId2">
            <a:extLst>
              <a:ext uri="{28A0092B-C50C-407E-A947-70E740481C1C}">
                <a14:useLocalDpi xmlns:a14="http://schemas.microsoft.com/office/drawing/2010/main" val="0"/>
              </a:ext>
            </a:extLst>
          </a:blip>
          <a:srcRect l="-10623" r="-10623"/>
          <a:stretch>
            <a:fillRect/>
          </a:stretch>
        </p:blipFill>
        <p:spPr>
          <a:xfrm>
            <a:off x="-458633" y="1719070"/>
            <a:ext cx="10107571" cy="4949287"/>
          </a:xfrm>
        </p:spPr>
      </p:pic>
      <p:sp>
        <p:nvSpPr>
          <p:cNvPr id="3" name="Title 2"/>
          <p:cNvSpPr>
            <a:spLocks noGrp="1"/>
          </p:cNvSpPr>
          <p:nvPr>
            <p:ph type="title"/>
          </p:nvPr>
        </p:nvSpPr>
        <p:spPr/>
        <p:txBody>
          <a:bodyPr/>
          <a:lstStyle/>
          <a:p>
            <a:r>
              <a:rPr lang="fr-FR" dirty="0"/>
              <a:t>Interfaçage microprocesseur/mémoire</a:t>
            </a:r>
          </a:p>
        </p:txBody>
      </p:sp>
    </p:spTree>
    <p:extLst>
      <p:ext uri="{BB962C8B-B14F-4D97-AF65-F5344CB8AC3E}">
        <p14:creationId xmlns:p14="http://schemas.microsoft.com/office/powerpoint/2010/main" val="26389672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14.42.png"/>
          <p:cNvPicPr>
            <a:picLocks noGrp="1" noChangeAspect="1"/>
          </p:cNvPicPr>
          <p:nvPr>
            <p:ph idx="1"/>
          </p:nvPr>
        </p:nvPicPr>
        <p:blipFill>
          <a:blip r:embed="rId2">
            <a:extLst>
              <a:ext uri="{28A0092B-C50C-407E-A947-70E740481C1C}">
                <a14:useLocalDpi xmlns:a14="http://schemas.microsoft.com/office/drawing/2010/main" val="0"/>
              </a:ext>
            </a:extLst>
          </a:blip>
          <a:srcRect t="5880" b="5880"/>
          <a:stretch>
            <a:fillRect/>
          </a:stretch>
        </p:blipFill>
        <p:spPr>
          <a:xfrm>
            <a:off x="380999" y="1587704"/>
            <a:ext cx="8407893" cy="5098295"/>
          </a:xfrm>
        </p:spPr>
      </p:pic>
      <p:sp>
        <p:nvSpPr>
          <p:cNvPr id="3" name="Title 2"/>
          <p:cNvSpPr>
            <a:spLocks noGrp="1"/>
          </p:cNvSpPr>
          <p:nvPr>
            <p:ph type="title"/>
          </p:nvPr>
        </p:nvSpPr>
        <p:spPr/>
        <p:txBody>
          <a:bodyPr/>
          <a:lstStyle/>
          <a:p>
            <a:r>
              <a:rPr lang="fr-FR" dirty="0"/>
              <a:t>Interfaçage microprocesseur/mémoire</a:t>
            </a:r>
          </a:p>
        </p:txBody>
      </p:sp>
    </p:spTree>
    <p:extLst>
      <p:ext uri="{BB962C8B-B14F-4D97-AF65-F5344CB8AC3E}">
        <p14:creationId xmlns:p14="http://schemas.microsoft.com/office/powerpoint/2010/main" val="16974918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14.49.png"/>
          <p:cNvPicPr>
            <a:picLocks noGrp="1" noChangeAspect="1"/>
          </p:cNvPicPr>
          <p:nvPr>
            <p:ph idx="1"/>
          </p:nvPr>
        </p:nvPicPr>
        <p:blipFill>
          <a:blip r:embed="rId2">
            <a:extLst>
              <a:ext uri="{28A0092B-C50C-407E-A947-70E740481C1C}">
                <a14:useLocalDpi xmlns:a14="http://schemas.microsoft.com/office/drawing/2010/main" val="0"/>
              </a:ext>
            </a:extLst>
          </a:blip>
          <a:srcRect l="-13490" r="-13490"/>
          <a:stretch>
            <a:fillRect/>
          </a:stretch>
        </p:blipFill>
        <p:spPr>
          <a:xfrm>
            <a:off x="-529191" y="1719070"/>
            <a:ext cx="10195768" cy="4984569"/>
          </a:xfrm>
        </p:spPr>
      </p:pic>
      <p:sp>
        <p:nvSpPr>
          <p:cNvPr id="3" name="Title 2"/>
          <p:cNvSpPr>
            <a:spLocks noGrp="1"/>
          </p:cNvSpPr>
          <p:nvPr>
            <p:ph type="title"/>
          </p:nvPr>
        </p:nvSpPr>
        <p:spPr/>
        <p:txBody>
          <a:bodyPr/>
          <a:lstStyle/>
          <a:p>
            <a:r>
              <a:rPr lang="fr-FR" dirty="0"/>
              <a:t>Interfaçage microprocesseur/mémoire</a:t>
            </a:r>
          </a:p>
        </p:txBody>
      </p:sp>
    </p:spTree>
    <p:extLst>
      <p:ext uri="{BB962C8B-B14F-4D97-AF65-F5344CB8AC3E}">
        <p14:creationId xmlns:p14="http://schemas.microsoft.com/office/powerpoint/2010/main" val="25782223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20-02-03 à 21.32.02.png"/>
          <p:cNvPicPr>
            <a:picLocks noGrp="1" noChangeAspect="1"/>
          </p:cNvPicPr>
          <p:nvPr>
            <p:ph idx="1"/>
          </p:nvPr>
        </p:nvPicPr>
        <p:blipFill>
          <a:blip r:embed="rId2">
            <a:extLst>
              <a:ext uri="{28A0092B-C50C-407E-A947-70E740481C1C}">
                <a14:useLocalDpi xmlns:a14="http://schemas.microsoft.com/office/drawing/2010/main" val="0"/>
              </a:ext>
            </a:extLst>
          </a:blip>
          <a:srcRect l="-2670" r="-2670"/>
          <a:stretch>
            <a:fillRect/>
          </a:stretch>
        </p:blipFill>
        <p:spPr/>
      </p:pic>
      <p:sp>
        <p:nvSpPr>
          <p:cNvPr id="3" name="Title 2"/>
          <p:cNvSpPr>
            <a:spLocks noGrp="1"/>
          </p:cNvSpPr>
          <p:nvPr>
            <p:ph type="title"/>
          </p:nvPr>
        </p:nvSpPr>
        <p:spPr/>
        <p:txBody>
          <a:bodyPr/>
          <a:lstStyle/>
          <a:p>
            <a:r>
              <a:rPr lang="fr-FR" dirty="0"/>
              <a:t>Hiérarchie des mémoires</a:t>
            </a:r>
          </a:p>
        </p:txBody>
      </p:sp>
    </p:spTree>
    <p:extLst>
      <p:ext uri="{BB962C8B-B14F-4D97-AF65-F5344CB8AC3E}">
        <p14:creationId xmlns:p14="http://schemas.microsoft.com/office/powerpoint/2010/main" val="8829360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25.10.png"/>
          <p:cNvPicPr>
            <a:picLocks noGrp="1" noChangeAspect="1"/>
          </p:cNvPicPr>
          <p:nvPr>
            <p:ph idx="1"/>
          </p:nvPr>
        </p:nvPicPr>
        <p:blipFill>
          <a:blip r:embed="rId2">
            <a:extLst>
              <a:ext uri="{28A0092B-C50C-407E-A947-70E740481C1C}">
                <a14:useLocalDpi xmlns:a14="http://schemas.microsoft.com/office/drawing/2010/main" val="0"/>
              </a:ext>
            </a:extLst>
          </a:blip>
          <a:srcRect l="2435" r="2435"/>
          <a:stretch>
            <a:fillRect/>
          </a:stretch>
        </p:blipFill>
        <p:spPr>
          <a:xfrm>
            <a:off x="211677" y="1587704"/>
            <a:ext cx="8784590" cy="5063012"/>
          </a:xfrm>
        </p:spPr>
      </p:pic>
      <p:sp>
        <p:nvSpPr>
          <p:cNvPr id="3" name="Title 2"/>
          <p:cNvSpPr>
            <a:spLocks noGrp="1"/>
          </p:cNvSpPr>
          <p:nvPr>
            <p:ph type="title"/>
          </p:nvPr>
        </p:nvSpPr>
        <p:spPr/>
        <p:txBody>
          <a:bodyPr/>
          <a:lstStyle/>
          <a:p>
            <a:r>
              <a:rPr lang="fr-FR" dirty="0"/>
              <a:t>Hiérarchie des mémoires</a:t>
            </a:r>
            <a:endParaRPr lang="fr-FR" b="1" dirty="0"/>
          </a:p>
        </p:txBody>
      </p:sp>
    </p:spTree>
    <p:extLst>
      <p:ext uri="{BB962C8B-B14F-4D97-AF65-F5344CB8AC3E}">
        <p14:creationId xmlns:p14="http://schemas.microsoft.com/office/powerpoint/2010/main" val="24113981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17-03-06 à 22.25.16.png"/>
          <p:cNvPicPr>
            <a:picLocks noGrp="1" noChangeAspect="1"/>
          </p:cNvPicPr>
          <p:nvPr>
            <p:ph idx="1"/>
          </p:nvPr>
        </p:nvPicPr>
        <p:blipFill>
          <a:blip r:embed="rId2">
            <a:extLst>
              <a:ext uri="{28A0092B-C50C-407E-A947-70E740481C1C}">
                <a14:useLocalDpi xmlns:a14="http://schemas.microsoft.com/office/drawing/2010/main" val="0"/>
              </a:ext>
            </a:extLst>
          </a:blip>
          <a:srcRect t="-23112" b="-23112"/>
          <a:stretch>
            <a:fillRect/>
          </a:stretch>
        </p:blipFill>
        <p:spPr>
          <a:xfrm>
            <a:off x="246957" y="688006"/>
            <a:ext cx="8541936" cy="6562510"/>
          </a:xfrm>
        </p:spPr>
      </p:pic>
      <p:sp>
        <p:nvSpPr>
          <p:cNvPr id="3" name="Title 2"/>
          <p:cNvSpPr>
            <a:spLocks noGrp="1"/>
          </p:cNvSpPr>
          <p:nvPr>
            <p:ph type="title"/>
          </p:nvPr>
        </p:nvSpPr>
        <p:spPr/>
        <p:txBody>
          <a:bodyPr/>
          <a:lstStyle/>
          <a:p>
            <a:r>
              <a:rPr lang="fr-FR" dirty="0"/>
              <a:t>Hiérarchie des mémoires</a:t>
            </a:r>
          </a:p>
        </p:txBody>
      </p:sp>
    </p:spTree>
    <p:extLst>
      <p:ext uri="{BB962C8B-B14F-4D97-AF65-F5344CB8AC3E}">
        <p14:creationId xmlns:p14="http://schemas.microsoft.com/office/powerpoint/2010/main" val="32603293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285750" indent="-285750" algn="just">
              <a:spcBef>
                <a:spcPts val="1775"/>
              </a:spcBef>
              <a:tabLst>
                <a:tab pos="158750" algn="l"/>
              </a:tabLst>
            </a:pPr>
            <a:r>
              <a:rPr lang="en-US" sz="1800" spc="30" dirty="0" err="1">
                <a:solidFill>
                  <a:srgbClr val="0032CC"/>
                </a:solidFill>
                <a:cs typeface="Georgia"/>
              </a:rPr>
              <a:t>Mémoire</a:t>
            </a:r>
            <a:r>
              <a:rPr lang="en-US" sz="1800" spc="30" dirty="0">
                <a:solidFill>
                  <a:srgbClr val="0032CC"/>
                </a:solidFill>
                <a:cs typeface="Georgia"/>
              </a:rPr>
              <a:t> </a:t>
            </a:r>
            <a:r>
              <a:rPr lang="en-US" sz="1800" spc="95" dirty="0">
                <a:solidFill>
                  <a:srgbClr val="0032CC"/>
                </a:solidFill>
                <a:cs typeface="Georgia"/>
              </a:rPr>
              <a:t>locale </a:t>
            </a:r>
            <a:r>
              <a:rPr lang="en-US" sz="1800" spc="120" dirty="0">
                <a:solidFill>
                  <a:srgbClr val="0032CC"/>
                </a:solidFill>
                <a:cs typeface="Georgia"/>
              </a:rPr>
              <a:t>et </a:t>
            </a:r>
            <a:r>
              <a:rPr lang="en-US" sz="1800" spc="90" dirty="0" err="1">
                <a:solidFill>
                  <a:srgbClr val="0032CC"/>
                </a:solidFill>
                <a:cs typeface="Georgia"/>
              </a:rPr>
              <a:t>privée</a:t>
            </a:r>
            <a:r>
              <a:rPr lang="en-US" sz="1800" spc="90" dirty="0">
                <a:solidFill>
                  <a:srgbClr val="0032CC"/>
                </a:solidFill>
                <a:cs typeface="Georgia"/>
              </a:rPr>
              <a:t> du </a:t>
            </a:r>
            <a:r>
              <a:rPr lang="en-US" sz="1800" spc="65" dirty="0" err="1">
                <a:solidFill>
                  <a:srgbClr val="0032CC"/>
                </a:solidFill>
                <a:cs typeface="Georgia"/>
              </a:rPr>
              <a:t>processeur</a:t>
            </a:r>
            <a:endParaRPr lang="en-US" sz="1800" dirty="0">
              <a:cs typeface="Georgia"/>
            </a:endParaRPr>
          </a:p>
          <a:p>
            <a:pPr marL="285750" indent="-285750" algn="just">
              <a:spcBef>
                <a:spcPts val="275"/>
              </a:spcBef>
              <a:tabLst>
                <a:tab pos="158750" algn="l"/>
              </a:tabLst>
            </a:pPr>
            <a:r>
              <a:rPr lang="en-US" sz="1800" spc="30" dirty="0">
                <a:solidFill>
                  <a:srgbClr val="0032CC"/>
                </a:solidFill>
                <a:cs typeface="Georgia"/>
              </a:rPr>
              <a:t>Information</a:t>
            </a:r>
            <a:r>
              <a:rPr lang="en-US" sz="1800" spc="60" dirty="0">
                <a:solidFill>
                  <a:srgbClr val="0032CC"/>
                </a:solidFill>
                <a:cs typeface="Georgia"/>
              </a:rPr>
              <a:t> </a:t>
            </a:r>
            <a:r>
              <a:rPr lang="en-US" sz="1800" spc="40" dirty="0" err="1">
                <a:solidFill>
                  <a:srgbClr val="0032CC"/>
                </a:solidFill>
                <a:cs typeface="Georgia"/>
              </a:rPr>
              <a:t>temporaire</a:t>
            </a:r>
            <a:endParaRPr lang="en-US" sz="1800" dirty="0">
              <a:cs typeface="Georgia"/>
            </a:endParaRPr>
          </a:p>
          <a:p>
            <a:pPr marL="285750" indent="-285750" algn="just">
              <a:spcBef>
                <a:spcPts val="280"/>
              </a:spcBef>
              <a:tabLst>
                <a:tab pos="158750" algn="l"/>
              </a:tabLst>
            </a:pPr>
            <a:r>
              <a:rPr lang="en-US" sz="1800" spc="60" dirty="0" err="1">
                <a:solidFill>
                  <a:srgbClr val="0032CC"/>
                </a:solidFill>
                <a:cs typeface="Georgia"/>
              </a:rPr>
              <a:t>Capacité</a:t>
            </a:r>
            <a:r>
              <a:rPr lang="en-US" sz="1800" spc="60" dirty="0">
                <a:solidFill>
                  <a:srgbClr val="0032CC"/>
                </a:solidFill>
                <a:cs typeface="Georgia"/>
              </a:rPr>
              <a:t> </a:t>
            </a:r>
            <a:r>
              <a:rPr lang="en-US" sz="1800" spc="30" dirty="0" err="1">
                <a:solidFill>
                  <a:srgbClr val="0032CC"/>
                </a:solidFill>
                <a:cs typeface="Georgia"/>
              </a:rPr>
              <a:t>limitée</a:t>
            </a:r>
            <a:r>
              <a:rPr lang="en-US" sz="1800" spc="30" dirty="0">
                <a:solidFill>
                  <a:srgbClr val="0032CC"/>
                </a:solidFill>
                <a:cs typeface="Georgia"/>
              </a:rPr>
              <a:t> </a:t>
            </a:r>
            <a:r>
              <a:rPr lang="en-US" sz="1800" spc="65" dirty="0">
                <a:solidFill>
                  <a:srgbClr val="0032CC"/>
                </a:solidFill>
                <a:cs typeface="Georgia"/>
              </a:rPr>
              <a:t>(1 </a:t>
            </a:r>
            <a:r>
              <a:rPr lang="en-US" sz="1800" spc="85" dirty="0" err="1">
                <a:solidFill>
                  <a:srgbClr val="0032CC"/>
                </a:solidFill>
                <a:cs typeface="Georgia"/>
              </a:rPr>
              <a:t>à</a:t>
            </a:r>
            <a:r>
              <a:rPr lang="en-US" sz="1800" spc="160" dirty="0">
                <a:solidFill>
                  <a:srgbClr val="0032CC"/>
                </a:solidFill>
                <a:cs typeface="Georgia"/>
              </a:rPr>
              <a:t> </a:t>
            </a:r>
            <a:r>
              <a:rPr lang="en-US" sz="1800" spc="55" dirty="0">
                <a:solidFill>
                  <a:srgbClr val="0032CC"/>
                </a:solidFill>
                <a:cs typeface="Georgia"/>
              </a:rPr>
              <a:t>128bits)</a:t>
            </a:r>
          </a:p>
          <a:p>
            <a:pPr marL="285750" indent="-285750" algn="just">
              <a:spcBef>
                <a:spcPts val="280"/>
              </a:spcBef>
              <a:tabLst>
                <a:tab pos="158750" algn="l"/>
              </a:tabLst>
            </a:pPr>
            <a:endParaRPr lang="en-US" sz="1800" dirty="0">
              <a:cs typeface="Georgia"/>
            </a:endParaRPr>
          </a:p>
          <a:p>
            <a:pPr marL="285750" marR="245745" indent="-285750" algn="just">
              <a:lnSpc>
                <a:spcPts val="1240"/>
              </a:lnSpc>
              <a:spcBef>
                <a:spcPts val="430"/>
              </a:spcBef>
              <a:tabLst>
                <a:tab pos="158750" algn="l"/>
              </a:tabLst>
            </a:pPr>
            <a:r>
              <a:rPr lang="en-US" sz="1800" spc="50" dirty="0" err="1">
                <a:solidFill>
                  <a:srgbClr val="0032CC"/>
                </a:solidFill>
                <a:cs typeface="Georgia"/>
              </a:rPr>
              <a:t>Visibles</a:t>
            </a:r>
            <a:r>
              <a:rPr lang="en-US" sz="1800" spc="50" dirty="0">
                <a:solidFill>
                  <a:srgbClr val="0032CC"/>
                </a:solidFill>
                <a:cs typeface="Georgia"/>
              </a:rPr>
              <a:t> </a:t>
            </a:r>
            <a:r>
              <a:rPr lang="en-US" sz="1800" spc="70" dirty="0" err="1">
                <a:solidFill>
                  <a:srgbClr val="0032CC"/>
                </a:solidFill>
                <a:cs typeface="Georgia"/>
              </a:rPr>
              <a:t>ou</a:t>
            </a:r>
            <a:r>
              <a:rPr lang="en-US" sz="1800" spc="70" dirty="0">
                <a:solidFill>
                  <a:srgbClr val="0032CC"/>
                </a:solidFill>
                <a:cs typeface="Georgia"/>
              </a:rPr>
              <a:t> </a:t>
            </a:r>
            <a:r>
              <a:rPr lang="en-US" sz="1800" spc="45" dirty="0">
                <a:solidFill>
                  <a:srgbClr val="0032CC"/>
                </a:solidFill>
                <a:cs typeface="Georgia"/>
              </a:rPr>
              <a:t>invisibles </a:t>
            </a:r>
            <a:r>
              <a:rPr lang="en-US" sz="1800" spc="50" dirty="0">
                <a:solidFill>
                  <a:srgbClr val="0032CC"/>
                </a:solidFill>
                <a:cs typeface="Georgia"/>
              </a:rPr>
              <a:t>(</a:t>
            </a:r>
            <a:r>
              <a:rPr lang="en-US" sz="1800" spc="50" dirty="0" err="1">
                <a:solidFill>
                  <a:srgbClr val="0032CC"/>
                </a:solidFill>
                <a:cs typeface="Georgia"/>
              </a:rPr>
              <a:t>accessibles</a:t>
            </a:r>
            <a:r>
              <a:rPr lang="en-US" sz="1800" spc="50" dirty="0">
                <a:solidFill>
                  <a:srgbClr val="0032CC"/>
                </a:solidFill>
                <a:cs typeface="Georgia"/>
              </a:rPr>
              <a:t> </a:t>
            </a:r>
            <a:r>
              <a:rPr lang="en-US" sz="1800" spc="60" dirty="0">
                <a:solidFill>
                  <a:srgbClr val="0032CC"/>
                </a:solidFill>
                <a:cs typeface="Georgia"/>
              </a:rPr>
              <a:t>par </a:t>
            </a:r>
            <a:r>
              <a:rPr lang="en-US" sz="1800" spc="45" dirty="0" err="1">
                <a:solidFill>
                  <a:srgbClr val="0032CC"/>
                </a:solidFill>
                <a:cs typeface="Georgia"/>
              </a:rPr>
              <a:t>l’utilisateur</a:t>
            </a:r>
            <a:r>
              <a:rPr lang="en-US" sz="1800" spc="45" dirty="0">
                <a:solidFill>
                  <a:srgbClr val="0032CC"/>
                </a:solidFill>
                <a:cs typeface="Georgia"/>
              </a:rPr>
              <a:t> </a:t>
            </a:r>
            <a:r>
              <a:rPr lang="en-US" sz="1800" spc="70" dirty="0" err="1">
                <a:solidFill>
                  <a:srgbClr val="0032CC"/>
                </a:solidFill>
                <a:cs typeface="Georgia"/>
              </a:rPr>
              <a:t>ou</a:t>
            </a:r>
            <a:r>
              <a:rPr lang="en-US" sz="1800" spc="70" dirty="0">
                <a:solidFill>
                  <a:srgbClr val="0032CC"/>
                </a:solidFill>
                <a:cs typeface="Georgia"/>
              </a:rPr>
              <a:t>  </a:t>
            </a:r>
            <a:r>
              <a:rPr lang="en-US" sz="1800" spc="60" dirty="0" err="1">
                <a:solidFill>
                  <a:srgbClr val="0032CC"/>
                </a:solidFill>
                <a:cs typeface="Georgia"/>
              </a:rPr>
              <a:t>uniquement</a:t>
            </a:r>
            <a:r>
              <a:rPr lang="en-US" sz="1800" spc="60" dirty="0">
                <a:solidFill>
                  <a:srgbClr val="0032CC"/>
                </a:solidFill>
                <a:cs typeface="Georgia"/>
              </a:rPr>
              <a:t> par </a:t>
            </a:r>
            <a:r>
              <a:rPr lang="en-US" sz="1800" spc="25" dirty="0">
                <a:solidFill>
                  <a:srgbClr val="0032CC"/>
                </a:solidFill>
                <a:cs typeface="Georgia"/>
              </a:rPr>
              <a:t>le</a:t>
            </a:r>
            <a:r>
              <a:rPr lang="en-US" sz="1800" spc="100" dirty="0">
                <a:solidFill>
                  <a:srgbClr val="0032CC"/>
                </a:solidFill>
                <a:cs typeface="Georgia"/>
              </a:rPr>
              <a:t> </a:t>
            </a:r>
          </a:p>
          <a:p>
            <a:pPr marL="0" marR="245745" indent="0" algn="just">
              <a:lnSpc>
                <a:spcPts val="1240"/>
              </a:lnSpc>
              <a:spcBef>
                <a:spcPts val="430"/>
              </a:spcBef>
              <a:buNone/>
              <a:tabLst>
                <a:tab pos="158750" algn="l"/>
              </a:tabLst>
            </a:pPr>
            <a:endParaRPr lang="en-US" sz="1800" spc="50" dirty="0">
              <a:solidFill>
                <a:srgbClr val="0032CC"/>
              </a:solidFill>
              <a:cs typeface="Georgia"/>
            </a:endParaRPr>
          </a:p>
          <a:p>
            <a:pPr marL="0" marR="245745" indent="0" algn="just">
              <a:lnSpc>
                <a:spcPts val="1240"/>
              </a:lnSpc>
              <a:spcBef>
                <a:spcPts val="430"/>
              </a:spcBef>
              <a:buNone/>
              <a:tabLst>
                <a:tab pos="158750" algn="l"/>
              </a:tabLst>
            </a:pPr>
            <a:r>
              <a:rPr lang="en-US" sz="1800" spc="50" dirty="0">
                <a:solidFill>
                  <a:srgbClr val="0032CC"/>
                </a:solidFill>
                <a:cs typeface="Georgia"/>
              </a:rPr>
              <a:t>    </a:t>
            </a:r>
            <a:r>
              <a:rPr lang="en-US" sz="1800" spc="50" dirty="0" err="1">
                <a:solidFill>
                  <a:srgbClr val="0032CC"/>
                </a:solidFill>
                <a:cs typeface="Georgia"/>
              </a:rPr>
              <a:t>processeur</a:t>
            </a:r>
            <a:r>
              <a:rPr lang="en-US" sz="1800" spc="50" dirty="0">
                <a:solidFill>
                  <a:srgbClr val="0032CC"/>
                </a:solidFill>
                <a:cs typeface="Georgia"/>
              </a:rPr>
              <a:t>).</a:t>
            </a:r>
          </a:p>
          <a:p>
            <a:pPr marL="0" marR="245745" indent="0">
              <a:lnSpc>
                <a:spcPts val="1240"/>
              </a:lnSpc>
              <a:spcBef>
                <a:spcPts val="430"/>
              </a:spcBef>
              <a:buNone/>
              <a:tabLst>
                <a:tab pos="158750" algn="l"/>
              </a:tabLst>
            </a:pPr>
            <a:endParaRPr lang="en-US" sz="1800" dirty="0">
              <a:cs typeface="Georgia"/>
            </a:endParaRPr>
          </a:p>
          <a:p>
            <a:pPr marL="0" indent="0">
              <a:lnSpc>
                <a:spcPct val="100000"/>
              </a:lnSpc>
              <a:spcBef>
                <a:spcPts val="254"/>
              </a:spcBef>
              <a:buNone/>
              <a:tabLst>
                <a:tab pos="158750" algn="l"/>
              </a:tabLst>
            </a:pPr>
            <a:r>
              <a:rPr lang="en-US" sz="1800" u="sng" spc="50" dirty="0" err="1">
                <a:solidFill>
                  <a:srgbClr val="0032CC"/>
                </a:solidFill>
                <a:cs typeface="Georgia"/>
              </a:rPr>
              <a:t>Exemple</a:t>
            </a:r>
            <a:r>
              <a:rPr lang="en-US" sz="1800" u="sng" spc="50" dirty="0">
                <a:solidFill>
                  <a:srgbClr val="0032CC"/>
                </a:solidFill>
                <a:cs typeface="Georgia"/>
              </a:rPr>
              <a:t> </a:t>
            </a:r>
            <a:r>
              <a:rPr lang="en-US" sz="1800" u="sng" spc="70" dirty="0">
                <a:solidFill>
                  <a:srgbClr val="0032CC"/>
                </a:solidFill>
                <a:cs typeface="Georgia"/>
              </a:rPr>
              <a:t>des </a:t>
            </a:r>
            <a:r>
              <a:rPr lang="en-US" sz="1800" u="sng" spc="65" dirty="0" err="1">
                <a:solidFill>
                  <a:srgbClr val="0032CC"/>
                </a:solidFill>
                <a:cs typeface="Georgia"/>
              </a:rPr>
              <a:t>processeurs</a:t>
            </a:r>
            <a:r>
              <a:rPr lang="en-US" sz="1800" u="sng" spc="65" dirty="0">
                <a:solidFill>
                  <a:srgbClr val="0032CC"/>
                </a:solidFill>
                <a:cs typeface="Georgia"/>
              </a:rPr>
              <a:t> </a:t>
            </a:r>
            <a:r>
              <a:rPr lang="en-US" sz="1800" u="sng" spc="50" dirty="0">
                <a:solidFill>
                  <a:srgbClr val="0032CC"/>
                </a:solidFill>
                <a:cs typeface="Georgia"/>
              </a:rPr>
              <a:t>Pentium</a:t>
            </a:r>
            <a:r>
              <a:rPr lang="en-US" sz="1800" u="sng" spc="130" dirty="0">
                <a:solidFill>
                  <a:srgbClr val="0032CC"/>
                </a:solidFill>
                <a:cs typeface="Georgia"/>
              </a:rPr>
              <a:t> </a:t>
            </a:r>
            <a:r>
              <a:rPr lang="en-US" sz="1800" u="sng" spc="5" dirty="0">
                <a:solidFill>
                  <a:srgbClr val="0032CC"/>
                </a:solidFill>
                <a:cs typeface="Georgia"/>
              </a:rPr>
              <a:t>:</a:t>
            </a:r>
            <a:endParaRPr lang="en-US" sz="1800" u="sng" dirty="0">
              <a:cs typeface="Georgia"/>
            </a:endParaRPr>
          </a:p>
          <a:p>
            <a:pPr marL="0" marR="5080" indent="0">
              <a:lnSpc>
                <a:spcPct val="91300"/>
              </a:lnSpc>
              <a:spcBef>
                <a:spcPts val="400"/>
              </a:spcBef>
              <a:buNone/>
              <a:tabLst>
                <a:tab pos="158750" algn="l"/>
              </a:tabLst>
            </a:pPr>
            <a:endParaRPr lang="en-US" sz="1800" i="1" spc="-5" dirty="0">
              <a:solidFill>
                <a:srgbClr val="0032CC"/>
              </a:solidFill>
              <a:cs typeface="TeX Gyre Bonum"/>
            </a:endParaRPr>
          </a:p>
          <a:p>
            <a:pPr marL="0" marR="5080" indent="0">
              <a:lnSpc>
                <a:spcPct val="91300"/>
              </a:lnSpc>
              <a:spcBef>
                <a:spcPts val="400"/>
              </a:spcBef>
              <a:buNone/>
              <a:tabLst>
                <a:tab pos="158750" algn="l"/>
              </a:tabLst>
            </a:pPr>
            <a:r>
              <a:rPr lang="en-US" sz="1800" i="1" spc="-5" dirty="0" err="1">
                <a:solidFill>
                  <a:schemeClr val="tx1"/>
                </a:solidFill>
                <a:cs typeface="TeX Gyre Bonum"/>
              </a:rPr>
              <a:t>Registres</a:t>
            </a:r>
            <a:r>
              <a:rPr lang="en-US" sz="1800" i="1" spc="-5" dirty="0">
                <a:solidFill>
                  <a:schemeClr val="tx1"/>
                </a:solidFill>
                <a:cs typeface="TeX Gyre Bonum"/>
              </a:rPr>
              <a:t> </a:t>
            </a:r>
            <a:r>
              <a:rPr lang="en-US" sz="1800" i="1" dirty="0" err="1">
                <a:solidFill>
                  <a:schemeClr val="tx1"/>
                </a:solidFill>
                <a:cs typeface="TeX Gyre Bonum"/>
              </a:rPr>
              <a:t>Généraux</a:t>
            </a:r>
            <a:r>
              <a:rPr lang="en-US" sz="1800" i="1" dirty="0">
                <a:solidFill>
                  <a:schemeClr val="tx1"/>
                </a:solidFill>
                <a:cs typeface="TeX Gyre Bonum"/>
              </a:rPr>
              <a:t> </a:t>
            </a:r>
            <a:r>
              <a:rPr lang="en-US" sz="1800" i="1" dirty="0" err="1">
                <a:solidFill>
                  <a:schemeClr val="tx1"/>
                </a:solidFill>
                <a:cs typeface="TeX Gyre Bonum"/>
              </a:rPr>
              <a:t>sur</a:t>
            </a:r>
            <a:r>
              <a:rPr lang="en-US" sz="1800" i="1" dirty="0">
                <a:solidFill>
                  <a:schemeClr val="tx1"/>
                </a:solidFill>
                <a:cs typeface="TeX Gyre Bonum"/>
              </a:rPr>
              <a:t> 32 </a:t>
            </a:r>
            <a:r>
              <a:rPr lang="en-US" sz="1800" i="1" spc="-10" dirty="0">
                <a:solidFill>
                  <a:schemeClr val="tx1"/>
                </a:solidFill>
                <a:cs typeface="TeX Gyre Bonum"/>
              </a:rPr>
              <a:t>bits </a:t>
            </a:r>
            <a:r>
              <a:rPr lang="en-US" sz="1800" spc="5" dirty="0">
                <a:solidFill>
                  <a:schemeClr val="tx1"/>
                </a:solidFill>
                <a:cs typeface="Georgia"/>
              </a:rPr>
              <a:t>: </a:t>
            </a:r>
            <a:r>
              <a:rPr lang="en-US" sz="1800" i="1" spc="40" dirty="0">
                <a:solidFill>
                  <a:schemeClr val="tx1"/>
                </a:solidFill>
                <a:cs typeface="Georgia"/>
              </a:rPr>
              <a:t>EAX, </a:t>
            </a:r>
            <a:r>
              <a:rPr lang="en-US" sz="1800" i="1" spc="45" dirty="0">
                <a:solidFill>
                  <a:schemeClr val="tx1"/>
                </a:solidFill>
                <a:cs typeface="Georgia"/>
              </a:rPr>
              <a:t>EBX, ECX, </a:t>
            </a:r>
            <a:r>
              <a:rPr lang="en-US" sz="1800" i="1" spc="35" dirty="0">
                <a:solidFill>
                  <a:schemeClr val="tx1"/>
                </a:solidFill>
                <a:cs typeface="Georgia"/>
              </a:rPr>
              <a:t>EDX, </a:t>
            </a:r>
            <a:r>
              <a:rPr lang="en-US" sz="1800" i="1" spc="55" dirty="0">
                <a:solidFill>
                  <a:schemeClr val="tx1"/>
                </a:solidFill>
                <a:cs typeface="Georgia"/>
              </a:rPr>
              <a:t>ESI, </a:t>
            </a:r>
            <a:r>
              <a:rPr lang="en-US" sz="1800" i="1" spc="25" dirty="0">
                <a:solidFill>
                  <a:schemeClr val="tx1"/>
                </a:solidFill>
                <a:cs typeface="Georgia"/>
              </a:rPr>
              <a:t>EDI, </a:t>
            </a:r>
            <a:r>
              <a:rPr lang="en-US" sz="1800" i="1" spc="45" dirty="0">
                <a:solidFill>
                  <a:schemeClr val="tx1"/>
                </a:solidFill>
                <a:cs typeface="Georgia"/>
              </a:rPr>
              <a:t>EBP,  </a:t>
            </a:r>
            <a:r>
              <a:rPr lang="en-US" sz="1800" i="1" spc="70" dirty="0">
                <a:solidFill>
                  <a:schemeClr val="tx1"/>
                </a:solidFill>
                <a:cs typeface="Georgia"/>
              </a:rPr>
              <a:t>ESP</a:t>
            </a:r>
          </a:p>
          <a:p>
            <a:pPr marL="0" marR="5080" indent="0">
              <a:lnSpc>
                <a:spcPct val="91300"/>
              </a:lnSpc>
              <a:spcBef>
                <a:spcPts val="400"/>
              </a:spcBef>
              <a:buNone/>
              <a:tabLst>
                <a:tab pos="158750" algn="l"/>
              </a:tabLst>
            </a:pPr>
            <a:r>
              <a:rPr lang="en-US" sz="1800" i="1" spc="70" dirty="0">
                <a:solidFill>
                  <a:schemeClr val="tx1"/>
                </a:solidFill>
                <a:cs typeface="Georgia"/>
              </a:rPr>
              <a:t> (AX, BX, .. 16 bits)</a:t>
            </a:r>
            <a:endParaRPr lang="en-US" sz="1800" dirty="0">
              <a:solidFill>
                <a:schemeClr val="tx1"/>
              </a:solidFill>
              <a:cs typeface="Georgia"/>
            </a:endParaRPr>
          </a:p>
          <a:p>
            <a:pPr marL="0" indent="0">
              <a:lnSpc>
                <a:spcPct val="100000"/>
              </a:lnSpc>
              <a:spcBef>
                <a:spcPts val="215"/>
              </a:spcBef>
              <a:buNone/>
              <a:tabLst>
                <a:tab pos="158750" algn="l"/>
              </a:tabLst>
            </a:pPr>
            <a:endParaRPr lang="en-US" sz="1800" i="1" spc="-5" dirty="0">
              <a:solidFill>
                <a:schemeClr val="tx1"/>
              </a:solidFill>
              <a:cs typeface="TeX Gyre Bonum"/>
            </a:endParaRPr>
          </a:p>
          <a:p>
            <a:pPr marL="0" indent="0">
              <a:lnSpc>
                <a:spcPct val="100000"/>
              </a:lnSpc>
              <a:spcBef>
                <a:spcPts val="215"/>
              </a:spcBef>
              <a:buNone/>
              <a:tabLst>
                <a:tab pos="158750" algn="l"/>
              </a:tabLst>
            </a:pPr>
            <a:r>
              <a:rPr lang="en-US" sz="1800" i="1" spc="-5" dirty="0" err="1">
                <a:solidFill>
                  <a:schemeClr val="tx1"/>
                </a:solidFill>
                <a:cs typeface="TeX Gyre Bonum"/>
              </a:rPr>
              <a:t>Registre</a:t>
            </a:r>
            <a:r>
              <a:rPr lang="en-US" sz="1800" i="1" spc="-5" dirty="0">
                <a:solidFill>
                  <a:schemeClr val="tx1"/>
                </a:solidFill>
                <a:cs typeface="TeX Gyre Bonum"/>
              </a:rPr>
              <a:t> </a:t>
            </a:r>
            <a:r>
              <a:rPr lang="en-US" sz="1800" i="1" spc="-5" dirty="0" err="1">
                <a:solidFill>
                  <a:schemeClr val="tx1"/>
                </a:solidFill>
                <a:cs typeface="TeX Gyre Bonum"/>
              </a:rPr>
              <a:t>pointeur</a:t>
            </a:r>
            <a:r>
              <a:rPr lang="en-US" sz="1800" i="1" spc="-5" dirty="0">
                <a:solidFill>
                  <a:schemeClr val="tx1"/>
                </a:solidFill>
                <a:cs typeface="TeX Gyre Bonum"/>
              </a:rPr>
              <a:t> </a:t>
            </a:r>
            <a:r>
              <a:rPr lang="en-US" sz="1800" i="1" spc="-5" dirty="0" err="1">
                <a:solidFill>
                  <a:schemeClr val="tx1"/>
                </a:solidFill>
                <a:cs typeface="TeX Gyre Bonum"/>
              </a:rPr>
              <a:t>d’instruction</a:t>
            </a:r>
            <a:r>
              <a:rPr lang="en-US" sz="1800" i="1" spc="-5" dirty="0">
                <a:solidFill>
                  <a:schemeClr val="tx1"/>
                </a:solidFill>
                <a:cs typeface="TeX Gyre Bonum"/>
              </a:rPr>
              <a:t> :</a:t>
            </a:r>
            <a:r>
              <a:rPr lang="en-US" sz="1800" i="1" dirty="0">
                <a:solidFill>
                  <a:schemeClr val="tx1"/>
                </a:solidFill>
                <a:cs typeface="TeX Gyre Bonum"/>
              </a:rPr>
              <a:t> </a:t>
            </a:r>
            <a:r>
              <a:rPr lang="en-US" sz="1800" i="1" spc="20" dirty="0">
                <a:solidFill>
                  <a:schemeClr val="tx1"/>
                </a:solidFill>
                <a:cs typeface="Georgia"/>
              </a:rPr>
              <a:t>EIP</a:t>
            </a:r>
            <a:endParaRPr lang="en-US" sz="1800" dirty="0">
              <a:solidFill>
                <a:schemeClr val="tx1"/>
              </a:solidFill>
              <a:cs typeface="Georgia"/>
            </a:endParaRPr>
          </a:p>
          <a:p>
            <a:pPr marL="0" indent="0">
              <a:lnSpc>
                <a:spcPct val="100000"/>
              </a:lnSpc>
              <a:spcBef>
                <a:spcPts val="215"/>
              </a:spcBef>
              <a:buNone/>
              <a:tabLst>
                <a:tab pos="158750" algn="l"/>
              </a:tabLst>
            </a:pPr>
            <a:endParaRPr lang="en-US" sz="1800" i="1" spc="-5" dirty="0">
              <a:solidFill>
                <a:schemeClr val="tx1"/>
              </a:solidFill>
              <a:cs typeface="TeX Gyre Bonum"/>
            </a:endParaRPr>
          </a:p>
          <a:p>
            <a:pPr marL="0" indent="0">
              <a:lnSpc>
                <a:spcPct val="100000"/>
              </a:lnSpc>
              <a:spcBef>
                <a:spcPts val="215"/>
              </a:spcBef>
              <a:buNone/>
              <a:tabLst>
                <a:tab pos="158750" algn="l"/>
              </a:tabLst>
            </a:pPr>
            <a:r>
              <a:rPr lang="en-US" sz="1800" i="1" spc="-5" dirty="0" err="1">
                <a:solidFill>
                  <a:schemeClr val="tx1"/>
                </a:solidFill>
                <a:cs typeface="TeX Gyre Bonum"/>
              </a:rPr>
              <a:t>Registre</a:t>
            </a:r>
            <a:r>
              <a:rPr lang="en-US" sz="1800" i="1" spc="-5" dirty="0">
                <a:solidFill>
                  <a:schemeClr val="tx1"/>
                </a:solidFill>
                <a:cs typeface="TeX Gyre Bonum"/>
              </a:rPr>
              <a:t> de </a:t>
            </a:r>
            <a:r>
              <a:rPr lang="en-US" sz="1800" i="1" dirty="0">
                <a:solidFill>
                  <a:schemeClr val="tx1"/>
                </a:solidFill>
                <a:cs typeface="TeX Gyre Bonum"/>
              </a:rPr>
              <a:t>segment </a:t>
            </a:r>
            <a:r>
              <a:rPr lang="en-US" sz="1800" i="1" spc="-5" dirty="0">
                <a:solidFill>
                  <a:schemeClr val="tx1"/>
                </a:solidFill>
                <a:cs typeface="TeX Gyre Bonum"/>
              </a:rPr>
              <a:t>: </a:t>
            </a:r>
            <a:r>
              <a:rPr lang="en-US" sz="1800" i="1" spc="80" dirty="0">
                <a:solidFill>
                  <a:schemeClr val="tx1"/>
                </a:solidFill>
                <a:cs typeface="Georgia"/>
              </a:rPr>
              <a:t>CS, </a:t>
            </a:r>
            <a:r>
              <a:rPr lang="en-US" sz="1800" i="1" spc="65" dirty="0">
                <a:solidFill>
                  <a:schemeClr val="tx1"/>
                </a:solidFill>
                <a:cs typeface="Georgia"/>
              </a:rPr>
              <a:t>DS, </a:t>
            </a:r>
            <a:r>
              <a:rPr lang="en-US" sz="1800" i="1" spc="105" dirty="0">
                <a:solidFill>
                  <a:schemeClr val="tx1"/>
                </a:solidFill>
                <a:cs typeface="Georgia"/>
              </a:rPr>
              <a:t>SS, </a:t>
            </a:r>
            <a:r>
              <a:rPr lang="en-US" sz="1800" i="1" spc="80" dirty="0">
                <a:solidFill>
                  <a:schemeClr val="tx1"/>
                </a:solidFill>
                <a:cs typeface="Georgia"/>
              </a:rPr>
              <a:t>ES, FS,</a:t>
            </a:r>
            <a:r>
              <a:rPr lang="en-US" sz="1800" i="1" spc="65" dirty="0">
                <a:solidFill>
                  <a:schemeClr val="tx1"/>
                </a:solidFill>
                <a:cs typeface="Georgia"/>
              </a:rPr>
              <a:t> </a:t>
            </a:r>
            <a:r>
              <a:rPr lang="en-US" sz="1800" i="1" spc="75" dirty="0">
                <a:solidFill>
                  <a:schemeClr val="tx1"/>
                </a:solidFill>
                <a:cs typeface="Georgia"/>
              </a:rPr>
              <a:t>GS</a:t>
            </a:r>
            <a:endParaRPr lang="en-US" sz="1800" dirty="0">
              <a:solidFill>
                <a:schemeClr val="tx1"/>
              </a:solidFill>
              <a:cs typeface="Georgia"/>
            </a:endParaRPr>
          </a:p>
          <a:p>
            <a:pPr marL="0" indent="0">
              <a:lnSpc>
                <a:spcPct val="100000"/>
              </a:lnSpc>
              <a:spcBef>
                <a:spcPts val="215"/>
              </a:spcBef>
              <a:buNone/>
              <a:tabLst>
                <a:tab pos="158750" algn="l"/>
              </a:tabLst>
            </a:pPr>
            <a:endParaRPr lang="en-US" sz="1800" i="1" spc="-5" dirty="0">
              <a:solidFill>
                <a:schemeClr val="tx1"/>
              </a:solidFill>
              <a:cs typeface="TeX Gyre Bonum"/>
            </a:endParaRPr>
          </a:p>
          <a:p>
            <a:pPr marL="0" indent="0">
              <a:lnSpc>
                <a:spcPct val="100000"/>
              </a:lnSpc>
              <a:spcBef>
                <a:spcPts val="215"/>
              </a:spcBef>
              <a:buNone/>
              <a:tabLst>
                <a:tab pos="158750" algn="l"/>
              </a:tabLst>
            </a:pPr>
            <a:r>
              <a:rPr lang="en-US" sz="1800" i="1" spc="-5" dirty="0" err="1">
                <a:solidFill>
                  <a:schemeClr val="tx1"/>
                </a:solidFill>
                <a:cs typeface="TeX Gyre Bonum"/>
              </a:rPr>
              <a:t>Registre</a:t>
            </a:r>
            <a:r>
              <a:rPr lang="en-US" sz="1800" i="1" spc="-5" dirty="0">
                <a:solidFill>
                  <a:schemeClr val="tx1"/>
                </a:solidFill>
                <a:cs typeface="TeX Gyre Bonum"/>
              </a:rPr>
              <a:t> </a:t>
            </a:r>
            <a:r>
              <a:rPr lang="en-US" sz="1800" i="1" spc="-10" dirty="0">
                <a:solidFill>
                  <a:schemeClr val="tx1"/>
                </a:solidFill>
                <a:cs typeface="TeX Gyre Bonum"/>
              </a:rPr>
              <a:t>d’état </a:t>
            </a:r>
            <a:r>
              <a:rPr lang="en-US" sz="1800" i="1" spc="-5" dirty="0">
                <a:solidFill>
                  <a:schemeClr val="tx1"/>
                </a:solidFill>
                <a:cs typeface="TeX Gyre Bonum"/>
              </a:rPr>
              <a:t>:</a:t>
            </a:r>
            <a:r>
              <a:rPr lang="en-US" sz="1800" i="1" spc="35" dirty="0">
                <a:solidFill>
                  <a:schemeClr val="tx1"/>
                </a:solidFill>
                <a:cs typeface="TeX Gyre Bonum"/>
              </a:rPr>
              <a:t> </a:t>
            </a:r>
            <a:r>
              <a:rPr lang="en-US" sz="1800" i="1" spc="55" dirty="0">
                <a:solidFill>
                  <a:schemeClr val="tx1"/>
                </a:solidFill>
                <a:cs typeface="Georgia"/>
              </a:rPr>
              <a:t>EFLAGS</a:t>
            </a:r>
            <a:endParaRPr lang="en-US" sz="1800" dirty="0">
              <a:solidFill>
                <a:schemeClr val="tx1"/>
              </a:solidFill>
              <a:cs typeface="Georgia"/>
            </a:endParaRPr>
          </a:p>
          <a:p>
            <a:endParaRPr lang="fr-FR" sz="1600" dirty="0"/>
          </a:p>
        </p:txBody>
      </p:sp>
      <p:sp>
        <p:nvSpPr>
          <p:cNvPr id="3" name="Title 2"/>
          <p:cNvSpPr>
            <a:spLocks noGrp="1"/>
          </p:cNvSpPr>
          <p:nvPr>
            <p:ph type="title"/>
          </p:nvPr>
        </p:nvSpPr>
        <p:spPr/>
        <p:txBody>
          <a:bodyPr/>
          <a:lstStyle/>
          <a:p>
            <a:r>
              <a:rPr lang="en-US" i="1" spc="-10" dirty="0" err="1">
                <a:solidFill>
                  <a:srgbClr val="FF0000"/>
                </a:solidFill>
                <a:latin typeface="TeX Gyre Bonum"/>
                <a:cs typeface="TeX Gyre Bonum"/>
              </a:rPr>
              <a:t>Mémoires</a:t>
            </a:r>
            <a:r>
              <a:rPr lang="en-US" i="1" spc="65" dirty="0">
                <a:solidFill>
                  <a:srgbClr val="FF0000"/>
                </a:solidFill>
                <a:latin typeface="TeX Gyre Bonum"/>
                <a:cs typeface="TeX Gyre Bonum"/>
              </a:rPr>
              <a:t> </a:t>
            </a:r>
            <a:r>
              <a:rPr lang="en-US" i="1" spc="-10" dirty="0" err="1">
                <a:solidFill>
                  <a:srgbClr val="FF0000"/>
                </a:solidFill>
                <a:latin typeface="TeX Gyre Bonum"/>
                <a:cs typeface="TeX Gyre Bonum"/>
              </a:rPr>
              <a:t>rapides</a:t>
            </a:r>
            <a:r>
              <a:rPr lang="en-US" i="1" spc="-10" dirty="0">
                <a:solidFill>
                  <a:srgbClr val="FF0000"/>
                </a:solidFill>
                <a:latin typeface="TeX Gyre Bonum"/>
                <a:cs typeface="TeX Gyre Bonum"/>
              </a:rPr>
              <a:t>:	</a:t>
            </a:r>
            <a:r>
              <a:rPr lang="en-US" i="1" spc="-10" dirty="0" err="1">
                <a:solidFill>
                  <a:srgbClr val="FF0000"/>
                </a:solidFill>
                <a:latin typeface="TeX Gyre Bonum"/>
                <a:cs typeface="TeX Gyre Bonum"/>
              </a:rPr>
              <a:t>registres</a:t>
            </a:r>
            <a:br>
              <a:rPr lang="en-US" dirty="0">
                <a:latin typeface="TeX Gyre Bonum"/>
                <a:cs typeface="TeX Gyre Bonum"/>
              </a:rPr>
            </a:br>
            <a:endParaRPr lang="fr-FR" dirty="0"/>
          </a:p>
        </p:txBody>
      </p:sp>
    </p:spTree>
    <p:extLst>
      <p:ext uri="{BB962C8B-B14F-4D97-AF65-F5344CB8AC3E}">
        <p14:creationId xmlns:p14="http://schemas.microsoft.com/office/powerpoint/2010/main" val="38076014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lnSpc>
                <a:spcPct val="100000"/>
              </a:lnSpc>
              <a:spcBef>
                <a:spcPts val="35"/>
              </a:spcBef>
            </a:pPr>
            <a:endParaRPr lang="en-US" sz="2850" dirty="0">
              <a:latin typeface="TeX Gyre Bonum"/>
              <a:cs typeface="TeX Gyre Bonum"/>
            </a:endParaRPr>
          </a:p>
          <a:p>
            <a:pPr marL="621665" indent="-159385">
              <a:lnSpc>
                <a:spcPct val="100000"/>
              </a:lnSpc>
              <a:spcBef>
                <a:spcPts val="5"/>
              </a:spcBef>
              <a:buChar char="•"/>
              <a:tabLst>
                <a:tab pos="622300" algn="l"/>
              </a:tabLst>
            </a:pPr>
            <a:r>
              <a:rPr lang="en-US" spc="45" dirty="0" err="1">
                <a:solidFill>
                  <a:srgbClr val="0032CC"/>
                </a:solidFill>
                <a:cs typeface="Georgia"/>
              </a:rPr>
              <a:t>Registres</a:t>
            </a:r>
            <a:r>
              <a:rPr lang="en-US" spc="65" dirty="0">
                <a:solidFill>
                  <a:srgbClr val="0032CC"/>
                </a:solidFill>
                <a:cs typeface="Georgia"/>
              </a:rPr>
              <a:t> </a:t>
            </a:r>
            <a:r>
              <a:rPr lang="en-US" spc="90" dirty="0" err="1">
                <a:solidFill>
                  <a:srgbClr val="0032CC"/>
                </a:solidFill>
                <a:cs typeface="Georgia"/>
              </a:rPr>
              <a:t>généraux</a:t>
            </a:r>
            <a:endParaRPr lang="en-US" spc="90" dirty="0">
              <a:solidFill>
                <a:srgbClr val="0032CC"/>
              </a:solidFill>
              <a:cs typeface="Georgia"/>
            </a:endParaRPr>
          </a:p>
          <a:p>
            <a:pPr marL="621665" indent="-159385">
              <a:lnSpc>
                <a:spcPct val="100000"/>
              </a:lnSpc>
              <a:spcBef>
                <a:spcPts val="5"/>
              </a:spcBef>
              <a:buChar char="•"/>
              <a:tabLst>
                <a:tab pos="622300" algn="l"/>
              </a:tabLst>
            </a:pPr>
            <a:endParaRPr lang="en-US" dirty="0">
              <a:cs typeface="Georgia"/>
            </a:endParaRPr>
          </a:p>
          <a:p>
            <a:pPr marL="843915" lvl="1" indent="-127000">
              <a:lnSpc>
                <a:spcPct val="100000"/>
              </a:lnSpc>
              <a:spcBef>
                <a:spcPts val="125"/>
              </a:spcBef>
              <a:buChar char="–"/>
              <a:tabLst>
                <a:tab pos="844550" algn="l"/>
              </a:tabLst>
            </a:pPr>
            <a:r>
              <a:rPr lang="en-US" sz="2000" spc="50" dirty="0" err="1">
                <a:cs typeface="Georgia"/>
              </a:rPr>
              <a:t>Accumulateurs</a:t>
            </a:r>
            <a:r>
              <a:rPr lang="en-US" sz="2000" spc="50" dirty="0">
                <a:cs typeface="Georgia"/>
              </a:rPr>
              <a:t> </a:t>
            </a:r>
            <a:r>
              <a:rPr lang="en-US" sz="2000" spc="40" dirty="0">
                <a:cs typeface="Georgia"/>
              </a:rPr>
              <a:t>pour </a:t>
            </a:r>
            <a:r>
              <a:rPr lang="en-US" sz="2000" spc="35" dirty="0" err="1">
                <a:cs typeface="Georgia"/>
              </a:rPr>
              <a:t>opérations</a:t>
            </a:r>
            <a:r>
              <a:rPr lang="en-US" sz="2000" spc="240" dirty="0">
                <a:cs typeface="Georgia"/>
              </a:rPr>
              <a:t> </a:t>
            </a:r>
            <a:r>
              <a:rPr lang="en-US" sz="2000" spc="40" dirty="0" err="1">
                <a:cs typeface="Georgia"/>
              </a:rPr>
              <a:t>arithmétiques</a:t>
            </a:r>
            <a:endParaRPr lang="en-US" sz="2000" dirty="0">
              <a:cs typeface="Georgia"/>
            </a:endParaRPr>
          </a:p>
          <a:p>
            <a:pPr lvl="1">
              <a:lnSpc>
                <a:spcPct val="100000"/>
              </a:lnSpc>
              <a:spcBef>
                <a:spcPts val="20"/>
              </a:spcBef>
              <a:buFont typeface="Georgia"/>
              <a:buChar char="–"/>
            </a:pPr>
            <a:endParaRPr lang="en-US" sz="2000" dirty="0">
              <a:cs typeface="Georgia"/>
            </a:endParaRPr>
          </a:p>
          <a:p>
            <a:pPr marL="843915" lvl="1" indent="-127000">
              <a:lnSpc>
                <a:spcPct val="100000"/>
              </a:lnSpc>
              <a:buChar char="–"/>
              <a:tabLst>
                <a:tab pos="844550" algn="l"/>
              </a:tabLst>
            </a:pPr>
            <a:r>
              <a:rPr lang="en-US" sz="2000" spc="35" dirty="0">
                <a:cs typeface="Georgia"/>
              </a:rPr>
              <a:t>De </a:t>
            </a:r>
            <a:r>
              <a:rPr lang="en-US" sz="2000" spc="25" dirty="0" err="1">
                <a:cs typeface="Georgia"/>
              </a:rPr>
              <a:t>taille</a:t>
            </a:r>
            <a:r>
              <a:rPr lang="en-US" sz="2000" spc="25" dirty="0">
                <a:cs typeface="Georgia"/>
              </a:rPr>
              <a:t> </a:t>
            </a:r>
            <a:r>
              <a:rPr lang="en-US" sz="2000" spc="20" dirty="0">
                <a:cs typeface="Georgia"/>
              </a:rPr>
              <a:t>fixe </a:t>
            </a:r>
            <a:r>
              <a:rPr lang="en-US" sz="2000" spc="-15" dirty="0">
                <a:cs typeface="Georgia"/>
              </a:rPr>
              <a:t>-&gt; </a:t>
            </a:r>
            <a:r>
              <a:rPr lang="en-US" sz="2000" spc="45" dirty="0" err="1">
                <a:cs typeface="Georgia"/>
              </a:rPr>
              <a:t>pentium</a:t>
            </a:r>
            <a:r>
              <a:rPr lang="en-US" sz="2000" spc="45" dirty="0">
                <a:cs typeface="Georgia"/>
              </a:rPr>
              <a:t> </a:t>
            </a:r>
            <a:r>
              <a:rPr lang="en-US" sz="2000" spc="55" dirty="0">
                <a:cs typeface="Georgia"/>
              </a:rPr>
              <a:t>32 </a:t>
            </a:r>
            <a:r>
              <a:rPr lang="en-US" sz="2000" spc="40" dirty="0">
                <a:cs typeface="Georgia"/>
              </a:rPr>
              <a:t>bits, </a:t>
            </a:r>
            <a:r>
              <a:rPr lang="en-US" sz="2000" spc="5" dirty="0">
                <a:cs typeface="Georgia"/>
              </a:rPr>
              <a:t>68000 </a:t>
            </a:r>
            <a:r>
              <a:rPr lang="en-US" sz="2000" spc="55" dirty="0">
                <a:cs typeface="Georgia"/>
              </a:rPr>
              <a:t>32</a:t>
            </a:r>
            <a:r>
              <a:rPr lang="en-US" sz="2000" spc="114" dirty="0">
                <a:cs typeface="Georgia"/>
              </a:rPr>
              <a:t> </a:t>
            </a:r>
            <a:r>
              <a:rPr lang="en-US" sz="2000" spc="40" dirty="0">
                <a:cs typeface="Georgia"/>
              </a:rPr>
              <a:t>bits</a:t>
            </a:r>
            <a:endParaRPr lang="en-US" sz="2000" dirty="0">
              <a:cs typeface="Georgia"/>
            </a:endParaRPr>
          </a:p>
          <a:p>
            <a:pPr marL="365760" lvl="1" indent="0">
              <a:lnSpc>
                <a:spcPct val="100000"/>
              </a:lnSpc>
              <a:spcBef>
                <a:spcPts val="15"/>
              </a:spcBef>
              <a:buNone/>
            </a:pPr>
            <a:endParaRPr lang="en-US" sz="2000" dirty="0">
              <a:cs typeface="Georgia"/>
            </a:endParaRPr>
          </a:p>
          <a:p>
            <a:pPr marL="843915" lvl="1" indent="-127000">
              <a:lnSpc>
                <a:spcPct val="100000"/>
              </a:lnSpc>
              <a:spcBef>
                <a:spcPts val="5"/>
              </a:spcBef>
              <a:buChar char="–"/>
              <a:tabLst>
                <a:tab pos="844550" algn="l"/>
              </a:tabLst>
            </a:pPr>
            <a:r>
              <a:rPr lang="en-US" sz="2000" spc="45" dirty="0" err="1">
                <a:cs typeface="Georgia"/>
              </a:rPr>
              <a:t>Adressables</a:t>
            </a:r>
            <a:r>
              <a:rPr lang="en-US" sz="2000" spc="45" dirty="0">
                <a:cs typeface="Georgia"/>
              </a:rPr>
              <a:t> </a:t>
            </a:r>
            <a:r>
              <a:rPr lang="en-US" sz="2000" spc="65" dirty="0" err="1">
                <a:cs typeface="Georgia"/>
              </a:rPr>
              <a:t>sur</a:t>
            </a:r>
            <a:r>
              <a:rPr lang="en-US" sz="2000" spc="65" dirty="0">
                <a:cs typeface="Georgia"/>
              </a:rPr>
              <a:t> </a:t>
            </a:r>
            <a:r>
              <a:rPr lang="en-US" sz="2000" spc="110" dirty="0">
                <a:cs typeface="Georgia"/>
              </a:rPr>
              <a:t>16 </a:t>
            </a:r>
            <a:r>
              <a:rPr lang="en-US" sz="2000" spc="40" dirty="0">
                <a:cs typeface="Georgia"/>
              </a:rPr>
              <a:t>bits </a:t>
            </a:r>
            <a:r>
              <a:rPr lang="en-US" sz="2000" spc="55" dirty="0" err="1">
                <a:cs typeface="Georgia"/>
              </a:rPr>
              <a:t>ou</a:t>
            </a:r>
            <a:r>
              <a:rPr lang="en-US" sz="2000" spc="55" dirty="0">
                <a:cs typeface="Georgia"/>
              </a:rPr>
              <a:t> </a:t>
            </a:r>
            <a:r>
              <a:rPr lang="en-US" sz="2000" spc="65" dirty="0" err="1">
                <a:cs typeface="Georgia"/>
              </a:rPr>
              <a:t>sur</a:t>
            </a:r>
            <a:r>
              <a:rPr lang="en-US" sz="2000" spc="65" dirty="0">
                <a:cs typeface="Georgia"/>
              </a:rPr>
              <a:t> </a:t>
            </a:r>
            <a:r>
              <a:rPr lang="en-US" sz="2000" spc="20" dirty="0">
                <a:cs typeface="Georgia"/>
              </a:rPr>
              <a:t>8 </a:t>
            </a:r>
            <a:r>
              <a:rPr lang="en-US" sz="2000" spc="40" dirty="0">
                <a:cs typeface="Georgia"/>
              </a:rPr>
              <a:t>bits</a:t>
            </a:r>
            <a:r>
              <a:rPr lang="en-US" sz="2000" spc="285" dirty="0">
                <a:cs typeface="Georgia"/>
              </a:rPr>
              <a:t> </a:t>
            </a:r>
            <a:r>
              <a:rPr lang="en-US" sz="2000" spc="5" dirty="0">
                <a:cs typeface="Georgia"/>
              </a:rPr>
              <a:t>:</a:t>
            </a:r>
          </a:p>
          <a:p>
            <a:pPr marL="843915" lvl="1" indent="-127000">
              <a:lnSpc>
                <a:spcPct val="100000"/>
              </a:lnSpc>
              <a:spcBef>
                <a:spcPts val="5"/>
              </a:spcBef>
              <a:buChar char="–"/>
              <a:tabLst>
                <a:tab pos="844550" algn="l"/>
              </a:tabLst>
            </a:pPr>
            <a:endParaRPr lang="en-US" sz="2000" dirty="0">
              <a:cs typeface="Georgia"/>
            </a:endParaRPr>
          </a:p>
          <a:p>
            <a:pPr marL="1097280" marR="434975" indent="-127000">
              <a:lnSpc>
                <a:spcPct val="80000"/>
              </a:lnSpc>
              <a:spcBef>
                <a:spcPts val="359"/>
              </a:spcBef>
            </a:pPr>
            <a:r>
              <a:rPr lang="en-US" spc="-225" dirty="0">
                <a:solidFill>
                  <a:srgbClr val="00AE00"/>
                </a:solidFill>
                <a:cs typeface="Georgia"/>
              </a:rPr>
              <a:t> </a:t>
            </a:r>
            <a:r>
              <a:rPr lang="en-US" spc="35" dirty="0" err="1">
                <a:solidFill>
                  <a:srgbClr val="00AE00"/>
                </a:solidFill>
                <a:cs typeface="Georgia"/>
              </a:rPr>
              <a:t>Exemple</a:t>
            </a:r>
            <a:r>
              <a:rPr lang="en-US" spc="35" dirty="0">
                <a:solidFill>
                  <a:srgbClr val="00AE00"/>
                </a:solidFill>
                <a:cs typeface="Georgia"/>
              </a:rPr>
              <a:t> </a:t>
            </a:r>
            <a:r>
              <a:rPr lang="en-US" spc="5" dirty="0">
                <a:solidFill>
                  <a:srgbClr val="00AE00"/>
                </a:solidFill>
                <a:cs typeface="Georgia"/>
              </a:rPr>
              <a:t>: </a:t>
            </a:r>
          </a:p>
          <a:p>
            <a:pPr marL="1097280" marR="434975" indent="-127000">
              <a:lnSpc>
                <a:spcPct val="80000"/>
              </a:lnSpc>
              <a:spcBef>
                <a:spcPts val="359"/>
              </a:spcBef>
            </a:pPr>
            <a:endParaRPr lang="en-US" spc="5" dirty="0">
              <a:solidFill>
                <a:srgbClr val="00AE00"/>
              </a:solidFill>
              <a:cs typeface="Georgia"/>
            </a:endParaRPr>
          </a:p>
          <a:p>
            <a:pPr marL="1097280" marR="434975" indent="-127000">
              <a:lnSpc>
                <a:spcPct val="80000"/>
              </a:lnSpc>
              <a:spcBef>
                <a:spcPts val="359"/>
              </a:spcBef>
            </a:pPr>
            <a:r>
              <a:rPr lang="en-US" spc="20" dirty="0">
                <a:solidFill>
                  <a:srgbClr val="00AE00"/>
                </a:solidFill>
                <a:cs typeface="Georgia"/>
              </a:rPr>
              <a:t>EAX </a:t>
            </a:r>
            <a:r>
              <a:rPr lang="en-US" spc="-50" dirty="0">
                <a:solidFill>
                  <a:srgbClr val="00AE00"/>
                </a:solidFill>
                <a:cs typeface="Georgia"/>
              </a:rPr>
              <a:t>=&gt; </a:t>
            </a:r>
            <a:r>
              <a:rPr lang="en-US" dirty="0">
                <a:solidFill>
                  <a:srgbClr val="00AE00"/>
                </a:solidFill>
                <a:cs typeface="Georgia"/>
              </a:rPr>
              <a:t>AX </a:t>
            </a:r>
            <a:r>
              <a:rPr lang="en-US" spc="-50" dirty="0">
                <a:solidFill>
                  <a:srgbClr val="00AE00"/>
                </a:solidFill>
                <a:cs typeface="Georgia"/>
              </a:rPr>
              <a:t>=&gt; </a:t>
            </a:r>
            <a:r>
              <a:rPr lang="en-US" spc="-15" dirty="0">
                <a:solidFill>
                  <a:srgbClr val="00AE00"/>
                </a:solidFill>
                <a:cs typeface="Georgia"/>
              </a:rPr>
              <a:t>AH </a:t>
            </a:r>
            <a:r>
              <a:rPr lang="en-US" spc="35" dirty="0" err="1">
                <a:solidFill>
                  <a:srgbClr val="00AE00"/>
                </a:solidFill>
                <a:cs typeface="Georgia"/>
              </a:rPr>
              <a:t>partie</a:t>
            </a:r>
            <a:r>
              <a:rPr lang="en-US" spc="35" dirty="0">
                <a:solidFill>
                  <a:srgbClr val="00AE00"/>
                </a:solidFill>
                <a:cs typeface="Georgia"/>
              </a:rPr>
              <a:t> </a:t>
            </a:r>
            <a:r>
              <a:rPr lang="en-US" spc="60" dirty="0">
                <a:solidFill>
                  <a:srgbClr val="00AE00"/>
                </a:solidFill>
                <a:cs typeface="Georgia"/>
              </a:rPr>
              <a:t>haute </a:t>
            </a:r>
            <a:r>
              <a:rPr lang="en-US" spc="5" dirty="0">
                <a:solidFill>
                  <a:srgbClr val="00AE00"/>
                </a:solidFill>
                <a:cs typeface="Georgia"/>
              </a:rPr>
              <a:t>(high) </a:t>
            </a:r>
            <a:r>
              <a:rPr lang="en-US" spc="-5" dirty="0">
                <a:solidFill>
                  <a:srgbClr val="00AE00"/>
                </a:solidFill>
                <a:cs typeface="Georgia"/>
              </a:rPr>
              <a:t>AL </a:t>
            </a:r>
            <a:r>
              <a:rPr lang="en-US" spc="35" dirty="0" err="1">
                <a:solidFill>
                  <a:srgbClr val="00AE00"/>
                </a:solidFill>
                <a:cs typeface="Georgia"/>
              </a:rPr>
              <a:t>partie</a:t>
            </a:r>
            <a:r>
              <a:rPr lang="en-US" spc="35" dirty="0">
                <a:solidFill>
                  <a:srgbClr val="00AE00"/>
                </a:solidFill>
                <a:cs typeface="Georgia"/>
              </a:rPr>
              <a:t>  </a:t>
            </a:r>
            <a:r>
              <a:rPr lang="en-US" spc="60" dirty="0" err="1">
                <a:solidFill>
                  <a:srgbClr val="00AE00"/>
                </a:solidFill>
                <a:cs typeface="Georgia"/>
              </a:rPr>
              <a:t>basse</a:t>
            </a:r>
            <a:r>
              <a:rPr lang="en-US" spc="85" dirty="0">
                <a:solidFill>
                  <a:srgbClr val="00AE00"/>
                </a:solidFill>
                <a:cs typeface="Georgia"/>
              </a:rPr>
              <a:t> </a:t>
            </a:r>
            <a:r>
              <a:rPr lang="en-US" spc="-20" dirty="0">
                <a:solidFill>
                  <a:srgbClr val="00AE00"/>
                </a:solidFill>
                <a:cs typeface="Georgia"/>
              </a:rPr>
              <a:t>(low)</a:t>
            </a:r>
            <a:endParaRPr lang="en-US" dirty="0">
              <a:cs typeface="Georgia"/>
            </a:endParaRPr>
          </a:p>
          <a:p>
            <a:pPr>
              <a:lnSpc>
                <a:spcPct val="100000"/>
              </a:lnSpc>
              <a:spcBef>
                <a:spcPts val="15"/>
              </a:spcBef>
            </a:pPr>
            <a:endParaRPr lang="en-US" dirty="0">
              <a:cs typeface="Georgia"/>
            </a:endParaRPr>
          </a:p>
          <a:p>
            <a:pPr marL="843915" lvl="1" indent="-127000">
              <a:lnSpc>
                <a:spcPct val="100000"/>
              </a:lnSpc>
              <a:spcBef>
                <a:spcPts val="5"/>
              </a:spcBef>
              <a:buChar char="–"/>
              <a:tabLst>
                <a:tab pos="844550" algn="l"/>
              </a:tabLst>
            </a:pPr>
            <a:r>
              <a:rPr lang="en-US" sz="2000" spc="35" dirty="0" err="1">
                <a:cs typeface="Georgia"/>
              </a:rPr>
              <a:t>Registres</a:t>
            </a:r>
            <a:r>
              <a:rPr lang="en-US" sz="2000" spc="35" dirty="0">
                <a:cs typeface="Georgia"/>
              </a:rPr>
              <a:t> </a:t>
            </a:r>
            <a:r>
              <a:rPr lang="en-US" sz="2000" spc="30" dirty="0" err="1">
                <a:cs typeface="Georgia"/>
              </a:rPr>
              <a:t>relatifs</a:t>
            </a:r>
            <a:r>
              <a:rPr lang="en-US" sz="2000" spc="30" dirty="0">
                <a:cs typeface="Georgia"/>
              </a:rPr>
              <a:t> </a:t>
            </a:r>
            <a:r>
              <a:rPr lang="en-US" sz="2000" spc="70" dirty="0">
                <a:cs typeface="Georgia"/>
              </a:rPr>
              <a:t>aux </a:t>
            </a:r>
            <a:r>
              <a:rPr lang="en-US" sz="2000" spc="45" dirty="0">
                <a:cs typeface="Georgia"/>
              </a:rPr>
              <a:t>zones </a:t>
            </a:r>
            <a:r>
              <a:rPr lang="en-US" sz="2000" spc="35" dirty="0" err="1">
                <a:cs typeface="Georgia"/>
              </a:rPr>
              <a:t>mémoires</a:t>
            </a:r>
            <a:r>
              <a:rPr lang="en-US" sz="2000" spc="235" dirty="0">
                <a:cs typeface="Georgia"/>
              </a:rPr>
              <a:t> </a:t>
            </a:r>
            <a:r>
              <a:rPr lang="en-US" sz="2000" spc="40" dirty="0" err="1">
                <a:cs typeface="Georgia"/>
              </a:rPr>
              <a:t>programmeur</a:t>
            </a:r>
            <a:endParaRPr lang="en-US" sz="2000" spc="40" dirty="0">
              <a:cs typeface="Georgia"/>
            </a:endParaRPr>
          </a:p>
          <a:p>
            <a:pPr marL="843915" lvl="1" indent="-127000">
              <a:lnSpc>
                <a:spcPct val="100000"/>
              </a:lnSpc>
              <a:spcBef>
                <a:spcPts val="5"/>
              </a:spcBef>
              <a:buChar char="–"/>
              <a:tabLst>
                <a:tab pos="844550" algn="l"/>
              </a:tabLst>
            </a:pPr>
            <a:endParaRPr lang="en-US" sz="2000" dirty="0">
              <a:cs typeface="Georgia"/>
            </a:endParaRPr>
          </a:p>
          <a:p>
            <a:pPr marL="970280">
              <a:lnSpc>
                <a:spcPct val="100000"/>
              </a:lnSpc>
              <a:spcBef>
                <a:spcPts val="120"/>
              </a:spcBef>
            </a:pPr>
            <a:r>
              <a:rPr lang="en-US" spc="35" dirty="0">
                <a:solidFill>
                  <a:srgbClr val="00AE00"/>
                </a:solidFill>
                <a:cs typeface="Georgia"/>
              </a:rPr>
              <a:t>zone </a:t>
            </a:r>
            <a:r>
              <a:rPr lang="en-US" spc="30" dirty="0">
                <a:solidFill>
                  <a:srgbClr val="00AE00"/>
                </a:solidFill>
                <a:cs typeface="Georgia"/>
              </a:rPr>
              <a:t>de code </a:t>
            </a:r>
            <a:r>
              <a:rPr lang="en-US" spc="-50" dirty="0">
                <a:solidFill>
                  <a:srgbClr val="00AE00"/>
                </a:solidFill>
                <a:cs typeface="Georgia"/>
              </a:rPr>
              <a:t>=&gt;</a:t>
            </a:r>
            <a:r>
              <a:rPr lang="en-US" spc="55" dirty="0">
                <a:solidFill>
                  <a:srgbClr val="00AE00"/>
                </a:solidFill>
                <a:cs typeface="Georgia"/>
              </a:rPr>
              <a:t> </a:t>
            </a:r>
            <a:r>
              <a:rPr lang="en-US" spc="5" dirty="0">
                <a:solidFill>
                  <a:srgbClr val="00AE00"/>
                </a:solidFill>
                <a:cs typeface="Georgia"/>
              </a:rPr>
              <a:t>EIP</a:t>
            </a:r>
            <a:endParaRPr lang="en-US" dirty="0">
              <a:cs typeface="Georgia"/>
            </a:endParaRPr>
          </a:p>
          <a:p>
            <a:pPr marL="970280">
              <a:lnSpc>
                <a:spcPct val="100000"/>
              </a:lnSpc>
              <a:spcBef>
                <a:spcPts val="120"/>
              </a:spcBef>
            </a:pPr>
            <a:r>
              <a:rPr lang="en-US" spc="-225" dirty="0">
                <a:solidFill>
                  <a:srgbClr val="00AE00"/>
                </a:solidFill>
                <a:cs typeface="Georgia"/>
              </a:rPr>
              <a:t> </a:t>
            </a:r>
            <a:r>
              <a:rPr lang="en-US" spc="35" dirty="0">
                <a:solidFill>
                  <a:srgbClr val="00AE00"/>
                </a:solidFill>
                <a:cs typeface="Georgia"/>
              </a:rPr>
              <a:t>zone </a:t>
            </a:r>
            <a:r>
              <a:rPr lang="en-US" spc="30" dirty="0">
                <a:solidFill>
                  <a:srgbClr val="00AE00"/>
                </a:solidFill>
                <a:cs typeface="Georgia"/>
              </a:rPr>
              <a:t>de </a:t>
            </a:r>
            <a:r>
              <a:rPr lang="en-US" spc="45" dirty="0" err="1">
                <a:solidFill>
                  <a:srgbClr val="00AE00"/>
                </a:solidFill>
                <a:cs typeface="Georgia"/>
              </a:rPr>
              <a:t>données</a:t>
            </a:r>
            <a:r>
              <a:rPr lang="en-US" spc="45" dirty="0">
                <a:solidFill>
                  <a:srgbClr val="00AE00"/>
                </a:solidFill>
                <a:cs typeface="Georgia"/>
              </a:rPr>
              <a:t> </a:t>
            </a:r>
            <a:r>
              <a:rPr lang="en-US" spc="-50" dirty="0">
                <a:solidFill>
                  <a:srgbClr val="00AE00"/>
                </a:solidFill>
                <a:cs typeface="Georgia"/>
              </a:rPr>
              <a:t>=&gt; </a:t>
            </a:r>
            <a:r>
              <a:rPr lang="en-US" spc="25" dirty="0">
                <a:solidFill>
                  <a:srgbClr val="00AE00"/>
                </a:solidFill>
                <a:cs typeface="Georgia"/>
              </a:rPr>
              <a:t>EAX, </a:t>
            </a:r>
            <a:r>
              <a:rPr lang="en-US" spc="45" dirty="0">
                <a:solidFill>
                  <a:srgbClr val="00AE00"/>
                </a:solidFill>
                <a:cs typeface="Georgia"/>
              </a:rPr>
              <a:t>EBX, </a:t>
            </a:r>
            <a:r>
              <a:rPr lang="en-US" spc="50" dirty="0">
                <a:solidFill>
                  <a:srgbClr val="00AE00"/>
                </a:solidFill>
                <a:cs typeface="Georgia"/>
              </a:rPr>
              <a:t>ECX, </a:t>
            </a:r>
            <a:r>
              <a:rPr lang="en-US" spc="40" dirty="0">
                <a:solidFill>
                  <a:srgbClr val="00AE00"/>
                </a:solidFill>
                <a:cs typeface="Georgia"/>
              </a:rPr>
              <a:t>EDX, ESI,</a:t>
            </a:r>
            <a:r>
              <a:rPr lang="en-US" spc="45" dirty="0">
                <a:solidFill>
                  <a:srgbClr val="00AE00"/>
                </a:solidFill>
                <a:cs typeface="Georgia"/>
              </a:rPr>
              <a:t> </a:t>
            </a:r>
            <a:r>
              <a:rPr lang="en-US" spc="15" dirty="0">
                <a:solidFill>
                  <a:srgbClr val="00AE00"/>
                </a:solidFill>
                <a:cs typeface="Georgia"/>
              </a:rPr>
              <a:t>EDI</a:t>
            </a:r>
            <a:endParaRPr lang="en-US" dirty="0">
              <a:cs typeface="Georgia"/>
            </a:endParaRPr>
          </a:p>
          <a:p>
            <a:pPr marL="970280">
              <a:lnSpc>
                <a:spcPct val="100000"/>
              </a:lnSpc>
              <a:spcBef>
                <a:spcPts val="120"/>
              </a:spcBef>
            </a:pPr>
            <a:r>
              <a:rPr lang="en-US" spc="-225" dirty="0">
                <a:solidFill>
                  <a:srgbClr val="00AE00"/>
                </a:solidFill>
                <a:cs typeface="Georgia"/>
              </a:rPr>
              <a:t> </a:t>
            </a:r>
            <a:r>
              <a:rPr lang="en-US" spc="35" dirty="0">
                <a:solidFill>
                  <a:srgbClr val="00AE00"/>
                </a:solidFill>
                <a:cs typeface="Georgia"/>
              </a:rPr>
              <a:t>zone </a:t>
            </a:r>
            <a:r>
              <a:rPr lang="en-US" spc="30" dirty="0">
                <a:solidFill>
                  <a:srgbClr val="00AE00"/>
                </a:solidFill>
                <a:cs typeface="Georgia"/>
              </a:rPr>
              <a:t>de </a:t>
            </a:r>
            <a:r>
              <a:rPr lang="en-US" spc="20" dirty="0">
                <a:solidFill>
                  <a:srgbClr val="00AE00"/>
                </a:solidFill>
                <a:cs typeface="Georgia"/>
              </a:rPr>
              <a:t>pile </a:t>
            </a:r>
            <a:r>
              <a:rPr lang="en-US" spc="-50" dirty="0">
                <a:solidFill>
                  <a:srgbClr val="00AE00"/>
                </a:solidFill>
                <a:cs typeface="Georgia"/>
              </a:rPr>
              <a:t>=&gt; </a:t>
            </a:r>
            <a:r>
              <a:rPr lang="en-US" spc="45" dirty="0">
                <a:solidFill>
                  <a:srgbClr val="00AE00"/>
                </a:solidFill>
                <a:cs typeface="Georgia"/>
              </a:rPr>
              <a:t>EBP,</a:t>
            </a:r>
            <a:r>
              <a:rPr lang="en-US" spc="180" dirty="0">
                <a:solidFill>
                  <a:srgbClr val="00AE00"/>
                </a:solidFill>
                <a:cs typeface="Georgia"/>
              </a:rPr>
              <a:t> </a:t>
            </a:r>
            <a:r>
              <a:rPr lang="en-US" spc="55" dirty="0">
                <a:solidFill>
                  <a:srgbClr val="00AE00"/>
                </a:solidFill>
                <a:cs typeface="Georgia"/>
              </a:rPr>
              <a:t>ESP</a:t>
            </a:r>
            <a:endParaRPr lang="en-US" dirty="0">
              <a:cs typeface="Georgia"/>
            </a:endParaRPr>
          </a:p>
          <a:p>
            <a:endParaRPr lang="fr-FR" dirty="0"/>
          </a:p>
        </p:txBody>
      </p:sp>
      <p:sp>
        <p:nvSpPr>
          <p:cNvPr id="3" name="Title 2"/>
          <p:cNvSpPr>
            <a:spLocks noGrp="1"/>
          </p:cNvSpPr>
          <p:nvPr>
            <p:ph type="title"/>
          </p:nvPr>
        </p:nvSpPr>
        <p:spPr/>
        <p:txBody>
          <a:bodyPr/>
          <a:lstStyle/>
          <a:p>
            <a:r>
              <a:rPr lang="en-US" i="1" spc="-10" dirty="0" err="1">
                <a:solidFill>
                  <a:srgbClr val="FF0000"/>
                </a:solidFill>
                <a:latin typeface="TeX Gyre Bonum"/>
                <a:cs typeface="TeX Gyre Bonum"/>
              </a:rPr>
              <a:t>Mémoires</a:t>
            </a:r>
            <a:r>
              <a:rPr lang="en-US" i="1" spc="-10" dirty="0">
                <a:solidFill>
                  <a:srgbClr val="FF0000"/>
                </a:solidFill>
                <a:latin typeface="TeX Gyre Bonum"/>
                <a:cs typeface="TeX Gyre Bonum"/>
              </a:rPr>
              <a:t> </a:t>
            </a:r>
            <a:r>
              <a:rPr lang="en-US" i="1" spc="-10" dirty="0" err="1">
                <a:solidFill>
                  <a:srgbClr val="FF0000"/>
                </a:solidFill>
                <a:latin typeface="TeX Gyre Bonum"/>
                <a:cs typeface="TeX Gyre Bonum"/>
              </a:rPr>
              <a:t>rapides</a:t>
            </a:r>
            <a:r>
              <a:rPr lang="en-US" i="1" spc="105" dirty="0">
                <a:solidFill>
                  <a:srgbClr val="FF0000"/>
                </a:solidFill>
                <a:latin typeface="TeX Gyre Bonum"/>
                <a:cs typeface="TeX Gyre Bonum"/>
              </a:rPr>
              <a:t> </a:t>
            </a:r>
            <a:r>
              <a:rPr lang="en-US" i="1" spc="-10" dirty="0" err="1">
                <a:solidFill>
                  <a:srgbClr val="FF0000"/>
                </a:solidFill>
                <a:latin typeface="TeX Gyre Bonum"/>
                <a:cs typeface="TeX Gyre Bonum"/>
              </a:rPr>
              <a:t>registres</a:t>
            </a:r>
            <a:br>
              <a:rPr lang="en-US" dirty="0">
                <a:latin typeface="TeX Gyre Bonum"/>
                <a:cs typeface="TeX Gyre Bonum"/>
              </a:rPr>
            </a:br>
            <a:endParaRPr lang="fr-FR" dirty="0"/>
          </a:p>
        </p:txBody>
      </p:sp>
    </p:spTree>
    <p:extLst>
      <p:ext uri="{BB962C8B-B14F-4D97-AF65-F5344CB8AC3E}">
        <p14:creationId xmlns:p14="http://schemas.microsoft.com/office/powerpoint/2010/main" val="19693753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302260" algn="ctr">
              <a:lnSpc>
                <a:spcPct val="100000"/>
              </a:lnSpc>
              <a:spcBef>
                <a:spcPts val="100"/>
              </a:spcBef>
            </a:pPr>
            <a:endParaRPr lang="en-US" sz="1800" dirty="0">
              <a:latin typeface="TeX Gyre Bonum"/>
              <a:cs typeface="TeX Gyre Bonum"/>
            </a:endParaRPr>
          </a:p>
          <a:p>
            <a:pPr marL="158115" indent="-158750">
              <a:lnSpc>
                <a:spcPct val="100000"/>
              </a:lnSpc>
              <a:spcBef>
                <a:spcPts val="1775"/>
              </a:spcBef>
              <a:buChar char="•"/>
              <a:tabLst>
                <a:tab pos="158750" algn="l"/>
              </a:tabLst>
            </a:pPr>
            <a:r>
              <a:rPr lang="en-US" spc="45" dirty="0" err="1">
                <a:solidFill>
                  <a:srgbClr val="0032CC"/>
                </a:solidFill>
                <a:cs typeface="Georgia"/>
              </a:rPr>
              <a:t>Registres</a:t>
            </a:r>
            <a:r>
              <a:rPr lang="en-US" spc="45" dirty="0">
                <a:solidFill>
                  <a:srgbClr val="0032CC"/>
                </a:solidFill>
                <a:cs typeface="Georgia"/>
              </a:rPr>
              <a:t> </a:t>
            </a:r>
            <a:r>
              <a:rPr lang="en-US" spc="50" dirty="0">
                <a:solidFill>
                  <a:srgbClr val="0032CC"/>
                </a:solidFill>
                <a:cs typeface="Georgia"/>
              </a:rPr>
              <a:t>de</a:t>
            </a:r>
            <a:r>
              <a:rPr lang="en-US" spc="100" dirty="0">
                <a:solidFill>
                  <a:srgbClr val="0032CC"/>
                </a:solidFill>
                <a:cs typeface="Georgia"/>
              </a:rPr>
              <a:t> </a:t>
            </a:r>
            <a:r>
              <a:rPr lang="en-US" spc="110" dirty="0">
                <a:solidFill>
                  <a:srgbClr val="0032CC"/>
                </a:solidFill>
                <a:cs typeface="Georgia"/>
              </a:rPr>
              <a:t>segment</a:t>
            </a:r>
            <a:endParaRPr lang="en-US" dirty="0">
              <a:cs typeface="Georgia"/>
            </a:endParaRPr>
          </a:p>
          <a:p>
            <a:pPr marL="381000" lvl="1" indent="-127000">
              <a:lnSpc>
                <a:spcPct val="100000"/>
              </a:lnSpc>
              <a:spcBef>
                <a:spcPts val="245"/>
              </a:spcBef>
              <a:buChar char="–"/>
              <a:tabLst>
                <a:tab pos="381000" algn="l"/>
              </a:tabLst>
            </a:pPr>
            <a:r>
              <a:rPr lang="en-US" sz="2000" spc="35" dirty="0" err="1">
                <a:cs typeface="Georgia"/>
              </a:rPr>
              <a:t>Registres</a:t>
            </a:r>
            <a:r>
              <a:rPr lang="en-US" sz="2000" spc="65" dirty="0">
                <a:cs typeface="Georgia"/>
              </a:rPr>
              <a:t> </a:t>
            </a:r>
            <a:r>
              <a:rPr lang="en-US" sz="2000" spc="40" dirty="0" err="1">
                <a:cs typeface="Georgia"/>
              </a:rPr>
              <a:t>utilisés</a:t>
            </a:r>
            <a:r>
              <a:rPr lang="en-US" sz="2000" spc="90" dirty="0">
                <a:cs typeface="Georgia"/>
              </a:rPr>
              <a:t> </a:t>
            </a:r>
            <a:r>
              <a:rPr lang="en-US" sz="2000" spc="40" dirty="0">
                <a:cs typeface="Georgia"/>
              </a:rPr>
              <a:t>pour</a:t>
            </a:r>
            <a:r>
              <a:rPr lang="en-US" sz="2000" spc="105" dirty="0">
                <a:cs typeface="Georgia"/>
              </a:rPr>
              <a:t> </a:t>
            </a:r>
            <a:r>
              <a:rPr lang="en-US" sz="2000" spc="30" dirty="0">
                <a:cs typeface="Georgia"/>
              </a:rPr>
              <a:t>pointer</a:t>
            </a:r>
            <a:r>
              <a:rPr lang="en-US" sz="2000" dirty="0">
                <a:cs typeface="Georgia"/>
              </a:rPr>
              <a:t> </a:t>
            </a:r>
            <a:r>
              <a:rPr lang="en-US" sz="2000" spc="20" dirty="0">
                <a:cs typeface="Georgia"/>
              </a:rPr>
              <a:t>le</a:t>
            </a:r>
            <a:r>
              <a:rPr lang="en-US" sz="2000" spc="80" dirty="0">
                <a:cs typeface="Georgia"/>
              </a:rPr>
              <a:t> </a:t>
            </a:r>
            <a:r>
              <a:rPr lang="en-US" sz="2000" spc="45" dirty="0">
                <a:cs typeface="Georgia"/>
              </a:rPr>
              <a:t>début</a:t>
            </a:r>
            <a:r>
              <a:rPr lang="en-US" sz="2000" spc="105" dirty="0">
                <a:cs typeface="Georgia"/>
              </a:rPr>
              <a:t> </a:t>
            </a:r>
            <a:r>
              <a:rPr lang="en-US" sz="2000" spc="45" dirty="0">
                <a:cs typeface="Georgia"/>
              </a:rPr>
              <a:t>des</a:t>
            </a:r>
            <a:r>
              <a:rPr lang="en-US" sz="2000" spc="90" dirty="0">
                <a:cs typeface="Georgia"/>
              </a:rPr>
              <a:t> </a:t>
            </a:r>
            <a:r>
              <a:rPr lang="en-US" sz="2000" spc="45" dirty="0">
                <a:cs typeface="Georgia"/>
              </a:rPr>
              <a:t>zones</a:t>
            </a:r>
            <a:r>
              <a:rPr lang="en-US" sz="2000" spc="95" dirty="0">
                <a:cs typeface="Georgia"/>
              </a:rPr>
              <a:t> </a:t>
            </a:r>
            <a:r>
              <a:rPr lang="en-US" sz="2000" spc="35" dirty="0" err="1">
                <a:cs typeface="Georgia"/>
              </a:rPr>
              <a:t>mémoires</a:t>
            </a:r>
            <a:endParaRPr lang="en-US" sz="2000" dirty="0">
              <a:cs typeface="Georgia"/>
            </a:endParaRPr>
          </a:p>
          <a:p>
            <a:pPr marL="507365">
              <a:lnSpc>
                <a:spcPct val="100000"/>
              </a:lnSpc>
              <a:spcBef>
                <a:spcPts val="240"/>
              </a:spcBef>
            </a:pPr>
            <a:r>
              <a:rPr lang="en-US" spc="90" dirty="0">
                <a:solidFill>
                  <a:srgbClr val="00AE00"/>
                </a:solidFill>
                <a:cs typeface="Georgia"/>
              </a:rPr>
              <a:t>CS  </a:t>
            </a:r>
            <a:r>
              <a:rPr lang="en-US" spc="40" dirty="0">
                <a:solidFill>
                  <a:srgbClr val="00AE00"/>
                </a:solidFill>
                <a:cs typeface="Georgia"/>
              </a:rPr>
              <a:t>Code</a:t>
            </a:r>
            <a:r>
              <a:rPr lang="en-US" spc="25" dirty="0">
                <a:solidFill>
                  <a:srgbClr val="00AE00"/>
                </a:solidFill>
                <a:cs typeface="Georgia"/>
              </a:rPr>
              <a:t> </a:t>
            </a:r>
            <a:r>
              <a:rPr lang="en-US" spc="45" dirty="0">
                <a:solidFill>
                  <a:srgbClr val="00AE00"/>
                </a:solidFill>
                <a:cs typeface="Georgia"/>
              </a:rPr>
              <a:t>Segment</a:t>
            </a:r>
            <a:endParaRPr lang="en-US" dirty="0">
              <a:cs typeface="Georgia"/>
            </a:endParaRPr>
          </a:p>
          <a:p>
            <a:pPr marL="507365">
              <a:lnSpc>
                <a:spcPct val="100000"/>
              </a:lnSpc>
              <a:spcBef>
                <a:spcPts val="240"/>
              </a:spcBef>
            </a:pPr>
            <a:r>
              <a:rPr lang="en-US" spc="65" dirty="0">
                <a:solidFill>
                  <a:srgbClr val="00AE00"/>
                </a:solidFill>
                <a:cs typeface="Georgia"/>
              </a:rPr>
              <a:t>DS  </a:t>
            </a:r>
            <a:r>
              <a:rPr lang="en-US" spc="55" dirty="0">
                <a:solidFill>
                  <a:srgbClr val="00AE00"/>
                </a:solidFill>
                <a:cs typeface="Georgia"/>
              </a:rPr>
              <a:t>Data</a:t>
            </a:r>
            <a:r>
              <a:rPr lang="en-US" spc="75" dirty="0">
                <a:solidFill>
                  <a:srgbClr val="00AE00"/>
                </a:solidFill>
                <a:cs typeface="Georgia"/>
              </a:rPr>
              <a:t> </a:t>
            </a:r>
            <a:r>
              <a:rPr lang="en-US" spc="45" dirty="0">
                <a:solidFill>
                  <a:srgbClr val="00AE00"/>
                </a:solidFill>
                <a:cs typeface="Georgia"/>
              </a:rPr>
              <a:t>Segment</a:t>
            </a:r>
            <a:endParaRPr lang="en-US" dirty="0">
              <a:cs typeface="Georgia"/>
            </a:endParaRPr>
          </a:p>
          <a:p>
            <a:pPr marL="507365">
              <a:lnSpc>
                <a:spcPct val="100000"/>
              </a:lnSpc>
              <a:spcBef>
                <a:spcPts val="240"/>
              </a:spcBef>
            </a:pPr>
            <a:r>
              <a:rPr lang="en-US" spc="-225" dirty="0">
                <a:solidFill>
                  <a:srgbClr val="00AE00"/>
                </a:solidFill>
                <a:cs typeface="Georgia"/>
              </a:rPr>
              <a:t> </a:t>
            </a:r>
            <a:r>
              <a:rPr lang="en-US" spc="95" dirty="0">
                <a:solidFill>
                  <a:srgbClr val="00AE00"/>
                </a:solidFill>
                <a:cs typeface="Georgia"/>
              </a:rPr>
              <a:t>SS </a:t>
            </a:r>
            <a:r>
              <a:rPr lang="en-US" spc="65" dirty="0">
                <a:solidFill>
                  <a:srgbClr val="00AE00"/>
                </a:solidFill>
                <a:cs typeface="Georgia"/>
              </a:rPr>
              <a:t>Stack</a:t>
            </a:r>
            <a:r>
              <a:rPr lang="en-US" spc="45" dirty="0">
                <a:solidFill>
                  <a:srgbClr val="00AE00"/>
                </a:solidFill>
                <a:cs typeface="Georgia"/>
              </a:rPr>
              <a:t> Segment</a:t>
            </a:r>
            <a:endParaRPr lang="en-US" dirty="0">
              <a:cs typeface="Georgia"/>
            </a:endParaRPr>
          </a:p>
          <a:p>
            <a:pPr marL="507365">
              <a:lnSpc>
                <a:spcPct val="100000"/>
              </a:lnSpc>
              <a:spcBef>
                <a:spcPts val="240"/>
              </a:spcBef>
            </a:pPr>
            <a:r>
              <a:rPr lang="en-US" spc="-225" dirty="0">
                <a:solidFill>
                  <a:srgbClr val="00AE00"/>
                </a:solidFill>
                <a:cs typeface="Georgia"/>
              </a:rPr>
              <a:t> </a:t>
            </a:r>
            <a:r>
              <a:rPr lang="en-US" spc="65" dirty="0">
                <a:solidFill>
                  <a:srgbClr val="00AE00"/>
                </a:solidFill>
                <a:cs typeface="Georgia"/>
              </a:rPr>
              <a:t>ES, </a:t>
            </a:r>
            <a:r>
              <a:rPr lang="en-US" spc="55" dirty="0">
                <a:solidFill>
                  <a:srgbClr val="00AE00"/>
                </a:solidFill>
                <a:cs typeface="Georgia"/>
              </a:rPr>
              <a:t>FS, </a:t>
            </a:r>
            <a:r>
              <a:rPr lang="en-US" spc="80" dirty="0">
                <a:solidFill>
                  <a:srgbClr val="00AE00"/>
                </a:solidFill>
                <a:cs typeface="Georgia"/>
              </a:rPr>
              <a:t>GS </a:t>
            </a:r>
            <a:r>
              <a:rPr lang="en-US" spc="40" dirty="0">
                <a:solidFill>
                  <a:srgbClr val="00AE00"/>
                </a:solidFill>
                <a:cs typeface="Georgia"/>
              </a:rPr>
              <a:t>Zones </a:t>
            </a:r>
            <a:r>
              <a:rPr lang="en-US" spc="35" dirty="0" err="1">
                <a:solidFill>
                  <a:srgbClr val="00AE00"/>
                </a:solidFill>
                <a:cs typeface="Georgia"/>
              </a:rPr>
              <a:t>mémoires</a:t>
            </a:r>
            <a:r>
              <a:rPr lang="en-US" spc="180" dirty="0">
                <a:solidFill>
                  <a:srgbClr val="00AE00"/>
                </a:solidFill>
                <a:cs typeface="Georgia"/>
              </a:rPr>
              <a:t> </a:t>
            </a:r>
            <a:r>
              <a:rPr lang="en-US" spc="35" dirty="0" err="1">
                <a:solidFill>
                  <a:srgbClr val="00AE00"/>
                </a:solidFill>
                <a:cs typeface="Georgia"/>
              </a:rPr>
              <a:t>additionnelles</a:t>
            </a:r>
            <a:endParaRPr lang="en-US" dirty="0">
              <a:cs typeface="Georgia"/>
            </a:endParaRPr>
          </a:p>
          <a:p>
            <a:pPr>
              <a:lnSpc>
                <a:spcPct val="100000"/>
              </a:lnSpc>
              <a:spcBef>
                <a:spcPts val="5"/>
              </a:spcBef>
            </a:pPr>
            <a:endParaRPr lang="en-US" dirty="0">
              <a:cs typeface="Georgia"/>
            </a:endParaRPr>
          </a:p>
          <a:p>
            <a:pPr marL="158115" indent="-158750">
              <a:lnSpc>
                <a:spcPct val="100000"/>
              </a:lnSpc>
              <a:spcBef>
                <a:spcPts val="5"/>
              </a:spcBef>
              <a:buChar char="•"/>
              <a:tabLst>
                <a:tab pos="158750" algn="l"/>
              </a:tabLst>
            </a:pPr>
            <a:r>
              <a:rPr lang="en-US" spc="40" dirty="0" err="1">
                <a:solidFill>
                  <a:srgbClr val="0032CC"/>
                </a:solidFill>
                <a:cs typeface="Georgia"/>
              </a:rPr>
              <a:t>Registre</a:t>
            </a:r>
            <a:r>
              <a:rPr lang="en-US" spc="40" dirty="0">
                <a:solidFill>
                  <a:srgbClr val="0032CC"/>
                </a:solidFill>
                <a:cs typeface="Georgia"/>
              </a:rPr>
              <a:t> </a:t>
            </a:r>
            <a:r>
              <a:rPr lang="en-US" spc="90" dirty="0" err="1">
                <a:solidFill>
                  <a:srgbClr val="0032CC"/>
                </a:solidFill>
                <a:cs typeface="Georgia"/>
              </a:rPr>
              <a:t>Pointeur</a:t>
            </a:r>
            <a:r>
              <a:rPr lang="en-US" spc="165" dirty="0">
                <a:solidFill>
                  <a:srgbClr val="0032CC"/>
                </a:solidFill>
                <a:cs typeface="Georgia"/>
              </a:rPr>
              <a:t> </a:t>
            </a:r>
            <a:r>
              <a:rPr lang="en-US" spc="95" dirty="0" err="1">
                <a:solidFill>
                  <a:srgbClr val="0032CC"/>
                </a:solidFill>
                <a:cs typeface="Georgia"/>
              </a:rPr>
              <a:t>d’instruction</a:t>
            </a:r>
            <a:endParaRPr lang="en-US" dirty="0">
              <a:cs typeface="Georgia"/>
            </a:endParaRPr>
          </a:p>
          <a:p>
            <a:pPr marL="381000" lvl="1" indent="-127000">
              <a:lnSpc>
                <a:spcPct val="100000"/>
              </a:lnSpc>
              <a:spcBef>
                <a:spcPts val="245"/>
              </a:spcBef>
              <a:buChar char="–"/>
              <a:tabLst>
                <a:tab pos="381000" algn="l"/>
              </a:tabLst>
            </a:pPr>
            <a:r>
              <a:rPr lang="en-US" sz="2000" spc="40" dirty="0" err="1">
                <a:cs typeface="Georgia"/>
              </a:rPr>
              <a:t>Contient</a:t>
            </a:r>
            <a:r>
              <a:rPr lang="en-US" sz="2000" spc="40" dirty="0">
                <a:cs typeface="Georgia"/>
              </a:rPr>
              <a:t> </a:t>
            </a:r>
            <a:r>
              <a:rPr lang="en-US" sz="2000" spc="40" dirty="0" err="1">
                <a:cs typeface="Georgia"/>
              </a:rPr>
              <a:t>l’adresse</a:t>
            </a:r>
            <a:r>
              <a:rPr lang="en-US" sz="2000" spc="40" dirty="0">
                <a:cs typeface="Georgia"/>
              </a:rPr>
              <a:t> </a:t>
            </a:r>
            <a:r>
              <a:rPr lang="en-US" sz="2000" spc="30" dirty="0">
                <a:cs typeface="Georgia"/>
              </a:rPr>
              <a:t>de </a:t>
            </a:r>
            <a:r>
              <a:rPr lang="en-US" sz="2000" spc="40" dirty="0">
                <a:cs typeface="Georgia"/>
              </a:rPr>
              <a:t>la </a:t>
            </a:r>
            <a:r>
              <a:rPr lang="en-US" sz="2000" spc="40" dirty="0" err="1">
                <a:cs typeface="Georgia"/>
              </a:rPr>
              <a:t>prochaine</a:t>
            </a:r>
            <a:r>
              <a:rPr lang="en-US" sz="2000" spc="40" dirty="0">
                <a:cs typeface="Georgia"/>
              </a:rPr>
              <a:t> </a:t>
            </a:r>
            <a:r>
              <a:rPr lang="en-US" sz="2000" spc="45" dirty="0">
                <a:cs typeface="Georgia"/>
              </a:rPr>
              <a:t>instruction </a:t>
            </a:r>
            <a:r>
              <a:rPr lang="en-US" sz="2000" spc="70" dirty="0" err="1">
                <a:cs typeface="Georgia"/>
              </a:rPr>
              <a:t>à</a:t>
            </a:r>
            <a:r>
              <a:rPr lang="en-US" sz="2000" spc="75" dirty="0">
                <a:cs typeface="Georgia"/>
              </a:rPr>
              <a:t> </a:t>
            </a:r>
            <a:r>
              <a:rPr lang="en-US" sz="2000" spc="40" dirty="0" err="1">
                <a:cs typeface="Georgia"/>
              </a:rPr>
              <a:t>exécuter</a:t>
            </a:r>
            <a:endParaRPr lang="en-US" sz="2000" spc="40" dirty="0">
              <a:cs typeface="Georgia"/>
            </a:endParaRPr>
          </a:p>
          <a:p>
            <a:pPr marL="170815" indent="-158750">
              <a:lnSpc>
                <a:spcPct val="100000"/>
              </a:lnSpc>
              <a:spcBef>
                <a:spcPts val="1645"/>
              </a:spcBef>
              <a:buChar char="•"/>
              <a:tabLst>
                <a:tab pos="171450" algn="l"/>
              </a:tabLst>
            </a:pPr>
            <a:r>
              <a:rPr lang="en-US" spc="95" dirty="0" err="1">
                <a:solidFill>
                  <a:srgbClr val="0032CC"/>
                </a:solidFill>
                <a:latin typeface="Georgia"/>
                <a:cs typeface="Georgia"/>
              </a:rPr>
              <a:t>Registre</a:t>
            </a:r>
            <a:r>
              <a:rPr lang="en-US" spc="95" dirty="0">
                <a:solidFill>
                  <a:srgbClr val="0032CC"/>
                </a:solidFill>
                <a:latin typeface="Georgia"/>
                <a:cs typeface="Georgia"/>
              </a:rPr>
              <a:t> d’état</a:t>
            </a:r>
          </a:p>
          <a:p>
            <a:pPr marL="266700">
              <a:lnSpc>
                <a:spcPct val="100000"/>
              </a:lnSpc>
              <a:spcBef>
                <a:spcPts val="125"/>
              </a:spcBef>
            </a:pPr>
            <a:r>
              <a:rPr lang="en-US" sz="2100" spc="40" dirty="0" err="1">
                <a:cs typeface="Georgia"/>
              </a:rPr>
              <a:t>Contrôle</a:t>
            </a:r>
            <a:r>
              <a:rPr lang="en-US" sz="2100" spc="40" dirty="0">
                <a:cs typeface="Georgia"/>
              </a:rPr>
              <a:t> et </a:t>
            </a:r>
            <a:r>
              <a:rPr lang="en-US" sz="2100" spc="40" dirty="0" err="1">
                <a:cs typeface="Georgia"/>
              </a:rPr>
              <a:t>indique</a:t>
            </a:r>
            <a:r>
              <a:rPr lang="en-US" sz="2100" spc="40" dirty="0">
                <a:cs typeface="Georgia"/>
              </a:rPr>
              <a:t> des </a:t>
            </a:r>
            <a:r>
              <a:rPr lang="en-US" sz="2100" spc="40" dirty="0" err="1">
                <a:cs typeface="Georgia"/>
              </a:rPr>
              <a:t>opérations</a:t>
            </a:r>
            <a:endParaRPr lang="en-US" sz="2100" spc="40" dirty="0">
              <a:cs typeface="Georgia"/>
            </a:endParaRPr>
          </a:p>
          <a:p>
            <a:pPr marL="520065">
              <a:lnSpc>
                <a:spcPct val="100000"/>
              </a:lnSpc>
              <a:spcBef>
                <a:spcPts val="120"/>
              </a:spcBef>
            </a:pPr>
            <a:r>
              <a:rPr lang="en-US" sz="2100" spc="40" dirty="0">
                <a:cs typeface="Georgia"/>
              </a:rPr>
              <a:t> </a:t>
            </a:r>
            <a:r>
              <a:rPr lang="en-US" sz="2100" spc="40" dirty="0" err="1">
                <a:cs typeface="Georgia"/>
              </a:rPr>
              <a:t>Indicateurs</a:t>
            </a:r>
            <a:r>
              <a:rPr lang="en-US" sz="2100" spc="40" dirty="0">
                <a:cs typeface="Georgia"/>
              </a:rPr>
              <a:t> </a:t>
            </a:r>
            <a:r>
              <a:rPr lang="en-US" sz="2100" spc="40" dirty="0" err="1">
                <a:cs typeface="Georgia"/>
              </a:rPr>
              <a:t>système</a:t>
            </a:r>
            <a:endParaRPr lang="en-US" sz="2100" spc="40" dirty="0">
              <a:cs typeface="Georgia"/>
            </a:endParaRPr>
          </a:p>
          <a:p>
            <a:pPr marL="520065">
              <a:lnSpc>
                <a:spcPct val="100000"/>
              </a:lnSpc>
              <a:spcBef>
                <a:spcPts val="120"/>
              </a:spcBef>
            </a:pPr>
            <a:r>
              <a:rPr lang="en-US" sz="2100" spc="40" dirty="0">
                <a:cs typeface="Georgia"/>
              </a:rPr>
              <a:t> </a:t>
            </a:r>
            <a:r>
              <a:rPr lang="en-US" sz="2100" spc="40" dirty="0" err="1">
                <a:cs typeface="Georgia"/>
              </a:rPr>
              <a:t>Indicateurs</a:t>
            </a:r>
            <a:r>
              <a:rPr lang="en-US" sz="2100" spc="40" dirty="0">
                <a:cs typeface="Georgia"/>
              </a:rPr>
              <a:t> application</a:t>
            </a:r>
          </a:p>
          <a:p>
            <a:pPr marL="381000" lvl="1" indent="-127000">
              <a:lnSpc>
                <a:spcPct val="100000"/>
              </a:lnSpc>
              <a:spcBef>
                <a:spcPts val="245"/>
              </a:spcBef>
              <a:buChar char="–"/>
              <a:tabLst>
                <a:tab pos="381000" algn="l"/>
              </a:tabLst>
            </a:pPr>
            <a:endParaRPr lang="en-US" sz="2000" dirty="0">
              <a:cs typeface="Georgia"/>
            </a:endParaRPr>
          </a:p>
          <a:p>
            <a:endParaRPr lang="fr-FR" dirty="0"/>
          </a:p>
        </p:txBody>
      </p:sp>
      <p:sp>
        <p:nvSpPr>
          <p:cNvPr id="3" name="Title 2"/>
          <p:cNvSpPr>
            <a:spLocks noGrp="1"/>
          </p:cNvSpPr>
          <p:nvPr>
            <p:ph type="title"/>
          </p:nvPr>
        </p:nvSpPr>
        <p:spPr/>
        <p:txBody>
          <a:bodyPr/>
          <a:lstStyle/>
          <a:p>
            <a:r>
              <a:rPr lang="en-US" i="1" spc="-10" dirty="0" err="1">
                <a:solidFill>
                  <a:srgbClr val="FF0000"/>
                </a:solidFill>
                <a:latin typeface="TeX Gyre Bonum"/>
                <a:cs typeface="TeX Gyre Bonum"/>
              </a:rPr>
              <a:t>Mémoires</a:t>
            </a:r>
            <a:r>
              <a:rPr lang="en-US" i="1" spc="-10" dirty="0">
                <a:solidFill>
                  <a:srgbClr val="FF0000"/>
                </a:solidFill>
                <a:latin typeface="TeX Gyre Bonum"/>
                <a:cs typeface="TeX Gyre Bonum"/>
              </a:rPr>
              <a:t> </a:t>
            </a:r>
            <a:r>
              <a:rPr lang="en-US" i="1" spc="-10" dirty="0" err="1">
                <a:solidFill>
                  <a:srgbClr val="FF0000"/>
                </a:solidFill>
                <a:latin typeface="TeX Gyre Bonum"/>
                <a:cs typeface="TeX Gyre Bonum"/>
              </a:rPr>
              <a:t>rapides</a:t>
            </a:r>
            <a:r>
              <a:rPr lang="en-US" i="1" spc="95" dirty="0">
                <a:solidFill>
                  <a:srgbClr val="FF0000"/>
                </a:solidFill>
                <a:latin typeface="TeX Gyre Bonum"/>
                <a:cs typeface="TeX Gyre Bonum"/>
              </a:rPr>
              <a:t> </a:t>
            </a:r>
            <a:r>
              <a:rPr lang="en-US" i="1" spc="-10" dirty="0" err="1">
                <a:solidFill>
                  <a:srgbClr val="FF0000"/>
                </a:solidFill>
                <a:latin typeface="TeX Gyre Bonum"/>
                <a:cs typeface="TeX Gyre Bonum"/>
              </a:rPr>
              <a:t>registres</a:t>
            </a:r>
            <a:endParaRPr lang="fr-FR" dirty="0"/>
          </a:p>
        </p:txBody>
      </p:sp>
    </p:spTree>
    <p:extLst>
      <p:ext uri="{BB962C8B-B14F-4D97-AF65-F5344CB8AC3E}">
        <p14:creationId xmlns:p14="http://schemas.microsoft.com/office/powerpoint/2010/main" val="21838709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58115" indent="-158750">
              <a:lnSpc>
                <a:spcPct val="100000"/>
              </a:lnSpc>
              <a:spcBef>
                <a:spcPts val="100"/>
              </a:spcBef>
              <a:buChar char="•"/>
              <a:tabLst>
                <a:tab pos="158750" algn="l"/>
              </a:tabLst>
            </a:pPr>
            <a:r>
              <a:rPr lang="en-US" sz="1900" spc="45" dirty="0" err="1">
                <a:solidFill>
                  <a:srgbClr val="0032CC"/>
                </a:solidFill>
                <a:cs typeface="Georgia"/>
              </a:rPr>
              <a:t>Registres</a:t>
            </a:r>
            <a:r>
              <a:rPr lang="en-US" sz="1900" spc="45" dirty="0">
                <a:solidFill>
                  <a:srgbClr val="0032CC"/>
                </a:solidFill>
                <a:cs typeface="Georgia"/>
              </a:rPr>
              <a:t> de </a:t>
            </a:r>
            <a:r>
              <a:rPr lang="en-US" sz="1900" spc="45" dirty="0" err="1">
                <a:solidFill>
                  <a:srgbClr val="0032CC"/>
                </a:solidFill>
                <a:cs typeface="Georgia"/>
              </a:rPr>
              <a:t>gestion</a:t>
            </a:r>
            <a:r>
              <a:rPr lang="en-US" sz="1900" spc="45" dirty="0">
                <a:solidFill>
                  <a:srgbClr val="0032CC"/>
                </a:solidFill>
                <a:cs typeface="Georgia"/>
              </a:rPr>
              <a:t> de la pile</a:t>
            </a:r>
          </a:p>
          <a:p>
            <a:pPr marL="381000" lvl="1" indent="-127000">
              <a:lnSpc>
                <a:spcPct val="100000"/>
              </a:lnSpc>
              <a:spcBef>
                <a:spcPts val="5"/>
              </a:spcBef>
              <a:buChar char="–"/>
              <a:tabLst>
                <a:tab pos="381000" algn="l"/>
              </a:tabLst>
            </a:pPr>
            <a:r>
              <a:rPr lang="en-US" sz="1900" spc="40" dirty="0">
                <a:cs typeface="Georgia"/>
              </a:rPr>
              <a:t>zone </a:t>
            </a:r>
            <a:r>
              <a:rPr lang="en-US" sz="1900" spc="40" dirty="0" err="1">
                <a:cs typeface="Georgia"/>
              </a:rPr>
              <a:t>mémoire</a:t>
            </a:r>
            <a:r>
              <a:rPr lang="en-US" sz="1900" spc="40" dirty="0">
                <a:cs typeface="Georgia"/>
              </a:rPr>
              <a:t> </a:t>
            </a:r>
            <a:r>
              <a:rPr lang="en-US" sz="1900" spc="40" dirty="0" err="1">
                <a:cs typeface="Georgia"/>
              </a:rPr>
              <a:t>spécialisée</a:t>
            </a:r>
            <a:endParaRPr lang="en-US" sz="1900" spc="40" dirty="0">
              <a:cs typeface="Georgia"/>
            </a:endParaRPr>
          </a:p>
          <a:p>
            <a:pPr marL="381000" lvl="1" indent="-127000">
              <a:lnSpc>
                <a:spcPct val="100000"/>
              </a:lnSpc>
              <a:buChar char="–"/>
              <a:tabLst>
                <a:tab pos="381000" algn="l"/>
              </a:tabLst>
            </a:pPr>
            <a:r>
              <a:rPr lang="en-US" sz="1900" spc="40" dirty="0" err="1">
                <a:cs typeface="Georgia"/>
              </a:rPr>
              <a:t>mémorise</a:t>
            </a:r>
            <a:r>
              <a:rPr lang="en-US" sz="1900" spc="40" dirty="0">
                <a:cs typeface="Georgia"/>
              </a:rPr>
              <a:t> les </a:t>
            </a:r>
            <a:r>
              <a:rPr lang="en-US" sz="1900" spc="40" dirty="0" err="1">
                <a:cs typeface="Georgia"/>
              </a:rPr>
              <a:t>adresses</a:t>
            </a:r>
            <a:r>
              <a:rPr lang="en-US" sz="1900" spc="40" dirty="0">
                <a:cs typeface="Georgia"/>
              </a:rPr>
              <a:t> </a:t>
            </a:r>
            <a:r>
              <a:rPr lang="en-US" sz="1900" spc="40" dirty="0" err="1">
                <a:cs typeface="Georgia"/>
              </a:rPr>
              <a:t>d’appel</a:t>
            </a:r>
            <a:r>
              <a:rPr lang="en-US" sz="1900" spc="40" dirty="0">
                <a:cs typeface="Georgia"/>
              </a:rPr>
              <a:t> et retour de sous </a:t>
            </a:r>
            <a:r>
              <a:rPr lang="en-US" sz="1900" spc="40" dirty="0" err="1">
                <a:cs typeface="Georgia"/>
              </a:rPr>
              <a:t>programmes</a:t>
            </a:r>
            <a:endParaRPr lang="en-US" sz="1900" spc="40" dirty="0">
              <a:cs typeface="Georgia"/>
            </a:endParaRPr>
          </a:p>
          <a:p>
            <a:endParaRPr lang="fr-FR" sz="1900" spc="40" dirty="0">
              <a:cs typeface="Georgia"/>
            </a:endParaRPr>
          </a:p>
        </p:txBody>
      </p:sp>
      <p:sp>
        <p:nvSpPr>
          <p:cNvPr id="3" name="Title 2"/>
          <p:cNvSpPr>
            <a:spLocks noGrp="1"/>
          </p:cNvSpPr>
          <p:nvPr>
            <p:ph type="title"/>
          </p:nvPr>
        </p:nvSpPr>
        <p:spPr/>
        <p:txBody>
          <a:bodyPr/>
          <a:lstStyle/>
          <a:p>
            <a:r>
              <a:rPr lang="en-US" i="1" spc="-10" dirty="0" err="1">
                <a:solidFill>
                  <a:srgbClr val="FF0000"/>
                </a:solidFill>
                <a:latin typeface="TeX Gyre Bonum"/>
                <a:cs typeface="TeX Gyre Bonum"/>
              </a:rPr>
              <a:t>Mémoires</a:t>
            </a:r>
            <a:r>
              <a:rPr lang="en-US" i="1" spc="-10" dirty="0">
                <a:solidFill>
                  <a:srgbClr val="FF0000"/>
                </a:solidFill>
                <a:latin typeface="TeX Gyre Bonum"/>
                <a:cs typeface="TeX Gyre Bonum"/>
              </a:rPr>
              <a:t> </a:t>
            </a:r>
            <a:r>
              <a:rPr lang="en-US" i="1" spc="-10" dirty="0" err="1">
                <a:solidFill>
                  <a:srgbClr val="FF0000"/>
                </a:solidFill>
                <a:latin typeface="TeX Gyre Bonum"/>
                <a:cs typeface="TeX Gyre Bonum"/>
              </a:rPr>
              <a:t>rapides</a:t>
            </a:r>
            <a:r>
              <a:rPr lang="en-US" i="1" spc="95" dirty="0">
                <a:solidFill>
                  <a:srgbClr val="FF0000"/>
                </a:solidFill>
                <a:latin typeface="TeX Gyre Bonum"/>
                <a:cs typeface="TeX Gyre Bonum"/>
              </a:rPr>
              <a:t> </a:t>
            </a:r>
            <a:r>
              <a:rPr lang="en-US" i="1" spc="-10" dirty="0" err="1">
                <a:solidFill>
                  <a:srgbClr val="FF0000"/>
                </a:solidFill>
                <a:latin typeface="TeX Gyre Bonum"/>
                <a:cs typeface="TeX Gyre Bonum"/>
              </a:rPr>
              <a:t>registres</a:t>
            </a:r>
            <a:endParaRPr lang="fr-FR" dirty="0"/>
          </a:p>
        </p:txBody>
      </p:sp>
      <p:pic>
        <p:nvPicPr>
          <p:cNvPr id="5" name="Picture 4" descr="Capture d’écran 2021-03-22 à 20.33.06.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287" y="3015933"/>
            <a:ext cx="7460955" cy="3110545"/>
          </a:xfrm>
          <a:prstGeom prst="rect">
            <a:avLst/>
          </a:prstGeom>
        </p:spPr>
      </p:pic>
    </p:spTree>
    <p:extLst>
      <p:ext uri="{BB962C8B-B14F-4D97-AF65-F5344CB8AC3E}">
        <p14:creationId xmlns:p14="http://schemas.microsoft.com/office/powerpoint/2010/main" val="16747700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err="1"/>
              <a:t>Mémoire</a:t>
            </a:r>
            <a:r>
              <a:rPr lang="en-US" dirty="0"/>
              <a:t> Cache: La </a:t>
            </a:r>
            <a:r>
              <a:rPr lang="en-US" dirty="0" err="1"/>
              <a:t>présence</a:t>
            </a:r>
            <a:r>
              <a:rPr lang="en-US" dirty="0"/>
              <a:t> de </a:t>
            </a:r>
            <a:r>
              <a:rPr lang="en-US" dirty="0" err="1"/>
              <a:t>mémoire</a:t>
            </a:r>
            <a:r>
              <a:rPr lang="en-US" dirty="0"/>
              <a:t> cache </a:t>
            </a:r>
            <a:r>
              <a:rPr lang="en-US" dirty="0" err="1"/>
              <a:t>permet</a:t>
            </a:r>
            <a:r>
              <a:rPr lang="en-US" dirty="0"/>
              <a:t> </a:t>
            </a:r>
            <a:r>
              <a:rPr lang="en-US" dirty="0" err="1"/>
              <a:t>d'accélérer</a:t>
            </a:r>
            <a:r>
              <a:rPr lang="en-US" dirty="0"/>
              <a:t> </a:t>
            </a:r>
            <a:r>
              <a:rPr lang="en-US" dirty="0" err="1"/>
              <a:t>l'exécution</a:t>
            </a:r>
            <a:r>
              <a:rPr lang="en-US" dirty="0"/>
              <a:t> d'un </a:t>
            </a:r>
            <a:r>
              <a:rPr lang="en-US" dirty="0" err="1"/>
              <a:t>programme</a:t>
            </a:r>
            <a:r>
              <a:rPr lang="en-US" dirty="0"/>
              <a:t>`</a:t>
            </a:r>
          </a:p>
          <a:p>
            <a:pPr algn="just"/>
            <a:endParaRPr lang="en-US" dirty="0"/>
          </a:p>
          <a:p>
            <a:pPr algn="just"/>
            <a:r>
              <a:rPr lang="en-US" b="1" dirty="0"/>
              <a:t>La </a:t>
            </a:r>
            <a:r>
              <a:rPr lang="en-US" b="1" dirty="0" err="1"/>
              <a:t>mémoire</a:t>
            </a:r>
            <a:r>
              <a:rPr lang="en-US" b="1" dirty="0"/>
              <a:t> </a:t>
            </a:r>
            <a:r>
              <a:rPr lang="en-US" b="1" dirty="0" err="1"/>
              <a:t>virtuelle</a:t>
            </a:r>
            <a:r>
              <a:rPr lang="en-US" b="1" dirty="0"/>
              <a:t>:</a:t>
            </a:r>
            <a:r>
              <a:rPr lang="en-US" dirty="0"/>
              <a:t> </a:t>
            </a:r>
            <a:r>
              <a:rPr lang="en-US" dirty="0" err="1"/>
              <a:t>est</a:t>
            </a:r>
            <a:r>
              <a:rPr lang="en-US" dirty="0"/>
              <a:t> </a:t>
            </a:r>
            <a:r>
              <a:rPr lang="en-US" dirty="0" err="1"/>
              <a:t>une</a:t>
            </a:r>
            <a:r>
              <a:rPr lang="en-US" dirty="0"/>
              <a:t> </a:t>
            </a:r>
            <a:r>
              <a:rPr lang="en-US" dirty="0" err="1"/>
              <a:t>fonctionnalité</a:t>
            </a:r>
            <a:r>
              <a:rPr lang="en-US" dirty="0"/>
              <a:t> d'un </a:t>
            </a:r>
            <a:r>
              <a:rPr lang="en-US" dirty="0" err="1"/>
              <a:t>système</a:t>
            </a:r>
            <a:r>
              <a:rPr lang="en-US" dirty="0"/>
              <a:t> </a:t>
            </a:r>
            <a:r>
              <a:rPr lang="en-US" dirty="0" err="1"/>
              <a:t>d'exploitation</a:t>
            </a:r>
            <a:r>
              <a:rPr lang="en-US" dirty="0"/>
              <a:t> (OS, Operating System) qui </a:t>
            </a:r>
            <a:r>
              <a:rPr lang="en-US" dirty="0" err="1"/>
              <a:t>permet</a:t>
            </a:r>
            <a:r>
              <a:rPr lang="en-US" dirty="0"/>
              <a:t> </a:t>
            </a:r>
            <a:r>
              <a:rPr lang="en-US" dirty="0" err="1"/>
              <a:t>à</a:t>
            </a:r>
            <a:r>
              <a:rPr lang="en-US" dirty="0"/>
              <a:t> un </a:t>
            </a:r>
            <a:r>
              <a:rPr lang="en-US" dirty="0" err="1"/>
              <a:t>ordinateur</a:t>
            </a:r>
            <a:r>
              <a:rPr lang="en-US" dirty="0"/>
              <a:t> de </a:t>
            </a:r>
            <a:r>
              <a:rPr lang="en-US" dirty="0" err="1"/>
              <a:t>compenser</a:t>
            </a:r>
            <a:r>
              <a:rPr lang="en-US" dirty="0"/>
              <a:t> le </a:t>
            </a:r>
            <a:r>
              <a:rPr lang="en-US" dirty="0" err="1"/>
              <a:t>manque</a:t>
            </a:r>
            <a:r>
              <a:rPr lang="en-US" dirty="0"/>
              <a:t> de </a:t>
            </a:r>
            <a:r>
              <a:rPr lang="en-US" b="1" dirty="0" err="1"/>
              <a:t>mémoire</a:t>
            </a:r>
            <a:r>
              <a:rPr lang="en-US" dirty="0"/>
              <a:t> physique en </a:t>
            </a:r>
            <a:r>
              <a:rPr lang="en-US" dirty="0" err="1"/>
              <a:t>transférant</a:t>
            </a:r>
            <a:r>
              <a:rPr lang="en-US" dirty="0"/>
              <a:t> </a:t>
            </a:r>
            <a:r>
              <a:rPr lang="en-US" dirty="0" err="1"/>
              <a:t>temporairement</a:t>
            </a:r>
            <a:r>
              <a:rPr lang="en-US" dirty="0"/>
              <a:t> des pages de </a:t>
            </a:r>
            <a:r>
              <a:rPr lang="en-US" dirty="0" err="1"/>
              <a:t>données</a:t>
            </a:r>
            <a:r>
              <a:rPr lang="en-US" dirty="0"/>
              <a:t> de </a:t>
            </a:r>
            <a:r>
              <a:rPr lang="en-US" b="1" dirty="0"/>
              <a:t>la </a:t>
            </a:r>
            <a:r>
              <a:rPr lang="en-US" b="1" dirty="0" err="1"/>
              <a:t>mémoire</a:t>
            </a:r>
            <a:r>
              <a:rPr lang="en-US" dirty="0"/>
              <a:t> vive (RAM, Random Access Memory) </a:t>
            </a:r>
            <a:r>
              <a:rPr lang="en-US" dirty="0" err="1"/>
              <a:t>vers</a:t>
            </a:r>
            <a:r>
              <a:rPr lang="en-US" dirty="0"/>
              <a:t> un </a:t>
            </a:r>
            <a:r>
              <a:rPr lang="en-US" dirty="0" err="1"/>
              <a:t>stockage</a:t>
            </a:r>
            <a:r>
              <a:rPr lang="en-US" dirty="0"/>
              <a:t> </a:t>
            </a:r>
            <a:r>
              <a:rPr lang="en-US" dirty="0" err="1"/>
              <a:t>sur</a:t>
            </a:r>
            <a:r>
              <a:rPr lang="en-US" dirty="0"/>
              <a:t> </a:t>
            </a:r>
            <a:r>
              <a:rPr lang="en-US" dirty="0" err="1"/>
              <a:t>disque</a:t>
            </a:r>
            <a:r>
              <a:rPr lang="en-US" dirty="0"/>
              <a:t>.</a:t>
            </a:r>
          </a:p>
          <a:p>
            <a:pPr algn="just"/>
            <a:endParaRPr lang="en-US" dirty="0"/>
          </a:p>
          <a:p>
            <a:pPr algn="just"/>
            <a:endParaRPr lang="fr-FR" dirty="0"/>
          </a:p>
        </p:txBody>
      </p:sp>
      <p:sp>
        <p:nvSpPr>
          <p:cNvPr id="3" name="Title 2"/>
          <p:cNvSpPr>
            <a:spLocks noGrp="1"/>
          </p:cNvSpPr>
          <p:nvPr>
            <p:ph type="title"/>
          </p:nvPr>
        </p:nvSpPr>
        <p:spPr/>
        <p:txBody>
          <a:bodyPr/>
          <a:lstStyle/>
          <a:p>
            <a:r>
              <a:rPr lang="fr-FR" dirty="0"/>
              <a:t>Mémoire cache et Mémoire Virtuelle</a:t>
            </a:r>
          </a:p>
        </p:txBody>
      </p:sp>
    </p:spTree>
    <p:extLst>
      <p:ext uri="{BB962C8B-B14F-4D97-AF65-F5344CB8AC3E}">
        <p14:creationId xmlns:p14="http://schemas.microsoft.com/office/powerpoint/2010/main" val="23802916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fr-FR"/>
          </a:p>
        </p:txBody>
      </p:sp>
      <p:sp>
        <p:nvSpPr>
          <p:cNvPr id="2" name="Title 1"/>
          <p:cNvSpPr>
            <a:spLocks noGrp="1"/>
          </p:cNvSpPr>
          <p:nvPr>
            <p:ph type="title"/>
          </p:nvPr>
        </p:nvSpPr>
        <p:spPr/>
        <p:txBody>
          <a:bodyPr/>
          <a:lstStyle/>
          <a:p>
            <a:r>
              <a:rPr lang="fr-FR" dirty="0"/>
              <a:t>Mémoire cache </a:t>
            </a:r>
          </a:p>
        </p:txBody>
      </p:sp>
    </p:spTree>
    <p:extLst>
      <p:ext uri="{BB962C8B-B14F-4D97-AF65-F5344CB8AC3E}">
        <p14:creationId xmlns:p14="http://schemas.microsoft.com/office/powerpoint/2010/main" val="3278968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solidFill>
                  <a:srgbClr val="0000FF"/>
                </a:solidFill>
              </a:rPr>
              <a:t>En résumé</a:t>
            </a:r>
            <a:r>
              <a:rPr lang="en-US" dirty="0"/>
              <a:t>, </a:t>
            </a:r>
            <a:r>
              <a:rPr lang="en-US" dirty="0" err="1"/>
              <a:t>il</a:t>
            </a:r>
            <a:r>
              <a:rPr lang="en-US" dirty="0"/>
              <a:t> </a:t>
            </a:r>
            <a:r>
              <a:rPr lang="en-US" dirty="0" err="1"/>
              <a:t>convient</a:t>
            </a:r>
            <a:r>
              <a:rPr lang="en-US" dirty="0"/>
              <a:t> de ne pas </a:t>
            </a:r>
            <a:r>
              <a:rPr lang="en-US" dirty="0" err="1"/>
              <a:t>confondre</a:t>
            </a:r>
            <a:r>
              <a:rPr lang="en-US" dirty="0"/>
              <a:t> la </a:t>
            </a:r>
            <a:r>
              <a:rPr lang="en-US" dirty="0" err="1">
                <a:solidFill>
                  <a:srgbClr val="0000FF"/>
                </a:solidFill>
              </a:rPr>
              <a:t>taille</a:t>
            </a:r>
            <a:r>
              <a:rPr lang="en-US" dirty="0">
                <a:solidFill>
                  <a:srgbClr val="0000FF"/>
                </a:solidFill>
              </a:rPr>
              <a:t> de la </a:t>
            </a:r>
            <a:r>
              <a:rPr lang="en-US" b="1" dirty="0" err="1">
                <a:solidFill>
                  <a:srgbClr val="0000FF"/>
                </a:solidFill>
              </a:rPr>
              <a:t>mémoire</a:t>
            </a:r>
            <a:r>
              <a:rPr lang="en-US" b="1" dirty="0">
                <a:solidFill>
                  <a:srgbClr val="0000FF"/>
                </a:solidFill>
              </a:rPr>
              <a:t> </a:t>
            </a:r>
            <a:r>
              <a:rPr lang="en-US" b="1" dirty="0" err="1">
                <a:solidFill>
                  <a:srgbClr val="0000FF"/>
                </a:solidFill>
              </a:rPr>
              <a:t>centrale</a:t>
            </a:r>
            <a:r>
              <a:rPr lang="en-US" b="1" dirty="0">
                <a:solidFill>
                  <a:srgbClr val="0000FF"/>
                </a:solidFill>
              </a:rPr>
              <a:t> </a:t>
            </a:r>
            <a:r>
              <a:rPr lang="en-US" dirty="0"/>
              <a:t>qui </a:t>
            </a:r>
            <a:r>
              <a:rPr lang="en-US" dirty="0" err="1"/>
              <a:t>définit</a:t>
            </a:r>
            <a:r>
              <a:rPr lang="en-US" dirty="0"/>
              <a:t> les </a:t>
            </a:r>
            <a:r>
              <a:rPr lang="en-US" dirty="0" err="1"/>
              <a:t>possibilités</a:t>
            </a:r>
            <a:r>
              <a:rPr lang="en-US" dirty="0"/>
              <a:t> </a:t>
            </a:r>
            <a:r>
              <a:rPr lang="en-US" dirty="0" err="1"/>
              <a:t>logicielles</a:t>
            </a:r>
            <a:r>
              <a:rPr lang="en-US" dirty="0"/>
              <a:t> de la machine et </a:t>
            </a:r>
            <a:r>
              <a:rPr lang="en-US" dirty="0">
                <a:solidFill>
                  <a:srgbClr val="0000FF"/>
                </a:solidFill>
              </a:rPr>
              <a:t>la </a:t>
            </a:r>
            <a:r>
              <a:rPr lang="en-US" dirty="0" err="1">
                <a:solidFill>
                  <a:srgbClr val="0000FF"/>
                </a:solidFill>
              </a:rPr>
              <a:t>taille</a:t>
            </a:r>
            <a:r>
              <a:rPr lang="en-US" dirty="0">
                <a:solidFill>
                  <a:srgbClr val="0000FF"/>
                </a:solidFill>
              </a:rPr>
              <a:t> des </a:t>
            </a:r>
            <a:r>
              <a:rPr lang="en-US" dirty="0" err="1">
                <a:solidFill>
                  <a:srgbClr val="0000FF"/>
                </a:solidFill>
              </a:rPr>
              <a:t>disques</a:t>
            </a:r>
            <a:r>
              <a:rPr lang="en-US" dirty="0">
                <a:solidFill>
                  <a:srgbClr val="0000FF"/>
                </a:solidFill>
              </a:rPr>
              <a:t> </a:t>
            </a:r>
            <a:r>
              <a:rPr lang="en-US" dirty="0"/>
              <a:t>qui </a:t>
            </a:r>
            <a:r>
              <a:rPr lang="en-US" dirty="0" err="1"/>
              <a:t>indique</a:t>
            </a:r>
            <a:r>
              <a:rPr lang="en-US" dirty="0"/>
              <a:t> </a:t>
            </a:r>
            <a:r>
              <a:rPr lang="en-US" dirty="0" err="1"/>
              <a:t>sa</a:t>
            </a:r>
            <a:r>
              <a:rPr lang="en-US" dirty="0"/>
              <a:t> </a:t>
            </a:r>
            <a:r>
              <a:rPr lang="en-US" dirty="0" err="1"/>
              <a:t>capacité</a:t>
            </a:r>
            <a:r>
              <a:rPr lang="en-US" dirty="0"/>
              <a:t> </a:t>
            </a:r>
            <a:r>
              <a:rPr lang="en-US" dirty="0" err="1"/>
              <a:t>à</a:t>
            </a:r>
            <a:r>
              <a:rPr lang="en-US" dirty="0"/>
              <a:t> stocker des </a:t>
            </a:r>
            <a:r>
              <a:rPr lang="en-US" dirty="0" err="1"/>
              <a:t>informations</a:t>
            </a:r>
            <a:r>
              <a:rPr lang="en-US" dirty="0"/>
              <a:t> </a:t>
            </a:r>
            <a:r>
              <a:rPr lang="en-US" dirty="0" err="1"/>
              <a:t>permanentes</a:t>
            </a:r>
            <a:r>
              <a:rPr lang="en-US" dirty="0"/>
              <a:t>.</a:t>
            </a:r>
          </a:p>
          <a:p>
            <a:pPr algn="just"/>
            <a:r>
              <a:rPr lang="en-US" dirty="0" err="1">
                <a:solidFill>
                  <a:srgbClr val="0000FF"/>
                </a:solidFill>
              </a:rPr>
              <a:t>Organisation</a:t>
            </a:r>
            <a:r>
              <a:rPr lang="en-US" dirty="0">
                <a:solidFill>
                  <a:srgbClr val="0000FF"/>
                </a:solidFill>
              </a:rPr>
              <a:t> de la </a:t>
            </a:r>
            <a:r>
              <a:rPr lang="en-US" dirty="0" err="1">
                <a:solidFill>
                  <a:srgbClr val="0000FF"/>
                </a:solidFill>
              </a:rPr>
              <a:t>mémoire</a:t>
            </a:r>
            <a:r>
              <a:rPr lang="en-US" dirty="0">
                <a:solidFill>
                  <a:srgbClr val="0000FF"/>
                </a:solidFill>
              </a:rPr>
              <a:t>: </a:t>
            </a:r>
            <a:r>
              <a:rPr lang="en-US" dirty="0" err="1"/>
              <a:t>Processeur</a:t>
            </a:r>
            <a:r>
              <a:rPr lang="en-US" dirty="0"/>
              <a:t> a </a:t>
            </a:r>
            <a:r>
              <a:rPr lang="en-US" dirty="0" err="1"/>
              <a:t>besoin</a:t>
            </a:r>
            <a:r>
              <a:rPr lang="en-US" dirty="0"/>
              <a:t> d'un </a:t>
            </a:r>
            <a:r>
              <a:rPr lang="en-US" dirty="0" err="1"/>
              <a:t>débit</a:t>
            </a:r>
            <a:r>
              <a:rPr lang="en-US" dirty="0"/>
              <a:t> </a:t>
            </a:r>
            <a:r>
              <a:rPr lang="en-US" dirty="0" err="1"/>
              <a:t>soutenu</a:t>
            </a:r>
            <a:r>
              <a:rPr lang="en-US" dirty="0"/>
              <a:t> en lecture </a:t>
            </a:r>
            <a:r>
              <a:rPr lang="en-US" dirty="0" err="1"/>
              <a:t>d'instructions</a:t>
            </a:r>
            <a:r>
              <a:rPr lang="en-US" dirty="0"/>
              <a:t> et de </a:t>
            </a:r>
            <a:r>
              <a:rPr lang="en-US" dirty="0" err="1"/>
              <a:t>données</a:t>
            </a:r>
            <a:r>
              <a:rPr lang="en-US" dirty="0"/>
              <a:t>.</a:t>
            </a:r>
            <a:r>
              <a:rPr lang="en-US" dirty="0">
                <a:solidFill>
                  <a:srgbClr val="0000FF"/>
                </a:solidFill>
              </a:rPr>
              <a:t> </a:t>
            </a:r>
          </a:p>
          <a:p>
            <a:pPr algn="just"/>
            <a:endParaRPr lang="fr-FR" dirty="0">
              <a:solidFill>
                <a:srgbClr val="0000FF"/>
              </a:solidFill>
            </a:endParaRPr>
          </a:p>
        </p:txBody>
      </p:sp>
      <p:sp>
        <p:nvSpPr>
          <p:cNvPr id="3" name="Title 2"/>
          <p:cNvSpPr>
            <a:spLocks noGrp="1"/>
          </p:cNvSpPr>
          <p:nvPr>
            <p:ph type="title"/>
          </p:nvPr>
        </p:nvSpPr>
        <p:spPr/>
        <p:txBody>
          <a:bodyPr/>
          <a:lstStyle/>
          <a:p>
            <a:r>
              <a:rPr lang="fr-FR" dirty="0"/>
              <a:t>Mémoire </a:t>
            </a:r>
          </a:p>
        </p:txBody>
      </p:sp>
      <p:pic>
        <p:nvPicPr>
          <p:cNvPr id="4" name="Picture 3" descr="Capture d’écran 2020-02-17 à 14.28.26.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743853"/>
            <a:ext cx="8099798" cy="2904644"/>
          </a:xfrm>
          <a:prstGeom prst="rect">
            <a:avLst/>
          </a:prstGeom>
        </p:spPr>
      </p:pic>
    </p:spTree>
    <p:extLst>
      <p:ext uri="{BB962C8B-B14F-4D97-AF65-F5344CB8AC3E}">
        <p14:creationId xmlns:p14="http://schemas.microsoft.com/office/powerpoint/2010/main" val="10630176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err="1"/>
              <a:t>Une</a:t>
            </a:r>
            <a:r>
              <a:rPr lang="en-US" dirty="0"/>
              <a:t> </a:t>
            </a:r>
            <a:r>
              <a:rPr lang="en-US" b="1" dirty="0" err="1"/>
              <a:t>mémoire</a:t>
            </a:r>
            <a:r>
              <a:rPr lang="en-US" b="1" dirty="0"/>
              <a:t> cache</a:t>
            </a:r>
            <a:r>
              <a:rPr lang="en-US" dirty="0"/>
              <a:t> </a:t>
            </a:r>
            <a:r>
              <a:rPr lang="en-US" dirty="0" err="1"/>
              <a:t>ou</a:t>
            </a:r>
            <a:r>
              <a:rPr lang="en-US" dirty="0"/>
              <a:t> </a:t>
            </a:r>
            <a:r>
              <a:rPr lang="en-US" b="1" dirty="0" err="1"/>
              <a:t>antémémoire</a:t>
            </a:r>
            <a:r>
              <a:rPr lang="en-US" dirty="0"/>
              <a:t> </a:t>
            </a:r>
            <a:r>
              <a:rPr lang="en-US" dirty="0" err="1"/>
              <a:t>est</a:t>
            </a:r>
            <a:r>
              <a:rPr lang="en-US" dirty="0"/>
              <a:t>, en informatique, </a:t>
            </a:r>
            <a:r>
              <a:rPr lang="en-US" dirty="0" err="1"/>
              <a:t>une</a:t>
            </a:r>
            <a:r>
              <a:rPr lang="en-US" dirty="0"/>
              <a:t> </a:t>
            </a:r>
            <a:r>
              <a:rPr lang="en-US" dirty="0" err="1"/>
              <a:t>mémoire</a:t>
            </a:r>
            <a:r>
              <a:rPr lang="en-US" dirty="0"/>
              <a:t> qui </a:t>
            </a:r>
            <a:r>
              <a:rPr lang="en-US" dirty="0" err="1"/>
              <a:t>enregistre</a:t>
            </a:r>
            <a:r>
              <a:rPr lang="en-US" dirty="0"/>
              <a:t> </a:t>
            </a:r>
            <a:r>
              <a:rPr lang="en-US" dirty="0" err="1"/>
              <a:t>temporairement</a:t>
            </a:r>
            <a:r>
              <a:rPr lang="en-US" dirty="0"/>
              <a:t> des copies de </a:t>
            </a:r>
            <a:r>
              <a:rPr lang="en-US" dirty="0" err="1"/>
              <a:t>données</a:t>
            </a:r>
            <a:r>
              <a:rPr lang="en-US" dirty="0"/>
              <a:t> </a:t>
            </a:r>
            <a:r>
              <a:rPr lang="en-US" dirty="0" err="1"/>
              <a:t>provenant</a:t>
            </a:r>
            <a:r>
              <a:rPr lang="en-US" dirty="0"/>
              <a:t> </a:t>
            </a:r>
            <a:r>
              <a:rPr lang="en-US" dirty="0" err="1"/>
              <a:t>d'une</a:t>
            </a:r>
            <a:r>
              <a:rPr lang="en-US" dirty="0"/>
              <a:t> source, </a:t>
            </a:r>
            <a:r>
              <a:rPr lang="en-US" dirty="0" err="1"/>
              <a:t>afin</a:t>
            </a:r>
            <a:r>
              <a:rPr lang="en-US" dirty="0"/>
              <a:t> de </a:t>
            </a:r>
            <a:r>
              <a:rPr lang="en-US" dirty="0" err="1"/>
              <a:t>diminuer</a:t>
            </a:r>
            <a:r>
              <a:rPr lang="en-US" dirty="0"/>
              <a:t> le temps d'un </a:t>
            </a:r>
            <a:r>
              <a:rPr lang="en-US" dirty="0" err="1"/>
              <a:t>accès</a:t>
            </a:r>
            <a:r>
              <a:rPr lang="en-US" dirty="0"/>
              <a:t> </a:t>
            </a:r>
            <a:r>
              <a:rPr lang="en-US" dirty="0" err="1"/>
              <a:t>ultérieur</a:t>
            </a:r>
            <a:r>
              <a:rPr lang="en-US" dirty="0"/>
              <a:t> (en lecture) d'un </a:t>
            </a:r>
            <a:r>
              <a:rPr lang="en-US" dirty="0" err="1"/>
              <a:t>matériel</a:t>
            </a:r>
            <a:r>
              <a:rPr lang="en-US" dirty="0"/>
              <a:t> </a:t>
            </a:r>
            <a:r>
              <a:rPr lang="en-US" dirty="0" err="1"/>
              <a:t>informatique</a:t>
            </a:r>
            <a:r>
              <a:rPr lang="en-US" dirty="0"/>
              <a:t> (en </a:t>
            </a:r>
            <a:r>
              <a:rPr lang="en-US" dirty="0" err="1"/>
              <a:t>général</a:t>
            </a:r>
            <a:r>
              <a:rPr lang="en-US" dirty="0"/>
              <a:t>, un </a:t>
            </a:r>
            <a:r>
              <a:rPr lang="en-US" dirty="0" err="1"/>
              <a:t>processeur</a:t>
            </a:r>
            <a:r>
              <a:rPr lang="en-US" dirty="0"/>
              <a:t>) </a:t>
            </a:r>
            <a:r>
              <a:rPr lang="en-US" dirty="0" err="1"/>
              <a:t>à</a:t>
            </a:r>
            <a:r>
              <a:rPr lang="en-US" dirty="0"/>
              <a:t> </a:t>
            </a:r>
            <a:r>
              <a:rPr lang="en-US" dirty="0" err="1"/>
              <a:t>ces</a:t>
            </a:r>
            <a:r>
              <a:rPr lang="en-US" dirty="0"/>
              <a:t> </a:t>
            </a:r>
            <a:r>
              <a:rPr lang="en-US" dirty="0" err="1"/>
              <a:t>données</a:t>
            </a:r>
            <a:r>
              <a:rPr lang="en-US" dirty="0"/>
              <a:t>.</a:t>
            </a:r>
          </a:p>
          <a:p>
            <a:pPr algn="just"/>
            <a:endParaRPr lang="en-US" dirty="0"/>
          </a:p>
          <a:p>
            <a:pPr marL="45720" indent="0" algn="just">
              <a:buNone/>
            </a:pPr>
            <a:r>
              <a:rPr lang="en-US" dirty="0" err="1">
                <a:solidFill>
                  <a:srgbClr val="0000FF"/>
                </a:solidFill>
              </a:rPr>
              <a:t>Problèmes</a:t>
            </a:r>
            <a:endParaRPr lang="en-US" dirty="0">
              <a:solidFill>
                <a:srgbClr val="0000FF"/>
              </a:solidFill>
            </a:endParaRPr>
          </a:p>
          <a:p>
            <a:pPr algn="just"/>
            <a:r>
              <a:rPr lang="en-US" dirty="0" err="1"/>
              <a:t>Mémoire</a:t>
            </a:r>
            <a:r>
              <a:rPr lang="en-US" dirty="0"/>
              <a:t> cache </a:t>
            </a:r>
            <a:r>
              <a:rPr lang="en-US" dirty="0" err="1"/>
              <a:t>doit</a:t>
            </a:r>
            <a:r>
              <a:rPr lang="en-US" dirty="0"/>
              <a:t> </a:t>
            </a:r>
            <a:r>
              <a:rPr lang="en-US" dirty="0" err="1"/>
              <a:t>être</a:t>
            </a:r>
            <a:r>
              <a:rPr lang="en-US" dirty="0"/>
              <a:t> petite (</a:t>
            </a:r>
            <a:r>
              <a:rPr lang="en-US" dirty="0" err="1"/>
              <a:t>quelques</a:t>
            </a:r>
            <a:r>
              <a:rPr lang="en-US" dirty="0"/>
              <a:t> </a:t>
            </a:r>
            <a:r>
              <a:rPr lang="en-US" dirty="0" err="1"/>
              <a:t>centaines</a:t>
            </a:r>
            <a:r>
              <a:rPr lang="en-US" dirty="0"/>
              <a:t> de </a:t>
            </a:r>
            <a:r>
              <a:rPr lang="en-US" dirty="0" err="1"/>
              <a:t>Ko</a:t>
            </a:r>
            <a:r>
              <a:rPr lang="en-US" dirty="0"/>
              <a:t> </a:t>
            </a:r>
            <a:r>
              <a:rPr lang="en-US" dirty="0" err="1"/>
              <a:t>à</a:t>
            </a:r>
            <a:r>
              <a:rPr lang="en-US" dirty="0"/>
              <a:t> </a:t>
            </a:r>
            <a:r>
              <a:rPr lang="en-US" dirty="0" err="1"/>
              <a:t>quelques</a:t>
            </a:r>
            <a:r>
              <a:rPr lang="en-US" dirty="0"/>
              <a:t> </a:t>
            </a:r>
            <a:r>
              <a:rPr lang="en-US" dirty="0" err="1"/>
              <a:t>dizaines</a:t>
            </a:r>
            <a:r>
              <a:rPr lang="en-US" dirty="0"/>
              <a:t> de Mo) pour </a:t>
            </a:r>
            <a:r>
              <a:rPr lang="en-US" dirty="0" err="1"/>
              <a:t>être</a:t>
            </a:r>
            <a:r>
              <a:rPr lang="en-US" dirty="0"/>
              <a:t> </a:t>
            </a:r>
            <a:r>
              <a:rPr lang="en-US" dirty="0" err="1"/>
              <a:t>efficace</a:t>
            </a:r>
            <a:r>
              <a:rPr lang="en-US" dirty="0"/>
              <a:t> en </a:t>
            </a:r>
            <a:r>
              <a:rPr lang="en-US" dirty="0" err="1"/>
              <a:t>terme</a:t>
            </a:r>
            <a:r>
              <a:rPr lang="en-US" dirty="0"/>
              <a:t> de </a:t>
            </a:r>
            <a:r>
              <a:rPr lang="en-US" dirty="0" err="1"/>
              <a:t>débit</a:t>
            </a:r>
            <a:endParaRPr lang="en-US" dirty="0"/>
          </a:p>
          <a:p>
            <a:pPr algn="just"/>
            <a:r>
              <a:rPr lang="en-US" dirty="0"/>
              <a:t>Ne </a:t>
            </a:r>
            <a:r>
              <a:rPr lang="en-US" dirty="0" err="1"/>
              <a:t>peut</a:t>
            </a:r>
            <a:r>
              <a:rPr lang="en-US" dirty="0"/>
              <a:t> </a:t>
            </a:r>
            <a:r>
              <a:rPr lang="en-US" dirty="0" err="1"/>
              <a:t>donc</a:t>
            </a:r>
            <a:r>
              <a:rPr lang="en-US" dirty="0"/>
              <a:t> pas y stocker </a:t>
            </a:r>
            <a:r>
              <a:rPr lang="en-US" dirty="0" err="1"/>
              <a:t>tous</a:t>
            </a:r>
            <a:r>
              <a:rPr lang="en-US" dirty="0"/>
              <a:t> les </a:t>
            </a:r>
            <a:r>
              <a:rPr lang="en-US" dirty="0" err="1"/>
              <a:t>programmes</a:t>
            </a:r>
            <a:r>
              <a:rPr lang="en-US" dirty="0"/>
              <a:t> en </a:t>
            </a:r>
            <a:r>
              <a:rPr lang="en-US" dirty="0" err="1"/>
              <a:t>cours</a:t>
            </a:r>
            <a:r>
              <a:rPr lang="en-US" dirty="0"/>
              <a:t> </a:t>
            </a:r>
            <a:r>
              <a:rPr lang="en-US" dirty="0" err="1"/>
              <a:t>d'exécution</a:t>
            </a:r>
            <a:r>
              <a:rPr lang="en-US" dirty="0"/>
              <a:t> et </a:t>
            </a:r>
            <a:r>
              <a:rPr lang="en-US" dirty="0" err="1"/>
              <a:t>leurs</a:t>
            </a:r>
            <a:r>
              <a:rPr lang="en-US" dirty="0"/>
              <a:t> </a:t>
            </a:r>
            <a:r>
              <a:rPr lang="en-US" dirty="0" err="1"/>
              <a:t>données</a:t>
            </a:r>
            <a:endParaRPr lang="en-US" dirty="0"/>
          </a:p>
          <a:p>
            <a:pPr algn="just"/>
            <a:endParaRPr lang="en-US" dirty="0"/>
          </a:p>
        </p:txBody>
      </p:sp>
      <p:sp>
        <p:nvSpPr>
          <p:cNvPr id="3" name="Title 2"/>
          <p:cNvSpPr>
            <a:spLocks noGrp="1"/>
          </p:cNvSpPr>
          <p:nvPr>
            <p:ph type="title"/>
          </p:nvPr>
        </p:nvSpPr>
        <p:spPr/>
        <p:txBody>
          <a:bodyPr/>
          <a:lstStyle/>
          <a:p>
            <a:r>
              <a:rPr lang="fr-FR" dirty="0"/>
              <a:t>Mémoire Cache </a:t>
            </a:r>
          </a:p>
        </p:txBody>
      </p:sp>
    </p:spTree>
    <p:extLst>
      <p:ext uri="{BB962C8B-B14F-4D97-AF65-F5344CB8AC3E}">
        <p14:creationId xmlns:p14="http://schemas.microsoft.com/office/powerpoint/2010/main" val="29331286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lgn="just"/>
            <a:r>
              <a:rPr lang="en-US" dirty="0" err="1"/>
              <a:t>Algorithmes</a:t>
            </a:r>
            <a:r>
              <a:rPr lang="en-US" dirty="0"/>
              <a:t> pour « </a:t>
            </a:r>
            <a:r>
              <a:rPr lang="en-US" dirty="0" err="1"/>
              <a:t>deviner</a:t>
            </a:r>
            <a:r>
              <a:rPr lang="en-US" dirty="0"/>
              <a:t> » et </a:t>
            </a:r>
            <a:r>
              <a:rPr lang="en-US" dirty="0" err="1"/>
              <a:t>mettre</a:t>
            </a:r>
            <a:r>
              <a:rPr lang="en-US" dirty="0"/>
              <a:t> </a:t>
            </a:r>
            <a:r>
              <a:rPr lang="en-US" dirty="0" err="1"/>
              <a:t>dans</a:t>
            </a:r>
            <a:r>
              <a:rPr lang="en-US" dirty="0"/>
              <a:t> le cache les </a:t>
            </a:r>
            <a:r>
              <a:rPr lang="en-US" dirty="0" err="1"/>
              <a:t>données</a:t>
            </a:r>
            <a:r>
              <a:rPr lang="en-US" dirty="0"/>
              <a:t>/instructions </a:t>
            </a:r>
            <a:r>
              <a:rPr lang="en-US" dirty="0" err="1"/>
              <a:t>avant</a:t>
            </a:r>
            <a:r>
              <a:rPr lang="en-US" dirty="0"/>
              <a:t> </a:t>
            </a:r>
            <a:r>
              <a:rPr lang="en-US" dirty="0" err="1"/>
              <a:t>que</a:t>
            </a:r>
            <a:r>
              <a:rPr lang="en-US" dirty="0"/>
              <a:t> le CPU en </a:t>
            </a:r>
            <a:r>
              <a:rPr lang="en-US" dirty="0" err="1"/>
              <a:t>ait</a:t>
            </a:r>
            <a:r>
              <a:rPr lang="en-US" dirty="0"/>
              <a:t> </a:t>
            </a:r>
            <a:r>
              <a:rPr lang="en-US" dirty="0" err="1"/>
              <a:t>besoin</a:t>
            </a:r>
            <a:endParaRPr lang="en-US" dirty="0"/>
          </a:p>
          <a:p>
            <a:pPr algn="just"/>
            <a:r>
              <a:rPr lang="en-US" dirty="0" err="1"/>
              <a:t>Recherche</a:t>
            </a:r>
            <a:r>
              <a:rPr lang="en-US" dirty="0"/>
              <a:t> bon </a:t>
            </a:r>
            <a:r>
              <a:rPr lang="en-US" dirty="0" err="1"/>
              <a:t>compromis</a:t>
            </a:r>
            <a:r>
              <a:rPr lang="en-US" dirty="0"/>
              <a:t> entre </a:t>
            </a:r>
            <a:r>
              <a:rPr lang="en-US" dirty="0" err="1"/>
              <a:t>tailles</a:t>
            </a:r>
            <a:r>
              <a:rPr lang="en-US" dirty="0"/>
              <a:t>, types de cache (</a:t>
            </a:r>
            <a:r>
              <a:rPr lang="en-US" dirty="0" err="1"/>
              <a:t>données</a:t>
            </a:r>
            <a:r>
              <a:rPr lang="en-US" dirty="0"/>
              <a:t>/instructions), </a:t>
            </a:r>
            <a:r>
              <a:rPr lang="en-US" dirty="0" err="1"/>
              <a:t>niveaux</a:t>
            </a:r>
            <a:r>
              <a:rPr lang="en-US" dirty="0"/>
              <a:t> de cache, techniques </a:t>
            </a:r>
            <a:r>
              <a:rPr lang="en-US" dirty="0" err="1"/>
              <a:t>d'accès</a:t>
            </a:r>
            <a:r>
              <a:rPr lang="en-US" dirty="0"/>
              <a:t> au cache ... pour </a:t>
            </a:r>
            <a:r>
              <a:rPr lang="en-US" dirty="0" err="1"/>
              <a:t>meilleures</a:t>
            </a:r>
            <a:r>
              <a:rPr lang="en-US" dirty="0"/>
              <a:t> performances</a:t>
            </a:r>
          </a:p>
          <a:p>
            <a:pPr marL="45720" indent="0" algn="just">
              <a:buNone/>
            </a:pPr>
            <a:endParaRPr lang="en-US" dirty="0">
              <a:solidFill>
                <a:srgbClr val="0000FF"/>
              </a:solidFill>
            </a:endParaRPr>
          </a:p>
          <a:p>
            <a:pPr marL="45720" indent="0" algn="just">
              <a:buNone/>
            </a:pPr>
            <a:r>
              <a:rPr lang="en-US" b="1" dirty="0">
                <a:solidFill>
                  <a:srgbClr val="0000FF"/>
                </a:solidFill>
              </a:rPr>
              <a:t>Principe de </a:t>
            </a:r>
            <a:r>
              <a:rPr lang="en-US" b="1" dirty="0" err="1">
                <a:solidFill>
                  <a:srgbClr val="0000FF"/>
                </a:solidFill>
              </a:rPr>
              <a:t>localité</a:t>
            </a:r>
            <a:r>
              <a:rPr lang="en-US" b="1" dirty="0">
                <a:solidFill>
                  <a:srgbClr val="0000FF"/>
                </a:solidFill>
              </a:rPr>
              <a:t>: </a:t>
            </a:r>
            <a:r>
              <a:rPr lang="en-US" b="1" u="sng" dirty="0">
                <a:solidFill>
                  <a:srgbClr val="0000FF"/>
                </a:solidFill>
              </a:rPr>
              <a:t>pour le bon </a:t>
            </a:r>
            <a:r>
              <a:rPr lang="en-US" b="1" u="sng" dirty="0" err="1">
                <a:solidFill>
                  <a:srgbClr val="0000FF"/>
                </a:solidFill>
              </a:rPr>
              <a:t>fonctionnement</a:t>
            </a:r>
            <a:r>
              <a:rPr lang="en-US" b="1" u="sng" dirty="0">
                <a:solidFill>
                  <a:srgbClr val="0000FF"/>
                </a:solidFill>
              </a:rPr>
              <a:t> du cache</a:t>
            </a:r>
            <a:r>
              <a:rPr lang="en-US" b="1" dirty="0">
                <a:solidFill>
                  <a:srgbClr val="0000FF"/>
                </a:solidFill>
              </a:rPr>
              <a:t> :</a:t>
            </a:r>
          </a:p>
          <a:p>
            <a:pPr algn="just"/>
            <a:endParaRPr lang="en-US" b="1" dirty="0">
              <a:solidFill>
                <a:srgbClr val="0000FF"/>
              </a:solidFill>
            </a:endParaRPr>
          </a:p>
          <a:p>
            <a:pPr algn="just"/>
            <a:r>
              <a:rPr lang="en-US" dirty="0" err="1">
                <a:solidFill>
                  <a:srgbClr val="0000FF"/>
                </a:solidFill>
              </a:rPr>
              <a:t>Localité</a:t>
            </a:r>
            <a:r>
              <a:rPr lang="en-US" dirty="0">
                <a:solidFill>
                  <a:srgbClr val="0000FF"/>
                </a:solidFill>
              </a:rPr>
              <a:t> </a:t>
            </a:r>
            <a:r>
              <a:rPr lang="en-US" dirty="0" err="1">
                <a:solidFill>
                  <a:srgbClr val="0000FF"/>
                </a:solidFill>
              </a:rPr>
              <a:t>spatiale</a:t>
            </a:r>
            <a:r>
              <a:rPr lang="en-US" dirty="0">
                <a:solidFill>
                  <a:srgbClr val="0000FF"/>
                </a:solidFill>
              </a:rPr>
              <a:t>: </a:t>
            </a:r>
            <a:r>
              <a:rPr lang="en-US" dirty="0"/>
              <a:t>le code d’un </a:t>
            </a:r>
            <a:r>
              <a:rPr lang="en-US" dirty="0" err="1"/>
              <a:t>programme</a:t>
            </a:r>
            <a:r>
              <a:rPr lang="en-US" dirty="0"/>
              <a:t> </a:t>
            </a:r>
            <a:r>
              <a:rPr lang="en-US" dirty="0" err="1"/>
              <a:t>s’exécute</a:t>
            </a:r>
            <a:r>
              <a:rPr lang="en-US" dirty="0"/>
              <a:t> </a:t>
            </a:r>
            <a:r>
              <a:rPr lang="en-US" dirty="0" err="1"/>
              <a:t>toujours</a:t>
            </a:r>
            <a:r>
              <a:rPr lang="en-US" dirty="0"/>
              <a:t> </a:t>
            </a:r>
            <a:r>
              <a:rPr lang="en-US" dirty="0" err="1"/>
              <a:t>à</a:t>
            </a:r>
            <a:r>
              <a:rPr lang="en-US" dirty="0"/>
              <a:t> </a:t>
            </a:r>
            <a:r>
              <a:rPr lang="en-US" dirty="0" err="1"/>
              <a:t>l’intérieur</a:t>
            </a:r>
            <a:r>
              <a:rPr lang="en-US" dirty="0"/>
              <a:t> de petites zones </a:t>
            </a:r>
            <a:r>
              <a:rPr lang="en-US" dirty="0" err="1"/>
              <a:t>répétées</a:t>
            </a:r>
            <a:r>
              <a:rPr lang="en-US" dirty="0"/>
              <a:t> de </a:t>
            </a:r>
            <a:r>
              <a:rPr lang="en-US" dirty="0" err="1"/>
              <a:t>mémoire</a:t>
            </a:r>
            <a:r>
              <a:rPr lang="en-US" dirty="0"/>
              <a:t> (des blocs </a:t>
            </a:r>
            <a:r>
              <a:rPr lang="en-US" dirty="0" err="1"/>
              <a:t>correspondant</a:t>
            </a:r>
            <a:r>
              <a:rPr lang="en-US" dirty="0"/>
              <a:t> </a:t>
            </a:r>
            <a:r>
              <a:rPr lang="en-US" dirty="0" err="1"/>
              <a:t>à</a:t>
            </a:r>
            <a:r>
              <a:rPr lang="en-US" dirty="0"/>
              <a:t> des </a:t>
            </a:r>
            <a:r>
              <a:rPr lang="en-US" dirty="0" err="1"/>
              <a:t>boucles</a:t>
            </a:r>
            <a:r>
              <a:rPr lang="en-US" dirty="0"/>
              <a:t> </a:t>
            </a:r>
            <a:r>
              <a:rPr lang="en-US" dirty="0" err="1"/>
              <a:t>ou</a:t>
            </a:r>
            <a:r>
              <a:rPr lang="en-US" dirty="0"/>
              <a:t>/et des sous-</a:t>
            </a:r>
            <a:r>
              <a:rPr lang="en-US" dirty="0" err="1"/>
              <a:t>programmes</a:t>
            </a:r>
            <a:r>
              <a:rPr lang="en-US" dirty="0"/>
              <a:t>)</a:t>
            </a:r>
          </a:p>
          <a:p>
            <a:pPr algn="just"/>
            <a:r>
              <a:rPr lang="en-US" dirty="0" err="1">
                <a:solidFill>
                  <a:srgbClr val="0000FF"/>
                </a:solidFill>
              </a:rPr>
              <a:t>Localité</a:t>
            </a:r>
            <a:r>
              <a:rPr lang="en-US" dirty="0">
                <a:solidFill>
                  <a:srgbClr val="0000FF"/>
                </a:solidFill>
              </a:rPr>
              <a:t> </a:t>
            </a:r>
            <a:r>
              <a:rPr lang="en-US" dirty="0" err="1">
                <a:solidFill>
                  <a:srgbClr val="0000FF"/>
                </a:solidFill>
              </a:rPr>
              <a:t>temporelle</a:t>
            </a:r>
            <a:r>
              <a:rPr lang="en-US" dirty="0">
                <a:solidFill>
                  <a:srgbClr val="0000FF"/>
                </a:solidFill>
              </a:rPr>
              <a:t>: </a:t>
            </a:r>
            <a:r>
              <a:rPr lang="en-US" dirty="0"/>
              <a:t>les blocs </a:t>
            </a:r>
            <a:r>
              <a:rPr lang="en-US" dirty="0" err="1"/>
              <a:t>s’exécutent</a:t>
            </a:r>
            <a:r>
              <a:rPr lang="en-US" dirty="0"/>
              <a:t> en </a:t>
            </a:r>
            <a:r>
              <a:rPr lang="en-US" dirty="0" err="1"/>
              <a:t>séquences</a:t>
            </a:r>
            <a:r>
              <a:rPr lang="en-US" dirty="0"/>
              <a:t> </a:t>
            </a:r>
            <a:r>
              <a:rPr lang="en-US" dirty="0" err="1"/>
              <a:t>très</a:t>
            </a:r>
            <a:r>
              <a:rPr lang="en-US" dirty="0"/>
              <a:t> </a:t>
            </a:r>
            <a:r>
              <a:rPr lang="en-US" dirty="0" err="1"/>
              <a:t>proches</a:t>
            </a:r>
            <a:r>
              <a:rPr lang="en-US" dirty="0"/>
              <a:t> (</a:t>
            </a:r>
            <a:r>
              <a:rPr lang="en-US" dirty="0" err="1"/>
              <a:t>il</a:t>
            </a:r>
            <a:r>
              <a:rPr lang="en-US" dirty="0"/>
              <a:t> y a plus de chances </a:t>
            </a:r>
            <a:r>
              <a:rPr lang="en-US" dirty="0" err="1"/>
              <a:t>d’accéder</a:t>
            </a:r>
            <a:r>
              <a:rPr lang="en-US" dirty="0"/>
              <a:t> </a:t>
            </a:r>
            <a:r>
              <a:rPr lang="en-US" dirty="0" err="1"/>
              <a:t>à</a:t>
            </a:r>
            <a:r>
              <a:rPr lang="en-US" dirty="0"/>
              <a:t> </a:t>
            </a:r>
            <a:r>
              <a:rPr lang="en-US" dirty="0" err="1"/>
              <a:t>une</a:t>
            </a:r>
            <a:r>
              <a:rPr lang="en-US" dirty="0"/>
              <a:t> position de </a:t>
            </a:r>
            <a:r>
              <a:rPr lang="en-US" dirty="0" err="1"/>
              <a:t>mémoire</a:t>
            </a:r>
            <a:r>
              <a:rPr lang="en-US" dirty="0"/>
              <a:t> </a:t>
            </a:r>
            <a:r>
              <a:rPr lang="en-US" dirty="0" err="1"/>
              <a:t>utilisée</a:t>
            </a:r>
            <a:r>
              <a:rPr lang="en-US" dirty="0"/>
              <a:t> </a:t>
            </a:r>
            <a:r>
              <a:rPr lang="en-US" dirty="0" err="1"/>
              <a:t>il</a:t>
            </a:r>
            <a:r>
              <a:rPr lang="en-US" dirty="0"/>
              <a:t> y a 10 cycles </a:t>
            </a:r>
            <a:r>
              <a:rPr lang="en-US" dirty="0" err="1"/>
              <a:t>qu’à</a:t>
            </a:r>
            <a:r>
              <a:rPr lang="en-US" dirty="0"/>
              <a:t> </a:t>
            </a:r>
            <a:r>
              <a:rPr lang="en-US" dirty="0" err="1"/>
              <a:t>une</a:t>
            </a:r>
            <a:r>
              <a:rPr lang="en-US" dirty="0"/>
              <a:t> </a:t>
            </a:r>
            <a:r>
              <a:rPr lang="en-US" dirty="0" err="1"/>
              <a:t>autre</a:t>
            </a:r>
            <a:r>
              <a:rPr lang="en-US" dirty="0"/>
              <a:t> </a:t>
            </a:r>
            <a:r>
              <a:rPr lang="en-US" dirty="0" err="1"/>
              <a:t>utilisée</a:t>
            </a:r>
            <a:r>
              <a:rPr lang="en-US" dirty="0"/>
              <a:t> </a:t>
            </a:r>
            <a:r>
              <a:rPr lang="en-US" dirty="0" err="1"/>
              <a:t>il</a:t>
            </a:r>
            <a:r>
              <a:rPr lang="en-US" dirty="0"/>
              <a:t> y a 10000 cycles)</a:t>
            </a:r>
          </a:p>
          <a:p>
            <a:pPr algn="just"/>
            <a:endParaRPr lang="en-US" dirty="0"/>
          </a:p>
          <a:p>
            <a:pPr algn="just"/>
            <a:r>
              <a:rPr lang="en-US" dirty="0">
                <a:solidFill>
                  <a:srgbClr val="0000FF"/>
                </a:solidFill>
              </a:rPr>
              <a:t>for (</a:t>
            </a:r>
            <a:r>
              <a:rPr lang="en-US" dirty="0" err="1">
                <a:solidFill>
                  <a:srgbClr val="0000FF"/>
                </a:solidFill>
              </a:rPr>
              <a:t>i</a:t>
            </a:r>
            <a:r>
              <a:rPr lang="en-US" dirty="0">
                <a:solidFill>
                  <a:srgbClr val="0000FF"/>
                </a:solidFill>
              </a:rPr>
              <a:t>=0; </a:t>
            </a:r>
            <a:r>
              <a:rPr lang="en-US" dirty="0" err="1">
                <a:solidFill>
                  <a:srgbClr val="0000FF"/>
                </a:solidFill>
              </a:rPr>
              <a:t>i</a:t>
            </a:r>
            <a:r>
              <a:rPr lang="en-US" dirty="0">
                <a:solidFill>
                  <a:srgbClr val="0000FF"/>
                </a:solidFill>
              </a:rPr>
              <a:t> &lt; N; </a:t>
            </a:r>
            <a:r>
              <a:rPr lang="en-US" dirty="0" err="1">
                <a:solidFill>
                  <a:srgbClr val="0000FF"/>
                </a:solidFill>
              </a:rPr>
              <a:t>i</a:t>
            </a:r>
            <a:r>
              <a:rPr lang="en-US" dirty="0">
                <a:solidFill>
                  <a:srgbClr val="0000FF"/>
                </a:solidFill>
              </a:rPr>
              <a:t>++) </a:t>
            </a:r>
            <a:r>
              <a:rPr lang="en-US" dirty="0" err="1">
                <a:solidFill>
                  <a:srgbClr val="0000FF"/>
                </a:solidFill>
              </a:rPr>
              <a:t>somme</a:t>
            </a:r>
            <a:r>
              <a:rPr lang="en-US" dirty="0">
                <a:solidFill>
                  <a:srgbClr val="0000FF"/>
                </a:solidFill>
              </a:rPr>
              <a:t> += A[</a:t>
            </a:r>
            <a:r>
              <a:rPr lang="en-US" dirty="0" err="1">
                <a:solidFill>
                  <a:srgbClr val="0000FF"/>
                </a:solidFill>
              </a:rPr>
              <a:t>i</a:t>
            </a:r>
            <a:r>
              <a:rPr lang="en-US" dirty="0">
                <a:solidFill>
                  <a:srgbClr val="0000FF"/>
                </a:solidFill>
              </a:rPr>
              <a:t>];</a:t>
            </a:r>
          </a:p>
          <a:p>
            <a:pPr algn="just"/>
            <a:r>
              <a:rPr lang="en-US" dirty="0" err="1"/>
              <a:t>Localité</a:t>
            </a:r>
            <a:r>
              <a:rPr lang="en-US" dirty="0"/>
              <a:t> </a:t>
            </a:r>
            <a:r>
              <a:rPr lang="en-US" dirty="0" err="1"/>
              <a:t>spatiale</a:t>
            </a:r>
            <a:r>
              <a:rPr lang="en-US" dirty="0"/>
              <a:t> : A[</a:t>
            </a:r>
            <a:r>
              <a:rPr lang="en-US" dirty="0" err="1"/>
              <a:t>i</a:t>
            </a:r>
            <a:r>
              <a:rPr lang="en-US" dirty="0"/>
              <a:t>] (A[i+1], A[i+2]...)</a:t>
            </a:r>
          </a:p>
          <a:p>
            <a:pPr algn="just"/>
            <a:r>
              <a:rPr lang="en-US" dirty="0" err="1"/>
              <a:t>Localité</a:t>
            </a:r>
            <a:r>
              <a:rPr lang="en-US" dirty="0"/>
              <a:t> </a:t>
            </a:r>
            <a:r>
              <a:rPr lang="en-US" dirty="0" err="1"/>
              <a:t>temporelle</a:t>
            </a:r>
            <a:r>
              <a:rPr lang="en-US" dirty="0"/>
              <a:t> : N, A, </a:t>
            </a:r>
            <a:r>
              <a:rPr lang="en-US" dirty="0" err="1"/>
              <a:t>i</a:t>
            </a:r>
            <a:endParaRPr lang="fr-FR" dirty="0"/>
          </a:p>
        </p:txBody>
      </p:sp>
      <p:sp>
        <p:nvSpPr>
          <p:cNvPr id="3" name="Title 2"/>
          <p:cNvSpPr>
            <a:spLocks noGrp="1"/>
          </p:cNvSpPr>
          <p:nvPr>
            <p:ph type="title"/>
          </p:nvPr>
        </p:nvSpPr>
        <p:spPr/>
        <p:txBody>
          <a:bodyPr/>
          <a:lstStyle/>
          <a:p>
            <a:r>
              <a:rPr lang="fr-FR" dirty="0"/>
              <a:t>Mémoire Cache </a:t>
            </a:r>
          </a:p>
        </p:txBody>
      </p:sp>
    </p:spTree>
    <p:extLst>
      <p:ext uri="{BB962C8B-B14F-4D97-AF65-F5344CB8AC3E}">
        <p14:creationId xmlns:p14="http://schemas.microsoft.com/office/powerpoint/2010/main" val="17435455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1675237"/>
            <a:ext cx="8407893" cy="4451242"/>
          </a:xfrm>
        </p:spPr>
        <p:txBody>
          <a:bodyPr>
            <a:normAutofit fontScale="92500" lnSpcReduction="10000"/>
          </a:bodyPr>
          <a:lstStyle/>
          <a:p>
            <a:pPr marL="45720" indent="0">
              <a:buNone/>
            </a:pPr>
            <a:r>
              <a:rPr lang="en-US" dirty="0"/>
              <a:t>Cache </a:t>
            </a:r>
            <a:r>
              <a:rPr lang="en-US" dirty="0" err="1"/>
              <a:t>est</a:t>
            </a:r>
            <a:r>
              <a:rPr lang="en-US" dirty="0"/>
              <a:t> </a:t>
            </a:r>
            <a:r>
              <a:rPr lang="en-US" dirty="0" err="1"/>
              <a:t>organisé</a:t>
            </a:r>
            <a:r>
              <a:rPr lang="en-US" dirty="0"/>
              <a:t> en </a:t>
            </a:r>
            <a:r>
              <a:rPr lang="en-US" dirty="0" err="1"/>
              <a:t>plusieurs</a:t>
            </a:r>
            <a:r>
              <a:rPr lang="en-US" dirty="0"/>
              <a:t> </a:t>
            </a:r>
            <a:r>
              <a:rPr lang="en-US" dirty="0" err="1"/>
              <a:t>niveaux</a:t>
            </a:r>
            <a:r>
              <a:rPr lang="en-US" dirty="0"/>
              <a:t>:</a:t>
            </a:r>
          </a:p>
          <a:p>
            <a:pPr algn="just"/>
            <a:r>
              <a:rPr lang="en-US" dirty="0" err="1"/>
              <a:t>Jusqu'à</a:t>
            </a:r>
            <a:r>
              <a:rPr lang="en-US" dirty="0"/>
              <a:t> 3 </a:t>
            </a:r>
            <a:r>
              <a:rPr lang="en-US" dirty="0" err="1"/>
              <a:t>niveaux</a:t>
            </a:r>
            <a:r>
              <a:rPr lang="en-US" dirty="0"/>
              <a:t> </a:t>
            </a:r>
            <a:r>
              <a:rPr lang="en-US" dirty="0">
                <a:solidFill>
                  <a:srgbClr val="0000FF"/>
                </a:solidFill>
              </a:rPr>
              <a:t>(L1, L2 et L3)</a:t>
            </a:r>
          </a:p>
          <a:p>
            <a:pPr algn="just"/>
            <a:r>
              <a:rPr lang="en-US" dirty="0"/>
              <a:t>De </a:t>
            </a:r>
            <a:r>
              <a:rPr lang="en-US" dirty="0" err="1"/>
              <a:t>rares</a:t>
            </a:r>
            <a:r>
              <a:rPr lang="en-US" dirty="0"/>
              <a:t> </a:t>
            </a:r>
            <a:r>
              <a:rPr lang="en-US" dirty="0" err="1"/>
              <a:t>processeurs</a:t>
            </a:r>
            <a:r>
              <a:rPr lang="en-US" dirty="0"/>
              <a:t> avec un </a:t>
            </a:r>
            <a:r>
              <a:rPr lang="en-US" dirty="0">
                <a:solidFill>
                  <a:srgbClr val="0000FF"/>
                </a:solidFill>
              </a:rPr>
              <a:t>L4</a:t>
            </a:r>
          </a:p>
          <a:p>
            <a:pPr algn="just"/>
            <a:r>
              <a:rPr lang="en-US" dirty="0">
                <a:solidFill>
                  <a:srgbClr val="0000FF"/>
                </a:solidFill>
              </a:rPr>
              <a:t>L3</a:t>
            </a:r>
            <a:r>
              <a:rPr lang="en-US" dirty="0"/>
              <a:t> </a:t>
            </a:r>
            <a:r>
              <a:rPr lang="en-US" dirty="0" err="1"/>
              <a:t>généralement</a:t>
            </a:r>
            <a:r>
              <a:rPr lang="en-US" dirty="0"/>
              <a:t> </a:t>
            </a:r>
            <a:r>
              <a:rPr lang="en-US" dirty="0" err="1"/>
              <a:t>utilisé</a:t>
            </a:r>
            <a:r>
              <a:rPr lang="en-US" dirty="0"/>
              <a:t> pour </a:t>
            </a:r>
            <a:r>
              <a:rPr lang="en-US" dirty="0" err="1"/>
              <a:t>l'échange</a:t>
            </a:r>
            <a:r>
              <a:rPr lang="en-US" dirty="0"/>
              <a:t> de </a:t>
            </a:r>
            <a:r>
              <a:rPr lang="en-US" dirty="0" err="1"/>
              <a:t>données</a:t>
            </a:r>
            <a:r>
              <a:rPr lang="en-US" dirty="0"/>
              <a:t> entre cores </a:t>
            </a:r>
            <a:r>
              <a:rPr lang="en-US" dirty="0" err="1"/>
              <a:t>dans</a:t>
            </a:r>
            <a:r>
              <a:rPr lang="en-US" dirty="0"/>
              <a:t> un </a:t>
            </a:r>
            <a:r>
              <a:rPr lang="en-US" dirty="0" err="1"/>
              <a:t>processeur</a:t>
            </a:r>
            <a:r>
              <a:rPr lang="en-US" dirty="0"/>
              <a:t> multi-core</a:t>
            </a:r>
          </a:p>
          <a:p>
            <a:pPr algn="just"/>
            <a:r>
              <a:rPr lang="en-US" dirty="0">
                <a:solidFill>
                  <a:srgbClr val="0000FF"/>
                </a:solidFill>
              </a:rPr>
              <a:t>L1</a:t>
            </a:r>
            <a:r>
              <a:rPr lang="en-US" dirty="0"/>
              <a:t> et </a:t>
            </a:r>
            <a:r>
              <a:rPr lang="en-US" dirty="0">
                <a:solidFill>
                  <a:srgbClr val="0000FF"/>
                </a:solidFill>
              </a:rPr>
              <a:t>L2</a:t>
            </a:r>
            <a:r>
              <a:rPr lang="en-US" dirty="0"/>
              <a:t> </a:t>
            </a:r>
            <a:r>
              <a:rPr lang="en-US" dirty="0" err="1"/>
              <a:t>généralement</a:t>
            </a:r>
            <a:r>
              <a:rPr lang="en-US" dirty="0"/>
              <a:t> </a:t>
            </a:r>
            <a:r>
              <a:rPr lang="en-US" dirty="0" err="1"/>
              <a:t>spécifique</a:t>
            </a:r>
            <a:r>
              <a:rPr lang="en-US" dirty="0"/>
              <a:t> </a:t>
            </a:r>
            <a:r>
              <a:rPr lang="en-US" dirty="0" err="1"/>
              <a:t>à</a:t>
            </a:r>
            <a:r>
              <a:rPr lang="en-US" dirty="0"/>
              <a:t> un core</a:t>
            </a:r>
          </a:p>
          <a:p>
            <a:pPr algn="just"/>
            <a:endParaRPr lang="en-US" dirty="0"/>
          </a:p>
          <a:p>
            <a:pPr algn="just"/>
            <a:r>
              <a:rPr lang="en-US" dirty="0"/>
              <a:t>Cache </a:t>
            </a:r>
            <a:r>
              <a:rPr lang="en-US" dirty="0">
                <a:solidFill>
                  <a:srgbClr val="0000FF"/>
                </a:solidFill>
              </a:rPr>
              <a:t>L1</a:t>
            </a:r>
            <a:r>
              <a:rPr lang="en-US" dirty="0"/>
              <a:t> </a:t>
            </a:r>
            <a:r>
              <a:rPr lang="en-US" dirty="0" err="1"/>
              <a:t>généralement</a:t>
            </a:r>
            <a:r>
              <a:rPr lang="en-US" dirty="0"/>
              <a:t> </a:t>
            </a:r>
            <a:r>
              <a:rPr lang="en-US" dirty="0" err="1"/>
              <a:t>scindé</a:t>
            </a:r>
            <a:r>
              <a:rPr lang="en-US" dirty="0"/>
              <a:t> en 2 parties : un </a:t>
            </a:r>
            <a:r>
              <a:rPr lang="en-US" dirty="0" err="1"/>
              <a:t>dédié</a:t>
            </a:r>
            <a:r>
              <a:rPr lang="en-US" dirty="0"/>
              <a:t> aux instructions et </a:t>
            </a:r>
            <a:r>
              <a:rPr lang="en-US" dirty="0" err="1"/>
              <a:t>l'autre</a:t>
            </a:r>
            <a:r>
              <a:rPr lang="en-US" dirty="0"/>
              <a:t> aux </a:t>
            </a:r>
            <a:r>
              <a:rPr lang="en-US" dirty="0" err="1"/>
              <a:t>données</a:t>
            </a:r>
            <a:endParaRPr lang="en-US" dirty="0"/>
          </a:p>
          <a:p>
            <a:pPr algn="just"/>
            <a:endParaRPr lang="en-US" dirty="0"/>
          </a:p>
          <a:p>
            <a:pPr algn="just"/>
            <a:r>
              <a:rPr lang="en-US" dirty="0"/>
              <a:t>Cache </a:t>
            </a:r>
            <a:r>
              <a:rPr lang="en-US" dirty="0">
                <a:solidFill>
                  <a:srgbClr val="0000FF"/>
                </a:solidFill>
              </a:rPr>
              <a:t>Li+1 </a:t>
            </a:r>
            <a:r>
              <a:rPr lang="en-US" dirty="0" err="1"/>
              <a:t>joue</a:t>
            </a:r>
            <a:r>
              <a:rPr lang="en-US" dirty="0"/>
              <a:t> le </a:t>
            </a:r>
            <a:r>
              <a:rPr lang="en-US" dirty="0" err="1"/>
              <a:t>rôle</a:t>
            </a:r>
            <a:r>
              <a:rPr lang="en-US" dirty="0"/>
              <a:t> de cache pour le </a:t>
            </a:r>
            <a:r>
              <a:rPr lang="en-US" dirty="0" err="1"/>
              <a:t>niveau</a:t>
            </a:r>
            <a:r>
              <a:rPr lang="en-US" dirty="0"/>
              <a:t> </a:t>
            </a:r>
            <a:r>
              <a:rPr lang="en-US" dirty="0">
                <a:solidFill>
                  <a:srgbClr val="0000FF"/>
                </a:solidFill>
              </a:rPr>
              <a:t>Li</a:t>
            </a:r>
          </a:p>
          <a:p>
            <a:pPr algn="just"/>
            <a:endParaRPr lang="en-US" dirty="0"/>
          </a:p>
          <a:p>
            <a:pPr algn="just"/>
            <a:r>
              <a:rPr lang="en-US" dirty="0"/>
              <a:t>Cache </a:t>
            </a:r>
            <a:r>
              <a:rPr lang="en-US" dirty="0">
                <a:solidFill>
                  <a:srgbClr val="0000FF"/>
                </a:solidFill>
              </a:rPr>
              <a:t>Li+1 </a:t>
            </a:r>
            <a:r>
              <a:rPr lang="en-US" dirty="0"/>
              <a:t>plus grand </a:t>
            </a:r>
            <a:r>
              <a:rPr lang="en-US" dirty="0" err="1"/>
              <a:t>que</a:t>
            </a:r>
            <a:r>
              <a:rPr lang="en-US" dirty="0"/>
              <a:t> </a:t>
            </a:r>
            <a:r>
              <a:rPr lang="en-US" dirty="0">
                <a:solidFill>
                  <a:srgbClr val="0000FF"/>
                </a:solidFill>
              </a:rPr>
              <a:t>Li</a:t>
            </a:r>
            <a:r>
              <a:rPr lang="en-US" dirty="0"/>
              <a:t> </a:t>
            </a:r>
            <a:r>
              <a:rPr lang="en-US" dirty="0" err="1"/>
              <a:t>mais</a:t>
            </a:r>
            <a:r>
              <a:rPr lang="en-US" dirty="0"/>
              <a:t> </a:t>
            </a:r>
            <a:r>
              <a:rPr lang="en-US" dirty="0" err="1"/>
              <a:t>moins</a:t>
            </a:r>
            <a:r>
              <a:rPr lang="en-US" dirty="0"/>
              <a:t> </a:t>
            </a:r>
            <a:r>
              <a:rPr lang="en-US" dirty="0" err="1"/>
              <a:t>rapide</a:t>
            </a:r>
            <a:r>
              <a:rPr lang="en-US" dirty="0"/>
              <a:t> en temps </a:t>
            </a:r>
            <a:r>
              <a:rPr lang="en-US" dirty="0" err="1"/>
              <a:t>d'accès</a:t>
            </a:r>
            <a:r>
              <a:rPr lang="en-US" dirty="0"/>
              <a:t> aux </a:t>
            </a:r>
            <a:r>
              <a:rPr lang="en-US" dirty="0" err="1"/>
              <a:t>données</a:t>
            </a:r>
            <a:endParaRPr lang="en-US" dirty="0"/>
          </a:p>
          <a:p>
            <a:pPr algn="just"/>
            <a:endParaRPr lang="fr-FR" dirty="0"/>
          </a:p>
        </p:txBody>
      </p:sp>
      <p:sp>
        <p:nvSpPr>
          <p:cNvPr id="3" name="Title 2"/>
          <p:cNvSpPr>
            <a:spLocks noGrp="1"/>
          </p:cNvSpPr>
          <p:nvPr>
            <p:ph type="title"/>
          </p:nvPr>
        </p:nvSpPr>
        <p:spPr/>
        <p:txBody>
          <a:bodyPr/>
          <a:lstStyle/>
          <a:p>
            <a:r>
              <a:rPr lang="en-US" dirty="0" err="1"/>
              <a:t>Organisation</a:t>
            </a:r>
            <a:r>
              <a:rPr lang="en-US" dirty="0"/>
              <a:t> en </a:t>
            </a:r>
            <a:r>
              <a:rPr lang="en-US" dirty="0" err="1"/>
              <a:t>niveaux</a:t>
            </a:r>
            <a:endParaRPr lang="fr-FR" dirty="0"/>
          </a:p>
        </p:txBody>
      </p:sp>
    </p:spTree>
    <p:extLst>
      <p:ext uri="{BB962C8B-B14F-4D97-AF65-F5344CB8AC3E}">
        <p14:creationId xmlns:p14="http://schemas.microsoft.com/office/powerpoint/2010/main" val="4272601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Note : </a:t>
            </a:r>
            <a:r>
              <a:rPr lang="en-US" dirty="0" err="1"/>
              <a:t>dans</a:t>
            </a:r>
            <a:r>
              <a:rPr lang="en-US" dirty="0"/>
              <a:t> les </a:t>
            </a:r>
            <a:r>
              <a:rPr lang="en-US" dirty="0" err="1"/>
              <a:t>transparents</a:t>
            </a:r>
            <a:r>
              <a:rPr lang="en-US" dirty="0"/>
              <a:t> qui </a:t>
            </a:r>
            <a:r>
              <a:rPr lang="en-US" dirty="0" err="1"/>
              <a:t>suivent</a:t>
            </a:r>
            <a:r>
              <a:rPr lang="en-US" dirty="0"/>
              <a:t>, pour simplifier les explications, on </a:t>
            </a:r>
            <a:r>
              <a:rPr lang="en-US" dirty="0" err="1"/>
              <a:t>considère</a:t>
            </a:r>
            <a:r>
              <a:rPr lang="en-US" dirty="0"/>
              <a:t> </a:t>
            </a:r>
            <a:r>
              <a:rPr lang="en-US" dirty="0" err="1"/>
              <a:t>que</a:t>
            </a:r>
            <a:r>
              <a:rPr lang="en-US" dirty="0"/>
              <a:t> </a:t>
            </a:r>
            <a:r>
              <a:rPr lang="en-US" dirty="0" err="1"/>
              <a:t>l'on</a:t>
            </a:r>
            <a:r>
              <a:rPr lang="en-US" dirty="0"/>
              <a:t> a </a:t>
            </a:r>
            <a:r>
              <a:rPr lang="en-US" dirty="0" err="1"/>
              <a:t>qu'un</a:t>
            </a:r>
            <a:r>
              <a:rPr lang="en-US" dirty="0"/>
              <a:t> </a:t>
            </a:r>
            <a:r>
              <a:rPr lang="en-US" dirty="0" err="1"/>
              <a:t>seul</a:t>
            </a:r>
            <a:r>
              <a:rPr lang="en-US" dirty="0"/>
              <a:t> </a:t>
            </a:r>
            <a:r>
              <a:rPr lang="en-US" dirty="0" err="1"/>
              <a:t>niveau</a:t>
            </a:r>
            <a:r>
              <a:rPr lang="en-US" dirty="0"/>
              <a:t> de cache</a:t>
            </a:r>
          </a:p>
          <a:p>
            <a:pPr algn="just"/>
            <a:r>
              <a:rPr lang="en-US" u="sng" dirty="0" err="1">
                <a:solidFill>
                  <a:srgbClr val="0000FF"/>
                </a:solidFill>
              </a:rPr>
              <a:t>Mémoire</a:t>
            </a:r>
            <a:r>
              <a:rPr lang="en-US" u="sng" dirty="0">
                <a:solidFill>
                  <a:srgbClr val="0000FF"/>
                </a:solidFill>
              </a:rPr>
              <a:t> cache = sous-</a:t>
            </a:r>
            <a:r>
              <a:rPr lang="en-US" u="sng" dirty="0" err="1">
                <a:solidFill>
                  <a:srgbClr val="0000FF"/>
                </a:solidFill>
              </a:rPr>
              <a:t>partie</a:t>
            </a:r>
            <a:r>
              <a:rPr lang="en-US" u="sng" dirty="0">
                <a:solidFill>
                  <a:srgbClr val="0000FF"/>
                </a:solidFill>
              </a:rPr>
              <a:t> de la </a:t>
            </a:r>
            <a:r>
              <a:rPr lang="en-US" u="sng" dirty="0" err="1">
                <a:solidFill>
                  <a:srgbClr val="0000FF"/>
                </a:solidFill>
              </a:rPr>
              <a:t>mémoire</a:t>
            </a:r>
            <a:r>
              <a:rPr lang="en-US" u="sng" dirty="0">
                <a:solidFill>
                  <a:srgbClr val="0000FF"/>
                </a:solidFill>
              </a:rPr>
              <a:t> </a:t>
            </a:r>
            <a:r>
              <a:rPr lang="en-US" u="sng" dirty="0" err="1">
                <a:solidFill>
                  <a:srgbClr val="0000FF"/>
                </a:solidFill>
              </a:rPr>
              <a:t>centrale</a:t>
            </a:r>
            <a:endParaRPr lang="en-US" u="sng" dirty="0">
              <a:solidFill>
                <a:srgbClr val="0000FF"/>
              </a:solidFill>
            </a:endParaRPr>
          </a:p>
          <a:p>
            <a:pPr algn="just"/>
            <a:r>
              <a:rPr lang="en-US" dirty="0"/>
              <a:t>Comment </a:t>
            </a:r>
            <a:r>
              <a:rPr lang="en-US" dirty="0" err="1"/>
              <a:t>est</a:t>
            </a:r>
            <a:r>
              <a:rPr lang="en-US" dirty="0"/>
              <a:t> </a:t>
            </a:r>
            <a:r>
              <a:rPr lang="en-US" dirty="0" err="1"/>
              <a:t>déterminée</a:t>
            </a:r>
            <a:r>
              <a:rPr lang="en-US" dirty="0"/>
              <a:t> </a:t>
            </a:r>
            <a:r>
              <a:rPr lang="en-US" dirty="0" err="1"/>
              <a:t>cette</a:t>
            </a:r>
            <a:r>
              <a:rPr lang="en-US" dirty="0"/>
              <a:t> sous-</a:t>
            </a:r>
            <a:r>
              <a:rPr lang="en-US" dirty="0" err="1"/>
              <a:t>partie</a:t>
            </a:r>
            <a:r>
              <a:rPr lang="en-US" dirty="0"/>
              <a:t> ?</a:t>
            </a:r>
          </a:p>
          <a:p>
            <a:pPr marL="45720" indent="0" algn="just">
              <a:buNone/>
            </a:pPr>
            <a:r>
              <a:rPr lang="en-US" dirty="0">
                <a:solidFill>
                  <a:srgbClr val="0000FF"/>
                </a:solidFill>
              </a:rPr>
              <a:t>Principe</a:t>
            </a:r>
          </a:p>
          <a:p>
            <a:pPr algn="just"/>
            <a:r>
              <a:rPr lang="en-US" dirty="0"/>
              <a:t>Les </a:t>
            </a:r>
            <a:r>
              <a:rPr lang="en-US" dirty="0" err="1"/>
              <a:t>échanges</a:t>
            </a:r>
            <a:r>
              <a:rPr lang="en-US" dirty="0"/>
              <a:t> </a:t>
            </a:r>
            <a:r>
              <a:rPr lang="en-US" dirty="0" err="1"/>
              <a:t>d'informations</a:t>
            </a:r>
            <a:r>
              <a:rPr lang="en-US" dirty="0"/>
              <a:t> entre </a:t>
            </a:r>
            <a:r>
              <a:rPr lang="en-US" dirty="0" err="1"/>
              <a:t>mémoire</a:t>
            </a:r>
            <a:r>
              <a:rPr lang="en-US" dirty="0"/>
              <a:t> de </a:t>
            </a:r>
            <a:r>
              <a:rPr lang="en-US" dirty="0" err="1"/>
              <a:t>niveaux</a:t>
            </a:r>
            <a:r>
              <a:rPr lang="en-US" dirty="0"/>
              <a:t> </a:t>
            </a:r>
            <a:r>
              <a:rPr lang="en-US" dirty="0" err="1"/>
              <a:t>différents</a:t>
            </a:r>
            <a:r>
              <a:rPr lang="en-US" dirty="0"/>
              <a:t> se font par blocs </a:t>
            </a:r>
            <a:r>
              <a:rPr lang="en-US" dirty="0" err="1"/>
              <a:t>d'adresses</a:t>
            </a:r>
            <a:r>
              <a:rPr lang="en-US" dirty="0"/>
              <a:t> </a:t>
            </a:r>
            <a:r>
              <a:rPr lang="en-US" dirty="0" err="1"/>
              <a:t>consécutives</a:t>
            </a:r>
            <a:endParaRPr lang="en-US" dirty="0"/>
          </a:p>
          <a:p>
            <a:pPr marL="320040" lvl="1" indent="0" algn="just">
              <a:buNone/>
            </a:pPr>
            <a:r>
              <a:rPr lang="en-US" sz="2000" u="sng" dirty="0" err="1">
                <a:solidFill>
                  <a:srgbClr val="0000FF"/>
                </a:solidFill>
              </a:rPr>
              <a:t>Une</a:t>
            </a:r>
            <a:r>
              <a:rPr lang="en-US" sz="2000" u="sng" dirty="0">
                <a:solidFill>
                  <a:srgbClr val="0000FF"/>
                </a:solidFill>
              </a:rPr>
              <a:t> </a:t>
            </a:r>
            <a:r>
              <a:rPr lang="en-US" sz="2000" u="sng" dirty="0" err="1">
                <a:solidFill>
                  <a:srgbClr val="0000FF"/>
                </a:solidFill>
              </a:rPr>
              <a:t>ligne</a:t>
            </a:r>
            <a:r>
              <a:rPr lang="en-US" sz="2000" u="sng" dirty="0">
                <a:solidFill>
                  <a:srgbClr val="0000FF"/>
                </a:solidFill>
              </a:rPr>
              <a:t> </a:t>
            </a:r>
            <a:r>
              <a:rPr lang="en-US" sz="2000" u="sng" dirty="0" err="1">
                <a:solidFill>
                  <a:srgbClr val="0000FF"/>
                </a:solidFill>
              </a:rPr>
              <a:t>mémoire</a:t>
            </a:r>
            <a:r>
              <a:rPr lang="en-US" sz="2000" u="sng" dirty="0">
                <a:solidFill>
                  <a:srgbClr val="0000FF"/>
                </a:solidFill>
              </a:rPr>
              <a:t> cache</a:t>
            </a:r>
          </a:p>
          <a:p>
            <a:pPr algn="just"/>
            <a:r>
              <a:rPr lang="en-US" dirty="0"/>
              <a:t>Car </a:t>
            </a:r>
            <a:r>
              <a:rPr lang="en-US" dirty="0" err="1"/>
              <a:t>ce</a:t>
            </a:r>
            <a:r>
              <a:rPr lang="en-US" dirty="0"/>
              <a:t> </a:t>
            </a:r>
            <a:r>
              <a:rPr lang="en-US" dirty="0" err="1"/>
              <a:t>n’est</a:t>
            </a:r>
            <a:r>
              <a:rPr lang="en-US" dirty="0"/>
              <a:t> pas beaucoup plus </a:t>
            </a:r>
            <a:r>
              <a:rPr lang="en-US" dirty="0" err="1"/>
              <a:t>coûteux</a:t>
            </a:r>
            <a:r>
              <a:rPr lang="en-US" dirty="0"/>
              <a:t> de lire </a:t>
            </a:r>
            <a:r>
              <a:rPr lang="en-US" dirty="0" err="1"/>
              <a:t>une</a:t>
            </a:r>
            <a:r>
              <a:rPr lang="en-US" dirty="0"/>
              <a:t> </a:t>
            </a:r>
            <a:r>
              <a:rPr lang="en-US" dirty="0" err="1"/>
              <a:t>ligne</a:t>
            </a:r>
            <a:r>
              <a:rPr lang="en-US" dirty="0"/>
              <a:t> </a:t>
            </a:r>
            <a:r>
              <a:rPr lang="en-US" dirty="0" err="1"/>
              <a:t>qu'un</a:t>
            </a:r>
            <a:r>
              <a:rPr lang="en-US" dirty="0"/>
              <a:t> </a:t>
            </a:r>
            <a:r>
              <a:rPr lang="en-US" dirty="0" err="1"/>
              <a:t>seul</a:t>
            </a:r>
            <a:r>
              <a:rPr lang="en-US" dirty="0"/>
              <a:t> mot</a:t>
            </a:r>
          </a:p>
          <a:p>
            <a:pPr algn="just"/>
            <a:r>
              <a:rPr lang="en-US" dirty="0"/>
              <a:t>Et </a:t>
            </a:r>
            <a:r>
              <a:rPr lang="en-US" dirty="0" err="1"/>
              <a:t>s'adapte</a:t>
            </a:r>
            <a:r>
              <a:rPr lang="en-US" dirty="0"/>
              <a:t> </a:t>
            </a:r>
            <a:r>
              <a:rPr lang="en-US" dirty="0" err="1"/>
              <a:t>bien</a:t>
            </a:r>
            <a:r>
              <a:rPr lang="en-US" dirty="0"/>
              <a:t> au </a:t>
            </a:r>
            <a:r>
              <a:rPr lang="en-US" dirty="0" err="1"/>
              <a:t>principe</a:t>
            </a:r>
            <a:r>
              <a:rPr lang="en-US" dirty="0"/>
              <a:t> de </a:t>
            </a:r>
            <a:r>
              <a:rPr lang="en-US" dirty="0" err="1"/>
              <a:t>localité</a:t>
            </a:r>
            <a:r>
              <a:rPr lang="en-US" dirty="0"/>
              <a:t> </a:t>
            </a:r>
            <a:r>
              <a:rPr lang="en-US" dirty="0" err="1"/>
              <a:t>spatiale</a:t>
            </a:r>
            <a:endParaRPr lang="en-US" dirty="0"/>
          </a:p>
          <a:p>
            <a:endParaRPr lang="fr-FR" dirty="0"/>
          </a:p>
        </p:txBody>
      </p:sp>
      <p:sp>
        <p:nvSpPr>
          <p:cNvPr id="3" name="Title 2"/>
          <p:cNvSpPr>
            <a:spLocks noGrp="1"/>
          </p:cNvSpPr>
          <p:nvPr>
            <p:ph type="title"/>
          </p:nvPr>
        </p:nvSpPr>
        <p:spPr/>
        <p:txBody>
          <a:bodyPr/>
          <a:lstStyle/>
          <a:p>
            <a:r>
              <a:rPr lang="en-US" dirty="0" err="1"/>
              <a:t>Accès</a:t>
            </a:r>
            <a:r>
              <a:rPr lang="en-US" dirty="0"/>
              <a:t> par </a:t>
            </a:r>
            <a:r>
              <a:rPr lang="en-US" dirty="0" err="1"/>
              <a:t>lignes</a:t>
            </a:r>
            <a:r>
              <a:rPr lang="en-US" dirty="0"/>
              <a:t> </a:t>
            </a:r>
            <a:r>
              <a:rPr lang="en-US" dirty="0" err="1"/>
              <a:t>mémoire</a:t>
            </a:r>
            <a:endParaRPr lang="fr-FR" dirty="0"/>
          </a:p>
        </p:txBody>
      </p:sp>
    </p:spTree>
    <p:extLst>
      <p:ext uri="{BB962C8B-B14F-4D97-AF65-F5344CB8AC3E}">
        <p14:creationId xmlns:p14="http://schemas.microsoft.com/office/powerpoint/2010/main" val="15854258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err="1"/>
              <a:t>Donc</a:t>
            </a:r>
            <a:r>
              <a:rPr lang="en-US" dirty="0"/>
              <a:t> le cache </a:t>
            </a:r>
            <a:r>
              <a:rPr lang="en-US" dirty="0" err="1"/>
              <a:t>est</a:t>
            </a:r>
            <a:r>
              <a:rPr lang="en-US" dirty="0"/>
              <a:t> </a:t>
            </a:r>
            <a:r>
              <a:rPr lang="en-US" dirty="0" err="1"/>
              <a:t>organisé</a:t>
            </a:r>
            <a:r>
              <a:rPr lang="en-US" dirty="0"/>
              <a:t> par </a:t>
            </a:r>
            <a:r>
              <a:rPr lang="en-US" dirty="0" err="1"/>
              <a:t>lignes</a:t>
            </a:r>
            <a:r>
              <a:rPr lang="en-US" dirty="0"/>
              <a:t>. </a:t>
            </a:r>
            <a:r>
              <a:rPr lang="en-US" dirty="0" err="1"/>
              <a:t>Chaque</a:t>
            </a:r>
            <a:r>
              <a:rPr lang="en-US" dirty="0"/>
              <a:t> </a:t>
            </a:r>
            <a:r>
              <a:rPr lang="en-US" dirty="0" err="1"/>
              <a:t>ligne</a:t>
            </a:r>
            <a:r>
              <a:rPr lang="en-US" dirty="0"/>
              <a:t> </a:t>
            </a:r>
            <a:r>
              <a:rPr lang="en-US" dirty="0" err="1"/>
              <a:t>contient</a:t>
            </a:r>
            <a:r>
              <a:rPr lang="en-US" dirty="0"/>
              <a:t> </a:t>
            </a:r>
            <a:r>
              <a:rPr lang="en-US" dirty="0" err="1"/>
              <a:t>une</a:t>
            </a:r>
            <a:r>
              <a:rPr lang="en-US" dirty="0"/>
              <a:t> portion de 8 </a:t>
            </a:r>
            <a:r>
              <a:rPr lang="en-US" dirty="0" err="1"/>
              <a:t>à</a:t>
            </a:r>
            <a:r>
              <a:rPr lang="en-US" dirty="0"/>
              <a:t> 512 octets des </a:t>
            </a:r>
            <a:r>
              <a:rPr lang="en-US" dirty="0" err="1"/>
              <a:t>données</a:t>
            </a:r>
            <a:r>
              <a:rPr lang="en-US" dirty="0"/>
              <a:t> en </a:t>
            </a:r>
            <a:r>
              <a:rPr lang="en-US" dirty="0" err="1"/>
              <a:t>mémoires</a:t>
            </a:r>
            <a:r>
              <a:rPr lang="en-US" dirty="0"/>
              <a:t> et </a:t>
            </a:r>
            <a:r>
              <a:rPr lang="en-US" dirty="0" err="1"/>
              <a:t>une</a:t>
            </a:r>
            <a:r>
              <a:rPr lang="en-US" dirty="0"/>
              <a:t> </a:t>
            </a:r>
            <a:r>
              <a:rPr lang="en-US" i="1" dirty="0" err="1"/>
              <a:t>étiquette</a:t>
            </a:r>
            <a:r>
              <a:rPr lang="en-US" dirty="0"/>
              <a:t> (</a:t>
            </a:r>
            <a:r>
              <a:rPr lang="en-US" i="1" dirty="0"/>
              <a:t>tag</a:t>
            </a:r>
            <a:r>
              <a:rPr lang="en-US" dirty="0"/>
              <a:t> en </a:t>
            </a:r>
            <a:r>
              <a:rPr lang="en-US" dirty="0" err="1"/>
              <a:t>anglais</a:t>
            </a:r>
            <a:r>
              <a:rPr lang="en-US" dirty="0"/>
              <a:t>) qui </a:t>
            </a:r>
            <a:r>
              <a:rPr lang="en-US" dirty="0" err="1"/>
              <a:t>est</a:t>
            </a:r>
            <a:r>
              <a:rPr lang="en-US" dirty="0"/>
              <a:t> </a:t>
            </a:r>
            <a:r>
              <a:rPr lang="en-US" dirty="0" err="1"/>
              <a:t>l'adresse</a:t>
            </a:r>
            <a:r>
              <a:rPr lang="en-US" dirty="0"/>
              <a:t> de </a:t>
            </a:r>
            <a:r>
              <a:rPr lang="en-US" dirty="0" err="1"/>
              <a:t>ces</a:t>
            </a:r>
            <a:r>
              <a:rPr lang="en-US" dirty="0"/>
              <a:t> </a:t>
            </a:r>
            <a:r>
              <a:rPr lang="en-US" dirty="0" err="1"/>
              <a:t>données</a:t>
            </a:r>
            <a:r>
              <a:rPr lang="en-US" dirty="0"/>
              <a:t> en </a:t>
            </a:r>
            <a:r>
              <a:rPr lang="en-US" dirty="0" err="1"/>
              <a:t>mémoire</a:t>
            </a:r>
            <a:r>
              <a:rPr lang="en-US" dirty="0"/>
              <a:t>. </a:t>
            </a:r>
          </a:p>
          <a:p>
            <a:pPr algn="just"/>
            <a:r>
              <a:rPr lang="en-US" dirty="0" err="1"/>
              <a:t>Lorsque</a:t>
            </a:r>
            <a:r>
              <a:rPr lang="en-US" dirty="0"/>
              <a:t> le micro-</a:t>
            </a:r>
            <a:r>
              <a:rPr lang="en-US" dirty="0" err="1"/>
              <a:t>processeur</a:t>
            </a:r>
            <a:r>
              <a:rPr lang="en-US" dirty="0"/>
              <a:t> </a:t>
            </a:r>
            <a:r>
              <a:rPr lang="en-US" dirty="0" err="1"/>
              <a:t>veut</a:t>
            </a:r>
            <a:r>
              <a:rPr lang="en-US" dirty="0"/>
              <a:t> </a:t>
            </a:r>
            <a:r>
              <a:rPr lang="en-US" dirty="0" err="1"/>
              <a:t>accéder</a:t>
            </a:r>
            <a:r>
              <a:rPr lang="en-US" dirty="0"/>
              <a:t> </a:t>
            </a:r>
            <a:r>
              <a:rPr lang="en-US" dirty="0" err="1"/>
              <a:t>à</a:t>
            </a:r>
            <a:r>
              <a:rPr lang="en-US" dirty="0"/>
              <a:t> la </a:t>
            </a:r>
            <a:r>
              <a:rPr lang="en-US" dirty="0" err="1"/>
              <a:t>mémoire</a:t>
            </a:r>
            <a:r>
              <a:rPr lang="en-US" dirty="0"/>
              <a:t>, </a:t>
            </a:r>
            <a:r>
              <a:rPr lang="en-US" dirty="0" err="1"/>
              <a:t>il</a:t>
            </a:r>
            <a:r>
              <a:rPr lang="en-US" dirty="0"/>
              <a:t> compare </a:t>
            </a:r>
            <a:r>
              <a:rPr lang="en-US" dirty="0" err="1"/>
              <a:t>l'adresse</a:t>
            </a:r>
            <a:r>
              <a:rPr lang="en-US" dirty="0"/>
              <a:t> avec les </a:t>
            </a:r>
            <a:r>
              <a:rPr lang="en-US" dirty="0" err="1"/>
              <a:t>étiquettes</a:t>
            </a:r>
            <a:r>
              <a:rPr lang="en-US" dirty="0"/>
              <a:t> des </a:t>
            </a:r>
            <a:r>
              <a:rPr lang="en-US" dirty="0" err="1"/>
              <a:t>lignes</a:t>
            </a:r>
            <a:r>
              <a:rPr lang="en-US" dirty="0"/>
              <a:t> du cache. </a:t>
            </a:r>
            <a:r>
              <a:rPr lang="en-US" dirty="0" err="1"/>
              <a:t>S'il</a:t>
            </a:r>
            <a:r>
              <a:rPr lang="en-US" dirty="0"/>
              <a:t> </a:t>
            </a:r>
            <a:r>
              <a:rPr lang="en-US" dirty="0" err="1"/>
              <a:t>trouve</a:t>
            </a:r>
            <a:r>
              <a:rPr lang="en-US" dirty="0"/>
              <a:t> </a:t>
            </a:r>
            <a:r>
              <a:rPr lang="en-US" dirty="0" err="1"/>
              <a:t>l'adresse</a:t>
            </a:r>
            <a:r>
              <a:rPr lang="en-US" dirty="0"/>
              <a:t> </a:t>
            </a:r>
            <a:r>
              <a:rPr lang="en-US" dirty="0" err="1"/>
              <a:t>parmi</a:t>
            </a:r>
            <a:r>
              <a:rPr lang="en-US" dirty="0"/>
              <a:t> les </a:t>
            </a:r>
            <a:r>
              <a:rPr lang="en-US" dirty="0" err="1"/>
              <a:t>étiquettes</a:t>
            </a:r>
            <a:r>
              <a:rPr lang="en-US" dirty="0"/>
              <a:t>, le micro-</a:t>
            </a:r>
            <a:r>
              <a:rPr lang="en-US" dirty="0" err="1"/>
              <a:t>processeur</a:t>
            </a:r>
            <a:r>
              <a:rPr lang="en-US" dirty="0"/>
              <a:t> </a:t>
            </a:r>
            <a:r>
              <a:rPr lang="en-US" dirty="0" err="1"/>
              <a:t>utilise</a:t>
            </a:r>
            <a:r>
              <a:rPr lang="en-US" dirty="0"/>
              <a:t> </a:t>
            </a:r>
            <a:r>
              <a:rPr lang="en-US" dirty="0" err="1"/>
              <a:t>directement</a:t>
            </a:r>
            <a:r>
              <a:rPr lang="en-US" dirty="0"/>
              <a:t> les </a:t>
            </a:r>
            <a:r>
              <a:rPr lang="en-US" dirty="0" err="1"/>
              <a:t>données</a:t>
            </a:r>
            <a:r>
              <a:rPr lang="en-US" dirty="0"/>
              <a:t> du cache. On </a:t>
            </a:r>
            <a:r>
              <a:rPr lang="en-US" dirty="0" err="1"/>
              <a:t>parle</a:t>
            </a:r>
            <a:r>
              <a:rPr lang="en-US" dirty="0"/>
              <a:t> </a:t>
            </a:r>
            <a:r>
              <a:rPr lang="en-US" dirty="0" err="1"/>
              <a:t>alors</a:t>
            </a:r>
            <a:r>
              <a:rPr lang="en-US" dirty="0"/>
              <a:t> de </a:t>
            </a:r>
            <a:r>
              <a:rPr lang="en-US" i="1" dirty="0" err="1">
                <a:solidFill>
                  <a:srgbClr val="0000FF"/>
                </a:solidFill>
              </a:rPr>
              <a:t>succès</a:t>
            </a:r>
            <a:r>
              <a:rPr lang="en-US" i="1" dirty="0">
                <a:solidFill>
                  <a:srgbClr val="0000FF"/>
                </a:solidFill>
              </a:rPr>
              <a:t> de cache</a:t>
            </a:r>
            <a:r>
              <a:rPr lang="en-US" dirty="0"/>
              <a:t>. </a:t>
            </a:r>
            <a:r>
              <a:rPr lang="en-US" dirty="0" err="1"/>
              <a:t>Sinon</a:t>
            </a:r>
            <a:r>
              <a:rPr lang="en-US" dirty="0"/>
              <a:t> on </a:t>
            </a:r>
            <a:r>
              <a:rPr lang="en-US" dirty="0" err="1"/>
              <a:t>parle</a:t>
            </a:r>
            <a:r>
              <a:rPr lang="en-US" dirty="0"/>
              <a:t> de </a:t>
            </a:r>
            <a:r>
              <a:rPr lang="en-US" i="1" dirty="0" err="1">
                <a:solidFill>
                  <a:srgbClr val="0000FF"/>
                </a:solidFill>
              </a:rPr>
              <a:t>défaut</a:t>
            </a:r>
            <a:r>
              <a:rPr lang="en-US" i="1" dirty="0">
                <a:solidFill>
                  <a:srgbClr val="0000FF"/>
                </a:solidFill>
              </a:rPr>
              <a:t> de cache</a:t>
            </a:r>
            <a:r>
              <a:rPr lang="en-US" dirty="0">
                <a:solidFill>
                  <a:srgbClr val="0000FF"/>
                </a:solidFill>
              </a:rPr>
              <a:t> </a:t>
            </a:r>
            <a:r>
              <a:rPr lang="en-US" dirty="0" err="1">
                <a:solidFill>
                  <a:srgbClr val="0000FF"/>
                </a:solidFill>
              </a:rPr>
              <a:t>ou</a:t>
            </a:r>
            <a:r>
              <a:rPr lang="en-US" dirty="0">
                <a:solidFill>
                  <a:srgbClr val="0000FF"/>
                </a:solidFill>
              </a:rPr>
              <a:t> </a:t>
            </a:r>
            <a:r>
              <a:rPr lang="en-US" dirty="0" err="1">
                <a:solidFill>
                  <a:srgbClr val="0000FF"/>
                </a:solidFill>
              </a:rPr>
              <a:t>d'</a:t>
            </a:r>
            <a:r>
              <a:rPr lang="en-US" i="1" dirty="0" err="1">
                <a:solidFill>
                  <a:srgbClr val="0000FF"/>
                </a:solidFill>
              </a:rPr>
              <a:t>échec</a:t>
            </a:r>
            <a:r>
              <a:rPr lang="en-US" i="1" dirty="0">
                <a:solidFill>
                  <a:srgbClr val="0000FF"/>
                </a:solidFill>
              </a:rPr>
              <a:t> de cache</a:t>
            </a:r>
            <a:r>
              <a:rPr lang="en-US" dirty="0">
                <a:solidFill>
                  <a:srgbClr val="0000FF"/>
                </a:solidFill>
              </a:rPr>
              <a:t> (</a:t>
            </a:r>
            <a:r>
              <a:rPr lang="en-US" i="1" dirty="0">
                <a:solidFill>
                  <a:srgbClr val="0000FF"/>
                </a:solidFill>
              </a:rPr>
              <a:t>cache miss</a:t>
            </a:r>
            <a:r>
              <a:rPr lang="en-US" dirty="0">
                <a:solidFill>
                  <a:srgbClr val="0000FF"/>
                </a:solidFill>
              </a:rPr>
              <a:t>).</a:t>
            </a:r>
          </a:p>
          <a:p>
            <a:pPr algn="just"/>
            <a:r>
              <a:rPr lang="en-US" dirty="0"/>
              <a:t>Les </a:t>
            </a:r>
            <a:r>
              <a:rPr lang="en-US" dirty="0" err="1"/>
              <a:t>données</a:t>
            </a:r>
            <a:r>
              <a:rPr lang="en-US" dirty="0"/>
              <a:t> qui </a:t>
            </a:r>
            <a:r>
              <a:rPr lang="en-US" dirty="0" err="1"/>
              <a:t>ont</a:t>
            </a:r>
            <a:r>
              <a:rPr lang="en-US" dirty="0"/>
              <a:t> </a:t>
            </a:r>
            <a:r>
              <a:rPr lang="en-US" dirty="0" err="1"/>
              <a:t>été</a:t>
            </a:r>
            <a:r>
              <a:rPr lang="en-US" dirty="0"/>
              <a:t> </a:t>
            </a:r>
            <a:r>
              <a:rPr lang="en-US" dirty="0" err="1"/>
              <a:t>écrites</a:t>
            </a:r>
            <a:r>
              <a:rPr lang="en-US" dirty="0"/>
              <a:t> </a:t>
            </a:r>
            <a:r>
              <a:rPr lang="en-US" dirty="0" err="1"/>
              <a:t>dans</a:t>
            </a:r>
            <a:r>
              <a:rPr lang="en-US" dirty="0"/>
              <a:t> le </a:t>
            </a:r>
            <a:r>
              <a:rPr lang="en-US" b="1" dirty="0"/>
              <a:t>cache</a:t>
            </a:r>
            <a:r>
              <a:rPr lang="en-US" dirty="0"/>
              <a:t> </a:t>
            </a:r>
            <a:r>
              <a:rPr lang="en-US" dirty="0" err="1"/>
              <a:t>sont</a:t>
            </a:r>
            <a:r>
              <a:rPr lang="en-US" dirty="0"/>
              <a:t> </a:t>
            </a:r>
            <a:r>
              <a:rPr lang="en-US" dirty="0" err="1"/>
              <a:t>écrites</a:t>
            </a:r>
            <a:r>
              <a:rPr lang="en-US" dirty="0"/>
              <a:t> en </a:t>
            </a:r>
            <a:r>
              <a:rPr lang="en-US" b="1" dirty="0" err="1"/>
              <a:t>mémoire</a:t>
            </a:r>
            <a:r>
              <a:rPr lang="en-US" dirty="0"/>
              <a:t> </a:t>
            </a:r>
            <a:r>
              <a:rPr lang="en-US" dirty="0" err="1"/>
              <a:t>centrale</a:t>
            </a:r>
            <a:r>
              <a:rPr lang="en-US" dirty="0"/>
              <a:t> au moment </a:t>
            </a:r>
            <a:r>
              <a:rPr lang="en-US" dirty="0" err="1"/>
              <a:t>où</a:t>
            </a:r>
            <a:r>
              <a:rPr lang="en-US" dirty="0"/>
              <a:t> la </a:t>
            </a:r>
            <a:r>
              <a:rPr lang="en-US" dirty="0" err="1"/>
              <a:t>ligne</a:t>
            </a:r>
            <a:r>
              <a:rPr lang="en-US" dirty="0"/>
              <a:t> qui </a:t>
            </a:r>
            <a:r>
              <a:rPr lang="en-US" dirty="0" err="1"/>
              <a:t>contient</a:t>
            </a:r>
            <a:r>
              <a:rPr lang="en-US" dirty="0"/>
              <a:t> </a:t>
            </a:r>
            <a:r>
              <a:rPr lang="en-US" dirty="0" err="1"/>
              <a:t>ces</a:t>
            </a:r>
            <a:r>
              <a:rPr lang="en-US" dirty="0"/>
              <a:t> </a:t>
            </a:r>
            <a:r>
              <a:rPr lang="en-US" dirty="0" err="1"/>
              <a:t>données</a:t>
            </a:r>
            <a:r>
              <a:rPr lang="en-US" dirty="0"/>
              <a:t> </a:t>
            </a:r>
            <a:r>
              <a:rPr lang="en-US" dirty="0" err="1"/>
              <a:t>est</a:t>
            </a:r>
            <a:r>
              <a:rPr lang="en-US" dirty="0"/>
              <a:t> </a:t>
            </a:r>
            <a:r>
              <a:rPr lang="en-US" dirty="0" err="1"/>
              <a:t>libérée</a:t>
            </a:r>
            <a:r>
              <a:rPr lang="en-US" dirty="0"/>
              <a:t>. Pour savoir </a:t>
            </a:r>
            <a:r>
              <a:rPr lang="en-US" dirty="0" err="1"/>
              <a:t>si</a:t>
            </a:r>
            <a:r>
              <a:rPr lang="en-US" dirty="0"/>
              <a:t> </a:t>
            </a:r>
            <a:r>
              <a:rPr lang="en-US" dirty="0" err="1"/>
              <a:t>cette</a:t>
            </a:r>
            <a:r>
              <a:rPr lang="en-US" dirty="0"/>
              <a:t> </a:t>
            </a:r>
            <a:r>
              <a:rPr lang="en-US" dirty="0" err="1"/>
              <a:t>écriture</a:t>
            </a:r>
            <a:r>
              <a:rPr lang="en-US" dirty="0"/>
              <a:t> </a:t>
            </a:r>
            <a:r>
              <a:rPr lang="en-US" dirty="0" err="1"/>
              <a:t>est</a:t>
            </a:r>
            <a:r>
              <a:rPr lang="en-US" dirty="0"/>
              <a:t> </a:t>
            </a:r>
            <a:r>
              <a:rPr lang="en-US" dirty="0" err="1"/>
              <a:t>nécessaire</a:t>
            </a:r>
            <a:r>
              <a:rPr lang="en-US" dirty="0"/>
              <a:t>, </a:t>
            </a:r>
            <a:r>
              <a:rPr lang="en-US" dirty="0" err="1"/>
              <a:t>chaque</a:t>
            </a:r>
            <a:r>
              <a:rPr lang="en-US" dirty="0"/>
              <a:t> </a:t>
            </a:r>
            <a:r>
              <a:rPr lang="en-US" dirty="0" err="1"/>
              <a:t>ligne</a:t>
            </a:r>
            <a:r>
              <a:rPr lang="en-US" dirty="0"/>
              <a:t> </a:t>
            </a:r>
            <a:r>
              <a:rPr lang="en-US" dirty="0" err="1"/>
              <a:t>contient</a:t>
            </a:r>
            <a:r>
              <a:rPr lang="en-US" dirty="0"/>
              <a:t> un </a:t>
            </a:r>
            <a:r>
              <a:rPr lang="en-US" b="1" dirty="0"/>
              <a:t>bit</a:t>
            </a:r>
            <a:r>
              <a:rPr lang="en-US" dirty="0"/>
              <a:t> </a:t>
            </a:r>
            <a:r>
              <a:rPr lang="en-US" dirty="0" err="1"/>
              <a:t>appelé</a:t>
            </a:r>
            <a:r>
              <a:rPr lang="en-US" dirty="0"/>
              <a:t> </a:t>
            </a:r>
            <a:r>
              <a:rPr lang="en-US" b="1" dirty="0"/>
              <a:t>dirty bit</a:t>
            </a:r>
            <a:r>
              <a:rPr lang="en-US" dirty="0"/>
              <a:t> qui </a:t>
            </a:r>
            <a:r>
              <a:rPr lang="en-US" dirty="0" err="1"/>
              <a:t>indique</a:t>
            </a:r>
            <a:r>
              <a:rPr lang="en-US" dirty="0"/>
              <a:t> </a:t>
            </a:r>
            <a:r>
              <a:rPr lang="en-US" dirty="0" err="1"/>
              <a:t>s'il</a:t>
            </a:r>
            <a:r>
              <a:rPr lang="en-US" dirty="0"/>
              <a:t> y a </a:t>
            </a:r>
            <a:r>
              <a:rPr lang="en-US" dirty="0" err="1"/>
              <a:t>eu</a:t>
            </a:r>
            <a:r>
              <a:rPr lang="en-US" dirty="0"/>
              <a:t> au </a:t>
            </a:r>
            <a:r>
              <a:rPr lang="en-US" dirty="0" err="1"/>
              <a:t>moins</a:t>
            </a:r>
            <a:r>
              <a:rPr lang="en-US" dirty="0"/>
              <a:t> </a:t>
            </a:r>
            <a:r>
              <a:rPr lang="en-US" dirty="0" err="1"/>
              <a:t>une</a:t>
            </a:r>
            <a:r>
              <a:rPr lang="en-US" dirty="0"/>
              <a:t> </a:t>
            </a:r>
            <a:r>
              <a:rPr lang="en-US" dirty="0" err="1"/>
              <a:t>écriture</a:t>
            </a:r>
            <a:r>
              <a:rPr lang="en-US" dirty="0"/>
              <a:t> </a:t>
            </a:r>
            <a:r>
              <a:rPr lang="en-US" dirty="0" err="1"/>
              <a:t>dans</a:t>
            </a:r>
            <a:r>
              <a:rPr lang="en-US" dirty="0"/>
              <a:t> </a:t>
            </a:r>
            <a:r>
              <a:rPr lang="en-US" dirty="0" err="1"/>
              <a:t>cette</a:t>
            </a:r>
            <a:r>
              <a:rPr lang="en-US" dirty="0"/>
              <a:t> </a:t>
            </a:r>
            <a:r>
              <a:rPr lang="en-US" dirty="0" err="1"/>
              <a:t>ligne</a:t>
            </a:r>
            <a:r>
              <a:rPr lang="en-US" dirty="0"/>
              <a:t>.</a:t>
            </a:r>
            <a:endParaRPr lang="en-US" dirty="0">
              <a:solidFill>
                <a:srgbClr val="0000FF"/>
              </a:solidFill>
            </a:endParaRPr>
          </a:p>
          <a:p>
            <a:pPr algn="just"/>
            <a:endParaRPr lang="fr-FR" dirty="0">
              <a:solidFill>
                <a:srgbClr val="0000FF"/>
              </a:solidFill>
            </a:endParaRPr>
          </a:p>
        </p:txBody>
      </p:sp>
      <p:sp>
        <p:nvSpPr>
          <p:cNvPr id="3" name="Title 2"/>
          <p:cNvSpPr>
            <a:spLocks noGrp="1"/>
          </p:cNvSpPr>
          <p:nvPr>
            <p:ph type="title"/>
          </p:nvPr>
        </p:nvSpPr>
        <p:spPr/>
        <p:txBody>
          <a:bodyPr/>
          <a:lstStyle/>
          <a:p>
            <a:r>
              <a:rPr lang="fr-FR" dirty="0"/>
              <a:t>Organisation du cache</a:t>
            </a:r>
          </a:p>
        </p:txBody>
      </p:sp>
      <p:pic>
        <p:nvPicPr>
          <p:cNvPr id="5" name="Picture 4" descr="Capture d’écran 2020-02-18 à 07.36.5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017" y="2983807"/>
            <a:ext cx="6062788" cy="3142672"/>
          </a:xfrm>
          <a:prstGeom prst="rect">
            <a:avLst/>
          </a:prstGeom>
        </p:spPr>
      </p:pic>
      <p:sp>
        <p:nvSpPr>
          <p:cNvPr id="4" name="TextBox 3"/>
          <p:cNvSpPr txBox="1"/>
          <p:nvPr/>
        </p:nvSpPr>
        <p:spPr>
          <a:xfrm>
            <a:off x="-1356537" y="5166047"/>
            <a:ext cx="184666"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18556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45720" indent="0" algn="just">
              <a:buNone/>
            </a:pPr>
            <a:r>
              <a:rPr lang="en-US" b="1" dirty="0" err="1">
                <a:solidFill>
                  <a:srgbClr val="0000FF"/>
                </a:solidFill>
              </a:rPr>
              <a:t>Défauts</a:t>
            </a:r>
            <a:r>
              <a:rPr lang="en-US" b="1" dirty="0">
                <a:solidFill>
                  <a:srgbClr val="0000FF"/>
                </a:solidFill>
              </a:rPr>
              <a:t> de cache</a:t>
            </a:r>
          </a:p>
          <a:p>
            <a:pPr algn="just"/>
            <a:r>
              <a:rPr lang="en-US" dirty="0">
                <a:solidFill>
                  <a:srgbClr val="0000FF"/>
                </a:solidFill>
              </a:rPr>
              <a:t>Lecture:</a:t>
            </a:r>
            <a:r>
              <a:rPr lang="en-US" dirty="0"/>
              <a:t> les </a:t>
            </a:r>
            <a:r>
              <a:rPr lang="en-US" dirty="0" err="1"/>
              <a:t>données</a:t>
            </a:r>
            <a:r>
              <a:rPr lang="en-US" dirty="0"/>
              <a:t> </a:t>
            </a:r>
            <a:r>
              <a:rPr lang="en-US" dirty="0" err="1"/>
              <a:t>sont</a:t>
            </a:r>
            <a:r>
              <a:rPr lang="en-US" dirty="0"/>
              <a:t> </a:t>
            </a:r>
            <a:r>
              <a:rPr lang="en-US" dirty="0" err="1"/>
              <a:t>chargées</a:t>
            </a:r>
            <a:r>
              <a:rPr lang="en-US" dirty="0"/>
              <a:t> de la </a:t>
            </a:r>
            <a:r>
              <a:rPr lang="en-US" dirty="0" err="1"/>
              <a:t>mémoire</a:t>
            </a:r>
            <a:r>
              <a:rPr lang="en-US" dirty="0"/>
              <a:t> </a:t>
            </a:r>
            <a:r>
              <a:rPr lang="en-US" dirty="0" err="1"/>
              <a:t>centrale</a:t>
            </a:r>
            <a:r>
              <a:rPr lang="en-US" dirty="0"/>
              <a:t> </a:t>
            </a:r>
            <a:r>
              <a:rPr lang="en-US" dirty="0" err="1"/>
              <a:t>dans</a:t>
            </a:r>
            <a:r>
              <a:rPr lang="en-US" dirty="0"/>
              <a:t>  le cache </a:t>
            </a:r>
            <a:r>
              <a:rPr lang="en-US" dirty="0" err="1"/>
              <a:t>puis</a:t>
            </a:r>
            <a:r>
              <a:rPr lang="en-US" dirty="0"/>
              <a:t> </a:t>
            </a:r>
            <a:r>
              <a:rPr lang="en-US" dirty="0" err="1"/>
              <a:t>envoyées</a:t>
            </a:r>
            <a:r>
              <a:rPr lang="en-US" dirty="0"/>
              <a:t> au micro-</a:t>
            </a:r>
            <a:r>
              <a:rPr lang="en-US" dirty="0" err="1"/>
              <a:t>processeur</a:t>
            </a:r>
            <a:r>
              <a:rPr lang="en-US" dirty="0"/>
              <a:t>. </a:t>
            </a:r>
          </a:p>
          <a:p>
            <a:pPr algn="just"/>
            <a:endParaRPr lang="en-US" dirty="0"/>
          </a:p>
          <a:p>
            <a:r>
              <a:rPr lang="en-US" dirty="0" err="1"/>
              <a:t>Ce</a:t>
            </a:r>
            <a:r>
              <a:rPr lang="en-US" dirty="0"/>
              <a:t> </a:t>
            </a:r>
            <a:r>
              <a:rPr lang="en-US" dirty="0" err="1"/>
              <a:t>chargement</a:t>
            </a:r>
            <a:r>
              <a:rPr lang="en-US" dirty="0"/>
              <a:t> </a:t>
            </a:r>
            <a:r>
              <a:rPr lang="en-US" dirty="0" err="1"/>
              <a:t>nécessite</a:t>
            </a:r>
            <a:r>
              <a:rPr lang="en-US" dirty="0"/>
              <a:t> de </a:t>
            </a:r>
            <a:r>
              <a:rPr lang="en-US" dirty="0" err="1"/>
              <a:t>libérer</a:t>
            </a:r>
            <a:r>
              <a:rPr lang="en-US" dirty="0"/>
              <a:t> au </a:t>
            </a:r>
            <a:r>
              <a:rPr lang="en-US" dirty="0" err="1"/>
              <a:t>préalable</a:t>
            </a:r>
            <a:r>
              <a:rPr lang="en-US" dirty="0"/>
              <a:t> </a:t>
            </a:r>
            <a:r>
              <a:rPr lang="en-US" dirty="0" err="1"/>
              <a:t>une</a:t>
            </a:r>
            <a:r>
              <a:rPr lang="en-US" dirty="0"/>
              <a:t> </a:t>
            </a:r>
            <a:r>
              <a:rPr lang="en-US" dirty="0" err="1"/>
              <a:t>ligne</a:t>
            </a:r>
            <a:r>
              <a:rPr lang="en-US" dirty="0"/>
              <a:t> du cache pour y placer les </a:t>
            </a:r>
            <a:r>
              <a:rPr lang="en-US" dirty="0" err="1"/>
              <a:t>nouvelles</a:t>
            </a:r>
            <a:r>
              <a:rPr lang="en-US" dirty="0"/>
              <a:t> </a:t>
            </a:r>
            <a:r>
              <a:rPr lang="en-US" dirty="0" err="1"/>
              <a:t>données</a:t>
            </a:r>
            <a:r>
              <a:rPr lang="en-US" dirty="0"/>
              <a:t>. Le </a:t>
            </a:r>
            <a:r>
              <a:rPr lang="en-US" dirty="0" err="1"/>
              <a:t>choix</a:t>
            </a:r>
            <a:r>
              <a:rPr lang="en-US" dirty="0"/>
              <a:t> de la </a:t>
            </a:r>
            <a:r>
              <a:rPr lang="en-US" dirty="0" err="1"/>
              <a:t>ligne</a:t>
            </a:r>
            <a:r>
              <a:rPr lang="en-US" dirty="0"/>
              <a:t> </a:t>
            </a:r>
            <a:r>
              <a:rPr lang="en-US" dirty="0" err="1"/>
              <a:t>à</a:t>
            </a:r>
            <a:r>
              <a:rPr lang="en-US" dirty="0"/>
              <a:t> </a:t>
            </a:r>
            <a:r>
              <a:rPr lang="en-US" dirty="0" err="1"/>
              <a:t>libérer</a:t>
            </a:r>
            <a:r>
              <a:rPr lang="en-US" dirty="0"/>
              <a:t> </a:t>
            </a:r>
            <a:r>
              <a:rPr lang="en-US" dirty="0" err="1"/>
              <a:t>est</a:t>
            </a:r>
            <a:r>
              <a:rPr lang="en-US" dirty="0"/>
              <a:t> </a:t>
            </a:r>
            <a:r>
              <a:rPr lang="en-US" dirty="0" err="1"/>
              <a:t>contrôlé</a:t>
            </a:r>
            <a:r>
              <a:rPr lang="en-US" dirty="0"/>
              <a:t> par la </a:t>
            </a:r>
            <a:r>
              <a:rPr lang="en-US" i="1" dirty="0" err="1">
                <a:solidFill>
                  <a:srgbClr val="0000FF"/>
                </a:solidFill>
              </a:rPr>
              <a:t>politique</a:t>
            </a:r>
            <a:r>
              <a:rPr lang="en-US" i="1" dirty="0">
                <a:solidFill>
                  <a:srgbClr val="0000FF"/>
                </a:solidFill>
              </a:rPr>
              <a:t> de </a:t>
            </a:r>
            <a:r>
              <a:rPr lang="en-US" i="1" dirty="0" err="1">
                <a:solidFill>
                  <a:srgbClr val="0000FF"/>
                </a:solidFill>
              </a:rPr>
              <a:t>remplacement</a:t>
            </a:r>
            <a:r>
              <a:rPr lang="en-US" i="1" dirty="0">
                <a:solidFill>
                  <a:srgbClr val="0000FF"/>
                </a:solidFill>
              </a:rPr>
              <a:t>.</a:t>
            </a:r>
            <a:r>
              <a:rPr lang="en-US" dirty="0"/>
              <a:t> </a:t>
            </a:r>
          </a:p>
          <a:p>
            <a:pPr marL="320040" lvl="1" indent="0">
              <a:buNone/>
            </a:pPr>
            <a:r>
              <a:rPr lang="en-US" dirty="0"/>
              <a:t>(</a:t>
            </a:r>
            <a:r>
              <a:rPr lang="en-US" sz="1400" dirty="0">
                <a:hlinkClick r:id="rId3"/>
              </a:rPr>
              <a:t>https://fr.wikipedia.org/wiki/Algorithmes_de_remplacement_des_lignes_de_cache</a:t>
            </a:r>
            <a:endParaRPr lang="en-US" sz="1400" dirty="0"/>
          </a:p>
          <a:p>
            <a:pPr marL="320040" lvl="1" indent="0">
              <a:buNone/>
            </a:pPr>
            <a:r>
              <a:rPr lang="en-US" sz="1400" dirty="0"/>
              <a:t>LRU, </a:t>
            </a:r>
            <a:r>
              <a:rPr lang="en-US" sz="1400" dirty="0" err="1"/>
              <a:t>FIFO,Algorithme</a:t>
            </a:r>
            <a:r>
              <a:rPr lang="en-US" sz="1400" dirty="0"/>
              <a:t> </a:t>
            </a:r>
            <a:r>
              <a:rPr lang="en-US" sz="1400" dirty="0" err="1"/>
              <a:t>Aléatoire,LFU</a:t>
            </a:r>
            <a:r>
              <a:rPr lang="en-US" sz="1400" dirty="0"/>
              <a:t>)</a:t>
            </a:r>
          </a:p>
          <a:p>
            <a:pPr algn="just"/>
            <a:endParaRPr lang="en-US" dirty="0"/>
          </a:p>
          <a:p>
            <a:pPr algn="just"/>
            <a:r>
              <a:rPr lang="en-US" dirty="0"/>
              <a:t>Le </a:t>
            </a:r>
            <a:r>
              <a:rPr lang="en-US" dirty="0" err="1"/>
              <a:t>chargement</a:t>
            </a:r>
            <a:r>
              <a:rPr lang="en-US" dirty="0"/>
              <a:t> </a:t>
            </a:r>
            <a:r>
              <a:rPr lang="en-US" dirty="0" err="1"/>
              <a:t>dans</a:t>
            </a:r>
            <a:r>
              <a:rPr lang="en-US" dirty="0"/>
              <a:t> le cache des </a:t>
            </a:r>
            <a:r>
              <a:rPr lang="en-US" dirty="0" err="1"/>
              <a:t>données</a:t>
            </a:r>
            <a:r>
              <a:rPr lang="en-US" dirty="0"/>
              <a:t> </a:t>
            </a:r>
            <a:r>
              <a:rPr lang="en-US" dirty="0" err="1"/>
              <a:t>à</a:t>
            </a:r>
            <a:r>
              <a:rPr lang="en-US" dirty="0"/>
              <a:t> </a:t>
            </a:r>
            <a:r>
              <a:rPr lang="en-US" dirty="0" err="1"/>
              <a:t>partir</a:t>
            </a:r>
            <a:r>
              <a:rPr lang="en-US" dirty="0"/>
              <a:t> de la </a:t>
            </a:r>
            <a:r>
              <a:rPr lang="en-US" dirty="0" err="1"/>
              <a:t>mémoire</a:t>
            </a:r>
            <a:r>
              <a:rPr lang="en-US" dirty="0"/>
              <a:t> </a:t>
            </a:r>
            <a:r>
              <a:rPr lang="en-US" dirty="0" err="1"/>
              <a:t>centrale</a:t>
            </a:r>
            <a:r>
              <a:rPr lang="en-US" dirty="0"/>
              <a:t> </a:t>
            </a:r>
            <a:r>
              <a:rPr lang="en-US" dirty="0" err="1"/>
              <a:t>implique</a:t>
            </a:r>
            <a:r>
              <a:rPr lang="en-US" dirty="0"/>
              <a:t> un </a:t>
            </a:r>
            <a:r>
              <a:rPr lang="en-US" dirty="0" err="1"/>
              <a:t>délai</a:t>
            </a:r>
            <a:r>
              <a:rPr lang="en-US" dirty="0"/>
              <a:t> </a:t>
            </a:r>
            <a:r>
              <a:rPr lang="en-US" dirty="0" err="1"/>
              <a:t>puisque</a:t>
            </a:r>
            <a:r>
              <a:rPr lang="en-US" dirty="0"/>
              <a:t> </a:t>
            </a:r>
            <a:r>
              <a:rPr lang="en-US" dirty="0" err="1"/>
              <a:t>cette</a:t>
            </a:r>
            <a:r>
              <a:rPr lang="en-US" dirty="0"/>
              <a:t> </a:t>
            </a:r>
            <a:r>
              <a:rPr lang="en-US" dirty="0" err="1"/>
              <a:t>dernière</a:t>
            </a:r>
            <a:r>
              <a:rPr lang="en-US" dirty="0"/>
              <a:t> </a:t>
            </a:r>
            <a:r>
              <a:rPr lang="en-US" dirty="0" err="1"/>
              <a:t>est</a:t>
            </a:r>
            <a:r>
              <a:rPr lang="en-US" dirty="0"/>
              <a:t> beaucoup plus </a:t>
            </a:r>
            <a:r>
              <a:rPr lang="en-US" dirty="0" err="1"/>
              <a:t>lente</a:t>
            </a:r>
            <a:r>
              <a:rPr lang="en-US" dirty="0"/>
              <a:t> </a:t>
            </a:r>
            <a:r>
              <a:rPr lang="en-US" dirty="0" err="1"/>
              <a:t>que</a:t>
            </a:r>
            <a:r>
              <a:rPr lang="en-US" dirty="0"/>
              <a:t> le cache. </a:t>
            </a:r>
            <a:r>
              <a:rPr lang="en-US" dirty="0" err="1"/>
              <a:t>Ce</a:t>
            </a:r>
            <a:r>
              <a:rPr lang="en-US" dirty="0"/>
              <a:t> </a:t>
            </a:r>
            <a:r>
              <a:rPr lang="en-US" dirty="0" err="1"/>
              <a:t>délai</a:t>
            </a:r>
            <a:r>
              <a:rPr lang="en-US" dirty="0"/>
              <a:t> </a:t>
            </a:r>
            <a:r>
              <a:rPr lang="en-US" dirty="0" err="1"/>
              <a:t>est</a:t>
            </a:r>
            <a:r>
              <a:rPr lang="en-US" dirty="0"/>
              <a:t> </a:t>
            </a:r>
            <a:r>
              <a:rPr lang="en-US" dirty="0" err="1"/>
              <a:t>parfois</a:t>
            </a:r>
            <a:r>
              <a:rPr lang="en-US" dirty="0"/>
              <a:t> </a:t>
            </a:r>
            <a:r>
              <a:rPr lang="en-US" dirty="0" err="1"/>
              <a:t>augmenté</a:t>
            </a:r>
            <a:r>
              <a:rPr lang="en-US" dirty="0"/>
              <a:t> par le fait </a:t>
            </a:r>
            <a:r>
              <a:rPr lang="en-US" dirty="0" err="1"/>
              <a:t>qu'il</a:t>
            </a:r>
            <a:r>
              <a:rPr lang="en-US" dirty="0"/>
              <a:t> faille copier en </a:t>
            </a:r>
            <a:r>
              <a:rPr lang="en-US" dirty="0" err="1"/>
              <a:t>mémoire</a:t>
            </a:r>
            <a:r>
              <a:rPr lang="en-US" dirty="0"/>
              <a:t> le </a:t>
            </a:r>
            <a:r>
              <a:rPr lang="en-US" dirty="0" err="1"/>
              <a:t>contenu</a:t>
            </a:r>
            <a:r>
              <a:rPr lang="en-US" dirty="0"/>
              <a:t> de la </a:t>
            </a:r>
            <a:r>
              <a:rPr lang="en-US" dirty="0" err="1"/>
              <a:t>ligne</a:t>
            </a:r>
            <a:r>
              <a:rPr lang="en-US" dirty="0"/>
              <a:t> </a:t>
            </a:r>
            <a:r>
              <a:rPr lang="en-US" dirty="0" err="1"/>
              <a:t>libérée</a:t>
            </a:r>
            <a:r>
              <a:rPr lang="en-US" dirty="0"/>
              <a:t>.</a:t>
            </a:r>
          </a:p>
        </p:txBody>
      </p:sp>
      <p:sp>
        <p:nvSpPr>
          <p:cNvPr id="3" name="Title 2"/>
          <p:cNvSpPr>
            <a:spLocks noGrp="1"/>
          </p:cNvSpPr>
          <p:nvPr>
            <p:ph type="title"/>
          </p:nvPr>
        </p:nvSpPr>
        <p:spPr/>
        <p:txBody>
          <a:bodyPr/>
          <a:lstStyle/>
          <a:p>
            <a:r>
              <a:rPr lang="en-US" i="1" dirty="0" err="1"/>
              <a:t>Défauts</a:t>
            </a:r>
            <a:r>
              <a:rPr lang="en-US" i="1" dirty="0"/>
              <a:t> de cache</a:t>
            </a:r>
            <a:br>
              <a:rPr lang="en-US" i="1" dirty="0"/>
            </a:br>
            <a:endParaRPr lang="fr-FR" i="1" dirty="0"/>
          </a:p>
        </p:txBody>
      </p:sp>
    </p:spTree>
    <p:extLst>
      <p:ext uri="{BB962C8B-B14F-4D97-AF65-F5344CB8AC3E}">
        <p14:creationId xmlns:p14="http://schemas.microsoft.com/office/powerpoint/2010/main" val="23733907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US" dirty="0"/>
              <a:t>La </a:t>
            </a:r>
            <a:r>
              <a:rPr lang="en-US" dirty="0" err="1"/>
              <a:t>politique</a:t>
            </a:r>
            <a:r>
              <a:rPr lang="en-US" dirty="0"/>
              <a:t> </a:t>
            </a:r>
            <a:r>
              <a:rPr lang="en-US" dirty="0" err="1"/>
              <a:t>appelée</a:t>
            </a:r>
            <a:r>
              <a:rPr lang="en-US" dirty="0"/>
              <a:t> </a:t>
            </a:r>
            <a:r>
              <a:rPr lang="en-US" i="1" dirty="0">
                <a:solidFill>
                  <a:srgbClr val="0000FF"/>
                </a:solidFill>
              </a:rPr>
              <a:t>write-through</a:t>
            </a:r>
            <a:r>
              <a:rPr lang="en-US" dirty="0">
                <a:solidFill>
                  <a:srgbClr val="0000FF"/>
                </a:solidFill>
              </a:rPr>
              <a:t> </a:t>
            </a:r>
            <a:r>
              <a:rPr lang="en-US" dirty="0" err="1"/>
              <a:t>consiste</a:t>
            </a:r>
            <a:r>
              <a:rPr lang="en-US" dirty="0"/>
              <a:t> </a:t>
            </a:r>
            <a:r>
              <a:rPr lang="en-US" dirty="0" err="1"/>
              <a:t>à</a:t>
            </a:r>
            <a:r>
              <a:rPr lang="en-US" dirty="0"/>
              <a:t> </a:t>
            </a:r>
            <a:r>
              <a:rPr lang="en-US" dirty="0" err="1"/>
              <a:t>répercuter</a:t>
            </a:r>
            <a:r>
              <a:rPr lang="en-US" dirty="0"/>
              <a:t> en </a:t>
            </a:r>
            <a:r>
              <a:rPr lang="en-US" dirty="0" err="1"/>
              <a:t>mémoire</a:t>
            </a:r>
            <a:r>
              <a:rPr lang="en-US" dirty="0"/>
              <a:t> </a:t>
            </a:r>
            <a:r>
              <a:rPr lang="en-US" dirty="0" err="1"/>
              <a:t>centrale</a:t>
            </a:r>
            <a:r>
              <a:rPr lang="en-US" dirty="0"/>
              <a:t> </a:t>
            </a:r>
            <a:r>
              <a:rPr lang="en-US" dirty="0" err="1"/>
              <a:t>chaque</a:t>
            </a:r>
            <a:r>
              <a:rPr lang="en-US" dirty="0"/>
              <a:t> </a:t>
            </a:r>
            <a:r>
              <a:rPr lang="en-US" dirty="0" err="1"/>
              <a:t>écriture</a:t>
            </a:r>
            <a:r>
              <a:rPr lang="en-US" dirty="0"/>
              <a:t> </a:t>
            </a:r>
            <a:r>
              <a:rPr lang="en-US" dirty="0" err="1"/>
              <a:t>dans</a:t>
            </a:r>
            <a:r>
              <a:rPr lang="en-US" dirty="0"/>
              <a:t> le cache. </a:t>
            </a:r>
            <a:r>
              <a:rPr lang="en-US" dirty="0" err="1"/>
              <a:t>Chaque</a:t>
            </a:r>
            <a:r>
              <a:rPr lang="en-US" dirty="0"/>
              <a:t> </a:t>
            </a:r>
            <a:r>
              <a:rPr lang="en-US" dirty="0" err="1"/>
              <a:t>écriture</a:t>
            </a:r>
            <a:r>
              <a:rPr lang="en-US" dirty="0"/>
              <a:t> </a:t>
            </a:r>
            <a:r>
              <a:rPr lang="en-US" dirty="0" err="1"/>
              <a:t>dans</a:t>
            </a:r>
            <a:r>
              <a:rPr lang="en-US" dirty="0"/>
              <a:t> le cache </a:t>
            </a:r>
            <a:r>
              <a:rPr lang="en-US" dirty="0" err="1"/>
              <a:t>provoque</a:t>
            </a:r>
            <a:r>
              <a:rPr lang="en-US" dirty="0"/>
              <a:t> </a:t>
            </a:r>
            <a:r>
              <a:rPr lang="en-US" dirty="0" err="1"/>
              <a:t>alors</a:t>
            </a:r>
            <a:r>
              <a:rPr lang="en-US" dirty="0"/>
              <a:t> </a:t>
            </a:r>
            <a:r>
              <a:rPr lang="en-US" dirty="0" err="1"/>
              <a:t>une</a:t>
            </a:r>
            <a:r>
              <a:rPr lang="en-US" dirty="0"/>
              <a:t> </a:t>
            </a:r>
            <a:r>
              <a:rPr lang="en-US" dirty="0" err="1"/>
              <a:t>écriture</a:t>
            </a:r>
            <a:r>
              <a:rPr lang="en-US" dirty="0"/>
              <a:t> en </a:t>
            </a:r>
            <a:r>
              <a:rPr lang="en-US" dirty="0" err="1"/>
              <a:t>mémoire</a:t>
            </a:r>
            <a:r>
              <a:rPr lang="en-US" dirty="0"/>
              <a:t> </a:t>
            </a:r>
            <a:r>
              <a:rPr lang="en-US" dirty="0" err="1"/>
              <a:t>centrale</a:t>
            </a:r>
            <a:r>
              <a:rPr lang="en-US" dirty="0"/>
              <a:t>. </a:t>
            </a:r>
          </a:p>
          <a:p>
            <a:endParaRPr lang="en-US" dirty="0"/>
          </a:p>
          <a:p>
            <a:r>
              <a:rPr lang="en-US" dirty="0" err="1"/>
              <a:t>À</a:t>
            </a:r>
            <a:r>
              <a:rPr lang="en-US" dirty="0"/>
              <a:t> </a:t>
            </a:r>
            <a:r>
              <a:rPr lang="en-US" dirty="0" err="1"/>
              <a:t>l'opposé</a:t>
            </a:r>
            <a:r>
              <a:rPr lang="en-US" dirty="0"/>
              <a:t>, la  </a:t>
            </a:r>
            <a:r>
              <a:rPr lang="en-US" dirty="0" err="1"/>
              <a:t>politique</a:t>
            </a:r>
            <a:r>
              <a:rPr lang="en-US" dirty="0"/>
              <a:t> </a:t>
            </a:r>
            <a:r>
              <a:rPr lang="en-US" i="1" dirty="0">
                <a:solidFill>
                  <a:srgbClr val="0000FF"/>
                </a:solidFill>
              </a:rPr>
              <a:t>write-back</a:t>
            </a:r>
            <a:r>
              <a:rPr lang="en-US" dirty="0">
                <a:solidFill>
                  <a:srgbClr val="0000FF"/>
                </a:solidFill>
              </a:rPr>
              <a:t> </a:t>
            </a:r>
            <a:r>
              <a:rPr lang="en-US" dirty="0" err="1"/>
              <a:t>retarde</a:t>
            </a:r>
            <a:r>
              <a:rPr lang="en-US" dirty="0"/>
              <a:t> au maximum les </a:t>
            </a:r>
            <a:r>
              <a:rPr lang="en-US" dirty="0" err="1"/>
              <a:t>écritures</a:t>
            </a:r>
            <a:r>
              <a:rPr lang="en-US" dirty="0"/>
              <a:t> en </a:t>
            </a:r>
            <a:r>
              <a:rPr lang="en-US" dirty="0" err="1"/>
              <a:t>mémoire</a:t>
            </a:r>
            <a:r>
              <a:rPr lang="en-US" dirty="0"/>
              <a:t> </a:t>
            </a:r>
            <a:r>
              <a:rPr lang="en-US" dirty="0" err="1"/>
              <a:t>centrale</a:t>
            </a:r>
            <a:r>
              <a:rPr lang="en-US" dirty="0"/>
              <a:t>. Les </a:t>
            </a:r>
            <a:r>
              <a:rPr lang="en-US" dirty="0" err="1"/>
              <a:t>données</a:t>
            </a:r>
            <a:r>
              <a:rPr lang="en-US" dirty="0"/>
              <a:t> qui </a:t>
            </a:r>
            <a:r>
              <a:rPr lang="en-US" dirty="0" err="1"/>
              <a:t>ont</a:t>
            </a:r>
            <a:r>
              <a:rPr lang="en-US" dirty="0"/>
              <a:t> </a:t>
            </a:r>
            <a:r>
              <a:rPr lang="en-US" dirty="0" err="1"/>
              <a:t>été</a:t>
            </a:r>
            <a:r>
              <a:rPr lang="en-US" dirty="0"/>
              <a:t> </a:t>
            </a:r>
            <a:r>
              <a:rPr lang="en-US" dirty="0" err="1"/>
              <a:t>écrites</a:t>
            </a:r>
            <a:r>
              <a:rPr lang="en-US" dirty="0"/>
              <a:t> </a:t>
            </a:r>
            <a:r>
              <a:rPr lang="en-US" dirty="0" err="1"/>
              <a:t>dans</a:t>
            </a:r>
            <a:r>
              <a:rPr lang="en-US" dirty="0"/>
              <a:t> le cache </a:t>
            </a:r>
            <a:r>
              <a:rPr lang="en-US" dirty="0" err="1"/>
              <a:t>sont</a:t>
            </a:r>
            <a:r>
              <a:rPr lang="en-US" dirty="0"/>
              <a:t> </a:t>
            </a:r>
            <a:r>
              <a:rPr lang="en-US" dirty="0" err="1"/>
              <a:t>écrites</a:t>
            </a:r>
            <a:r>
              <a:rPr lang="en-US" dirty="0"/>
              <a:t> en </a:t>
            </a:r>
            <a:r>
              <a:rPr lang="en-US" dirty="0" err="1"/>
              <a:t>mémoire</a:t>
            </a:r>
            <a:r>
              <a:rPr lang="en-US" dirty="0"/>
              <a:t> </a:t>
            </a:r>
            <a:r>
              <a:rPr lang="en-US" dirty="0" err="1"/>
              <a:t>centrale</a:t>
            </a:r>
            <a:r>
              <a:rPr lang="en-US" dirty="0"/>
              <a:t> au moment </a:t>
            </a:r>
            <a:r>
              <a:rPr lang="en-US" dirty="0" err="1"/>
              <a:t>où</a:t>
            </a:r>
            <a:r>
              <a:rPr lang="en-US" dirty="0"/>
              <a:t> la </a:t>
            </a:r>
            <a:r>
              <a:rPr lang="en-US" dirty="0" err="1"/>
              <a:t>ligne</a:t>
            </a:r>
            <a:r>
              <a:rPr lang="en-US" dirty="0"/>
              <a:t> qui </a:t>
            </a:r>
            <a:r>
              <a:rPr lang="en-US" dirty="0" err="1"/>
              <a:t>contient</a:t>
            </a:r>
            <a:r>
              <a:rPr lang="en-US" dirty="0"/>
              <a:t> </a:t>
            </a:r>
            <a:r>
              <a:rPr lang="en-US" dirty="0" err="1"/>
              <a:t>ces</a:t>
            </a:r>
            <a:r>
              <a:rPr lang="en-US" dirty="0"/>
              <a:t> </a:t>
            </a:r>
            <a:r>
              <a:rPr lang="en-US" dirty="0" err="1"/>
              <a:t>données</a:t>
            </a:r>
            <a:r>
              <a:rPr lang="en-US" dirty="0"/>
              <a:t> </a:t>
            </a:r>
            <a:r>
              <a:rPr lang="en-US" dirty="0" err="1"/>
              <a:t>est</a:t>
            </a:r>
            <a:r>
              <a:rPr lang="en-US" dirty="0"/>
              <a:t> </a:t>
            </a:r>
            <a:r>
              <a:rPr lang="en-US" dirty="0" err="1"/>
              <a:t>libérée</a:t>
            </a:r>
            <a:r>
              <a:rPr lang="en-US" dirty="0"/>
              <a:t>. Pour savoir </a:t>
            </a:r>
            <a:r>
              <a:rPr lang="en-US" dirty="0" err="1"/>
              <a:t>si</a:t>
            </a:r>
            <a:r>
              <a:rPr lang="en-US" dirty="0"/>
              <a:t> </a:t>
            </a:r>
            <a:r>
              <a:rPr lang="en-US" dirty="0" err="1"/>
              <a:t>cette</a:t>
            </a:r>
            <a:r>
              <a:rPr lang="en-US" dirty="0"/>
              <a:t> </a:t>
            </a:r>
            <a:r>
              <a:rPr lang="en-US" dirty="0" err="1"/>
              <a:t>écriture</a:t>
            </a:r>
            <a:r>
              <a:rPr lang="en-US" dirty="0"/>
              <a:t> </a:t>
            </a:r>
            <a:r>
              <a:rPr lang="en-US" dirty="0" err="1"/>
              <a:t>est</a:t>
            </a:r>
            <a:r>
              <a:rPr lang="en-US" dirty="0"/>
              <a:t> </a:t>
            </a:r>
            <a:r>
              <a:rPr lang="en-US" dirty="0" err="1"/>
              <a:t>nécessaire</a:t>
            </a:r>
            <a:r>
              <a:rPr lang="en-US" dirty="0"/>
              <a:t>, </a:t>
            </a:r>
            <a:r>
              <a:rPr lang="en-US" dirty="0" err="1"/>
              <a:t>chaque</a:t>
            </a:r>
            <a:r>
              <a:rPr lang="en-US" dirty="0"/>
              <a:t> </a:t>
            </a:r>
            <a:r>
              <a:rPr lang="en-US" dirty="0" err="1"/>
              <a:t>ligne</a:t>
            </a:r>
            <a:r>
              <a:rPr lang="en-US" dirty="0"/>
              <a:t> </a:t>
            </a:r>
            <a:r>
              <a:rPr lang="en-US" dirty="0" err="1"/>
              <a:t>contient</a:t>
            </a:r>
            <a:r>
              <a:rPr lang="en-US" dirty="0"/>
              <a:t> un bit </a:t>
            </a:r>
            <a:r>
              <a:rPr lang="en-US" dirty="0" err="1"/>
              <a:t>appelé</a:t>
            </a:r>
            <a:r>
              <a:rPr lang="en-US" dirty="0"/>
              <a:t> </a:t>
            </a:r>
            <a:r>
              <a:rPr lang="en-US" i="1" dirty="0"/>
              <a:t>dirty bit</a:t>
            </a:r>
            <a:r>
              <a:rPr lang="en-US" dirty="0"/>
              <a:t> qui </a:t>
            </a:r>
            <a:r>
              <a:rPr lang="en-US" dirty="0" err="1"/>
              <a:t>indique</a:t>
            </a:r>
            <a:r>
              <a:rPr lang="en-US" dirty="0"/>
              <a:t> </a:t>
            </a:r>
            <a:r>
              <a:rPr lang="en-US" dirty="0" err="1"/>
              <a:t>s'il</a:t>
            </a:r>
            <a:r>
              <a:rPr lang="en-US" dirty="0"/>
              <a:t> y a </a:t>
            </a:r>
            <a:r>
              <a:rPr lang="en-US" dirty="0" err="1"/>
              <a:t>eu</a:t>
            </a:r>
            <a:r>
              <a:rPr lang="en-US" dirty="0"/>
              <a:t> au </a:t>
            </a:r>
            <a:r>
              <a:rPr lang="en-US" dirty="0" err="1"/>
              <a:t>moins</a:t>
            </a:r>
            <a:r>
              <a:rPr lang="en-US" dirty="0"/>
              <a:t> </a:t>
            </a:r>
            <a:r>
              <a:rPr lang="en-US" dirty="0" err="1"/>
              <a:t>une</a:t>
            </a:r>
            <a:r>
              <a:rPr lang="en-US" dirty="0"/>
              <a:t> </a:t>
            </a:r>
            <a:r>
              <a:rPr lang="en-US" dirty="0" err="1"/>
              <a:t>écriture</a:t>
            </a:r>
            <a:r>
              <a:rPr lang="en-US" dirty="0"/>
              <a:t> </a:t>
            </a:r>
            <a:r>
              <a:rPr lang="en-US" dirty="0" err="1"/>
              <a:t>dans</a:t>
            </a:r>
            <a:r>
              <a:rPr lang="en-US" dirty="0"/>
              <a:t> </a:t>
            </a:r>
            <a:r>
              <a:rPr lang="en-US" dirty="0" err="1"/>
              <a:t>cette</a:t>
            </a:r>
            <a:r>
              <a:rPr lang="en-US" dirty="0"/>
              <a:t> </a:t>
            </a:r>
            <a:r>
              <a:rPr lang="en-US" dirty="0" err="1"/>
              <a:t>ligne</a:t>
            </a:r>
            <a:r>
              <a:rPr lang="en-US" dirty="0"/>
              <a:t>.</a:t>
            </a:r>
          </a:p>
          <a:p>
            <a:pPr marL="45720" indent="0">
              <a:buNone/>
            </a:pPr>
            <a:endParaRPr lang="en-US" dirty="0"/>
          </a:p>
        </p:txBody>
      </p:sp>
      <p:sp>
        <p:nvSpPr>
          <p:cNvPr id="3" name="Title 2"/>
          <p:cNvSpPr>
            <a:spLocks noGrp="1"/>
          </p:cNvSpPr>
          <p:nvPr>
            <p:ph type="title"/>
          </p:nvPr>
        </p:nvSpPr>
        <p:spPr/>
        <p:txBody>
          <a:bodyPr/>
          <a:lstStyle/>
          <a:p>
            <a:r>
              <a:rPr lang="en-US" i="1" dirty="0" err="1"/>
              <a:t>politiques</a:t>
            </a:r>
            <a:r>
              <a:rPr lang="en-US" i="1" dirty="0"/>
              <a:t> </a:t>
            </a:r>
            <a:r>
              <a:rPr lang="en-US" i="1" dirty="0" err="1"/>
              <a:t>d'écriture</a:t>
            </a:r>
            <a:endParaRPr lang="fr-FR" i="1" dirty="0"/>
          </a:p>
        </p:txBody>
      </p:sp>
    </p:spTree>
    <p:extLst>
      <p:ext uri="{BB962C8B-B14F-4D97-AF65-F5344CB8AC3E}">
        <p14:creationId xmlns:p14="http://schemas.microsoft.com/office/powerpoint/2010/main" val="26470567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 indent="0">
              <a:buNone/>
            </a:pPr>
            <a:r>
              <a:rPr lang="en-US" i="1" dirty="0">
                <a:solidFill>
                  <a:srgbClr val="0000FF"/>
                </a:solidFill>
              </a:rPr>
              <a:t>Des </a:t>
            </a:r>
            <a:r>
              <a:rPr lang="en-US" i="1" dirty="0" err="1">
                <a:solidFill>
                  <a:srgbClr val="0000FF"/>
                </a:solidFill>
              </a:rPr>
              <a:t>politiques</a:t>
            </a:r>
            <a:r>
              <a:rPr lang="en-US" i="1" dirty="0">
                <a:solidFill>
                  <a:srgbClr val="0000FF"/>
                </a:solidFill>
              </a:rPr>
              <a:t> </a:t>
            </a:r>
            <a:r>
              <a:rPr lang="en-US" i="1" dirty="0" err="1">
                <a:solidFill>
                  <a:srgbClr val="0000FF"/>
                </a:solidFill>
              </a:rPr>
              <a:t>intermédiaires</a:t>
            </a:r>
            <a:r>
              <a:rPr lang="en-US" i="1" dirty="0">
                <a:solidFill>
                  <a:srgbClr val="0000FF"/>
                </a:solidFill>
              </a:rPr>
              <a:t>:</a:t>
            </a:r>
          </a:p>
          <a:p>
            <a:pPr marL="45720" indent="0">
              <a:buNone/>
            </a:pPr>
            <a:endParaRPr lang="en-US" i="1" dirty="0">
              <a:solidFill>
                <a:srgbClr val="0000FF"/>
              </a:solidFill>
            </a:endParaRPr>
          </a:p>
          <a:p>
            <a:pPr algn="just"/>
            <a:r>
              <a:rPr lang="en-US" i="1" dirty="0" err="1">
                <a:solidFill>
                  <a:srgbClr val="0000FF"/>
                </a:solidFill>
              </a:rPr>
              <a:t>Dans</a:t>
            </a:r>
            <a:r>
              <a:rPr lang="en-US" i="1" dirty="0">
                <a:solidFill>
                  <a:srgbClr val="0000FF"/>
                </a:solidFill>
              </a:rPr>
              <a:t> le </a:t>
            </a:r>
            <a:r>
              <a:rPr lang="en-US" i="1" dirty="0" err="1">
                <a:solidFill>
                  <a:srgbClr val="0000FF"/>
                </a:solidFill>
              </a:rPr>
              <a:t>cas</a:t>
            </a:r>
            <a:r>
              <a:rPr lang="en-US" i="1" dirty="0">
                <a:solidFill>
                  <a:srgbClr val="0000FF"/>
                </a:solidFill>
              </a:rPr>
              <a:t> du write-through</a:t>
            </a:r>
            <a:r>
              <a:rPr lang="en-US" dirty="0"/>
              <a:t>: les </a:t>
            </a:r>
            <a:r>
              <a:rPr lang="en-US" dirty="0" err="1"/>
              <a:t>écritures</a:t>
            </a:r>
            <a:r>
              <a:rPr lang="en-US" dirty="0"/>
              <a:t> </a:t>
            </a:r>
            <a:r>
              <a:rPr lang="en-US" dirty="0" err="1"/>
              <a:t>à</a:t>
            </a:r>
            <a:r>
              <a:rPr lang="en-US" dirty="0"/>
              <a:t> faire </a:t>
            </a:r>
            <a:r>
              <a:rPr lang="en-US" dirty="0" err="1"/>
              <a:t>peuvent</a:t>
            </a:r>
            <a:r>
              <a:rPr lang="en-US" dirty="0"/>
              <a:t> </a:t>
            </a:r>
            <a:r>
              <a:rPr lang="en-US" dirty="0" err="1"/>
              <a:t>être</a:t>
            </a:r>
            <a:r>
              <a:rPr lang="en-US" dirty="0"/>
              <a:t> </a:t>
            </a:r>
            <a:r>
              <a:rPr lang="en-US" dirty="0" err="1"/>
              <a:t>mises</a:t>
            </a:r>
            <a:r>
              <a:rPr lang="en-US" dirty="0"/>
              <a:t> en </a:t>
            </a:r>
            <a:r>
              <a:rPr lang="en-US" dirty="0" err="1"/>
              <a:t>attente</a:t>
            </a:r>
            <a:r>
              <a:rPr lang="en-US" dirty="0"/>
              <a:t> </a:t>
            </a:r>
            <a:r>
              <a:rPr lang="en-US" dirty="0" err="1"/>
              <a:t>temporairement</a:t>
            </a:r>
            <a:r>
              <a:rPr lang="en-US" dirty="0"/>
              <a:t> </a:t>
            </a:r>
            <a:r>
              <a:rPr lang="en-US" dirty="0" err="1"/>
              <a:t>dans</a:t>
            </a:r>
            <a:r>
              <a:rPr lang="en-US" dirty="0"/>
              <a:t> </a:t>
            </a:r>
            <a:r>
              <a:rPr lang="en-US" dirty="0" err="1"/>
              <a:t>une</a:t>
            </a:r>
            <a:r>
              <a:rPr lang="en-US" dirty="0"/>
              <a:t> file. </a:t>
            </a:r>
            <a:r>
              <a:rPr lang="en-US" dirty="0" err="1"/>
              <a:t>Plusieurs</a:t>
            </a:r>
            <a:r>
              <a:rPr lang="en-US" dirty="0"/>
              <a:t> </a:t>
            </a:r>
            <a:r>
              <a:rPr lang="en-US" dirty="0" err="1"/>
              <a:t>écritures</a:t>
            </a:r>
            <a:r>
              <a:rPr lang="en-US" dirty="0"/>
              <a:t> </a:t>
            </a:r>
            <a:r>
              <a:rPr lang="en-US" dirty="0" err="1"/>
              <a:t>consécutives</a:t>
            </a:r>
            <a:r>
              <a:rPr lang="en-US" dirty="0"/>
              <a:t> </a:t>
            </a:r>
            <a:r>
              <a:rPr lang="en-US" dirty="0" err="1"/>
              <a:t>à</a:t>
            </a:r>
            <a:r>
              <a:rPr lang="en-US" dirty="0"/>
              <a:t> la </a:t>
            </a:r>
            <a:r>
              <a:rPr lang="en-US" dirty="0" err="1"/>
              <a:t>même</a:t>
            </a:r>
            <a:r>
              <a:rPr lang="en-US" dirty="0"/>
              <a:t> </a:t>
            </a:r>
            <a:r>
              <a:rPr lang="en-US" dirty="0" err="1"/>
              <a:t>adresse</a:t>
            </a:r>
            <a:r>
              <a:rPr lang="en-US" dirty="0"/>
              <a:t> </a:t>
            </a:r>
            <a:r>
              <a:rPr lang="en-US" dirty="0" err="1"/>
              <a:t>peuvent</a:t>
            </a:r>
            <a:r>
              <a:rPr lang="en-US" dirty="0"/>
              <a:t> </a:t>
            </a:r>
            <a:r>
              <a:rPr lang="en-US" dirty="0" err="1"/>
              <a:t>ainsi</a:t>
            </a:r>
            <a:r>
              <a:rPr lang="en-US" dirty="0"/>
              <a:t> </a:t>
            </a:r>
            <a:r>
              <a:rPr lang="en-US" dirty="0" err="1"/>
              <a:t>être</a:t>
            </a:r>
            <a:r>
              <a:rPr lang="en-US" dirty="0"/>
              <a:t> </a:t>
            </a:r>
            <a:r>
              <a:rPr lang="en-US" dirty="0" err="1"/>
              <a:t>répercutées</a:t>
            </a:r>
            <a:r>
              <a:rPr lang="en-US" dirty="0"/>
              <a:t> par </a:t>
            </a:r>
            <a:r>
              <a:rPr lang="en-US" dirty="0" err="1"/>
              <a:t>une</a:t>
            </a:r>
            <a:r>
              <a:rPr lang="en-US" dirty="0"/>
              <a:t> </a:t>
            </a:r>
            <a:r>
              <a:rPr lang="en-US" dirty="0" err="1"/>
              <a:t>seule</a:t>
            </a:r>
            <a:r>
              <a:rPr lang="en-US" dirty="0"/>
              <a:t> </a:t>
            </a:r>
            <a:r>
              <a:rPr lang="en-US" dirty="0" err="1"/>
              <a:t>écriture</a:t>
            </a:r>
            <a:r>
              <a:rPr lang="en-US" dirty="0"/>
              <a:t> en </a:t>
            </a:r>
            <a:r>
              <a:rPr lang="en-US" dirty="0" err="1"/>
              <a:t>mémoire</a:t>
            </a:r>
            <a:r>
              <a:rPr lang="en-US" dirty="0"/>
              <a:t>. </a:t>
            </a:r>
          </a:p>
          <a:p>
            <a:pPr algn="just"/>
            <a:endParaRPr lang="en-US" dirty="0"/>
          </a:p>
          <a:p>
            <a:pPr algn="just"/>
            <a:r>
              <a:rPr lang="en-US" i="1" dirty="0" err="1">
                <a:solidFill>
                  <a:srgbClr val="0000FF"/>
                </a:solidFill>
              </a:rPr>
              <a:t>Dans</a:t>
            </a:r>
            <a:r>
              <a:rPr lang="en-US" i="1" dirty="0">
                <a:solidFill>
                  <a:srgbClr val="0000FF"/>
                </a:solidFill>
              </a:rPr>
              <a:t> le </a:t>
            </a:r>
            <a:r>
              <a:rPr lang="en-US" i="1" dirty="0" err="1">
                <a:solidFill>
                  <a:srgbClr val="0000FF"/>
                </a:solidFill>
              </a:rPr>
              <a:t>cas</a:t>
            </a:r>
            <a:r>
              <a:rPr lang="en-US" i="1" dirty="0">
                <a:solidFill>
                  <a:srgbClr val="0000FF"/>
                </a:solidFill>
              </a:rPr>
              <a:t> du Write-back</a:t>
            </a:r>
            <a:r>
              <a:rPr lang="en-US" dirty="0"/>
              <a:t>: le cache </a:t>
            </a:r>
            <a:r>
              <a:rPr lang="en-US" dirty="0" err="1"/>
              <a:t>peut</a:t>
            </a:r>
            <a:r>
              <a:rPr lang="en-US" dirty="0"/>
              <a:t> </a:t>
            </a:r>
            <a:r>
              <a:rPr lang="en-US" dirty="0" err="1"/>
              <a:t>anticiper</a:t>
            </a:r>
            <a:r>
              <a:rPr lang="en-US" dirty="0"/>
              <a:t> </a:t>
            </a:r>
            <a:r>
              <a:rPr lang="en-US" dirty="0" err="1"/>
              <a:t>l'écriture</a:t>
            </a:r>
            <a:r>
              <a:rPr lang="en-US" dirty="0"/>
              <a:t> en </a:t>
            </a:r>
            <a:r>
              <a:rPr lang="en-US" dirty="0" err="1"/>
              <a:t>mémoire</a:t>
            </a:r>
            <a:r>
              <a:rPr lang="en-US" dirty="0"/>
              <a:t> de </a:t>
            </a:r>
            <a:r>
              <a:rPr lang="en-US" dirty="0" err="1"/>
              <a:t>certaines</a:t>
            </a:r>
            <a:r>
              <a:rPr lang="en-US" dirty="0"/>
              <a:t> </a:t>
            </a:r>
            <a:r>
              <a:rPr lang="en-US" dirty="0" err="1"/>
              <a:t>lignes</a:t>
            </a:r>
            <a:r>
              <a:rPr lang="en-US" dirty="0"/>
              <a:t> </a:t>
            </a:r>
            <a:r>
              <a:rPr lang="en-US" dirty="0" err="1"/>
              <a:t>modifiées</a:t>
            </a:r>
            <a:r>
              <a:rPr lang="en-US" dirty="0"/>
              <a:t> du cache; Il </a:t>
            </a:r>
            <a:r>
              <a:rPr lang="en-US" dirty="0" err="1"/>
              <a:t>profite</a:t>
            </a:r>
            <a:r>
              <a:rPr lang="en-US" dirty="0"/>
              <a:t> de </a:t>
            </a:r>
            <a:r>
              <a:rPr lang="en-US" dirty="0" err="1"/>
              <a:t>périodes</a:t>
            </a:r>
            <a:r>
              <a:rPr lang="en-US" dirty="0"/>
              <a:t> sans </a:t>
            </a:r>
            <a:r>
              <a:rPr lang="en-US" dirty="0" err="1"/>
              <a:t>échange</a:t>
            </a:r>
            <a:r>
              <a:rPr lang="en-US" dirty="0"/>
              <a:t> avec la </a:t>
            </a:r>
            <a:r>
              <a:rPr lang="en-US" dirty="0" err="1"/>
              <a:t>mémoire</a:t>
            </a:r>
            <a:r>
              <a:rPr lang="en-US" dirty="0"/>
              <a:t> pour </a:t>
            </a:r>
            <a:r>
              <a:rPr lang="en-US" dirty="0" err="1"/>
              <a:t>écrire</a:t>
            </a:r>
            <a:r>
              <a:rPr lang="en-US" dirty="0"/>
              <a:t> </a:t>
            </a:r>
            <a:r>
              <a:rPr lang="en-US" dirty="0" err="1"/>
              <a:t>certaines</a:t>
            </a:r>
            <a:r>
              <a:rPr lang="en-US" dirty="0"/>
              <a:t> </a:t>
            </a:r>
            <a:r>
              <a:rPr lang="en-US" dirty="0" err="1"/>
              <a:t>lignes</a:t>
            </a:r>
            <a:r>
              <a:rPr lang="en-US" dirty="0"/>
              <a:t> </a:t>
            </a:r>
            <a:r>
              <a:rPr lang="en-US" dirty="0" err="1"/>
              <a:t>dont</a:t>
            </a:r>
            <a:r>
              <a:rPr lang="en-US" dirty="0"/>
              <a:t> le </a:t>
            </a:r>
            <a:r>
              <a:rPr lang="en-US" i="1" dirty="0"/>
              <a:t>dirty bit</a:t>
            </a:r>
            <a:r>
              <a:rPr lang="en-US" dirty="0"/>
              <a:t> </a:t>
            </a:r>
            <a:r>
              <a:rPr lang="en-US" dirty="0" err="1"/>
              <a:t>est</a:t>
            </a:r>
            <a:r>
              <a:rPr lang="en-US" dirty="0"/>
              <a:t> </a:t>
            </a:r>
            <a:r>
              <a:rPr lang="en-US" dirty="0" err="1"/>
              <a:t>positionné</a:t>
            </a:r>
            <a:r>
              <a:rPr lang="en-US" dirty="0"/>
              <a:t>. </a:t>
            </a:r>
            <a:r>
              <a:rPr lang="en-US" dirty="0" err="1"/>
              <a:t>Cette</a:t>
            </a:r>
            <a:r>
              <a:rPr lang="en-US" dirty="0"/>
              <a:t> technique </a:t>
            </a:r>
            <a:r>
              <a:rPr lang="en-US" dirty="0" err="1"/>
              <a:t>permet</a:t>
            </a:r>
            <a:r>
              <a:rPr lang="en-US" dirty="0"/>
              <a:t> </a:t>
            </a:r>
            <a:r>
              <a:rPr lang="en-US" dirty="0" err="1"/>
              <a:t>d'éviter</a:t>
            </a:r>
            <a:r>
              <a:rPr lang="en-US" dirty="0"/>
              <a:t> </a:t>
            </a:r>
            <a:r>
              <a:rPr lang="en-US" dirty="0" err="1"/>
              <a:t>l'écriture</a:t>
            </a:r>
            <a:r>
              <a:rPr lang="en-US" dirty="0"/>
              <a:t> de la </a:t>
            </a:r>
            <a:r>
              <a:rPr lang="en-US" dirty="0" err="1"/>
              <a:t>ligne</a:t>
            </a:r>
            <a:r>
              <a:rPr lang="en-US" dirty="0"/>
              <a:t> au moment </a:t>
            </a:r>
            <a:r>
              <a:rPr lang="en-US" dirty="0" err="1"/>
              <a:t>celle</a:t>
            </a:r>
            <a:r>
              <a:rPr lang="en-US" dirty="0"/>
              <a:t>-ci </a:t>
            </a:r>
            <a:r>
              <a:rPr lang="en-US" dirty="0" err="1"/>
              <a:t>est</a:t>
            </a:r>
            <a:r>
              <a:rPr lang="en-US" dirty="0"/>
              <a:t> </a:t>
            </a:r>
            <a:r>
              <a:rPr lang="en-US" dirty="0" err="1"/>
              <a:t>libérée</a:t>
            </a:r>
            <a:r>
              <a:rPr lang="en-US" dirty="0"/>
              <a:t>.</a:t>
            </a:r>
          </a:p>
          <a:p>
            <a:endParaRPr lang="en-US" dirty="0"/>
          </a:p>
          <a:p>
            <a:endParaRPr lang="fr-FR" dirty="0"/>
          </a:p>
        </p:txBody>
      </p:sp>
      <p:sp>
        <p:nvSpPr>
          <p:cNvPr id="3" name="Title 2"/>
          <p:cNvSpPr>
            <a:spLocks noGrp="1"/>
          </p:cNvSpPr>
          <p:nvPr>
            <p:ph type="title"/>
          </p:nvPr>
        </p:nvSpPr>
        <p:spPr/>
        <p:txBody>
          <a:bodyPr/>
          <a:lstStyle/>
          <a:p>
            <a:r>
              <a:rPr lang="en-US" i="1" dirty="0" err="1"/>
              <a:t>politiques</a:t>
            </a:r>
            <a:r>
              <a:rPr lang="en-US" i="1" dirty="0"/>
              <a:t> </a:t>
            </a:r>
            <a:r>
              <a:rPr lang="en-US" i="1" dirty="0" err="1"/>
              <a:t>d'écriture</a:t>
            </a:r>
            <a:endParaRPr lang="fr-FR" dirty="0"/>
          </a:p>
        </p:txBody>
      </p:sp>
    </p:spTree>
    <p:extLst>
      <p:ext uri="{BB962C8B-B14F-4D97-AF65-F5344CB8AC3E}">
        <p14:creationId xmlns:p14="http://schemas.microsoft.com/office/powerpoint/2010/main" val="42168984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45720" indent="0" algn="just">
              <a:buNone/>
            </a:pPr>
            <a:r>
              <a:rPr lang="en-US" dirty="0"/>
              <a:t>      </a:t>
            </a:r>
            <a:r>
              <a:rPr lang="en-US" dirty="0" err="1"/>
              <a:t>Mémoire</a:t>
            </a:r>
            <a:r>
              <a:rPr lang="en-US" dirty="0"/>
              <a:t> cache, </a:t>
            </a:r>
            <a:r>
              <a:rPr lang="en-US" dirty="0" err="1"/>
              <a:t>Contient</a:t>
            </a:r>
            <a:r>
              <a:rPr lang="en-US" dirty="0"/>
              <a:t> des </a:t>
            </a:r>
            <a:r>
              <a:rPr lang="en-US" dirty="0" err="1"/>
              <a:t>lignes</a:t>
            </a:r>
            <a:r>
              <a:rPr lang="en-US" dirty="0"/>
              <a:t> de mots de la </a:t>
            </a:r>
            <a:r>
              <a:rPr lang="en-US" dirty="0" err="1"/>
              <a:t>mémoire</a:t>
            </a:r>
            <a:r>
              <a:rPr lang="en-US" dirty="0"/>
              <a:t>    </a:t>
            </a:r>
          </a:p>
          <a:p>
            <a:pPr marL="45720" indent="0" algn="just">
              <a:buNone/>
            </a:pPr>
            <a:r>
              <a:rPr lang="en-US" dirty="0"/>
              <a:t>    </a:t>
            </a:r>
            <a:r>
              <a:rPr lang="en-US" dirty="0" err="1"/>
              <a:t>centrale</a:t>
            </a:r>
            <a:r>
              <a:rPr lang="en-US" dirty="0"/>
              <a:t>, Un </a:t>
            </a:r>
            <a:r>
              <a:rPr lang="en-US" dirty="0" err="1"/>
              <a:t>élément</a:t>
            </a:r>
            <a:r>
              <a:rPr lang="en-US" dirty="0"/>
              <a:t> crucial de </a:t>
            </a:r>
            <a:r>
              <a:rPr lang="en-US" dirty="0" err="1"/>
              <a:t>l'efficacité</a:t>
            </a:r>
            <a:r>
              <a:rPr lang="en-US" dirty="0"/>
              <a:t> du cache </a:t>
            </a:r>
            <a:r>
              <a:rPr lang="en-US" dirty="0" err="1"/>
              <a:t>est</a:t>
            </a:r>
            <a:r>
              <a:rPr lang="en-US" dirty="0"/>
              <a:t> de        </a:t>
            </a:r>
          </a:p>
          <a:p>
            <a:pPr marL="45720" indent="0" algn="just">
              <a:buNone/>
            </a:pPr>
            <a:r>
              <a:rPr lang="en-US" dirty="0"/>
              <a:t>    </a:t>
            </a:r>
            <a:r>
              <a:rPr lang="en-US" dirty="0" err="1"/>
              <a:t>retrouver</a:t>
            </a:r>
            <a:r>
              <a:rPr lang="en-US" dirty="0"/>
              <a:t>  </a:t>
            </a:r>
            <a:r>
              <a:rPr lang="en-US" dirty="0" err="1"/>
              <a:t>rapidement</a:t>
            </a:r>
            <a:r>
              <a:rPr lang="en-US" dirty="0"/>
              <a:t> </a:t>
            </a:r>
            <a:r>
              <a:rPr lang="en-US" dirty="0" err="1">
                <a:solidFill>
                  <a:srgbClr val="0000FF"/>
                </a:solidFill>
              </a:rPr>
              <a:t>si</a:t>
            </a:r>
            <a:r>
              <a:rPr lang="en-US" dirty="0">
                <a:solidFill>
                  <a:srgbClr val="0000FF"/>
                </a:solidFill>
              </a:rPr>
              <a:t> des </a:t>
            </a:r>
            <a:r>
              <a:rPr lang="en-US" dirty="0" err="1">
                <a:solidFill>
                  <a:srgbClr val="0000FF"/>
                </a:solidFill>
              </a:rPr>
              <a:t>données</a:t>
            </a:r>
            <a:r>
              <a:rPr lang="en-US" dirty="0">
                <a:solidFill>
                  <a:srgbClr val="0000FF"/>
                </a:solidFill>
              </a:rPr>
              <a:t> </a:t>
            </a:r>
            <a:r>
              <a:rPr lang="en-US" dirty="0" err="1">
                <a:solidFill>
                  <a:srgbClr val="0000FF"/>
                </a:solidFill>
              </a:rPr>
              <a:t>à</a:t>
            </a:r>
            <a:r>
              <a:rPr lang="en-US" dirty="0">
                <a:solidFill>
                  <a:srgbClr val="0000FF"/>
                </a:solidFill>
              </a:rPr>
              <a:t> </a:t>
            </a:r>
            <a:r>
              <a:rPr lang="en-US" dirty="0" err="1">
                <a:solidFill>
                  <a:srgbClr val="0000FF"/>
                </a:solidFill>
              </a:rPr>
              <a:t>une</a:t>
            </a:r>
            <a:r>
              <a:rPr lang="en-US" dirty="0">
                <a:solidFill>
                  <a:srgbClr val="0000FF"/>
                </a:solidFill>
              </a:rPr>
              <a:t> </a:t>
            </a:r>
            <a:r>
              <a:rPr lang="en-US" dirty="0" err="1">
                <a:solidFill>
                  <a:srgbClr val="0000FF"/>
                </a:solidFill>
              </a:rPr>
              <a:t>adresse</a:t>
            </a:r>
            <a:r>
              <a:rPr lang="en-US" dirty="0">
                <a:solidFill>
                  <a:srgbClr val="0000FF"/>
                </a:solidFill>
              </a:rPr>
              <a:t> </a:t>
            </a:r>
            <a:r>
              <a:rPr lang="en-US" dirty="0" err="1">
                <a:solidFill>
                  <a:srgbClr val="0000FF"/>
                </a:solidFill>
              </a:rPr>
              <a:t>mémoire</a:t>
            </a:r>
            <a:r>
              <a:rPr lang="en-US" dirty="0"/>
              <a:t>       </a:t>
            </a:r>
          </a:p>
          <a:p>
            <a:pPr marL="45720" indent="0" algn="just">
              <a:buNone/>
            </a:pPr>
            <a:r>
              <a:rPr lang="en-US" dirty="0"/>
              <a:t>    </a:t>
            </a:r>
            <a:r>
              <a:rPr lang="en-US" dirty="0" err="1"/>
              <a:t>sont</a:t>
            </a:r>
            <a:r>
              <a:rPr lang="en-US" dirty="0"/>
              <a:t> déjà </a:t>
            </a:r>
            <a:r>
              <a:rPr lang="en-US" dirty="0" err="1"/>
              <a:t>dans</a:t>
            </a:r>
            <a:r>
              <a:rPr lang="en-US" dirty="0"/>
              <a:t> le cache.</a:t>
            </a:r>
          </a:p>
          <a:p>
            <a:pPr marL="45720" indent="0" algn="just">
              <a:buNone/>
            </a:pPr>
            <a:r>
              <a:rPr lang="en-US" dirty="0"/>
              <a:t> </a:t>
            </a:r>
          </a:p>
          <a:p>
            <a:pPr marL="45720" indent="0" algn="just">
              <a:buNone/>
            </a:pPr>
            <a:r>
              <a:rPr lang="en-US" dirty="0"/>
              <a:t>     </a:t>
            </a:r>
            <a:r>
              <a:rPr lang="en-US" dirty="0" err="1"/>
              <a:t>Trois</a:t>
            </a:r>
            <a:r>
              <a:rPr lang="en-US" dirty="0"/>
              <a:t> </a:t>
            </a:r>
            <a:r>
              <a:rPr lang="en-US" dirty="0" err="1"/>
              <a:t>méthodes</a:t>
            </a:r>
            <a:r>
              <a:rPr lang="en-US" dirty="0"/>
              <a:t> pour </a:t>
            </a:r>
            <a:r>
              <a:rPr lang="en-US" dirty="0" err="1"/>
              <a:t>gérer</a:t>
            </a:r>
            <a:r>
              <a:rPr lang="en-US" dirty="0"/>
              <a:t> la </a:t>
            </a:r>
            <a:r>
              <a:rPr lang="en-US" dirty="0" err="1"/>
              <a:t>correspondance</a:t>
            </a:r>
            <a:r>
              <a:rPr lang="en-US" dirty="0"/>
              <a:t> entre </a:t>
            </a:r>
            <a:r>
              <a:rPr lang="en-US" dirty="0" err="1"/>
              <a:t>une</a:t>
            </a:r>
            <a:r>
              <a:rPr lang="en-US" dirty="0"/>
              <a:t> </a:t>
            </a:r>
            <a:r>
              <a:rPr lang="en-US" dirty="0" err="1"/>
              <a:t>ligne</a:t>
            </a:r>
            <a:r>
              <a:rPr lang="en-US" dirty="0"/>
              <a:t> </a:t>
            </a:r>
            <a:r>
              <a:rPr lang="en-US" dirty="0" err="1"/>
              <a:t>dans</a:t>
            </a:r>
            <a:r>
              <a:rPr lang="en-US" dirty="0"/>
              <a:t> le cache et </a:t>
            </a:r>
            <a:r>
              <a:rPr lang="en-US" dirty="0" err="1"/>
              <a:t>une</a:t>
            </a:r>
            <a:r>
              <a:rPr lang="en-US" dirty="0"/>
              <a:t> </a:t>
            </a:r>
            <a:r>
              <a:rPr lang="en-US" dirty="0" err="1"/>
              <a:t>ligne</a:t>
            </a:r>
            <a:r>
              <a:rPr lang="en-US" dirty="0"/>
              <a:t> de la </a:t>
            </a:r>
            <a:r>
              <a:rPr lang="en-US" dirty="0" err="1"/>
              <a:t>mémoire</a:t>
            </a:r>
            <a:r>
              <a:rPr lang="en-US" dirty="0"/>
              <a:t> </a:t>
            </a:r>
            <a:r>
              <a:rPr lang="en-US" dirty="0" err="1"/>
              <a:t>centrale</a:t>
            </a:r>
            <a:r>
              <a:rPr lang="en-US" dirty="0"/>
              <a:t>:</a:t>
            </a:r>
          </a:p>
          <a:p>
            <a:pPr marL="45720" indent="0" algn="just">
              <a:buNone/>
            </a:pPr>
            <a:r>
              <a:rPr lang="en-US" dirty="0" err="1">
                <a:solidFill>
                  <a:srgbClr val="0000FF"/>
                </a:solidFill>
              </a:rPr>
              <a:t>Correspondance</a:t>
            </a:r>
            <a:r>
              <a:rPr lang="en-US" dirty="0">
                <a:solidFill>
                  <a:srgbClr val="0000FF"/>
                </a:solidFill>
              </a:rPr>
              <a:t> </a:t>
            </a:r>
            <a:r>
              <a:rPr lang="en-US" dirty="0" err="1">
                <a:solidFill>
                  <a:srgbClr val="0000FF"/>
                </a:solidFill>
              </a:rPr>
              <a:t>directe</a:t>
            </a:r>
            <a:endParaRPr lang="en-US" dirty="0">
              <a:solidFill>
                <a:srgbClr val="0000FF"/>
              </a:solidFill>
            </a:endParaRPr>
          </a:p>
          <a:p>
            <a:pPr marL="45720" indent="0" algn="just">
              <a:buNone/>
            </a:pPr>
            <a:r>
              <a:rPr lang="en-US" dirty="0" err="1">
                <a:solidFill>
                  <a:srgbClr val="0000FF"/>
                </a:solidFill>
              </a:rPr>
              <a:t>Correspondance</a:t>
            </a:r>
            <a:r>
              <a:rPr lang="en-US" dirty="0">
                <a:solidFill>
                  <a:srgbClr val="0000FF"/>
                </a:solidFill>
              </a:rPr>
              <a:t> associative </a:t>
            </a:r>
            <a:r>
              <a:rPr lang="en-US" dirty="0" err="1">
                <a:solidFill>
                  <a:srgbClr val="0000FF"/>
                </a:solidFill>
              </a:rPr>
              <a:t>totale</a:t>
            </a:r>
            <a:endParaRPr lang="en-US" dirty="0">
              <a:solidFill>
                <a:srgbClr val="0000FF"/>
              </a:solidFill>
            </a:endParaRPr>
          </a:p>
          <a:p>
            <a:pPr marL="45720" indent="0" algn="just">
              <a:buNone/>
            </a:pPr>
            <a:r>
              <a:rPr lang="en-US" dirty="0" err="1">
                <a:solidFill>
                  <a:srgbClr val="0000FF"/>
                </a:solidFill>
              </a:rPr>
              <a:t>Correspondance</a:t>
            </a:r>
            <a:r>
              <a:rPr lang="en-US" dirty="0">
                <a:solidFill>
                  <a:srgbClr val="0000FF"/>
                </a:solidFill>
              </a:rPr>
              <a:t> associative par ensemble</a:t>
            </a:r>
          </a:p>
          <a:p>
            <a:pPr marL="45720" indent="0" algn="just">
              <a:buNone/>
            </a:pPr>
            <a:endParaRPr lang="en-US" dirty="0">
              <a:solidFill>
                <a:srgbClr val="0000FF"/>
              </a:solidFill>
            </a:endParaRPr>
          </a:p>
          <a:p>
            <a:pPr marL="45720" indent="0" algn="just">
              <a:buNone/>
            </a:pPr>
            <a:r>
              <a:rPr lang="en-US" dirty="0" err="1">
                <a:solidFill>
                  <a:srgbClr val="0000FF"/>
                </a:solidFill>
              </a:rPr>
              <a:t>Associativité</a:t>
            </a:r>
            <a:r>
              <a:rPr lang="en-US" dirty="0">
                <a:solidFill>
                  <a:srgbClr val="0000FF"/>
                </a:solidFill>
              </a:rPr>
              <a:t>: </a:t>
            </a:r>
            <a:r>
              <a:rPr lang="en-US" dirty="0"/>
              <a:t>Le </a:t>
            </a:r>
            <a:r>
              <a:rPr lang="en-US" dirty="0" err="1"/>
              <a:t>nombre</a:t>
            </a:r>
            <a:r>
              <a:rPr lang="en-US" dirty="0"/>
              <a:t> de </a:t>
            </a:r>
            <a:r>
              <a:rPr lang="en-US" dirty="0" err="1"/>
              <a:t>lignes</a:t>
            </a:r>
            <a:r>
              <a:rPr lang="en-US" dirty="0"/>
              <a:t> </a:t>
            </a:r>
            <a:r>
              <a:rPr lang="en-US" dirty="0" err="1"/>
              <a:t>où</a:t>
            </a:r>
            <a:r>
              <a:rPr lang="en-US" dirty="0"/>
              <a:t> </a:t>
            </a:r>
            <a:r>
              <a:rPr lang="en-US" dirty="0" err="1"/>
              <a:t>peuvent</a:t>
            </a:r>
            <a:r>
              <a:rPr lang="en-US" dirty="0"/>
              <a:t> </a:t>
            </a:r>
            <a:r>
              <a:rPr lang="en-US" dirty="0" err="1"/>
              <a:t>être</a:t>
            </a:r>
            <a:r>
              <a:rPr lang="en-US" dirty="0"/>
              <a:t> </a:t>
            </a:r>
            <a:r>
              <a:rPr lang="en-US" dirty="0" err="1"/>
              <a:t>mises</a:t>
            </a:r>
            <a:r>
              <a:rPr lang="en-US" dirty="0"/>
              <a:t> les </a:t>
            </a:r>
            <a:r>
              <a:rPr lang="en-US" dirty="0" err="1"/>
              <a:t>données</a:t>
            </a:r>
            <a:r>
              <a:rPr lang="en-US" dirty="0"/>
              <a:t> </a:t>
            </a:r>
            <a:r>
              <a:rPr lang="en-US" dirty="0" err="1"/>
              <a:t>à</a:t>
            </a:r>
            <a:r>
              <a:rPr lang="en-US" dirty="0"/>
              <a:t> </a:t>
            </a:r>
            <a:r>
              <a:rPr lang="en-US" dirty="0" err="1"/>
              <a:t>une</a:t>
            </a:r>
            <a:r>
              <a:rPr lang="en-US" dirty="0"/>
              <a:t> </a:t>
            </a:r>
            <a:r>
              <a:rPr lang="en-US" dirty="0" err="1"/>
              <a:t>adresse</a:t>
            </a:r>
            <a:r>
              <a:rPr lang="en-US" dirty="0"/>
              <a:t> </a:t>
            </a:r>
            <a:r>
              <a:rPr lang="en-US" dirty="0" err="1"/>
              <a:t>mémoire</a:t>
            </a:r>
            <a:r>
              <a:rPr lang="en-US" dirty="0"/>
              <a:t> </a:t>
            </a:r>
            <a:r>
              <a:rPr lang="en-US" dirty="0" err="1"/>
              <a:t>fixée</a:t>
            </a:r>
            <a:r>
              <a:rPr lang="en-US" dirty="0"/>
              <a:t>, </a:t>
            </a:r>
            <a:r>
              <a:rPr lang="en-US" dirty="0" err="1"/>
              <a:t>il</a:t>
            </a:r>
            <a:r>
              <a:rPr lang="en-US" dirty="0"/>
              <a:t> </a:t>
            </a:r>
            <a:r>
              <a:rPr lang="en-US" dirty="0" err="1"/>
              <a:t>est</a:t>
            </a:r>
            <a:r>
              <a:rPr lang="en-US" dirty="0"/>
              <a:t> </a:t>
            </a:r>
            <a:r>
              <a:rPr lang="en-US" dirty="0" err="1"/>
              <a:t>appelé</a:t>
            </a:r>
            <a:r>
              <a:rPr lang="en-US" dirty="0"/>
              <a:t> </a:t>
            </a:r>
            <a:r>
              <a:rPr lang="en-US" dirty="0" err="1">
                <a:solidFill>
                  <a:srgbClr val="0000FF"/>
                </a:solidFill>
              </a:rPr>
              <a:t>l'</a:t>
            </a:r>
            <a:r>
              <a:rPr lang="en-US" i="1" dirty="0" err="1">
                <a:solidFill>
                  <a:srgbClr val="0000FF"/>
                </a:solidFill>
              </a:rPr>
              <a:t>associativité</a:t>
            </a:r>
            <a:r>
              <a:rPr lang="en-US" dirty="0"/>
              <a:t> du cache.</a:t>
            </a:r>
          </a:p>
        </p:txBody>
      </p:sp>
      <p:sp>
        <p:nvSpPr>
          <p:cNvPr id="3" name="Title 2"/>
          <p:cNvSpPr>
            <a:spLocks noGrp="1"/>
          </p:cNvSpPr>
          <p:nvPr>
            <p:ph type="title"/>
          </p:nvPr>
        </p:nvSpPr>
        <p:spPr/>
        <p:txBody>
          <a:bodyPr/>
          <a:lstStyle/>
          <a:p>
            <a:r>
              <a:rPr lang="en-US" i="1" dirty="0" err="1"/>
              <a:t>Associativité</a:t>
            </a:r>
            <a:endParaRPr lang="fr-FR" i="1" dirty="0"/>
          </a:p>
        </p:txBody>
      </p:sp>
      <p:sp>
        <p:nvSpPr>
          <p:cNvPr id="5" name="Curved Right Arrow 4"/>
          <p:cNvSpPr/>
          <p:nvPr/>
        </p:nvSpPr>
        <p:spPr>
          <a:xfrm>
            <a:off x="153145" y="1897983"/>
            <a:ext cx="666179" cy="2075492"/>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solidFill>
                <a:schemeClr val="tx1"/>
              </a:solidFill>
            </a:endParaRPr>
          </a:p>
        </p:txBody>
      </p:sp>
      <p:sp>
        <p:nvSpPr>
          <p:cNvPr id="6" name="Down Arrow 5"/>
          <p:cNvSpPr/>
          <p:nvPr/>
        </p:nvSpPr>
        <p:spPr>
          <a:xfrm flipH="1">
            <a:off x="787863" y="5366240"/>
            <a:ext cx="282011" cy="36867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576816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en-US" dirty="0" err="1">
                <a:solidFill>
                  <a:srgbClr val="0000FF"/>
                </a:solidFill>
              </a:rPr>
              <a:t>Correspondance</a:t>
            </a:r>
            <a:r>
              <a:rPr lang="en-US" dirty="0">
                <a:solidFill>
                  <a:srgbClr val="0000FF"/>
                </a:solidFill>
              </a:rPr>
              <a:t> </a:t>
            </a:r>
            <a:r>
              <a:rPr lang="en-US" dirty="0" err="1">
                <a:solidFill>
                  <a:srgbClr val="0000FF"/>
                </a:solidFill>
              </a:rPr>
              <a:t>directe</a:t>
            </a:r>
            <a:r>
              <a:rPr lang="en-US" dirty="0">
                <a:solidFill>
                  <a:srgbClr val="0000FF"/>
                </a:solidFill>
              </a:rPr>
              <a:t>: </a:t>
            </a:r>
            <a:r>
              <a:rPr lang="en-US" dirty="0" err="1"/>
              <a:t>Lorsque</a:t>
            </a:r>
            <a:r>
              <a:rPr lang="en-US" dirty="0"/>
              <a:t> </a:t>
            </a:r>
            <a:r>
              <a:rPr lang="en-US" dirty="0" err="1"/>
              <a:t>l'associativité</a:t>
            </a:r>
            <a:r>
              <a:rPr lang="en-US" dirty="0"/>
              <a:t> </a:t>
            </a:r>
            <a:r>
              <a:rPr lang="en-US" dirty="0" err="1"/>
              <a:t>est</a:t>
            </a:r>
            <a:r>
              <a:rPr lang="en-US" dirty="0"/>
              <a:t> </a:t>
            </a:r>
            <a:r>
              <a:rPr lang="en-US" dirty="0" err="1"/>
              <a:t>réduite</a:t>
            </a:r>
            <a:r>
              <a:rPr lang="en-US" dirty="0"/>
              <a:t> </a:t>
            </a:r>
            <a:r>
              <a:rPr lang="en-US" dirty="0" err="1"/>
              <a:t>à</a:t>
            </a:r>
            <a:r>
              <a:rPr lang="en-US" dirty="0"/>
              <a:t> 1, </a:t>
            </a:r>
            <a:r>
              <a:rPr lang="en-US" dirty="0" err="1"/>
              <a:t>c'est</a:t>
            </a:r>
            <a:r>
              <a:rPr lang="en-US" dirty="0"/>
              <a:t>-</a:t>
            </a:r>
            <a:r>
              <a:rPr lang="en-US" dirty="0" err="1"/>
              <a:t>à</a:t>
            </a:r>
            <a:r>
              <a:rPr lang="en-US" dirty="0"/>
              <a:t>-dire </a:t>
            </a:r>
            <a:r>
              <a:rPr lang="en-US" dirty="0" err="1"/>
              <a:t>que</a:t>
            </a:r>
            <a:r>
              <a:rPr lang="en-US" dirty="0"/>
              <a:t> les </a:t>
            </a:r>
            <a:r>
              <a:rPr lang="en-US" dirty="0" err="1"/>
              <a:t>données</a:t>
            </a:r>
            <a:r>
              <a:rPr lang="en-US" dirty="0"/>
              <a:t> de </a:t>
            </a:r>
            <a:r>
              <a:rPr lang="en-US" dirty="0" err="1"/>
              <a:t>chaque</a:t>
            </a:r>
            <a:r>
              <a:rPr lang="en-US" dirty="0"/>
              <a:t> </a:t>
            </a:r>
            <a:r>
              <a:rPr lang="en-US" dirty="0" err="1"/>
              <a:t>adresse</a:t>
            </a:r>
            <a:r>
              <a:rPr lang="en-US" dirty="0"/>
              <a:t> </a:t>
            </a:r>
            <a:r>
              <a:rPr lang="en-US" dirty="0" err="1"/>
              <a:t>peuvent</a:t>
            </a:r>
            <a:r>
              <a:rPr lang="en-US" dirty="0"/>
              <a:t> </a:t>
            </a:r>
            <a:r>
              <a:rPr lang="en-US" dirty="0" err="1"/>
              <a:t>être</a:t>
            </a:r>
            <a:r>
              <a:rPr lang="en-US" dirty="0"/>
              <a:t> </a:t>
            </a:r>
            <a:r>
              <a:rPr lang="en-US" dirty="0" err="1"/>
              <a:t>mises</a:t>
            </a:r>
            <a:r>
              <a:rPr lang="en-US" dirty="0"/>
              <a:t> </a:t>
            </a:r>
            <a:r>
              <a:rPr lang="en-US" dirty="0" err="1"/>
              <a:t>dans</a:t>
            </a:r>
            <a:r>
              <a:rPr lang="en-US" dirty="0"/>
              <a:t> </a:t>
            </a:r>
            <a:r>
              <a:rPr lang="en-US" dirty="0" err="1"/>
              <a:t>une</a:t>
            </a:r>
            <a:r>
              <a:rPr lang="en-US" dirty="0"/>
              <a:t> </a:t>
            </a:r>
            <a:r>
              <a:rPr lang="en-US" dirty="0" err="1"/>
              <a:t>seule</a:t>
            </a:r>
            <a:r>
              <a:rPr lang="en-US" dirty="0"/>
              <a:t> </a:t>
            </a:r>
            <a:r>
              <a:rPr lang="en-US" dirty="0" err="1"/>
              <a:t>ligne</a:t>
            </a:r>
            <a:r>
              <a:rPr lang="en-US" dirty="0"/>
              <a:t> du cache, on </a:t>
            </a:r>
            <a:r>
              <a:rPr lang="en-US" dirty="0" err="1"/>
              <a:t>parle</a:t>
            </a:r>
            <a:r>
              <a:rPr lang="en-US" dirty="0"/>
              <a:t> de </a:t>
            </a:r>
            <a:r>
              <a:rPr lang="en-US" i="1" dirty="0"/>
              <a:t>cache </a:t>
            </a:r>
            <a:r>
              <a:rPr lang="en-US" i="1" dirty="0">
                <a:solidFill>
                  <a:srgbClr val="0000FF"/>
                </a:solidFill>
              </a:rPr>
              <a:t>direct</a:t>
            </a:r>
            <a:r>
              <a:rPr lang="en-US" dirty="0"/>
              <a:t>. </a:t>
            </a:r>
          </a:p>
          <a:p>
            <a:pPr algn="just"/>
            <a:r>
              <a:rPr lang="en-US" dirty="0" err="1">
                <a:solidFill>
                  <a:srgbClr val="0000FF"/>
                </a:solidFill>
              </a:rPr>
              <a:t>Correspondance</a:t>
            </a:r>
            <a:r>
              <a:rPr lang="en-US" dirty="0">
                <a:solidFill>
                  <a:srgbClr val="0000FF"/>
                </a:solidFill>
              </a:rPr>
              <a:t> associative </a:t>
            </a:r>
            <a:r>
              <a:rPr lang="en-US" dirty="0" err="1">
                <a:solidFill>
                  <a:srgbClr val="0000FF"/>
                </a:solidFill>
              </a:rPr>
              <a:t>totale</a:t>
            </a:r>
            <a:r>
              <a:rPr lang="en-US" dirty="0">
                <a:solidFill>
                  <a:srgbClr val="0000FF"/>
                </a:solidFill>
              </a:rPr>
              <a:t>: </a:t>
            </a:r>
            <a:r>
              <a:rPr lang="en-US" dirty="0"/>
              <a:t>Si au contraire </a:t>
            </a:r>
            <a:r>
              <a:rPr lang="en-US" dirty="0" err="1"/>
              <a:t>l'associativité</a:t>
            </a:r>
            <a:r>
              <a:rPr lang="en-US" dirty="0"/>
              <a:t> </a:t>
            </a:r>
            <a:r>
              <a:rPr lang="en-US" dirty="0" err="1"/>
              <a:t>est</a:t>
            </a:r>
            <a:r>
              <a:rPr lang="en-US" dirty="0"/>
              <a:t> </a:t>
            </a:r>
            <a:r>
              <a:rPr lang="en-US" dirty="0" err="1"/>
              <a:t>égale</a:t>
            </a:r>
            <a:r>
              <a:rPr lang="en-US" dirty="0"/>
              <a:t> au </a:t>
            </a:r>
            <a:r>
              <a:rPr lang="en-US" dirty="0" err="1"/>
              <a:t>nombre</a:t>
            </a:r>
            <a:r>
              <a:rPr lang="en-US" dirty="0"/>
              <a:t> de </a:t>
            </a:r>
            <a:r>
              <a:rPr lang="en-US" dirty="0" err="1"/>
              <a:t>ligne</a:t>
            </a:r>
            <a:r>
              <a:rPr lang="en-US" dirty="0"/>
              <a:t> du cache, </a:t>
            </a:r>
            <a:r>
              <a:rPr lang="en-US" dirty="0" err="1"/>
              <a:t>c'est</a:t>
            </a:r>
            <a:r>
              <a:rPr lang="en-US" dirty="0"/>
              <a:t>-</a:t>
            </a:r>
            <a:r>
              <a:rPr lang="en-US" dirty="0" err="1"/>
              <a:t>à</a:t>
            </a:r>
            <a:r>
              <a:rPr lang="en-US" dirty="0"/>
              <a:t>-dire </a:t>
            </a:r>
            <a:r>
              <a:rPr lang="en-US" dirty="0" err="1"/>
              <a:t>que</a:t>
            </a:r>
            <a:r>
              <a:rPr lang="en-US" dirty="0"/>
              <a:t> </a:t>
            </a:r>
            <a:r>
              <a:rPr lang="en-US" dirty="0" err="1"/>
              <a:t>chaque</a:t>
            </a:r>
            <a:r>
              <a:rPr lang="en-US" dirty="0"/>
              <a:t> </a:t>
            </a:r>
            <a:r>
              <a:rPr lang="en-US" dirty="0" err="1"/>
              <a:t>donnée</a:t>
            </a:r>
            <a:r>
              <a:rPr lang="en-US" dirty="0"/>
              <a:t> </a:t>
            </a:r>
            <a:r>
              <a:rPr lang="en-US" dirty="0" err="1"/>
              <a:t>peut</a:t>
            </a:r>
            <a:r>
              <a:rPr lang="en-US" dirty="0"/>
              <a:t> </a:t>
            </a:r>
            <a:r>
              <a:rPr lang="en-US" dirty="0" err="1"/>
              <a:t>être</a:t>
            </a:r>
            <a:r>
              <a:rPr lang="en-US" dirty="0"/>
              <a:t> </a:t>
            </a:r>
            <a:r>
              <a:rPr lang="en-US" dirty="0" err="1"/>
              <a:t>mise</a:t>
            </a:r>
            <a:r>
              <a:rPr lang="en-US" dirty="0"/>
              <a:t> </a:t>
            </a:r>
            <a:r>
              <a:rPr lang="en-US" dirty="0" err="1"/>
              <a:t>dans</a:t>
            </a:r>
            <a:r>
              <a:rPr lang="en-US" dirty="0"/>
              <a:t> </a:t>
            </a:r>
            <a:r>
              <a:rPr lang="en-US" dirty="0" err="1"/>
              <a:t>n'importe</a:t>
            </a:r>
            <a:r>
              <a:rPr lang="en-US" dirty="0"/>
              <a:t> </a:t>
            </a:r>
            <a:r>
              <a:rPr lang="en-US" dirty="0" err="1"/>
              <a:t>quelle</a:t>
            </a:r>
            <a:r>
              <a:rPr lang="en-US" dirty="0"/>
              <a:t> </a:t>
            </a:r>
            <a:r>
              <a:rPr lang="en-US" dirty="0" err="1"/>
              <a:t>ligne</a:t>
            </a:r>
            <a:r>
              <a:rPr lang="en-US" dirty="0"/>
              <a:t> du cache, le cache </a:t>
            </a:r>
            <a:r>
              <a:rPr lang="en-US" dirty="0" err="1"/>
              <a:t>est</a:t>
            </a:r>
            <a:r>
              <a:rPr lang="en-US" dirty="0"/>
              <a:t> </a:t>
            </a:r>
            <a:r>
              <a:rPr lang="en-US" dirty="0" err="1"/>
              <a:t>dit</a:t>
            </a:r>
            <a:r>
              <a:rPr lang="en-US" dirty="0"/>
              <a:t> </a:t>
            </a:r>
            <a:r>
              <a:rPr lang="en-US" i="1" dirty="0" err="1">
                <a:solidFill>
                  <a:srgbClr val="0000FF"/>
                </a:solidFill>
              </a:rPr>
              <a:t>complètement</a:t>
            </a:r>
            <a:r>
              <a:rPr lang="en-US" i="1" dirty="0">
                <a:solidFill>
                  <a:srgbClr val="0000FF"/>
                </a:solidFill>
              </a:rPr>
              <a:t> </a:t>
            </a:r>
            <a:r>
              <a:rPr lang="en-US" i="1" dirty="0" err="1">
                <a:solidFill>
                  <a:srgbClr val="0000FF"/>
                </a:solidFill>
              </a:rPr>
              <a:t>associatif</a:t>
            </a:r>
            <a:r>
              <a:rPr lang="en-US" dirty="0"/>
              <a:t>. </a:t>
            </a:r>
          </a:p>
          <a:p>
            <a:pPr algn="just"/>
            <a:r>
              <a:rPr lang="en-US" dirty="0" err="1">
                <a:solidFill>
                  <a:srgbClr val="0000FF"/>
                </a:solidFill>
              </a:rPr>
              <a:t>Correspondance</a:t>
            </a:r>
            <a:r>
              <a:rPr lang="en-US" dirty="0">
                <a:solidFill>
                  <a:srgbClr val="0000FF"/>
                </a:solidFill>
              </a:rPr>
              <a:t> associative par ensemble: </a:t>
            </a:r>
            <a:r>
              <a:rPr lang="en-US" dirty="0"/>
              <a:t>Si </a:t>
            </a:r>
            <a:r>
              <a:rPr lang="en-US" dirty="0" err="1"/>
              <a:t>l'associativité</a:t>
            </a:r>
            <a:r>
              <a:rPr lang="en-US" dirty="0"/>
              <a:t> </a:t>
            </a:r>
            <a:r>
              <a:rPr lang="en-US" dirty="0" err="1"/>
              <a:t>est</a:t>
            </a:r>
            <a:r>
              <a:rPr lang="en-US" dirty="0"/>
              <a:t> un </a:t>
            </a:r>
            <a:r>
              <a:rPr lang="en-US" dirty="0" err="1"/>
              <a:t>entier</a:t>
            </a:r>
            <a:r>
              <a:rPr lang="en-US" dirty="0"/>
              <a:t> n, on </a:t>
            </a:r>
            <a:r>
              <a:rPr lang="en-US" dirty="0" err="1"/>
              <a:t>parle</a:t>
            </a:r>
            <a:r>
              <a:rPr lang="en-US" dirty="0"/>
              <a:t> de </a:t>
            </a:r>
            <a:r>
              <a:rPr lang="en-US" i="1" dirty="0"/>
              <a:t>cache </a:t>
            </a:r>
            <a:r>
              <a:rPr lang="en-US" i="1" dirty="0">
                <a:solidFill>
                  <a:srgbClr val="0000FF"/>
                </a:solidFill>
              </a:rPr>
              <a:t>n-</a:t>
            </a:r>
            <a:r>
              <a:rPr lang="en-US" i="1" dirty="0" err="1">
                <a:solidFill>
                  <a:srgbClr val="0000FF"/>
                </a:solidFill>
              </a:rPr>
              <a:t>associatif</a:t>
            </a:r>
            <a:r>
              <a:rPr lang="en-US" dirty="0">
                <a:solidFill>
                  <a:srgbClr val="0000FF"/>
                </a:solidFill>
              </a:rPr>
              <a:t> (</a:t>
            </a:r>
            <a:r>
              <a:rPr lang="en-US" i="1" dirty="0">
                <a:solidFill>
                  <a:srgbClr val="0000FF"/>
                </a:solidFill>
              </a:rPr>
              <a:t>n-way</a:t>
            </a:r>
            <a:r>
              <a:rPr lang="en-US" dirty="0">
                <a:solidFill>
                  <a:srgbClr val="0000FF"/>
                </a:solidFill>
              </a:rPr>
              <a:t> en </a:t>
            </a:r>
            <a:r>
              <a:rPr lang="en-US" dirty="0" err="1">
                <a:solidFill>
                  <a:srgbClr val="0000FF"/>
                </a:solidFill>
              </a:rPr>
              <a:t>anglais</a:t>
            </a:r>
            <a:r>
              <a:rPr lang="en-US" dirty="0">
                <a:solidFill>
                  <a:srgbClr val="0000FF"/>
                </a:solidFill>
              </a:rPr>
              <a:t>)</a:t>
            </a:r>
            <a:r>
              <a:rPr lang="en-US" dirty="0"/>
              <a:t>. </a:t>
            </a:r>
          </a:p>
          <a:p>
            <a:pPr algn="just"/>
            <a:endParaRPr lang="en-US" dirty="0"/>
          </a:p>
          <a:p>
            <a:pPr algn="just"/>
            <a:r>
              <a:rPr lang="en-US" dirty="0"/>
              <a:t>Les caches </a:t>
            </a:r>
            <a:r>
              <a:rPr lang="en-US" dirty="0" err="1"/>
              <a:t>sont</a:t>
            </a:r>
            <a:r>
              <a:rPr lang="en-US" dirty="0"/>
              <a:t> </a:t>
            </a:r>
            <a:r>
              <a:rPr lang="en-US" dirty="0" err="1"/>
              <a:t>très</a:t>
            </a:r>
            <a:r>
              <a:rPr lang="en-US" dirty="0"/>
              <a:t> </a:t>
            </a:r>
            <a:r>
              <a:rPr lang="en-US" dirty="0" err="1"/>
              <a:t>souvent</a:t>
            </a:r>
            <a:r>
              <a:rPr lang="en-US" dirty="0"/>
              <a:t> directs, 2-, 3- </a:t>
            </a:r>
            <a:r>
              <a:rPr lang="en-US" dirty="0" err="1"/>
              <a:t>ou</a:t>
            </a:r>
            <a:r>
              <a:rPr lang="en-US" dirty="0"/>
              <a:t> 4-associatifs </a:t>
            </a:r>
            <a:r>
              <a:rPr lang="en-US" dirty="0" err="1"/>
              <a:t>mais</a:t>
            </a:r>
            <a:r>
              <a:rPr lang="en-US" dirty="0"/>
              <a:t> </a:t>
            </a:r>
            <a:r>
              <a:rPr lang="en-US" dirty="0" err="1"/>
              <a:t>rarement</a:t>
            </a:r>
            <a:r>
              <a:rPr lang="en-US" dirty="0"/>
              <a:t> plus. </a:t>
            </a:r>
          </a:p>
          <a:p>
            <a:pPr marL="45720" indent="0" algn="just">
              <a:buNone/>
            </a:pPr>
            <a:endParaRPr lang="en-US" dirty="0"/>
          </a:p>
          <a:p>
            <a:pPr marL="45720" indent="0" algn="ctr">
              <a:buNone/>
            </a:pPr>
            <a:r>
              <a:rPr lang="en-US" dirty="0">
                <a:solidFill>
                  <a:srgbClr val="FF0000"/>
                </a:solidFill>
              </a:rPr>
              <a:t>Le cache de </a:t>
            </a:r>
            <a:r>
              <a:rPr lang="en-US" dirty="0" err="1">
                <a:solidFill>
                  <a:srgbClr val="FF0000"/>
                </a:solidFill>
              </a:rPr>
              <a:t>niveau</a:t>
            </a:r>
            <a:r>
              <a:rPr lang="en-US" dirty="0">
                <a:solidFill>
                  <a:srgbClr val="FF0000"/>
                </a:solidFill>
              </a:rPr>
              <a:t> 1 de </a:t>
            </a:r>
            <a:r>
              <a:rPr lang="en-US" dirty="0" err="1">
                <a:solidFill>
                  <a:srgbClr val="FF0000"/>
                </a:solidFill>
              </a:rPr>
              <a:t>l'Athlon</a:t>
            </a:r>
            <a:r>
              <a:rPr lang="en-US" dirty="0">
                <a:solidFill>
                  <a:srgbClr val="FF0000"/>
                </a:solidFill>
              </a:rPr>
              <a:t> </a:t>
            </a:r>
            <a:r>
              <a:rPr lang="en-US" dirty="0" err="1">
                <a:solidFill>
                  <a:srgbClr val="FF0000"/>
                </a:solidFill>
              </a:rPr>
              <a:t>est</a:t>
            </a:r>
            <a:r>
              <a:rPr lang="en-US" dirty="0">
                <a:solidFill>
                  <a:srgbClr val="FF0000"/>
                </a:solidFill>
              </a:rPr>
              <a:t> par </a:t>
            </a:r>
            <a:r>
              <a:rPr lang="en-US" dirty="0" err="1">
                <a:solidFill>
                  <a:srgbClr val="FF0000"/>
                </a:solidFill>
              </a:rPr>
              <a:t>exemple</a:t>
            </a:r>
            <a:r>
              <a:rPr lang="en-US" dirty="0">
                <a:solidFill>
                  <a:srgbClr val="FF0000"/>
                </a:solidFill>
              </a:rPr>
              <a:t> 2-associatif.</a:t>
            </a:r>
          </a:p>
          <a:p>
            <a:pPr marL="45720" indent="0" algn="just">
              <a:buNone/>
            </a:pPr>
            <a:endParaRPr lang="fr-FR" dirty="0"/>
          </a:p>
          <a:p>
            <a:pPr algn="just"/>
            <a:endParaRPr lang="fr-FR" dirty="0"/>
          </a:p>
          <a:p>
            <a:endParaRPr lang="fr-FR" dirty="0"/>
          </a:p>
        </p:txBody>
      </p:sp>
      <p:sp>
        <p:nvSpPr>
          <p:cNvPr id="3" name="Title 2"/>
          <p:cNvSpPr>
            <a:spLocks noGrp="1"/>
          </p:cNvSpPr>
          <p:nvPr>
            <p:ph type="title"/>
          </p:nvPr>
        </p:nvSpPr>
        <p:spPr/>
        <p:txBody>
          <a:bodyPr/>
          <a:lstStyle/>
          <a:p>
            <a:r>
              <a:rPr lang="en-US" i="1" dirty="0" err="1"/>
              <a:t>Associativité</a:t>
            </a:r>
            <a:endParaRPr lang="fr-FR" dirty="0"/>
          </a:p>
        </p:txBody>
      </p:sp>
    </p:spTree>
    <p:extLst>
      <p:ext uri="{BB962C8B-B14F-4D97-AF65-F5344CB8AC3E}">
        <p14:creationId xmlns:p14="http://schemas.microsoft.com/office/powerpoint/2010/main" val="20936688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gn="just"/>
            <a:r>
              <a:rPr lang="en-US" dirty="0"/>
              <a:t>La </a:t>
            </a:r>
            <a:r>
              <a:rPr lang="en-US" dirty="0" err="1"/>
              <a:t>ligne</a:t>
            </a:r>
            <a:r>
              <a:rPr lang="en-US" dirty="0"/>
              <a:t> </a:t>
            </a:r>
            <a:r>
              <a:rPr lang="en-US" dirty="0" err="1"/>
              <a:t>où</a:t>
            </a:r>
            <a:r>
              <a:rPr lang="en-US" dirty="0"/>
              <a:t> </a:t>
            </a:r>
            <a:r>
              <a:rPr lang="en-US" dirty="0" err="1"/>
              <a:t>sont</a:t>
            </a:r>
            <a:r>
              <a:rPr lang="en-US" dirty="0"/>
              <a:t> </a:t>
            </a:r>
            <a:r>
              <a:rPr lang="en-US" dirty="0" err="1"/>
              <a:t>placées</a:t>
            </a:r>
            <a:r>
              <a:rPr lang="en-US" dirty="0"/>
              <a:t> les </a:t>
            </a:r>
            <a:r>
              <a:rPr lang="en-US" dirty="0" err="1"/>
              <a:t>données</a:t>
            </a:r>
            <a:r>
              <a:rPr lang="en-US" dirty="0"/>
              <a:t> </a:t>
            </a:r>
            <a:r>
              <a:rPr lang="en-US" dirty="0" err="1"/>
              <a:t>à</a:t>
            </a:r>
            <a:r>
              <a:rPr lang="en-US" dirty="0"/>
              <a:t> </a:t>
            </a:r>
            <a:r>
              <a:rPr lang="en-US" dirty="0" err="1"/>
              <a:t>une</a:t>
            </a:r>
            <a:r>
              <a:rPr lang="en-US" dirty="0"/>
              <a:t> </a:t>
            </a:r>
            <a:r>
              <a:rPr lang="en-US" dirty="0" err="1"/>
              <a:t>adresse</a:t>
            </a:r>
            <a:r>
              <a:rPr lang="en-US" dirty="0"/>
              <a:t> </a:t>
            </a:r>
            <a:r>
              <a:rPr lang="en-US" dirty="0" err="1"/>
              <a:t>sont</a:t>
            </a:r>
            <a:r>
              <a:rPr lang="en-US" dirty="0"/>
              <a:t> </a:t>
            </a:r>
            <a:r>
              <a:rPr lang="en-US" dirty="0" err="1"/>
              <a:t>généralement</a:t>
            </a:r>
            <a:r>
              <a:rPr lang="en-US" dirty="0"/>
              <a:t> </a:t>
            </a:r>
            <a:r>
              <a:rPr lang="en-US" dirty="0" err="1"/>
              <a:t>déterminés</a:t>
            </a:r>
            <a:r>
              <a:rPr lang="en-US" dirty="0"/>
              <a:t> par des bits de </a:t>
            </a:r>
            <a:r>
              <a:rPr lang="en-US" dirty="0" err="1"/>
              <a:t>poids</a:t>
            </a:r>
            <a:r>
              <a:rPr lang="en-US" dirty="0"/>
              <a:t> </a:t>
            </a:r>
            <a:r>
              <a:rPr lang="en-US" dirty="0" err="1"/>
              <a:t>faible</a:t>
            </a:r>
            <a:r>
              <a:rPr lang="en-US" dirty="0"/>
              <a:t> de </a:t>
            </a:r>
            <a:r>
              <a:rPr lang="en-US" dirty="0" err="1"/>
              <a:t>l'adresse</a:t>
            </a:r>
            <a:r>
              <a:rPr lang="en-US" dirty="0"/>
              <a:t>. </a:t>
            </a:r>
          </a:p>
          <a:p>
            <a:pPr marL="45720" indent="0" algn="just">
              <a:buNone/>
            </a:pPr>
            <a:r>
              <a:rPr lang="en-US" dirty="0" err="1">
                <a:solidFill>
                  <a:srgbClr val="0000FF"/>
                </a:solidFill>
              </a:rPr>
              <a:t>Plusieurs</a:t>
            </a:r>
            <a:r>
              <a:rPr lang="en-US" dirty="0">
                <a:solidFill>
                  <a:srgbClr val="0000FF"/>
                </a:solidFill>
              </a:rPr>
              <a:t> </a:t>
            </a:r>
            <a:r>
              <a:rPr lang="en-US" dirty="0" err="1">
                <a:solidFill>
                  <a:srgbClr val="0000FF"/>
                </a:solidFill>
              </a:rPr>
              <a:t>avantages</a:t>
            </a:r>
            <a:r>
              <a:rPr lang="en-US" dirty="0">
                <a:solidFill>
                  <a:srgbClr val="0000FF"/>
                </a:solidFill>
              </a:rPr>
              <a:t>:</a:t>
            </a:r>
            <a:r>
              <a:rPr lang="en-US" dirty="0"/>
              <a:t> </a:t>
            </a:r>
          </a:p>
          <a:p>
            <a:pPr algn="just"/>
            <a:r>
              <a:rPr lang="en-US" dirty="0"/>
              <a:t>le </a:t>
            </a:r>
            <a:r>
              <a:rPr lang="en-US" dirty="0" err="1"/>
              <a:t>numéro</a:t>
            </a:r>
            <a:r>
              <a:rPr lang="en-US" dirty="0"/>
              <a:t> de la </a:t>
            </a:r>
            <a:r>
              <a:rPr lang="en-US" dirty="0" err="1"/>
              <a:t>ligne</a:t>
            </a:r>
            <a:r>
              <a:rPr lang="en-US" dirty="0"/>
              <a:t> </a:t>
            </a:r>
            <a:r>
              <a:rPr lang="en-US" dirty="0" err="1"/>
              <a:t>est</a:t>
            </a:r>
            <a:r>
              <a:rPr lang="en-US" dirty="0"/>
              <a:t> </a:t>
            </a:r>
            <a:r>
              <a:rPr lang="en-US" dirty="0" err="1"/>
              <a:t>très</a:t>
            </a:r>
            <a:r>
              <a:rPr lang="en-US" dirty="0"/>
              <a:t> facile </a:t>
            </a:r>
            <a:r>
              <a:rPr lang="en-US" dirty="0" err="1"/>
              <a:t>à</a:t>
            </a:r>
            <a:r>
              <a:rPr lang="en-US" dirty="0"/>
              <a:t> </a:t>
            </a:r>
            <a:r>
              <a:rPr lang="en-US" dirty="0" err="1"/>
              <a:t>déterminer</a:t>
            </a:r>
            <a:r>
              <a:rPr lang="en-US" dirty="0"/>
              <a:t> </a:t>
            </a:r>
            <a:r>
              <a:rPr lang="en-US" dirty="0" err="1"/>
              <a:t>à</a:t>
            </a:r>
            <a:r>
              <a:rPr lang="en-US" dirty="0"/>
              <a:t> </a:t>
            </a:r>
            <a:r>
              <a:rPr lang="en-US" dirty="0" err="1"/>
              <a:t>partir</a:t>
            </a:r>
            <a:r>
              <a:rPr lang="en-US" dirty="0"/>
              <a:t> de </a:t>
            </a:r>
            <a:r>
              <a:rPr lang="en-US" dirty="0" err="1"/>
              <a:t>l'adresse</a:t>
            </a:r>
            <a:r>
              <a:rPr lang="en-US" dirty="0"/>
              <a:t>. Il </a:t>
            </a:r>
            <a:r>
              <a:rPr lang="en-US" dirty="0" err="1"/>
              <a:t>suffit</a:t>
            </a:r>
            <a:r>
              <a:rPr lang="en-US" dirty="0"/>
              <a:t> en </a:t>
            </a:r>
            <a:r>
              <a:rPr lang="en-US" dirty="0" err="1"/>
              <a:t>effet</a:t>
            </a:r>
            <a:r>
              <a:rPr lang="en-US" dirty="0"/>
              <a:t> de comparer </a:t>
            </a:r>
            <a:r>
              <a:rPr lang="en-US" dirty="0" err="1"/>
              <a:t>l'étiquette</a:t>
            </a:r>
            <a:r>
              <a:rPr lang="en-US" dirty="0"/>
              <a:t> de la </a:t>
            </a:r>
            <a:r>
              <a:rPr lang="en-US" dirty="0" err="1"/>
              <a:t>ligne</a:t>
            </a:r>
            <a:r>
              <a:rPr lang="en-US" dirty="0"/>
              <a:t> </a:t>
            </a:r>
            <a:r>
              <a:rPr lang="en-US" dirty="0" err="1"/>
              <a:t>correspondante</a:t>
            </a:r>
            <a:r>
              <a:rPr lang="en-US" dirty="0"/>
              <a:t> avec </a:t>
            </a:r>
            <a:r>
              <a:rPr lang="en-US" dirty="0" err="1"/>
              <a:t>une</a:t>
            </a:r>
            <a:r>
              <a:rPr lang="en-US" dirty="0"/>
              <a:t> </a:t>
            </a:r>
            <a:r>
              <a:rPr lang="en-US" dirty="0" err="1"/>
              <a:t>partie</a:t>
            </a:r>
            <a:r>
              <a:rPr lang="en-US" dirty="0"/>
              <a:t> de </a:t>
            </a:r>
            <a:r>
              <a:rPr lang="en-US" dirty="0" err="1"/>
              <a:t>l'adresse</a:t>
            </a:r>
            <a:r>
              <a:rPr lang="en-US" dirty="0"/>
              <a:t>. </a:t>
            </a:r>
            <a:r>
              <a:rPr lang="en-US" dirty="0" err="1"/>
              <a:t>Comme</a:t>
            </a:r>
            <a:r>
              <a:rPr lang="en-US" dirty="0"/>
              <a:t> la </a:t>
            </a:r>
            <a:r>
              <a:rPr lang="en-US" dirty="0" err="1"/>
              <a:t>ligne</a:t>
            </a:r>
            <a:r>
              <a:rPr lang="en-US" dirty="0"/>
              <a:t> </a:t>
            </a:r>
            <a:r>
              <a:rPr lang="en-US" dirty="0" err="1"/>
              <a:t>est</a:t>
            </a:r>
            <a:r>
              <a:rPr lang="en-US" dirty="0"/>
              <a:t> unique, </a:t>
            </a:r>
            <a:r>
              <a:rPr lang="en-US" dirty="0" err="1"/>
              <a:t>il</a:t>
            </a:r>
            <a:r>
              <a:rPr lang="en-US" dirty="0"/>
              <a:t> </a:t>
            </a:r>
            <a:r>
              <a:rPr lang="en-US" dirty="0" err="1"/>
              <a:t>est</a:t>
            </a:r>
            <a:r>
              <a:rPr lang="en-US" dirty="0"/>
              <a:t> </a:t>
            </a:r>
            <a:r>
              <a:rPr lang="en-US" dirty="0" err="1"/>
              <a:t>même</a:t>
            </a:r>
            <a:r>
              <a:rPr lang="en-US" dirty="0"/>
              <a:t> possible de commencer la lecture du cache pendant la </a:t>
            </a:r>
            <a:r>
              <a:rPr lang="en-US" dirty="0" err="1"/>
              <a:t>comparaison</a:t>
            </a:r>
            <a:r>
              <a:rPr lang="en-US" dirty="0"/>
              <a:t> de </a:t>
            </a:r>
            <a:r>
              <a:rPr lang="en-US" dirty="0" err="1"/>
              <a:t>l'étiquette</a:t>
            </a:r>
            <a:r>
              <a:rPr lang="en-US" dirty="0"/>
              <a:t> avec </a:t>
            </a:r>
            <a:r>
              <a:rPr lang="en-US" dirty="0" err="1"/>
              <a:t>l'adresse</a:t>
            </a:r>
            <a:r>
              <a:rPr lang="en-US" dirty="0"/>
              <a:t>. Si </a:t>
            </a:r>
            <a:r>
              <a:rPr lang="en-US" dirty="0" err="1"/>
              <a:t>cette</a:t>
            </a:r>
            <a:r>
              <a:rPr lang="en-US" dirty="0"/>
              <a:t> </a:t>
            </a:r>
            <a:r>
              <a:rPr lang="en-US" dirty="0" err="1"/>
              <a:t>comparaison</a:t>
            </a:r>
            <a:r>
              <a:rPr lang="en-US" dirty="0"/>
              <a:t> </a:t>
            </a:r>
            <a:r>
              <a:rPr lang="en-US" dirty="0" err="1"/>
              <a:t>révèle</a:t>
            </a:r>
            <a:r>
              <a:rPr lang="en-US" dirty="0"/>
              <a:t> un </a:t>
            </a:r>
            <a:r>
              <a:rPr lang="en-US" dirty="0" err="1"/>
              <a:t>défaut</a:t>
            </a:r>
            <a:r>
              <a:rPr lang="en-US" dirty="0"/>
              <a:t> de cache, </a:t>
            </a:r>
            <a:r>
              <a:rPr lang="en-US" dirty="0" err="1"/>
              <a:t>cette</a:t>
            </a:r>
            <a:r>
              <a:rPr lang="en-US" dirty="0"/>
              <a:t> lecture </a:t>
            </a:r>
            <a:r>
              <a:rPr lang="en-US" dirty="0" err="1"/>
              <a:t>anticipée</a:t>
            </a:r>
            <a:r>
              <a:rPr lang="en-US" dirty="0"/>
              <a:t> du cache </a:t>
            </a:r>
            <a:r>
              <a:rPr lang="en-US" dirty="0" err="1"/>
              <a:t>est</a:t>
            </a:r>
            <a:r>
              <a:rPr lang="en-US" dirty="0"/>
              <a:t> </a:t>
            </a:r>
            <a:r>
              <a:rPr lang="en-US" dirty="0" err="1"/>
              <a:t>annulée</a:t>
            </a:r>
            <a:r>
              <a:rPr lang="en-US" dirty="0"/>
              <a:t>.</a:t>
            </a:r>
          </a:p>
          <a:p>
            <a:pPr algn="just"/>
            <a:r>
              <a:rPr lang="en-US" dirty="0"/>
              <a:t>les bits </a:t>
            </a:r>
            <a:r>
              <a:rPr lang="en-US" dirty="0" err="1"/>
              <a:t>utilisés</a:t>
            </a:r>
            <a:r>
              <a:rPr lang="en-US" dirty="0"/>
              <a:t> pour </a:t>
            </a:r>
            <a:r>
              <a:rPr lang="en-US" dirty="0" err="1"/>
              <a:t>déterminer</a:t>
            </a:r>
            <a:r>
              <a:rPr lang="en-US" dirty="0"/>
              <a:t> la </a:t>
            </a:r>
            <a:r>
              <a:rPr lang="en-US" dirty="0" err="1"/>
              <a:t>lignes</a:t>
            </a:r>
            <a:r>
              <a:rPr lang="en-US" dirty="0"/>
              <a:t> </a:t>
            </a:r>
            <a:r>
              <a:rPr lang="en-US" dirty="0" err="1"/>
              <a:t>n'ont</a:t>
            </a:r>
            <a:r>
              <a:rPr lang="en-US" dirty="0"/>
              <a:t> pas </a:t>
            </a:r>
            <a:r>
              <a:rPr lang="en-US" dirty="0" err="1"/>
              <a:t>à</a:t>
            </a:r>
            <a:r>
              <a:rPr lang="en-US" dirty="0"/>
              <a:t> </a:t>
            </a:r>
            <a:r>
              <a:rPr lang="en-US" dirty="0" err="1"/>
              <a:t>être</a:t>
            </a:r>
            <a:r>
              <a:rPr lang="en-US" dirty="0"/>
              <a:t> stocker </a:t>
            </a:r>
            <a:r>
              <a:rPr lang="en-US" dirty="0" err="1"/>
              <a:t>dans</a:t>
            </a:r>
            <a:r>
              <a:rPr lang="en-US" dirty="0"/>
              <a:t> </a:t>
            </a:r>
            <a:r>
              <a:rPr lang="en-US" dirty="0" err="1"/>
              <a:t>l'étiquette</a:t>
            </a:r>
            <a:r>
              <a:rPr lang="en-US" dirty="0"/>
              <a:t>, </a:t>
            </a:r>
            <a:r>
              <a:rPr lang="en-US" dirty="0" err="1"/>
              <a:t>ce</a:t>
            </a:r>
            <a:r>
              <a:rPr lang="en-US" dirty="0"/>
              <a:t> qui </a:t>
            </a:r>
            <a:r>
              <a:rPr lang="en-US" dirty="0" err="1"/>
              <a:t>offre</a:t>
            </a:r>
            <a:r>
              <a:rPr lang="en-US" dirty="0"/>
              <a:t> un gains de </a:t>
            </a:r>
            <a:r>
              <a:rPr lang="en-US" dirty="0" err="1"/>
              <a:t>quelques</a:t>
            </a:r>
            <a:r>
              <a:rPr lang="en-US" dirty="0"/>
              <a:t> bits.</a:t>
            </a:r>
          </a:p>
          <a:p>
            <a:pPr marL="45720" indent="0" algn="just">
              <a:buNone/>
            </a:pPr>
            <a:r>
              <a:rPr lang="en-US" dirty="0" err="1">
                <a:solidFill>
                  <a:srgbClr val="0000FF"/>
                </a:solidFill>
              </a:rPr>
              <a:t>Inconvénients</a:t>
            </a:r>
            <a:r>
              <a:rPr lang="en-US" dirty="0">
                <a:solidFill>
                  <a:srgbClr val="0000FF"/>
                </a:solidFill>
              </a:rPr>
              <a:t>:</a:t>
            </a:r>
          </a:p>
          <a:p>
            <a:pPr algn="just"/>
            <a:r>
              <a:rPr lang="en-US" dirty="0"/>
              <a:t>Si un </a:t>
            </a:r>
            <a:r>
              <a:rPr lang="en-US" dirty="0" err="1"/>
              <a:t>programme</a:t>
            </a:r>
            <a:r>
              <a:rPr lang="en-US" dirty="0"/>
              <a:t> </a:t>
            </a:r>
            <a:r>
              <a:rPr lang="en-US" dirty="0" err="1"/>
              <a:t>utilise</a:t>
            </a:r>
            <a:r>
              <a:rPr lang="en-US" dirty="0"/>
              <a:t> </a:t>
            </a:r>
            <a:r>
              <a:rPr lang="en-US" dirty="0" err="1"/>
              <a:t>simultanément</a:t>
            </a:r>
            <a:r>
              <a:rPr lang="en-US" dirty="0"/>
              <a:t> </a:t>
            </a:r>
            <a:r>
              <a:rPr lang="en-US" dirty="0" err="1"/>
              <a:t>deux</a:t>
            </a:r>
            <a:r>
              <a:rPr lang="en-US" dirty="0"/>
              <a:t> parties de la </a:t>
            </a:r>
            <a:r>
              <a:rPr lang="en-US" dirty="0" err="1"/>
              <a:t>mémoire</a:t>
            </a:r>
            <a:r>
              <a:rPr lang="en-US" dirty="0"/>
              <a:t> qui </a:t>
            </a:r>
            <a:r>
              <a:rPr lang="en-US" dirty="0" err="1"/>
              <a:t>doivent</a:t>
            </a:r>
            <a:r>
              <a:rPr lang="en-US" dirty="0"/>
              <a:t> </a:t>
            </a:r>
            <a:r>
              <a:rPr lang="en-US" dirty="0" err="1"/>
              <a:t>aller</a:t>
            </a:r>
            <a:r>
              <a:rPr lang="en-US" dirty="0"/>
              <a:t> </a:t>
            </a:r>
            <a:r>
              <a:rPr lang="en-US" dirty="0" err="1"/>
              <a:t>dans</a:t>
            </a:r>
            <a:r>
              <a:rPr lang="en-US" dirty="0"/>
              <a:t> la </a:t>
            </a:r>
            <a:r>
              <a:rPr lang="en-US" dirty="0" err="1"/>
              <a:t>même</a:t>
            </a:r>
            <a:r>
              <a:rPr lang="en-US" dirty="0"/>
              <a:t> </a:t>
            </a:r>
            <a:r>
              <a:rPr lang="en-US" dirty="0" err="1"/>
              <a:t>ligne</a:t>
            </a:r>
            <a:r>
              <a:rPr lang="en-US" dirty="0"/>
              <a:t> de cache, </a:t>
            </a:r>
            <a:r>
              <a:rPr lang="en-US" dirty="0" err="1"/>
              <a:t>il</a:t>
            </a:r>
            <a:r>
              <a:rPr lang="en-US" dirty="0"/>
              <a:t> </a:t>
            </a:r>
            <a:r>
              <a:rPr lang="en-US" dirty="0" err="1"/>
              <a:t>peut</a:t>
            </a:r>
            <a:r>
              <a:rPr lang="en-US" dirty="0"/>
              <a:t> se </a:t>
            </a:r>
            <a:r>
              <a:rPr lang="en-US" dirty="0" err="1"/>
              <a:t>produire</a:t>
            </a:r>
            <a:r>
              <a:rPr lang="en-US" dirty="0"/>
              <a:t> de </a:t>
            </a:r>
            <a:r>
              <a:rPr lang="en-US" dirty="0" err="1"/>
              <a:t>nombreux</a:t>
            </a:r>
            <a:r>
              <a:rPr lang="en-US" dirty="0"/>
              <a:t> </a:t>
            </a:r>
            <a:r>
              <a:rPr lang="en-US" dirty="0" err="1"/>
              <a:t>défauts</a:t>
            </a:r>
            <a:r>
              <a:rPr lang="en-US" dirty="0"/>
              <a:t> de cache.</a:t>
            </a:r>
          </a:p>
          <a:p>
            <a:pPr algn="just"/>
            <a:endParaRPr lang="fr-FR" dirty="0"/>
          </a:p>
          <a:p>
            <a:pPr algn="just"/>
            <a:endParaRPr lang="en-US" dirty="0"/>
          </a:p>
          <a:p>
            <a:pPr algn="just"/>
            <a:endParaRPr lang="fr-FR" dirty="0"/>
          </a:p>
        </p:txBody>
      </p:sp>
      <p:sp>
        <p:nvSpPr>
          <p:cNvPr id="3" name="Title 2"/>
          <p:cNvSpPr>
            <a:spLocks noGrp="1"/>
          </p:cNvSpPr>
          <p:nvPr>
            <p:ph type="title"/>
          </p:nvPr>
        </p:nvSpPr>
        <p:spPr/>
        <p:txBody>
          <a:bodyPr/>
          <a:lstStyle/>
          <a:p>
            <a:r>
              <a:rPr lang="en-US" b="1" dirty="0"/>
              <a:t>Caches directs</a:t>
            </a:r>
            <a:br>
              <a:rPr lang="en-US" b="1" dirty="0"/>
            </a:br>
            <a:endParaRPr lang="fr-FR" dirty="0"/>
          </a:p>
        </p:txBody>
      </p:sp>
    </p:spTree>
    <p:extLst>
      <p:ext uri="{BB962C8B-B14F-4D97-AF65-F5344CB8AC3E}">
        <p14:creationId xmlns:p14="http://schemas.microsoft.com/office/powerpoint/2010/main" val="24980759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1719071"/>
            <a:ext cx="4038600" cy="3894315"/>
          </a:xfrm>
        </p:spPr>
        <p:txBody>
          <a:bodyPr>
            <a:noAutofit/>
          </a:bodyPr>
          <a:lstStyle/>
          <a:p>
            <a:pPr marL="45720" indent="0">
              <a:buNone/>
            </a:pPr>
            <a:endParaRPr lang="fr-FR" sz="1600" dirty="0"/>
          </a:p>
          <a:p>
            <a:pPr marL="45720" indent="0" algn="just">
              <a:buNone/>
            </a:pPr>
            <a:r>
              <a:rPr lang="en-US" sz="1600" dirty="0" err="1"/>
              <a:t>Soit</a:t>
            </a:r>
            <a:r>
              <a:rPr lang="en-US" sz="1600" dirty="0"/>
              <a:t> un cache direct </a:t>
            </a:r>
            <a:r>
              <a:rPr lang="en-US" sz="1600" dirty="0" err="1"/>
              <a:t>composé</a:t>
            </a:r>
            <a:r>
              <a:rPr lang="en-US" sz="1600" dirty="0"/>
              <a:t> de 256 </a:t>
            </a:r>
            <a:r>
              <a:rPr lang="en-US" sz="1600" dirty="0" err="1"/>
              <a:t>lignes</a:t>
            </a:r>
            <a:r>
              <a:rPr lang="en-US" sz="1600" dirty="0"/>
              <a:t> </a:t>
            </a:r>
            <a:r>
              <a:rPr lang="en-US" sz="1600" dirty="0" err="1"/>
              <a:t>contenant</a:t>
            </a:r>
            <a:r>
              <a:rPr lang="en-US" sz="1600" dirty="0"/>
              <a:t> </a:t>
            </a:r>
            <a:r>
              <a:rPr lang="en-US" sz="1600" dirty="0" err="1"/>
              <a:t>chacune</a:t>
            </a:r>
            <a:r>
              <a:rPr lang="en-US" sz="1600" dirty="0"/>
              <a:t> 16 octets. </a:t>
            </a:r>
          </a:p>
          <a:p>
            <a:pPr marL="45720" indent="0" algn="just">
              <a:buNone/>
            </a:pPr>
            <a:endParaRPr lang="en-US" sz="1600" dirty="0"/>
          </a:p>
          <a:p>
            <a:pPr marL="365760" lvl="1" indent="0" algn="just">
              <a:buNone/>
            </a:pPr>
            <a:r>
              <a:rPr lang="en-US" sz="1600" spc="150" dirty="0" err="1"/>
              <a:t>Comme</a:t>
            </a:r>
            <a:r>
              <a:rPr lang="en-US" sz="1600" spc="150" dirty="0"/>
              <a:t> </a:t>
            </a:r>
            <a:r>
              <a:rPr lang="en-US" sz="1600" spc="150" dirty="0" err="1"/>
              <a:t>chaque</a:t>
            </a:r>
            <a:r>
              <a:rPr lang="en-US" sz="1600" spc="150" dirty="0"/>
              <a:t> </a:t>
            </a:r>
            <a:r>
              <a:rPr lang="en-US" sz="1600" spc="150" dirty="0" err="1"/>
              <a:t>ligne</a:t>
            </a:r>
            <a:r>
              <a:rPr lang="en-US" sz="1600" spc="150" dirty="0"/>
              <a:t> </a:t>
            </a:r>
            <a:r>
              <a:rPr lang="en-US" sz="1600" spc="150" dirty="0" err="1"/>
              <a:t>contient</a:t>
            </a:r>
            <a:r>
              <a:rPr lang="en-US" sz="1600" spc="150" dirty="0"/>
              <a:t> 16 octets, les 4 bits de </a:t>
            </a:r>
            <a:r>
              <a:rPr lang="en-US" sz="1600" spc="150" dirty="0" err="1"/>
              <a:t>poids</a:t>
            </a:r>
            <a:r>
              <a:rPr lang="en-US" sz="1600" spc="150" dirty="0"/>
              <a:t> </a:t>
            </a:r>
            <a:r>
              <a:rPr lang="en-US" sz="1600" spc="150" dirty="0" err="1"/>
              <a:t>faible</a:t>
            </a:r>
            <a:r>
              <a:rPr lang="en-US" sz="1600" spc="150" dirty="0"/>
              <a:t> de </a:t>
            </a:r>
            <a:r>
              <a:rPr lang="en-US" sz="1600" spc="150" dirty="0" err="1"/>
              <a:t>chaque</a:t>
            </a:r>
            <a:r>
              <a:rPr lang="en-US" sz="1600" spc="150" dirty="0"/>
              <a:t> </a:t>
            </a:r>
            <a:r>
              <a:rPr lang="en-US" sz="1600" spc="150" dirty="0" err="1"/>
              <a:t>adresse</a:t>
            </a:r>
            <a:r>
              <a:rPr lang="en-US" sz="1600" spc="150" dirty="0"/>
              <a:t> </a:t>
            </a:r>
            <a:r>
              <a:rPr lang="en-US" sz="1600" spc="150" dirty="0" err="1"/>
              <a:t>servent</a:t>
            </a:r>
            <a:r>
              <a:rPr lang="en-US" sz="1600" spc="150" dirty="0"/>
              <a:t> </a:t>
            </a:r>
            <a:r>
              <a:rPr lang="en-US" sz="1600" spc="150" dirty="0" err="1"/>
              <a:t>uniquement</a:t>
            </a:r>
            <a:r>
              <a:rPr lang="en-US" sz="1600" spc="150" dirty="0"/>
              <a:t> </a:t>
            </a:r>
            <a:r>
              <a:rPr lang="en-US" sz="1600" spc="150" dirty="0" err="1"/>
              <a:t>à</a:t>
            </a:r>
            <a:r>
              <a:rPr lang="en-US" sz="1600" spc="150" dirty="0"/>
              <a:t> </a:t>
            </a:r>
            <a:r>
              <a:rPr lang="en-US" sz="1600" spc="150" dirty="0" err="1"/>
              <a:t>donner</a:t>
            </a:r>
            <a:r>
              <a:rPr lang="en-US" sz="1600" spc="150" dirty="0"/>
              <a:t> la position (offset) des </a:t>
            </a:r>
            <a:r>
              <a:rPr lang="en-US" sz="1600" spc="150" dirty="0" err="1"/>
              <a:t>données</a:t>
            </a:r>
            <a:r>
              <a:rPr lang="en-US" sz="1600" spc="150" dirty="0"/>
              <a:t> </a:t>
            </a:r>
            <a:r>
              <a:rPr lang="en-US" sz="1600" spc="150" dirty="0" err="1"/>
              <a:t>dans</a:t>
            </a:r>
            <a:r>
              <a:rPr lang="en-US" sz="1600" spc="150" dirty="0"/>
              <a:t> la </a:t>
            </a:r>
            <a:r>
              <a:rPr lang="en-US" sz="1600" spc="150" dirty="0" err="1"/>
              <a:t>ligne</a:t>
            </a:r>
            <a:r>
              <a:rPr lang="en-US" sz="1600" spc="150" dirty="0"/>
              <a:t>. </a:t>
            </a:r>
          </a:p>
          <a:p>
            <a:pPr marL="365760" lvl="1" indent="0" algn="just">
              <a:buNone/>
            </a:pPr>
            <a:r>
              <a:rPr lang="en-US" sz="1600" spc="150" dirty="0" err="1"/>
              <a:t>Comme</a:t>
            </a:r>
            <a:r>
              <a:rPr lang="en-US" sz="1600" spc="150" dirty="0"/>
              <a:t> le cache a 256 </a:t>
            </a:r>
            <a:r>
              <a:rPr lang="en-US" sz="1600" spc="150" dirty="0" err="1"/>
              <a:t>lignes</a:t>
            </a:r>
            <a:r>
              <a:rPr lang="en-US" sz="1600" spc="150" dirty="0"/>
              <a:t>, les 8 bits </a:t>
            </a:r>
            <a:r>
              <a:rPr lang="en-US" sz="1600" spc="150" dirty="0" err="1"/>
              <a:t>suivants</a:t>
            </a:r>
            <a:r>
              <a:rPr lang="en-US" sz="1600" spc="150" dirty="0"/>
              <a:t> </a:t>
            </a:r>
            <a:r>
              <a:rPr lang="en-US" sz="1600" spc="150" dirty="0" err="1"/>
              <a:t>déterminent</a:t>
            </a:r>
            <a:r>
              <a:rPr lang="en-US" sz="1600" spc="150" dirty="0"/>
              <a:t> la </a:t>
            </a:r>
            <a:r>
              <a:rPr lang="en-US" sz="1600" spc="150" dirty="0" err="1"/>
              <a:t>ligne</a:t>
            </a:r>
            <a:r>
              <a:rPr lang="en-US" sz="1600" spc="150" dirty="0"/>
              <a:t> </a:t>
            </a:r>
            <a:r>
              <a:rPr lang="en-US" sz="1600" spc="150" dirty="0" err="1"/>
              <a:t>où</a:t>
            </a:r>
            <a:r>
              <a:rPr lang="en-US" sz="1600" spc="150" dirty="0"/>
              <a:t> les </a:t>
            </a:r>
            <a:r>
              <a:rPr lang="en-US" sz="1600" spc="150" dirty="0" err="1"/>
              <a:t>données</a:t>
            </a:r>
            <a:r>
              <a:rPr lang="en-US" sz="1600" spc="150" dirty="0"/>
              <a:t> </a:t>
            </a:r>
            <a:r>
              <a:rPr lang="en-US" sz="1600" spc="150" dirty="0" err="1"/>
              <a:t>doivent</a:t>
            </a:r>
            <a:r>
              <a:rPr lang="en-US" sz="1600" spc="150" dirty="0"/>
              <a:t> </a:t>
            </a:r>
            <a:r>
              <a:rPr lang="en-US" sz="1600" spc="150" dirty="0" err="1"/>
              <a:t>être</a:t>
            </a:r>
            <a:r>
              <a:rPr lang="en-US" sz="1600" spc="150" dirty="0"/>
              <a:t> </a:t>
            </a:r>
            <a:r>
              <a:rPr lang="en-US" sz="1600" spc="150" dirty="0" err="1"/>
              <a:t>placées</a:t>
            </a:r>
            <a:r>
              <a:rPr lang="en-US" sz="1600" spc="150" dirty="0"/>
              <a:t>.</a:t>
            </a:r>
          </a:p>
          <a:p>
            <a:pPr marL="45720" indent="0" algn="just">
              <a:buNone/>
            </a:pPr>
            <a:endParaRPr lang="en-US" sz="1600" dirty="0"/>
          </a:p>
          <a:p>
            <a:pPr marL="45720" indent="0" algn="just">
              <a:buNone/>
            </a:pPr>
            <a:endParaRPr lang="fr-FR" sz="1600" dirty="0"/>
          </a:p>
        </p:txBody>
      </p:sp>
      <p:pic>
        <p:nvPicPr>
          <p:cNvPr id="5" name="Content Placeholder 4" descr="Capture d’écran 2020-02-18 à 13.23.17.png"/>
          <p:cNvPicPr>
            <a:picLocks noGrp="1" noChangeAspect="1"/>
          </p:cNvPicPr>
          <p:nvPr>
            <p:ph sz="half" idx="2"/>
          </p:nvPr>
        </p:nvPicPr>
        <p:blipFill>
          <a:blip r:embed="rId2">
            <a:extLst>
              <a:ext uri="{28A0092B-C50C-407E-A947-70E740481C1C}">
                <a14:useLocalDpi xmlns:a14="http://schemas.microsoft.com/office/drawing/2010/main" val="0"/>
              </a:ext>
            </a:extLst>
          </a:blip>
          <a:srcRect t="-38425" b="-38425"/>
          <a:stretch>
            <a:fillRect/>
          </a:stretch>
        </p:blipFill>
        <p:spPr>
          <a:xfrm>
            <a:off x="4648200" y="1160636"/>
            <a:ext cx="4278086" cy="5763273"/>
          </a:xfrm>
        </p:spPr>
      </p:pic>
      <p:sp>
        <p:nvSpPr>
          <p:cNvPr id="4" name="Title 3"/>
          <p:cNvSpPr>
            <a:spLocks noGrp="1"/>
          </p:cNvSpPr>
          <p:nvPr>
            <p:ph type="title"/>
          </p:nvPr>
        </p:nvSpPr>
        <p:spPr/>
        <p:txBody>
          <a:bodyPr/>
          <a:lstStyle/>
          <a:p>
            <a:r>
              <a:rPr lang="en-US" b="1" dirty="0" err="1"/>
              <a:t>Exemple</a:t>
            </a:r>
            <a:r>
              <a:rPr lang="en-US" b="1" dirty="0"/>
              <a:t> 1: Cache direct</a:t>
            </a:r>
            <a:endParaRPr lang="fr-FR" b="1" dirty="0"/>
          </a:p>
        </p:txBody>
      </p:sp>
    </p:spTree>
    <p:extLst>
      <p:ext uri="{BB962C8B-B14F-4D97-AF65-F5344CB8AC3E}">
        <p14:creationId xmlns:p14="http://schemas.microsoft.com/office/powerpoint/2010/main" val="19877832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Exemple 2: Cache direct</a:t>
            </a:r>
          </a:p>
        </p:txBody>
      </p:sp>
      <p:sp>
        <p:nvSpPr>
          <p:cNvPr id="4" name="Rectangle 3"/>
          <p:cNvSpPr/>
          <p:nvPr/>
        </p:nvSpPr>
        <p:spPr>
          <a:xfrm>
            <a:off x="229810" y="889843"/>
            <a:ext cx="8720666" cy="3877985"/>
          </a:xfrm>
          <a:prstGeom prst="rect">
            <a:avLst/>
          </a:prstGeom>
        </p:spPr>
        <p:txBody>
          <a:bodyPr wrap="square">
            <a:spAutoFit/>
          </a:bodyPr>
          <a:lstStyle/>
          <a:p>
            <a:endParaRPr lang="fr-FR" dirty="0"/>
          </a:p>
          <a:p>
            <a:endParaRPr lang="fr-FR" dirty="0"/>
          </a:p>
          <a:p>
            <a:endParaRPr lang="fr-FR" dirty="0">
              <a:solidFill>
                <a:srgbClr val="0000FF"/>
              </a:solidFill>
            </a:endParaRPr>
          </a:p>
          <a:p>
            <a:pPr marL="285750" indent="-285750">
              <a:buFont typeface="Arial"/>
              <a:buChar char="•"/>
            </a:pPr>
            <a:r>
              <a:rPr lang="fr-FR" sz="1600" spc="150" dirty="0">
                <a:solidFill>
                  <a:schemeClr val="tx2"/>
                </a:solidFill>
              </a:rPr>
              <a:t>Mémoire adressable par octet dont le bus d’adresse est de 32 bits.</a:t>
            </a:r>
          </a:p>
          <a:p>
            <a:pPr marL="285750" indent="-285750">
              <a:buFont typeface="Arial"/>
              <a:buChar char="•"/>
            </a:pPr>
            <a:r>
              <a:rPr lang="fr-FR" sz="1600" spc="150" dirty="0">
                <a:solidFill>
                  <a:schemeClr val="tx2"/>
                </a:solidFill>
              </a:rPr>
              <a:t>Mémoire cache de 2</a:t>
            </a:r>
            <a:r>
              <a:rPr lang="fr-FR" sz="2000" b="1" spc="150" baseline="30000" dirty="0">
                <a:solidFill>
                  <a:schemeClr val="tx2"/>
                </a:solidFill>
              </a:rPr>
              <a:t>s </a:t>
            </a:r>
            <a:r>
              <a:rPr lang="fr-FR" sz="1600" spc="150" dirty="0">
                <a:solidFill>
                  <a:schemeClr val="tx2"/>
                </a:solidFill>
              </a:rPr>
              <a:t>Ko, dont les lignes dont de taille 256 bits.</a:t>
            </a:r>
          </a:p>
          <a:p>
            <a:r>
              <a:rPr lang="fr-FR" sz="1600" dirty="0"/>
              <a:t>(1 ko = 2</a:t>
            </a:r>
            <a:r>
              <a:rPr lang="fr-FR" sz="1600" baseline="30000" dirty="0"/>
              <a:t>10</a:t>
            </a:r>
            <a:r>
              <a:rPr lang="fr-FR" sz="1600" dirty="0"/>
              <a:t> octets et 1 octet = 2</a:t>
            </a:r>
            <a:r>
              <a:rPr lang="fr-FR" sz="1600" baseline="30000" dirty="0"/>
              <a:t>3</a:t>
            </a:r>
            <a:r>
              <a:rPr lang="fr-FR" sz="1600" dirty="0"/>
              <a:t> bits)</a:t>
            </a:r>
          </a:p>
          <a:p>
            <a:endParaRPr lang="fr-FR" sz="1600" spc="150" dirty="0">
              <a:solidFill>
                <a:schemeClr val="tx2"/>
              </a:solidFill>
            </a:endParaRPr>
          </a:p>
          <a:p>
            <a:r>
              <a:rPr lang="fr-FR" sz="1600" spc="150" dirty="0">
                <a:solidFill>
                  <a:schemeClr val="tx2"/>
                </a:solidFill>
              </a:rPr>
              <a:t>Une ligne du cache est de 2</a:t>
            </a:r>
            <a:r>
              <a:rPr lang="fr-FR" sz="2000" b="1" spc="150" baseline="30000" dirty="0">
                <a:solidFill>
                  <a:schemeClr val="tx2"/>
                </a:solidFill>
              </a:rPr>
              <a:t>5</a:t>
            </a:r>
            <a:r>
              <a:rPr lang="fr-FR" sz="1600" spc="150" dirty="0">
                <a:solidFill>
                  <a:schemeClr val="tx2"/>
                </a:solidFill>
              </a:rPr>
              <a:t> octet, la mémoire étant adressable par octet, 5 bits donc pour l’offset.</a:t>
            </a:r>
          </a:p>
          <a:p>
            <a:r>
              <a:rPr lang="fr-FR" sz="1600" spc="150" dirty="0">
                <a:solidFill>
                  <a:schemeClr val="tx2"/>
                </a:solidFill>
              </a:rPr>
              <a:t>La capacité du mémoire cache 2</a:t>
            </a:r>
            <a:r>
              <a:rPr lang="fr-FR" sz="2000" b="1" spc="150" baseline="30000" dirty="0">
                <a:solidFill>
                  <a:schemeClr val="tx2"/>
                </a:solidFill>
              </a:rPr>
              <a:t>s+10 </a:t>
            </a:r>
            <a:r>
              <a:rPr lang="fr-FR" sz="1600" spc="150" dirty="0">
                <a:solidFill>
                  <a:schemeClr val="tx2"/>
                </a:solidFill>
              </a:rPr>
              <a:t>octets, donc cette mémoire est gérée par 2</a:t>
            </a:r>
            <a:r>
              <a:rPr lang="fr-FR" sz="2000" b="1" spc="150" baseline="30000" dirty="0">
                <a:solidFill>
                  <a:schemeClr val="tx2"/>
                </a:solidFill>
              </a:rPr>
              <a:t>s+5</a:t>
            </a:r>
            <a:r>
              <a:rPr lang="fr-FR" sz="1600" b="1" spc="150" baseline="30000" dirty="0">
                <a:solidFill>
                  <a:schemeClr val="tx2"/>
                </a:solidFill>
              </a:rPr>
              <a:t> </a:t>
            </a:r>
            <a:r>
              <a:rPr lang="fr-FR" sz="1600" spc="150" dirty="0">
                <a:solidFill>
                  <a:schemeClr val="tx2"/>
                </a:solidFill>
              </a:rPr>
              <a:t>lignes </a:t>
            </a:r>
            <a:r>
              <a:rPr lang="fr-FR" sz="1600" b="1" spc="150" dirty="0">
                <a:solidFill>
                  <a:schemeClr val="tx2"/>
                </a:solidFill>
              </a:rPr>
              <a:t>de cache. Donc l’indice de la ligne est de s+5 bits.</a:t>
            </a:r>
          </a:p>
          <a:p>
            <a:r>
              <a:rPr lang="fr-FR" sz="1600" b="1" spc="150" dirty="0">
                <a:solidFill>
                  <a:schemeClr val="tx2"/>
                </a:solidFill>
              </a:rPr>
              <a:t>Donc </a:t>
            </a:r>
            <a:r>
              <a:rPr lang="fr-FR" sz="1600" spc="150" dirty="0">
                <a:solidFill>
                  <a:schemeClr val="tx2"/>
                </a:solidFill>
              </a:rPr>
              <a:t>2</a:t>
            </a:r>
            <a:r>
              <a:rPr lang="fr-FR" sz="2000" spc="150" baseline="30000" dirty="0">
                <a:solidFill>
                  <a:schemeClr val="tx2"/>
                </a:solidFill>
              </a:rPr>
              <a:t>22-s</a:t>
            </a:r>
            <a:r>
              <a:rPr lang="fr-FR" sz="1600" spc="150" dirty="0">
                <a:solidFill>
                  <a:schemeClr val="tx2"/>
                </a:solidFill>
              </a:rPr>
              <a:t> éléments de la mémoire principale sont gérés par ligne de cache. Le tag est donc de 22-s bits. </a:t>
            </a:r>
          </a:p>
          <a:p>
            <a:endParaRPr lang="fr-FR" sz="1600" spc="150" dirty="0">
              <a:solidFill>
                <a:schemeClr val="tx2"/>
              </a:solidFill>
            </a:endParaRPr>
          </a:p>
          <a:p>
            <a:endParaRPr lang="fr-FR" sz="1600" spc="150" dirty="0">
              <a:solidFill>
                <a:schemeClr val="tx2"/>
              </a:solidFill>
            </a:endParaRPr>
          </a:p>
        </p:txBody>
      </p:sp>
      <p:pic>
        <p:nvPicPr>
          <p:cNvPr id="6" name="Picture 5" descr="Capture d’écran 2020-02-19 à 14.21.3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4953" y="4039810"/>
            <a:ext cx="4577308" cy="2576285"/>
          </a:xfrm>
          <a:prstGeom prst="rect">
            <a:avLst/>
          </a:prstGeom>
        </p:spPr>
      </p:pic>
      <p:pic>
        <p:nvPicPr>
          <p:cNvPr id="7" name="Picture 6" descr="Capture d’écran 2020-02-19 à 14.21.2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15" y="4849585"/>
            <a:ext cx="3888014" cy="1282700"/>
          </a:xfrm>
          <a:prstGeom prst="rect">
            <a:avLst/>
          </a:prstGeom>
        </p:spPr>
      </p:pic>
    </p:spTree>
    <p:extLst>
      <p:ext uri="{BB962C8B-B14F-4D97-AF65-F5344CB8AC3E}">
        <p14:creationId xmlns:p14="http://schemas.microsoft.com/office/powerpoint/2010/main" val="3765698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1600" dirty="0" err="1"/>
              <a:t>Chaque</a:t>
            </a:r>
            <a:r>
              <a:rPr lang="en-US" sz="1600" dirty="0"/>
              <a:t> </a:t>
            </a:r>
            <a:r>
              <a:rPr lang="en-US" sz="1600" dirty="0" err="1"/>
              <a:t>ligne</a:t>
            </a:r>
            <a:r>
              <a:rPr lang="en-US" sz="1600" dirty="0"/>
              <a:t> de la </a:t>
            </a:r>
            <a:r>
              <a:rPr lang="en-US" sz="1600" dirty="0" err="1"/>
              <a:t>mémoire</a:t>
            </a:r>
            <a:r>
              <a:rPr lang="en-US" sz="1600" dirty="0"/>
              <a:t> de </a:t>
            </a:r>
            <a:r>
              <a:rPr lang="en-US" sz="1600" dirty="0" err="1"/>
              <a:t>niveau</a:t>
            </a:r>
            <a:r>
              <a:rPr lang="en-US" sz="1600" dirty="0"/>
              <a:t> </a:t>
            </a:r>
            <a:r>
              <a:rPr lang="en-US" sz="1600" dirty="0" err="1"/>
              <a:t>supérieur</a:t>
            </a:r>
            <a:r>
              <a:rPr lang="en-US" sz="1600" dirty="0"/>
              <a:t> </a:t>
            </a:r>
            <a:r>
              <a:rPr lang="en-US" sz="1600" dirty="0" err="1"/>
              <a:t>peut</a:t>
            </a:r>
            <a:r>
              <a:rPr lang="en-US" sz="1600" dirty="0"/>
              <a:t> </a:t>
            </a:r>
            <a:r>
              <a:rPr lang="en-US" sz="1600" dirty="0" err="1"/>
              <a:t>être</a:t>
            </a:r>
            <a:r>
              <a:rPr lang="en-US" sz="1600" dirty="0"/>
              <a:t> </a:t>
            </a:r>
            <a:r>
              <a:rPr lang="en-US" sz="1600" dirty="0" err="1"/>
              <a:t>écrite</a:t>
            </a:r>
            <a:r>
              <a:rPr lang="en-US" sz="1600" dirty="0"/>
              <a:t> </a:t>
            </a:r>
            <a:r>
              <a:rPr lang="en-US" sz="1600" dirty="0" err="1"/>
              <a:t>à</a:t>
            </a:r>
            <a:r>
              <a:rPr lang="en-US" sz="1600" dirty="0"/>
              <a:t> </a:t>
            </a:r>
            <a:r>
              <a:rPr lang="en-US" sz="1600" dirty="0" err="1"/>
              <a:t>n'importe</a:t>
            </a:r>
            <a:r>
              <a:rPr lang="en-US" sz="1600" dirty="0"/>
              <a:t> </a:t>
            </a:r>
            <a:r>
              <a:rPr lang="en-US" sz="1600" dirty="0" err="1"/>
              <a:t>quelle</a:t>
            </a:r>
            <a:r>
              <a:rPr lang="en-US" sz="1600" dirty="0"/>
              <a:t> </a:t>
            </a:r>
            <a:r>
              <a:rPr lang="en-US" sz="1600" dirty="0" err="1"/>
              <a:t>adresse</a:t>
            </a:r>
            <a:r>
              <a:rPr lang="en-US" sz="1600" dirty="0"/>
              <a:t> de la </a:t>
            </a:r>
            <a:r>
              <a:rPr lang="en-US" sz="1600" dirty="0" err="1"/>
              <a:t>mémoire</a:t>
            </a:r>
            <a:r>
              <a:rPr lang="en-US" sz="1600" dirty="0"/>
              <a:t> cache. </a:t>
            </a:r>
          </a:p>
          <a:p>
            <a:pPr algn="just"/>
            <a:r>
              <a:rPr lang="en-US" sz="1600" dirty="0" err="1"/>
              <a:t>Cette</a:t>
            </a:r>
            <a:r>
              <a:rPr lang="en-US" sz="1600" dirty="0"/>
              <a:t> </a:t>
            </a:r>
            <a:r>
              <a:rPr lang="en-US" sz="1600" dirty="0" err="1"/>
              <a:t>méthode</a:t>
            </a:r>
            <a:r>
              <a:rPr lang="en-US" sz="1600" dirty="0"/>
              <a:t> </a:t>
            </a:r>
            <a:r>
              <a:rPr lang="en-US" sz="1600" dirty="0" err="1"/>
              <a:t>donne</a:t>
            </a:r>
            <a:r>
              <a:rPr lang="en-US" sz="1600" dirty="0"/>
              <a:t> </a:t>
            </a:r>
            <a:r>
              <a:rPr lang="en-US" sz="1600" dirty="0" err="1"/>
              <a:t>accès</a:t>
            </a:r>
            <a:r>
              <a:rPr lang="en-US" sz="1600" dirty="0"/>
              <a:t> </a:t>
            </a:r>
            <a:r>
              <a:rPr lang="en-US" sz="1600" dirty="0" err="1"/>
              <a:t>à</a:t>
            </a:r>
            <a:r>
              <a:rPr lang="en-US" sz="1600" dirty="0"/>
              <a:t> de </a:t>
            </a:r>
            <a:r>
              <a:rPr lang="en-US" sz="1600" dirty="0" err="1"/>
              <a:t>nombreuses</a:t>
            </a:r>
            <a:r>
              <a:rPr lang="en-US" sz="1600" dirty="0"/>
              <a:t> </a:t>
            </a:r>
            <a:r>
              <a:rPr lang="en-US" sz="1600" dirty="0" err="1"/>
              <a:t>possibilités</a:t>
            </a:r>
            <a:r>
              <a:rPr lang="en-US" sz="1600" dirty="0"/>
              <a:t>. </a:t>
            </a:r>
          </a:p>
          <a:p>
            <a:pPr algn="just"/>
            <a:r>
              <a:rPr lang="en-US" sz="1600" dirty="0" err="1"/>
              <a:t>L'associativité</a:t>
            </a:r>
            <a:r>
              <a:rPr lang="en-US" sz="1600" dirty="0"/>
              <a:t> </a:t>
            </a:r>
            <a:r>
              <a:rPr lang="en-US" sz="1600" dirty="0" err="1"/>
              <a:t>complète</a:t>
            </a:r>
            <a:r>
              <a:rPr lang="en-US" sz="1600" dirty="0"/>
              <a:t> </a:t>
            </a:r>
            <a:r>
              <a:rPr lang="en-US" sz="1600" dirty="0" err="1"/>
              <a:t>n'est</a:t>
            </a:r>
            <a:r>
              <a:rPr lang="en-US" sz="1600" dirty="0"/>
              <a:t> </a:t>
            </a:r>
            <a:r>
              <a:rPr lang="en-US" sz="1600" dirty="0" err="1"/>
              <a:t>utilisée</a:t>
            </a:r>
            <a:r>
              <a:rPr lang="en-US" sz="1600" dirty="0"/>
              <a:t> </a:t>
            </a:r>
            <a:r>
              <a:rPr lang="en-US" sz="1600" dirty="0" err="1"/>
              <a:t>que</a:t>
            </a:r>
            <a:r>
              <a:rPr lang="en-US" sz="1600" dirty="0"/>
              <a:t> </a:t>
            </a:r>
            <a:r>
              <a:rPr lang="en-US" sz="1600" dirty="0" err="1"/>
              <a:t>dans</a:t>
            </a:r>
            <a:r>
              <a:rPr lang="en-US" sz="1600" dirty="0"/>
              <a:t> les </a:t>
            </a:r>
            <a:r>
              <a:rPr lang="en-US" sz="1600" dirty="0" err="1"/>
              <a:t>mémoires</a:t>
            </a:r>
            <a:r>
              <a:rPr lang="en-US" sz="1600" dirty="0"/>
              <a:t> cache de petite </a:t>
            </a:r>
            <a:r>
              <a:rPr lang="en-US" sz="1600" dirty="0" err="1"/>
              <a:t>taille</a:t>
            </a:r>
            <a:r>
              <a:rPr lang="en-US" sz="1600" dirty="0"/>
              <a:t>. </a:t>
            </a:r>
            <a:r>
              <a:rPr lang="en-US" sz="1600" dirty="0" err="1"/>
              <a:t>Cela</a:t>
            </a:r>
            <a:r>
              <a:rPr lang="en-US" sz="1600" dirty="0"/>
              <a:t> </a:t>
            </a:r>
            <a:r>
              <a:rPr lang="en-US" sz="1600" dirty="0" err="1"/>
              <a:t>donne</a:t>
            </a:r>
            <a:r>
              <a:rPr lang="en-US" sz="1600" dirty="0"/>
              <a:t> le </a:t>
            </a:r>
            <a:r>
              <a:rPr lang="en-US" sz="1600" dirty="0" err="1"/>
              <a:t>découpage</a:t>
            </a:r>
            <a:r>
              <a:rPr lang="en-US" sz="1600" dirty="0"/>
              <a:t> </a:t>
            </a:r>
            <a:r>
              <a:rPr lang="en-US" sz="1600" dirty="0" err="1"/>
              <a:t>suivant</a:t>
            </a:r>
            <a:r>
              <a:rPr lang="en-US" sz="1600" dirty="0"/>
              <a:t> de </a:t>
            </a:r>
            <a:r>
              <a:rPr lang="en-US" sz="1600" dirty="0" err="1"/>
              <a:t>l'adresse</a:t>
            </a:r>
            <a:r>
              <a:rPr lang="en-US" sz="1600" dirty="0"/>
              <a:t> : </a:t>
            </a:r>
          </a:p>
          <a:p>
            <a:pPr algn="just"/>
            <a:endParaRPr lang="en-US" sz="1600" dirty="0"/>
          </a:p>
          <a:p>
            <a:pPr marL="320040" lvl="1" indent="0" algn="just">
              <a:buNone/>
            </a:pPr>
            <a:r>
              <a:rPr lang="en-US" dirty="0">
                <a:solidFill>
                  <a:srgbClr val="0000FF"/>
                </a:solidFill>
              </a:rPr>
              <a:t>Un cache de 256 bits par </a:t>
            </a:r>
            <a:r>
              <a:rPr lang="en-US" dirty="0" err="1">
                <a:solidFill>
                  <a:srgbClr val="0000FF"/>
                </a:solidFill>
              </a:rPr>
              <a:t>ligne</a:t>
            </a:r>
            <a:r>
              <a:rPr lang="en-US" dirty="0">
                <a:solidFill>
                  <a:srgbClr val="0000FF"/>
                </a:solidFill>
              </a:rPr>
              <a:t> pour </a:t>
            </a:r>
            <a:r>
              <a:rPr lang="en-US" dirty="0" err="1">
                <a:solidFill>
                  <a:srgbClr val="0000FF"/>
                </a:solidFill>
              </a:rPr>
              <a:t>une</a:t>
            </a:r>
            <a:r>
              <a:rPr lang="en-US" dirty="0">
                <a:solidFill>
                  <a:srgbClr val="0000FF"/>
                </a:solidFill>
              </a:rPr>
              <a:t> </a:t>
            </a:r>
            <a:r>
              <a:rPr lang="en-US" dirty="0" err="1">
                <a:solidFill>
                  <a:srgbClr val="0000FF"/>
                </a:solidFill>
              </a:rPr>
              <a:t>mémoire</a:t>
            </a:r>
            <a:r>
              <a:rPr lang="en-US" dirty="0">
                <a:solidFill>
                  <a:srgbClr val="0000FF"/>
                </a:solidFill>
              </a:rPr>
              <a:t> </a:t>
            </a:r>
            <a:r>
              <a:rPr lang="en-US" dirty="0" err="1">
                <a:solidFill>
                  <a:srgbClr val="0000FF"/>
                </a:solidFill>
              </a:rPr>
              <a:t>adressable</a:t>
            </a:r>
            <a:r>
              <a:rPr lang="en-US" dirty="0">
                <a:solidFill>
                  <a:srgbClr val="0000FF"/>
                </a:solidFill>
              </a:rPr>
              <a:t> par octet </a:t>
            </a:r>
          </a:p>
          <a:p>
            <a:pPr algn="just"/>
            <a:endParaRPr lang="en-US" sz="1600" dirty="0"/>
          </a:p>
          <a:p>
            <a:pPr algn="just"/>
            <a:endParaRPr lang="fr-FR" sz="1600" dirty="0"/>
          </a:p>
        </p:txBody>
      </p:sp>
      <p:sp>
        <p:nvSpPr>
          <p:cNvPr id="3" name="Title 2"/>
          <p:cNvSpPr>
            <a:spLocks noGrp="1"/>
          </p:cNvSpPr>
          <p:nvPr>
            <p:ph type="title"/>
          </p:nvPr>
        </p:nvSpPr>
        <p:spPr/>
        <p:txBody>
          <a:bodyPr/>
          <a:lstStyle/>
          <a:p>
            <a:r>
              <a:rPr lang="en-US" b="1" dirty="0"/>
              <a:t>Cache </a:t>
            </a:r>
            <a:r>
              <a:rPr lang="en-US" b="1" dirty="0" err="1"/>
              <a:t>pleinement</a:t>
            </a:r>
            <a:r>
              <a:rPr lang="en-US" b="1" dirty="0"/>
              <a:t> </a:t>
            </a:r>
            <a:r>
              <a:rPr lang="en-US" b="1" dirty="0" err="1"/>
              <a:t>associatif</a:t>
            </a:r>
            <a:endParaRPr lang="en-US" b="1" dirty="0"/>
          </a:p>
        </p:txBody>
      </p:sp>
      <p:pic>
        <p:nvPicPr>
          <p:cNvPr id="4" name="Picture 3" descr="Capture d’écran 2020-02-19 à 14.40.0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667" y="4437138"/>
            <a:ext cx="3537857" cy="1346200"/>
          </a:xfrm>
          <a:prstGeom prst="rect">
            <a:avLst/>
          </a:prstGeom>
        </p:spPr>
      </p:pic>
      <p:pic>
        <p:nvPicPr>
          <p:cNvPr id="7" name="Picture 6" descr="Capture d’écran 2020-02-19 à 14.43.1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8858" y="3903979"/>
            <a:ext cx="4870034" cy="2506497"/>
          </a:xfrm>
          <a:prstGeom prst="rect">
            <a:avLst/>
          </a:prstGeom>
        </p:spPr>
      </p:pic>
    </p:spTree>
    <p:extLst>
      <p:ext uri="{BB962C8B-B14F-4D97-AF65-F5344CB8AC3E}">
        <p14:creationId xmlns:p14="http://schemas.microsoft.com/office/powerpoint/2010/main" val="36148557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 indent="0">
              <a:buNone/>
            </a:pPr>
            <a:r>
              <a:rPr lang="en-US" sz="1600" dirty="0">
                <a:solidFill>
                  <a:srgbClr val="0000FF"/>
                </a:solidFill>
              </a:rPr>
              <a:t>Un </a:t>
            </a:r>
            <a:r>
              <a:rPr lang="en-US" sz="1600" dirty="0" err="1">
                <a:solidFill>
                  <a:srgbClr val="0000FF"/>
                </a:solidFill>
              </a:rPr>
              <a:t>compromis</a:t>
            </a:r>
            <a:r>
              <a:rPr lang="en-US" sz="1600" dirty="0">
                <a:solidFill>
                  <a:srgbClr val="0000FF"/>
                </a:solidFill>
              </a:rPr>
              <a:t> entre le "mapping" direct et </a:t>
            </a:r>
            <a:r>
              <a:rPr lang="en-US" sz="1600" dirty="0" err="1">
                <a:solidFill>
                  <a:srgbClr val="0000FF"/>
                </a:solidFill>
              </a:rPr>
              <a:t>complètement</a:t>
            </a:r>
            <a:r>
              <a:rPr lang="en-US" sz="1600" dirty="0">
                <a:solidFill>
                  <a:srgbClr val="0000FF"/>
                </a:solidFill>
              </a:rPr>
              <a:t> </a:t>
            </a:r>
            <a:r>
              <a:rPr lang="en-US" sz="1600" dirty="0" err="1">
                <a:solidFill>
                  <a:srgbClr val="0000FF"/>
                </a:solidFill>
              </a:rPr>
              <a:t>associatif</a:t>
            </a:r>
            <a:r>
              <a:rPr lang="en-US" sz="1600" dirty="0">
                <a:solidFill>
                  <a:srgbClr val="0000FF"/>
                </a:solidFill>
              </a:rPr>
              <a:t> </a:t>
            </a:r>
          </a:p>
          <a:p>
            <a:pPr algn="just"/>
            <a:r>
              <a:rPr lang="en-US" sz="1600" dirty="0"/>
              <a:t>La </a:t>
            </a:r>
            <a:r>
              <a:rPr lang="en-US" sz="1600" dirty="0" err="1"/>
              <a:t>mémoire</a:t>
            </a:r>
            <a:r>
              <a:rPr lang="en-US" sz="1600" dirty="0"/>
              <a:t> cache </a:t>
            </a:r>
            <a:r>
              <a:rPr lang="en-US" sz="1600" dirty="0" err="1"/>
              <a:t>est</a:t>
            </a:r>
            <a:r>
              <a:rPr lang="en-US" sz="1600" dirty="0"/>
              <a:t> </a:t>
            </a:r>
            <a:r>
              <a:rPr lang="en-US" sz="1600" dirty="0" err="1"/>
              <a:t>divisée</a:t>
            </a:r>
            <a:r>
              <a:rPr lang="en-US" sz="1600" dirty="0"/>
              <a:t> en ensembles (sets) de N </a:t>
            </a:r>
            <a:r>
              <a:rPr lang="en-US" sz="1600" dirty="0" err="1"/>
              <a:t>lignes</a:t>
            </a:r>
            <a:r>
              <a:rPr lang="en-US" sz="1600" dirty="0"/>
              <a:t> de cache.</a:t>
            </a:r>
          </a:p>
          <a:p>
            <a:pPr algn="just"/>
            <a:r>
              <a:rPr lang="en-US" sz="1600" dirty="0" err="1"/>
              <a:t>Une</a:t>
            </a:r>
            <a:r>
              <a:rPr lang="en-US" sz="1600" dirty="0"/>
              <a:t> </a:t>
            </a:r>
            <a:r>
              <a:rPr lang="en-US" sz="1600" dirty="0" err="1"/>
              <a:t>ligne</a:t>
            </a:r>
            <a:r>
              <a:rPr lang="en-US" sz="1600" dirty="0"/>
              <a:t> de la </a:t>
            </a:r>
            <a:r>
              <a:rPr lang="en-US" sz="1600" dirty="0" err="1"/>
              <a:t>mémoire</a:t>
            </a:r>
            <a:r>
              <a:rPr lang="en-US" sz="1600" dirty="0"/>
              <a:t> de </a:t>
            </a:r>
            <a:r>
              <a:rPr lang="en-US" sz="1600" dirty="0" err="1"/>
              <a:t>niveau</a:t>
            </a:r>
            <a:r>
              <a:rPr lang="en-US" sz="1600" dirty="0"/>
              <a:t> </a:t>
            </a:r>
            <a:r>
              <a:rPr lang="en-US" sz="1600" dirty="0" err="1"/>
              <a:t>supérieur</a:t>
            </a:r>
            <a:r>
              <a:rPr lang="en-US" sz="1600" dirty="0"/>
              <a:t> </a:t>
            </a:r>
            <a:r>
              <a:rPr lang="en-US" sz="1600" dirty="0" err="1"/>
              <a:t>est</a:t>
            </a:r>
            <a:r>
              <a:rPr lang="en-US" sz="1600" dirty="0"/>
              <a:t> </a:t>
            </a:r>
            <a:r>
              <a:rPr lang="en-US" sz="1600" dirty="0" err="1"/>
              <a:t>affectée</a:t>
            </a:r>
            <a:r>
              <a:rPr lang="en-US" sz="1600" dirty="0"/>
              <a:t> </a:t>
            </a:r>
            <a:r>
              <a:rPr lang="en-US" sz="1600" dirty="0" err="1"/>
              <a:t>à</a:t>
            </a:r>
            <a:r>
              <a:rPr lang="en-US" sz="1600" dirty="0"/>
              <a:t> un ensemble, </a:t>
            </a:r>
            <a:r>
              <a:rPr lang="en-US" sz="1600" dirty="0" err="1"/>
              <a:t>elle</a:t>
            </a:r>
            <a:r>
              <a:rPr lang="en-US" sz="1600" dirty="0"/>
              <a:t> </a:t>
            </a:r>
            <a:r>
              <a:rPr lang="en-US" sz="1600" dirty="0" err="1"/>
              <a:t>peut</a:t>
            </a:r>
            <a:r>
              <a:rPr lang="en-US" sz="1600" dirty="0"/>
              <a:t> par </a:t>
            </a:r>
            <a:r>
              <a:rPr lang="en-US" sz="1600" dirty="0" err="1"/>
              <a:t>conséquent</a:t>
            </a:r>
            <a:r>
              <a:rPr lang="en-US" sz="1600" dirty="0"/>
              <a:t> </a:t>
            </a:r>
            <a:r>
              <a:rPr lang="en-US" sz="1600" dirty="0" err="1"/>
              <a:t>être</a:t>
            </a:r>
            <a:r>
              <a:rPr lang="en-US" sz="1600" dirty="0"/>
              <a:t> </a:t>
            </a:r>
            <a:r>
              <a:rPr lang="en-US" sz="1600" dirty="0" err="1"/>
              <a:t>écrite</a:t>
            </a:r>
            <a:r>
              <a:rPr lang="en-US" sz="1600" dirty="0"/>
              <a:t> </a:t>
            </a:r>
            <a:r>
              <a:rPr lang="en-US" sz="1600" dirty="0" err="1"/>
              <a:t>dans</a:t>
            </a:r>
            <a:r>
              <a:rPr lang="en-US" sz="1600" dirty="0"/>
              <a:t> </a:t>
            </a:r>
            <a:r>
              <a:rPr lang="en-US" sz="1600" dirty="0" err="1"/>
              <a:t>n'importe</a:t>
            </a:r>
            <a:r>
              <a:rPr lang="en-US" sz="1600" dirty="0"/>
              <a:t> </a:t>
            </a:r>
            <a:r>
              <a:rPr lang="en-US" sz="1600" dirty="0" err="1"/>
              <a:t>laquelle</a:t>
            </a:r>
            <a:r>
              <a:rPr lang="en-US" sz="1600" dirty="0"/>
              <a:t> des </a:t>
            </a:r>
            <a:r>
              <a:rPr lang="en-US" sz="1600" dirty="0" err="1"/>
              <a:t>voies</a:t>
            </a:r>
            <a:r>
              <a:rPr lang="en-US" sz="1600" dirty="0"/>
              <a:t> i.e. des N </a:t>
            </a:r>
            <a:r>
              <a:rPr lang="en-US" sz="1600" dirty="0" err="1"/>
              <a:t>lignes</a:t>
            </a:r>
            <a:r>
              <a:rPr lang="en-US" sz="1600" dirty="0"/>
              <a:t> de </a:t>
            </a:r>
            <a:r>
              <a:rPr lang="en-US" sz="1600" dirty="0" err="1"/>
              <a:t>l'ensemble</a:t>
            </a:r>
            <a:r>
              <a:rPr lang="en-US" sz="1600" dirty="0"/>
              <a:t>. </a:t>
            </a:r>
          </a:p>
          <a:p>
            <a:pPr marL="45720" indent="0">
              <a:buNone/>
            </a:pPr>
            <a:r>
              <a:rPr lang="en-US" sz="1600" dirty="0"/>
              <a:t>             </a:t>
            </a:r>
          </a:p>
          <a:p>
            <a:pPr algn="just">
              <a:buFont typeface="Wingdings" charset="2"/>
              <a:buChar char="u"/>
            </a:pPr>
            <a:r>
              <a:rPr lang="en-US" sz="1600" dirty="0"/>
              <a:t>  </a:t>
            </a:r>
            <a:r>
              <a:rPr lang="en-US" sz="1600" dirty="0" err="1"/>
              <a:t>Ceci</a:t>
            </a:r>
            <a:r>
              <a:rPr lang="en-US" sz="1600" dirty="0"/>
              <a:t> </a:t>
            </a:r>
            <a:r>
              <a:rPr lang="en-US" sz="1600" dirty="0" err="1"/>
              <a:t>permet</a:t>
            </a:r>
            <a:r>
              <a:rPr lang="en-US" sz="1600" dirty="0"/>
              <a:t> </a:t>
            </a:r>
            <a:r>
              <a:rPr lang="en-US" sz="1600" dirty="0" err="1"/>
              <a:t>d'éviter</a:t>
            </a:r>
            <a:r>
              <a:rPr lang="en-US" sz="1600" dirty="0"/>
              <a:t> de </a:t>
            </a:r>
            <a:r>
              <a:rPr lang="en-US" sz="1600" dirty="0" err="1"/>
              <a:t>nombreux</a:t>
            </a:r>
            <a:r>
              <a:rPr lang="en-US" sz="1600" dirty="0"/>
              <a:t> </a:t>
            </a:r>
            <a:r>
              <a:rPr lang="en-US" sz="1600" dirty="0" err="1"/>
              <a:t>défauts</a:t>
            </a:r>
            <a:r>
              <a:rPr lang="en-US" sz="1600" dirty="0"/>
              <a:t> de cache </a:t>
            </a:r>
            <a:r>
              <a:rPr lang="en-US" sz="1600" dirty="0" err="1"/>
              <a:t>conflictuels</a:t>
            </a:r>
            <a:r>
              <a:rPr lang="en-US" sz="1600" dirty="0"/>
              <a:t>. </a:t>
            </a:r>
          </a:p>
          <a:p>
            <a:pPr marL="45720" indent="0" algn="just">
              <a:buNone/>
            </a:pPr>
            <a:r>
              <a:rPr lang="en-US" sz="1600" dirty="0" err="1"/>
              <a:t>À</a:t>
            </a:r>
            <a:r>
              <a:rPr lang="en-US" sz="1600" dirty="0"/>
              <a:t> </a:t>
            </a:r>
            <a:r>
              <a:rPr lang="en-US" sz="1600" dirty="0" err="1"/>
              <a:t>l'intérieur</a:t>
            </a:r>
            <a:r>
              <a:rPr lang="en-US" sz="1600" dirty="0"/>
              <a:t> d'un ensemble, le mapping </a:t>
            </a:r>
            <a:r>
              <a:rPr lang="en-US" sz="1600" dirty="0" err="1"/>
              <a:t>est</a:t>
            </a:r>
            <a:r>
              <a:rPr lang="en-US" sz="1600" dirty="0"/>
              <a:t> Direct Mapped, </a:t>
            </a:r>
            <a:r>
              <a:rPr lang="en-US" sz="1600" dirty="0" err="1"/>
              <a:t>alors</a:t>
            </a:r>
            <a:r>
              <a:rPr lang="en-US" sz="1600" dirty="0"/>
              <a:t> </a:t>
            </a:r>
            <a:r>
              <a:rPr lang="en-US" sz="1600" dirty="0" err="1"/>
              <a:t>que</a:t>
            </a:r>
            <a:r>
              <a:rPr lang="en-US" sz="1600" dirty="0"/>
              <a:t> le mapping des N Sets </a:t>
            </a:r>
            <a:r>
              <a:rPr lang="en-US" sz="1600" dirty="0" err="1"/>
              <a:t>est</a:t>
            </a:r>
            <a:r>
              <a:rPr lang="en-US" sz="1600" dirty="0"/>
              <a:t> Full Associative. </a:t>
            </a:r>
          </a:p>
          <a:p>
            <a:pPr marL="45720" indent="0" algn="just">
              <a:buNone/>
            </a:pPr>
            <a:endParaRPr lang="en-US" sz="1600" dirty="0"/>
          </a:p>
          <a:p>
            <a:pPr marL="45720" indent="0" algn="just">
              <a:buNone/>
            </a:pPr>
            <a:r>
              <a:rPr lang="en-US" sz="1600" dirty="0"/>
              <a:t>En </a:t>
            </a:r>
            <a:r>
              <a:rPr lang="en-US" sz="1600" dirty="0" err="1"/>
              <a:t>général</a:t>
            </a:r>
            <a:r>
              <a:rPr lang="en-US" sz="1600" dirty="0"/>
              <a:t>, la </a:t>
            </a:r>
            <a:r>
              <a:rPr lang="en-US" sz="1600" dirty="0" err="1"/>
              <a:t>sélection</a:t>
            </a:r>
            <a:r>
              <a:rPr lang="en-US" sz="1600" dirty="0"/>
              <a:t> de </a:t>
            </a:r>
            <a:r>
              <a:rPr lang="en-US" sz="1600" dirty="0" err="1"/>
              <a:t>l'ensemble</a:t>
            </a:r>
            <a:r>
              <a:rPr lang="en-US" sz="1600" dirty="0"/>
              <a:t> </a:t>
            </a:r>
            <a:r>
              <a:rPr lang="en-US" sz="1600" dirty="0" err="1"/>
              <a:t>est</a:t>
            </a:r>
            <a:r>
              <a:rPr lang="en-US" sz="1600" dirty="0"/>
              <a:t> </a:t>
            </a:r>
            <a:r>
              <a:rPr lang="en-US" sz="1600" dirty="0" err="1"/>
              <a:t>effectuée</a:t>
            </a:r>
            <a:r>
              <a:rPr lang="en-US" sz="1600" dirty="0"/>
              <a:t> par : </a:t>
            </a:r>
          </a:p>
          <a:p>
            <a:pPr marL="45720" indent="0" algn="just">
              <a:buNone/>
            </a:pPr>
            <a:r>
              <a:rPr lang="en-US" sz="1600" dirty="0">
                <a:solidFill>
                  <a:srgbClr val="0000FF"/>
                </a:solidFill>
              </a:rPr>
              <a:t>Ensemble = </a:t>
            </a:r>
            <a:r>
              <a:rPr lang="en-US" sz="1600" dirty="0" err="1">
                <a:solidFill>
                  <a:srgbClr val="0000FF"/>
                </a:solidFill>
              </a:rPr>
              <a:t>Adresse</a:t>
            </a:r>
            <a:r>
              <a:rPr lang="en-US" sz="1600" dirty="0">
                <a:solidFill>
                  <a:srgbClr val="0000FF"/>
                </a:solidFill>
              </a:rPr>
              <a:t> </a:t>
            </a:r>
            <a:r>
              <a:rPr lang="en-US" sz="1600" dirty="0" err="1">
                <a:solidFill>
                  <a:srgbClr val="0000FF"/>
                </a:solidFill>
              </a:rPr>
              <a:t>mémoire</a:t>
            </a:r>
            <a:r>
              <a:rPr lang="en-US" sz="1600" dirty="0">
                <a:solidFill>
                  <a:srgbClr val="0000FF"/>
                </a:solidFill>
              </a:rPr>
              <a:t> mod (</a:t>
            </a:r>
            <a:r>
              <a:rPr lang="en-US" sz="1600" dirty="0" err="1">
                <a:solidFill>
                  <a:srgbClr val="0000FF"/>
                </a:solidFill>
              </a:rPr>
              <a:t>Nombre</a:t>
            </a:r>
            <a:r>
              <a:rPr lang="en-US" sz="1600" dirty="0">
                <a:solidFill>
                  <a:srgbClr val="0000FF"/>
                </a:solidFill>
              </a:rPr>
              <a:t> </a:t>
            </a:r>
            <a:r>
              <a:rPr lang="en-US" sz="1600" dirty="0" err="1">
                <a:solidFill>
                  <a:srgbClr val="0000FF"/>
                </a:solidFill>
              </a:rPr>
              <a:t>d'ensembles</a:t>
            </a:r>
            <a:r>
              <a:rPr lang="en-US" sz="1600" dirty="0">
                <a:solidFill>
                  <a:srgbClr val="0000FF"/>
                </a:solidFill>
              </a:rPr>
              <a:t>) </a:t>
            </a:r>
          </a:p>
          <a:p>
            <a:pPr algn="just"/>
            <a:endParaRPr lang="fr-FR" dirty="0"/>
          </a:p>
        </p:txBody>
      </p:sp>
      <p:sp>
        <p:nvSpPr>
          <p:cNvPr id="3" name="Title 2"/>
          <p:cNvSpPr>
            <a:spLocks noGrp="1"/>
          </p:cNvSpPr>
          <p:nvPr>
            <p:ph type="title"/>
          </p:nvPr>
        </p:nvSpPr>
        <p:spPr/>
        <p:txBody>
          <a:bodyPr/>
          <a:lstStyle/>
          <a:p>
            <a:r>
              <a:rPr lang="en-US" b="1" i="1" dirty="0"/>
              <a:t>Cache</a:t>
            </a:r>
            <a:r>
              <a:rPr lang="en-US" b="1" dirty="0"/>
              <a:t>  N-</a:t>
            </a:r>
            <a:r>
              <a:rPr lang="en-US" b="1" dirty="0" err="1"/>
              <a:t>associatif</a:t>
            </a:r>
            <a:endParaRPr lang="fr-FR" dirty="0"/>
          </a:p>
        </p:txBody>
      </p:sp>
    </p:spTree>
    <p:extLst>
      <p:ext uri="{BB962C8B-B14F-4D97-AF65-F5344CB8AC3E}">
        <p14:creationId xmlns:p14="http://schemas.microsoft.com/office/powerpoint/2010/main" val="23069477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 indent="0">
              <a:buNone/>
            </a:pPr>
            <a:r>
              <a:rPr lang="en-US" sz="1700" dirty="0" err="1">
                <a:solidFill>
                  <a:srgbClr val="0000FF"/>
                </a:solidFill>
              </a:rPr>
              <a:t>Reprenons</a:t>
            </a:r>
            <a:r>
              <a:rPr lang="en-US" sz="1700" dirty="0">
                <a:solidFill>
                  <a:srgbClr val="0000FF"/>
                </a:solidFill>
              </a:rPr>
              <a:t> </a:t>
            </a:r>
            <a:r>
              <a:rPr lang="en-US" sz="1700" dirty="0" err="1">
                <a:solidFill>
                  <a:srgbClr val="0000FF"/>
                </a:solidFill>
              </a:rPr>
              <a:t>l'exemple</a:t>
            </a:r>
            <a:r>
              <a:rPr lang="en-US" sz="1700" dirty="0">
                <a:solidFill>
                  <a:srgbClr val="0000FF"/>
                </a:solidFill>
              </a:rPr>
              <a:t> de la section </a:t>
            </a:r>
            <a:r>
              <a:rPr lang="en-US" sz="1700" dirty="0" err="1">
                <a:solidFill>
                  <a:srgbClr val="0000FF"/>
                </a:solidFill>
              </a:rPr>
              <a:t>précédente</a:t>
            </a:r>
            <a:r>
              <a:rPr lang="en-US" sz="1700" dirty="0">
                <a:solidFill>
                  <a:srgbClr val="0000FF"/>
                </a:solidFill>
              </a:rPr>
              <a:t>:</a:t>
            </a:r>
          </a:p>
          <a:p>
            <a:r>
              <a:rPr lang="en-US" sz="1700" dirty="0" err="1"/>
              <a:t>Mémoire</a:t>
            </a:r>
            <a:r>
              <a:rPr lang="en-US" sz="1700" dirty="0"/>
              <a:t> </a:t>
            </a:r>
            <a:r>
              <a:rPr lang="en-US" sz="1700" dirty="0" err="1"/>
              <a:t>adressable</a:t>
            </a:r>
            <a:r>
              <a:rPr lang="en-US" sz="1700" dirty="0"/>
              <a:t> par octet </a:t>
            </a:r>
            <a:r>
              <a:rPr lang="fr-FR" sz="1700" dirty="0"/>
              <a:t>dont le bus d’adresse est de 32 bits.</a:t>
            </a:r>
            <a:endParaRPr lang="en-US" sz="1700" dirty="0"/>
          </a:p>
          <a:p>
            <a:pPr algn="just"/>
            <a:r>
              <a:rPr lang="en-US" sz="1700" dirty="0" err="1"/>
              <a:t>Mémoire</a:t>
            </a:r>
            <a:r>
              <a:rPr lang="en-US" sz="1700" dirty="0"/>
              <a:t> cache de 2</a:t>
            </a:r>
            <a:r>
              <a:rPr lang="en-US" baseline="30000" dirty="0"/>
              <a:t>s</a:t>
            </a:r>
            <a:r>
              <a:rPr lang="en-US" sz="1700" dirty="0"/>
              <a:t> </a:t>
            </a:r>
            <a:r>
              <a:rPr lang="en-US" sz="1700" dirty="0" err="1"/>
              <a:t>koctets</a:t>
            </a:r>
            <a:r>
              <a:rPr lang="en-US" sz="1700" dirty="0"/>
              <a:t> </a:t>
            </a:r>
            <a:r>
              <a:rPr lang="en-US" sz="1700" dirty="0" err="1"/>
              <a:t>mais</a:t>
            </a:r>
            <a:r>
              <a:rPr lang="en-US" sz="1700" dirty="0"/>
              <a:t> </a:t>
            </a:r>
            <a:r>
              <a:rPr lang="en-US" sz="1700" dirty="0" err="1"/>
              <a:t>constitué</a:t>
            </a:r>
            <a:r>
              <a:rPr lang="en-US" sz="1700" dirty="0"/>
              <a:t> de 2</a:t>
            </a:r>
            <a:r>
              <a:rPr lang="en-US" b="1" baseline="30000" dirty="0"/>
              <a:t>n</a:t>
            </a:r>
            <a:r>
              <a:rPr lang="en-US" sz="1700" dirty="0"/>
              <a:t> </a:t>
            </a:r>
            <a:r>
              <a:rPr lang="en-US" sz="1700" dirty="0" err="1"/>
              <a:t>voies</a:t>
            </a:r>
            <a:r>
              <a:rPr lang="en-US" sz="1700" dirty="0"/>
              <a:t> et les </a:t>
            </a:r>
            <a:r>
              <a:rPr lang="en-US" sz="1700" dirty="0" err="1"/>
              <a:t>lignes</a:t>
            </a:r>
            <a:r>
              <a:rPr lang="en-US" sz="1700" dirty="0"/>
              <a:t> de cache </a:t>
            </a:r>
            <a:r>
              <a:rPr lang="en-US" sz="1700" dirty="0" err="1"/>
              <a:t>est</a:t>
            </a:r>
            <a:r>
              <a:rPr lang="en-US" sz="1700" dirty="0"/>
              <a:t> de 256 bits= 2</a:t>
            </a:r>
            <a:r>
              <a:rPr lang="en-US" baseline="30000" dirty="0"/>
              <a:t>5 </a:t>
            </a:r>
            <a:r>
              <a:rPr lang="en-US" sz="1700" dirty="0"/>
              <a:t>octet.</a:t>
            </a:r>
          </a:p>
          <a:p>
            <a:pPr algn="just"/>
            <a:r>
              <a:rPr lang="en-US" sz="1700" dirty="0"/>
              <a:t>Le </a:t>
            </a:r>
            <a:r>
              <a:rPr lang="en-US" sz="1700" dirty="0" err="1"/>
              <a:t>nombre</a:t>
            </a:r>
            <a:r>
              <a:rPr lang="en-US" sz="1700" dirty="0"/>
              <a:t> de </a:t>
            </a:r>
            <a:r>
              <a:rPr lang="en-US" sz="1700" dirty="0" err="1"/>
              <a:t>voies</a:t>
            </a:r>
            <a:r>
              <a:rPr lang="en-US" sz="1700" dirty="0"/>
              <a:t> </a:t>
            </a:r>
            <a:r>
              <a:rPr lang="en-US" sz="1700" dirty="0" err="1"/>
              <a:t>est</a:t>
            </a:r>
            <a:r>
              <a:rPr lang="en-US" sz="1700" dirty="0"/>
              <a:t> en </a:t>
            </a:r>
            <a:r>
              <a:rPr lang="en-US" sz="1700" dirty="0" err="1"/>
              <a:t>effet</a:t>
            </a:r>
            <a:r>
              <a:rPr lang="en-US" sz="1700" dirty="0"/>
              <a:t> </a:t>
            </a:r>
            <a:r>
              <a:rPr lang="en-US" sz="1700" dirty="0" err="1"/>
              <a:t>toujours</a:t>
            </a:r>
            <a:r>
              <a:rPr lang="en-US" sz="1700" dirty="0"/>
              <a:t> </a:t>
            </a:r>
            <a:r>
              <a:rPr lang="en-US" sz="1700" dirty="0" err="1"/>
              <a:t>une</a:t>
            </a:r>
            <a:r>
              <a:rPr lang="en-US" sz="1700" dirty="0"/>
              <a:t> puissance de 2 </a:t>
            </a:r>
            <a:r>
              <a:rPr lang="en-US" sz="1700" dirty="0" err="1"/>
              <a:t>afin</a:t>
            </a:r>
            <a:r>
              <a:rPr lang="en-US" sz="1700" dirty="0"/>
              <a:t> </a:t>
            </a:r>
            <a:r>
              <a:rPr lang="en-US" sz="1700" dirty="0" err="1"/>
              <a:t>d'obtenir</a:t>
            </a:r>
            <a:r>
              <a:rPr lang="en-US" sz="1700" dirty="0"/>
              <a:t> un </a:t>
            </a:r>
            <a:r>
              <a:rPr lang="en-US" sz="1700" dirty="0" err="1"/>
              <a:t>découpage</a:t>
            </a:r>
            <a:r>
              <a:rPr lang="en-US" sz="1700" dirty="0"/>
              <a:t> simple de </a:t>
            </a:r>
            <a:r>
              <a:rPr lang="en-US" sz="1700" dirty="0" err="1"/>
              <a:t>l'adresse</a:t>
            </a:r>
            <a:r>
              <a:rPr lang="en-US" sz="1700" dirty="0"/>
              <a:t> </a:t>
            </a:r>
            <a:r>
              <a:rPr lang="en-US" sz="1700" dirty="0" err="1"/>
              <a:t>mémoire</a:t>
            </a:r>
            <a:r>
              <a:rPr lang="en-US" sz="1700" dirty="0"/>
              <a:t>.</a:t>
            </a:r>
          </a:p>
          <a:p>
            <a:pPr algn="just"/>
            <a:r>
              <a:rPr lang="en-US" sz="1700" dirty="0"/>
              <a:t>Ensemble = 2</a:t>
            </a:r>
            <a:r>
              <a:rPr lang="en-US" sz="1800" b="1" baseline="30000" dirty="0"/>
              <a:t>n</a:t>
            </a:r>
            <a:r>
              <a:rPr lang="en-US" sz="1700" dirty="0"/>
              <a:t> </a:t>
            </a:r>
            <a:r>
              <a:rPr lang="en-US" sz="1700" dirty="0" err="1"/>
              <a:t>voies</a:t>
            </a:r>
            <a:r>
              <a:rPr lang="en-US" sz="1700" dirty="0"/>
              <a:t>. </a:t>
            </a:r>
          </a:p>
          <a:p>
            <a:pPr algn="just"/>
            <a:endParaRPr lang="en-US" sz="1700" dirty="0"/>
          </a:p>
          <a:p>
            <a:pPr algn="just"/>
            <a:r>
              <a:rPr lang="en-US" sz="1700" dirty="0"/>
              <a:t>La </a:t>
            </a:r>
            <a:r>
              <a:rPr lang="en-US" sz="1700" dirty="0" err="1"/>
              <a:t>mémoire</a:t>
            </a:r>
            <a:r>
              <a:rPr lang="en-US" sz="1700" dirty="0"/>
              <a:t> cache </a:t>
            </a:r>
            <a:r>
              <a:rPr lang="en-US" sz="1700" dirty="0" err="1"/>
              <a:t>contient</a:t>
            </a:r>
            <a:r>
              <a:rPr lang="en-US" sz="1700" dirty="0"/>
              <a:t> </a:t>
            </a:r>
            <a:r>
              <a:rPr lang="en-US" sz="1700" dirty="0" err="1"/>
              <a:t>donc</a:t>
            </a:r>
            <a:r>
              <a:rPr lang="en-US" sz="1700" dirty="0"/>
              <a:t> 2 </a:t>
            </a:r>
            <a:r>
              <a:rPr lang="en-US" baseline="30000" dirty="0"/>
              <a:t>s + 10 </a:t>
            </a:r>
            <a:r>
              <a:rPr lang="en-US" sz="1700" dirty="0"/>
              <a:t>octets. </a:t>
            </a:r>
          </a:p>
          <a:p>
            <a:pPr algn="just"/>
            <a:r>
              <a:rPr lang="en-US" sz="1700" dirty="0" err="1"/>
              <a:t>Sachant</a:t>
            </a:r>
            <a:r>
              <a:rPr lang="en-US" sz="1700" dirty="0"/>
              <a:t> </a:t>
            </a:r>
            <a:r>
              <a:rPr lang="en-US" sz="1700" dirty="0" err="1"/>
              <a:t>qu'une</a:t>
            </a:r>
            <a:r>
              <a:rPr lang="en-US" sz="1700" dirty="0"/>
              <a:t> </a:t>
            </a:r>
            <a:r>
              <a:rPr lang="en-US" sz="1700" dirty="0" err="1"/>
              <a:t>ligne</a:t>
            </a:r>
            <a:r>
              <a:rPr lang="en-US" sz="1700" dirty="0"/>
              <a:t> </a:t>
            </a:r>
            <a:r>
              <a:rPr lang="en-US" sz="1700" dirty="0" err="1"/>
              <a:t>représente</a:t>
            </a:r>
            <a:r>
              <a:rPr lang="en-US" sz="1700" dirty="0"/>
              <a:t> 256 bits, </a:t>
            </a:r>
            <a:r>
              <a:rPr lang="en-US" sz="1700" dirty="0" err="1"/>
              <a:t>il</a:t>
            </a:r>
            <a:r>
              <a:rPr lang="en-US" sz="1700" dirty="0"/>
              <a:t> y a </a:t>
            </a:r>
            <a:r>
              <a:rPr lang="en-US" sz="1700" dirty="0" err="1"/>
              <a:t>donc</a:t>
            </a:r>
            <a:r>
              <a:rPr lang="en-US" sz="1700" dirty="0"/>
              <a:t> 2</a:t>
            </a:r>
            <a:r>
              <a:rPr lang="en-US" baseline="30000" dirty="0"/>
              <a:t> 5+</a:t>
            </a:r>
            <a:r>
              <a:rPr lang="en-US" dirty="0"/>
              <a:t> </a:t>
            </a:r>
            <a:r>
              <a:rPr lang="en-US" baseline="30000" dirty="0"/>
              <a:t>n </a:t>
            </a:r>
            <a:r>
              <a:rPr lang="en-US" sz="1700" dirty="0"/>
              <a:t>octets par ensemble. Il y a </a:t>
            </a:r>
            <a:r>
              <a:rPr lang="en-US" sz="1700" dirty="0" err="1"/>
              <a:t>donc</a:t>
            </a:r>
            <a:r>
              <a:rPr lang="en-US" sz="1700" dirty="0"/>
              <a:t> </a:t>
            </a:r>
            <a:r>
              <a:rPr lang="en-US" sz="1600" dirty="0"/>
              <a:t>2 </a:t>
            </a:r>
            <a:r>
              <a:rPr lang="en-US" sz="1800" baseline="30000" dirty="0"/>
              <a:t>s + 5-n</a:t>
            </a:r>
            <a:r>
              <a:rPr lang="en-US" sz="1800" dirty="0"/>
              <a:t> ensemble. </a:t>
            </a:r>
            <a:r>
              <a:rPr lang="en-US" sz="1700" dirty="0" err="1"/>
              <a:t>L'index</a:t>
            </a:r>
            <a:r>
              <a:rPr lang="en-US" sz="1700" dirty="0"/>
              <a:t> </a:t>
            </a:r>
            <a:r>
              <a:rPr lang="en-US" sz="1700" dirty="0" err="1"/>
              <a:t>est</a:t>
            </a:r>
            <a:r>
              <a:rPr lang="en-US" sz="1700" dirty="0"/>
              <a:t> </a:t>
            </a:r>
            <a:r>
              <a:rPr lang="en-US" sz="1700" dirty="0" err="1"/>
              <a:t>donc</a:t>
            </a:r>
            <a:r>
              <a:rPr lang="en-US" sz="1700" dirty="0"/>
              <a:t> de s-n+5 bits. </a:t>
            </a:r>
          </a:p>
          <a:p>
            <a:pPr algn="just"/>
            <a:r>
              <a:rPr lang="en-US" sz="1700" dirty="0"/>
              <a:t>L</a:t>
            </a:r>
            <a:r>
              <a:rPr lang="fr-FR" sz="1700" dirty="0"/>
              <a:t>e découpage de l’adresse est alors le suivant:</a:t>
            </a:r>
          </a:p>
          <a:p>
            <a:pPr algn="just"/>
            <a:endParaRPr lang="fr-FR" sz="1700" dirty="0"/>
          </a:p>
          <a:p>
            <a:pPr algn="just"/>
            <a:endParaRPr lang="fr-FR" dirty="0"/>
          </a:p>
        </p:txBody>
      </p:sp>
      <p:sp>
        <p:nvSpPr>
          <p:cNvPr id="3" name="Title 2"/>
          <p:cNvSpPr>
            <a:spLocks noGrp="1"/>
          </p:cNvSpPr>
          <p:nvPr>
            <p:ph type="title"/>
          </p:nvPr>
        </p:nvSpPr>
        <p:spPr/>
        <p:txBody>
          <a:bodyPr/>
          <a:lstStyle/>
          <a:p>
            <a:r>
              <a:rPr lang="fr-FR" dirty="0"/>
              <a:t>Exemple: </a:t>
            </a:r>
            <a:r>
              <a:rPr lang="en-US" b="1" i="1" dirty="0"/>
              <a:t>Cache</a:t>
            </a:r>
            <a:r>
              <a:rPr lang="en-US" b="1" dirty="0"/>
              <a:t>  N-</a:t>
            </a:r>
            <a:r>
              <a:rPr lang="en-US" b="1" dirty="0" err="1"/>
              <a:t>associatif</a:t>
            </a:r>
            <a:r>
              <a:rPr lang="fr-FR" dirty="0"/>
              <a:t> </a:t>
            </a:r>
          </a:p>
        </p:txBody>
      </p:sp>
      <p:pic>
        <p:nvPicPr>
          <p:cNvPr id="4" name="Picture 3" descr="Capture d’écran 2020-02-19 à 22.06.5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5394475"/>
            <a:ext cx="6502400" cy="1173843"/>
          </a:xfrm>
          <a:prstGeom prst="rect">
            <a:avLst/>
          </a:prstGeom>
        </p:spPr>
      </p:pic>
    </p:spTree>
    <p:extLst>
      <p:ext uri="{BB962C8B-B14F-4D97-AF65-F5344CB8AC3E}">
        <p14:creationId xmlns:p14="http://schemas.microsoft.com/office/powerpoint/2010/main" val="38970921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1700" dirty="0"/>
              <a:t>Les caches </a:t>
            </a:r>
            <a:r>
              <a:rPr lang="en-US" sz="1700" dirty="0" err="1"/>
              <a:t>associatifs</a:t>
            </a:r>
            <a:r>
              <a:rPr lang="en-US" sz="1700" dirty="0"/>
              <a:t> de </a:t>
            </a:r>
            <a:r>
              <a:rPr lang="en-US" sz="1700" dirty="0">
                <a:solidFill>
                  <a:srgbClr val="0000FF"/>
                </a:solidFill>
              </a:rPr>
              <a:t>N </a:t>
            </a:r>
            <a:r>
              <a:rPr lang="en-US" sz="1700" dirty="0" err="1">
                <a:solidFill>
                  <a:srgbClr val="0000FF"/>
                </a:solidFill>
              </a:rPr>
              <a:t>voies</a:t>
            </a:r>
            <a:r>
              <a:rPr lang="en-US" sz="1700" dirty="0">
                <a:solidFill>
                  <a:srgbClr val="0000FF"/>
                </a:solidFill>
              </a:rPr>
              <a:t> </a:t>
            </a:r>
            <a:r>
              <a:rPr lang="en-US" sz="1700" dirty="0"/>
              <a:t>et </a:t>
            </a:r>
            <a:r>
              <a:rPr lang="en-US" sz="1700" dirty="0" err="1">
                <a:solidFill>
                  <a:srgbClr val="0000FF"/>
                </a:solidFill>
              </a:rPr>
              <a:t>complètement</a:t>
            </a:r>
            <a:r>
              <a:rPr lang="en-US" sz="1700" dirty="0">
                <a:solidFill>
                  <a:srgbClr val="0000FF"/>
                </a:solidFill>
              </a:rPr>
              <a:t> </a:t>
            </a:r>
            <a:r>
              <a:rPr lang="en-US" sz="1700" dirty="0" err="1">
                <a:solidFill>
                  <a:srgbClr val="0000FF"/>
                </a:solidFill>
              </a:rPr>
              <a:t>associatifs</a:t>
            </a:r>
            <a:r>
              <a:rPr lang="en-US" sz="1700" dirty="0">
                <a:solidFill>
                  <a:srgbClr val="0000FF"/>
                </a:solidFill>
              </a:rPr>
              <a:t> </a:t>
            </a:r>
            <a:r>
              <a:rPr lang="en-US" sz="1700" dirty="0" err="1"/>
              <a:t>impliquent</a:t>
            </a:r>
            <a:r>
              <a:rPr lang="en-US" sz="1700" dirty="0"/>
              <a:t> le mapping de </a:t>
            </a:r>
            <a:r>
              <a:rPr lang="en-US" sz="1700" dirty="0" err="1"/>
              <a:t>différentes</a:t>
            </a:r>
            <a:r>
              <a:rPr lang="en-US" sz="1700" dirty="0"/>
              <a:t> </a:t>
            </a:r>
            <a:r>
              <a:rPr lang="en-US" sz="1700" dirty="0" err="1"/>
              <a:t>lignes</a:t>
            </a:r>
            <a:r>
              <a:rPr lang="en-US" sz="1700" dirty="0"/>
              <a:t> de la </a:t>
            </a:r>
            <a:r>
              <a:rPr lang="en-US" sz="1700" dirty="0" err="1"/>
              <a:t>mémoire</a:t>
            </a:r>
            <a:r>
              <a:rPr lang="en-US" sz="1700" dirty="0"/>
              <a:t> de </a:t>
            </a:r>
            <a:r>
              <a:rPr lang="en-US" sz="1700" dirty="0" err="1"/>
              <a:t>niveau</a:t>
            </a:r>
            <a:r>
              <a:rPr lang="en-US" sz="1700" dirty="0"/>
              <a:t> </a:t>
            </a:r>
            <a:r>
              <a:rPr lang="en-US" sz="1700" dirty="0" err="1"/>
              <a:t>supérieur</a:t>
            </a:r>
            <a:r>
              <a:rPr lang="en-US" sz="1700" dirty="0"/>
              <a:t> </a:t>
            </a:r>
            <a:r>
              <a:rPr lang="en-US" sz="1700" dirty="0" err="1"/>
              <a:t>sur</a:t>
            </a:r>
            <a:r>
              <a:rPr lang="en-US" sz="1700" dirty="0"/>
              <a:t> le </a:t>
            </a:r>
            <a:r>
              <a:rPr lang="en-US" sz="1700" dirty="0" err="1"/>
              <a:t>même</a:t>
            </a:r>
            <a:r>
              <a:rPr lang="en-US" sz="1700" dirty="0"/>
              <a:t> set. </a:t>
            </a:r>
          </a:p>
          <a:p>
            <a:pPr algn="just"/>
            <a:r>
              <a:rPr lang="en-US" sz="1700" dirty="0" err="1"/>
              <a:t>Lorsque</a:t>
            </a:r>
            <a:r>
              <a:rPr lang="en-US" sz="1700" dirty="0"/>
              <a:t> le set de </a:t>
            </a:r>
            <a:r>
              <a:rPr lang="en-US" sz="1700" dirty="0" err="1"/>
              <a:t>lignes</a:t>
            </a:r>
            <a:r>
              <a:rPr lang="en-US" sz="1700" dirty="0"/>
              <a:t> de la </a:t>
            </a:r>
            <a:r>
              <a:rPr lang="en-US" sz="1700" dirty="0" err="1"/>
              <a:t>mémoire</a:t>
            </a:r>
            <a:r>
              <a:rPr lang="en-US" sz="1700" dirty="0"/>
              <a:t> cache, </a:t>
            </a:r>
            <a:r>
              <a:rPr lang="en-US" sz="1700" dirty="0" err="1"/>
              <a:t>où</a:t>
            </a:r>
            <a:r>
              <a:rPr lang="en-US" sz="1700" dirty="0"/>
              <a:t> </a:t>
            </a:r>
            <a:r>
              <a:rPr lang="en-US" sz="1700" dirty="0" err="1"/>
              <a:t>une</a:t>
            </a:r>
            <a:r>
              <a:rPr lang="en-US" sz="1700" dirty="0"/>
              <a:t> </a:t>
            </a:r>
            <a:r>
              <a:rPr lang="en-US" sz="1700" dirty="0" err="1"/>
              <a:t>ligne</a:t>
            </a:r>
            <a:r>
              <a:rPr lang="en-US" sz="1700" dirty="0"/>
              <a:t> de la </a:t>
            </a:r>
            <a:r>
              <a:rPr lang="en-US" sz="1700" dirty="0" err="1"/>
              <a:t>mémoire</a:t>
            </a:r>
            <a:r>
              <a:rPr lang="en-US" sz="1700" dirty="0"/>
              <a:t> </a:t>
            </a:r>
            <a:r>
              <a:rPr lang="en-US" sz="1700" dirty="0" err="1"/>
              <a:t>supérieure</a:t>
            </a:r>
            <a:r>
              <a:rPr lang="en-US" sz="1700" dirty="0"/>
              <a:t> </a:t>
            </a:r>
            <a:r>
              <a:rPr lang="en-US" sz="1700" dirty="0" err="1"/>
              <a:t>peut</a:t>
            </a:r>
            <a:r>
              <a:rPr lang="en-US" sz="1700" dirty="0"/>
              <a:t> </a:t>
            </a:r>
            <a:r>
              <a:rPr lang="en-US" sz="1700" dirty="0" err="1"/>
              <a:t>être</a:t>
            </a:r>
            <a:r>
              <a:rPr lang="en-US" sz="1700" dirty="0"/>
              <a:t> </a:t>
            </a:r>
            <a:r>
              <a:rPr lang="en-US" sz="1700" dirty="0" err="1"/>
              <a:t>mappée</a:t>
            </a:r>
            <a:r>
              <a:rPr lang="en-US" sz="1700" dirty="0"/>
              <a:t>, </a:t>
            </a:r>
            <a:r>
              <a:rPr lang="en-US" sz="1700" dirty="0" err="1"/>
              <a:t>est</a:t>
            </a:r>
            <a:r>
              <a:rPr lang="en-US" sz="1700" dirty="0"/>
              <a:t> </a:t>
            </a:r>
            <a:r>
              <a:rPr lang="en-US" sz="1700" dirty="0" err="1"/>
              <a:t>rempli</a:t>
            </a:r>
            <a:r>
              <a:rPr lang="en-US" sz="1700" dirty="0"/>
              <a:t>, </a:t>
            </a:r>
            <a:r>
              <a:rPr lang="en-US" sz="1700" dirty="0" err="1"/>
              <a:t>il</a:t>
            </a:r>
            <a:r>
              <a:rPr lang="en-US" sz="1700" dirty="0"/>
              <a:t> </a:t>
            </a:r>
            <a:r>
              <a:rPr lang="en-US" sz="1700" dirty="0" err="1"/>
              <a:t>faut</a:t>
            </a:r>
            <a:r>
              <a:rPr lang="en-US" sz="1700" dirty="0"/>
              <a:t> </a:t>
            </a:r>
            <a:r>
              <a:rPr lang="en-US" sz="1700" dirty="0" err="1"/>
              <a:t>désigner</a:t>
            </a:r>
            <a:r>
              <a:rPr lang="en-US" sz="1700" dirty="0"/>
              <a:t> la </a:t>
            </a:r>
            <a:r>
              <a:rPr lang="en-US" sz="1700" dirty="0" err="1"/>
              <a:t>ligne</a:t>
            </a:r>
            <a:r>
              <a:rPr lang="en-US" sz="1700" dirty="0"/>
              <a:t> qui sera </a:t>
            </a:r>
            <a:r>
              <a:rPr lang="en-US" sz="1700" dirty="0" err="1"/>
              <a:t>effacée</a:t>
            </a:r>
            <a:r>
              <a:rPr lang="en-US" sz="1700" dirty="0"/>
              <a:t> au profit de la </a:t>
            </a:r>
            <a:r>
              <a:rPr lang="en-US" sz="1700" dirty="0" err="1"/>
              <a:t>ligne</a:t>
            </a:r>
            <a:r>
              <a:rPr lang="en-US" sz="1700" dirty="0"/>
              <a:t> </a:t>
            </a:r>
            <a:r>
              <a:rPr lang="en-US" sz="1700" dirty="0" err="1"/>
              <a:t>nouvellement</a:t>
            </a:r>
            <a:r>
              <a:rPr lang="en-US" sz="1700" dirty="0"/>
              <a:t> </a:t>
            </a:r>
            <a:r>
              <a:rPr lang="en-US" sz="1700" dirty="0" err="1"/>
              <a:t>écrite</a:t>
            </a:r>
            <a:r>
              <a:rPr lang="en-US" sz="1700" dirty="0"/>
              <a:t>. </a:t>
            </a:r>
          </a:p>
          <a:p>
            <a:pPr algn="just"/>
            <a:r>
              <a:rPr lang="en-US" sz="1700" dirty="0"/>
              <a:t>Des </a:t>
            </a:r>
            <a:r>
              <a:rPr lang="en-US" sz="1700" dirty="0" err="1"/>
              <a:t>algorithmes</a:t>
            </a:r>
            <a:r>
              <a:rPr lang="en-US" sz="1700" dirty="0"/>
              <a:t> de </a:t>
            </a:r>
            <a:r>
              <a:rPr lang="en-US" sz="1700" dirty="0" err="1"/>
              <a:t>remplacement</a:t>
            </a:r>
            <a:r>
              <a:rPr lang="en-US" sz="1700" dirty="0"/>
              <a:t> des </a:t>
            </a:r>
            <a:r>
              <a:rPr lang="en-US" sz="1700" dirty="0" err="1"/>
              <a:t>lignes</a:t>
            </a:r>
            <a:r>
              <a:rPr lang="en-US" sz="1700" dirty="0"/>
              <a:t> de cache </a:t>
            </a:r>
            <a:r>
              <a:rPr lang="en-US" sz="1700" dirty="0" err="1"/>
              <a:t>sont</a:t>
            </a:r>
            <a:r>
              <a:rPr lang="en-US" sz="1700" dirty="0"/>
              <a:t> </a:t>
            </a:r>
            <a:r>
              <a:rPr lang="en-US" sz="1700" dirty="0" err="1"/>
              <a:t>implémentés</a:t>
            </a:r>
            <a:r>
              <a:rPr lang="en-US" sz="1700" dirty="0"/>
              <a:t> en hardware pour </a:t>
            </a:r>
            <a:r>
              <a:rPr lang="en-US" sz="1700" dirty="0" err="1"/>
              <a:t>choisir</a:t>
            </a:r>
            <a:r>
              <a:rPr lang="en-US" sz="1700" dirty="0"/>
              <a:t> </a:t>
            </a:r>
            <a:r>
              <a:rPr lang="en-US" sz="1700" dirty="0" err="1"/>
              <a:t>cette</a:t>
            </a:r>
            <a:r>
              <a:rPr lang="en-US" sz="1700" dirty="0"/>
              <a:t> </a:t>
            </a:r>
            <a:r>
              <a:rPr lang="en-US" sz="1700" dirty="0" err="1"/>
              <a:t>ligne</a:t>
            </a:r>
            <a:r>
              <a:rPr lang="en-US" sz="1700" dirty="0"/>
              <a:t> de </a:t>
            </a:r>
            <a:r>
              <a:rPr lang="en-US" sz="1700" dirty="0" err="1"/>
              <a:t>manière</a:t>
            </a:r>
            <a:r>
              <a:rPr lang="en-US" sz="1700" dirty="0"/>
              <a:t> </a:t>
            </a:r>
            <a:r>
              <a:rPr lang="en-US" sz="1700" dirty="0" err="1"/>
              <a:t>optimale</a:t>
            </a:r>
            <a:r>
              <a:rPr lang="en-US" sz="1700" dirty="0"/>
              <a:t>.</a:t>
            </a:r>
          </a:p>
          <a:p>
            <a:pPr algn="just"/>
            <a:endParaRPr lang="en-US" sz="1700" dirty="0"/>
          </a:p>
          <a:p>
            <a:pPr algn="just"/>
            <a:r>
              <a:rPr lang="en-US" sz="1700" dirty="0"/>
              <a:t>Les plus </a:t>
            </a:r>
            <a:r>
              <a:rPr lang="en-US" sz="1700" dirty="0" err="1"/>
              <a:t>répandus</a:t>
            </a:r>
            <a:r>
              <a:rPr lang="en-US" sz="1700" dirty="0"/>
              <a:t> </a:t>
            </a:r>
            <a:r>
              <a:rPr lang="en-US" sz="1700" dirty="0" err="1"/>
              <a:t>sont</a:t>
            </a:r>
            <a:r>
              <a:rPr lang="en-US" sz="1700" dirty="0"/>
              <a:t>:</a:t>
            </a:r>
          </a:p>
          <a:p>
            <a:pPr lvl="1"/>
            <a:r>
              <a:rPr lang="en-US" sz="1600" dirty="0" err="1"/>
              <a:t>aléatoires</a:t>
            </a:r>
            <a:r>
              <a:rPr lang="en-US" sz="1600" dirty="0"/>
              <a:t> pour la </a:t>
            </a:r>
            <a:r>
              <a:rPr lang="en-US" sz="1600" dirty="0" err="1"/>
              <a:t>simplicité</a:t>
            </a:r>
            <a:r>
              <a:rPr lang="en-US" sz="1600" dirty="0"/>
              <a:t> de la </a:t>
            </a:r>
            <a:r>
              <a:rPr lang="en-US" sz="1600" dirty="0" err="1"/>
              <a:t>création</a:t>
            </a:r>
            <a:r>
              <a:rPr lang="en-US" sz="1600" dirty="0"/>
              <a:t> de </a:t>
            </a:r>
            <a:r>
              <a:rPr lang="en-US" sz="1600" dirty="0" err="1"/>
              <a:t>l'algorithme</a:t>
            </a:r>
            <a:r>
              <a:rPr lang="en-US" sz="1600" dirty="0"/>
              <a:t> ;</a:t>
            </a:r>
          </a:p>
          <a:p>
            <a:pPr lvl="1"/>
            <a:r>
              <a:rPr lang="en-US" sz="1600" dirty="0"/>
              <a:t>FIFO (</a:t>
            </a:r>
            <a:r>
              <a:rPr lang="en-US" sz="1600" i="1" dirty="0"/>
              <a:t>First In, First Out</a:t>
            </a:r>
            <a:r>
              <a:rPr lang="en-US" sz="1600" dirty="0"/>
              <a:t>) pour </a:t>
            </a:r>
            <a:r>
              <a:rPr lang="en-US" sz="1600" dirty="0" err="1"/>
              <a:t>sa</a:t>
            </a:r>
            <a:r>
              <a:rPr lang="en-US" sz="1600" dirty="0"/>
              <a:t> </a:t>
            </a:r>
            <a:r>
              <a:rPr lang="en-US" sz="1600" dirty="0" err="1"/>
              <a:t>simplicité</a:t>
            </a:r>
            <a:r>
              <a:rPr lang="en-US" sz="1600" dirty="0"/>
              <a:t> de conception ;</a:t>
            </a:r>
          </a:p>
          <a:p>
            <a:pPr lvl="1"/>
            <a:r>
              <a:rPr lang="en-US" sz="1600" dirty="0"/>
              <a:t>LRU (</a:t>
            </a:r>
            <a:r>
              <a:rPr lang="en-US" sz="1600" i="1" dirty="0"/>
              <a:t>Least Recently Used</a:t>
            </a:r>
            <a:r>
              <a:rPr lang="en-US" sz="1600" dirty="0"/>
              <a:t>) qui </a:t>
            </a:r>
            <a:r>
              <a:rPr lang="en-US" sz="1600" dirty="0" err="1"/>
              <a:t>mémorise</a:t>
            </a:r>
            <a:r>
              <a:rPr lang="en-US" sz="1600" dirty="0"/>
              <a:t> la </a:t>
            </a:r>
            <a:r>
              <a:rPr lang="en-US" sz="1600" dirty="0" err="1"/>
              <a:t>liste</a:t>
            </a:r>
            <a:r>
              <a:rPr lang="en-US" sz="1600" dirty="0"/>
              <a:t> des </a:t>
            </a:r>
            <a:r>
              <a:rPr lang="en-US" sz="1600" dirty="0" err="1"/>
              <a:t>derniers</a:t>
            </a:r>
            <a:r>
              <a:rPr lang="en-US" sz="1600" dirty="0"/>
              <a:t> </a:t>
            </a:r>
            <a:r>
              <a:rPr lang="en-US" sz="1600" dirty="0" err="1"/>
              <a:t>éléments</a:t>
            </a:r>
            <a:r>
              <a:rPr lang="en-US" sz="1600" dirty="0"/>
              <a:t> </a:t>
            </a:r>
            <a:r>
              <a:rPr lang="en-US" sz="1600" dirty="0" err="1"/>
              <a:t>accédés</a:t>
            </a:r>
            <a:r>
              <a:rPr lang="en-US" sz="1600" dirty="0"/>
              <a:t>...</a:t>
            </a:r>
          </a:p>
          <a:p>
            <a:pPr marL="45720" indent="0" algn="just">
              <a:buNone/>
            </a:pPr>
            <a:r>
              <a:rPr lang="en-US" sz="1700" dirty="0"/>
              <a:t> </a:t>
            </a:r>
            <a:endParaRPr lang="fr-FR" sz="1700" dirty="0"/>
          </a:p>
        </p:txBody>
      </p:sp>
      <p:sp>
        <p:nvSpPr>
          <p:cNvPr id="3" name="Title 2"/>
          <p:cNvSpPr>
            <a:spLocks noGrp="1"/>
          </p:cNvSpPr>
          <p:nvPr>
            <p:ph type="title"/>
          </p:nvPr>
        </p:nvSpPr>
        <p:spPr/>
        <p:txBody>
          <a:bodyPr/>
          <a:lstStyle/>
          <a:p>
            <a:r>
              <a:rPr lang="en-US" sz="2400" b="1" dirty="0" err="1"/>
              <a:t>Algorithmes</a:t>
            </a:r>
            <a:r>
              <a:rPr lang="en-US" sz="2400" b="1" dirty="0"/>
              <a:t> de </a:t>
            </a:r>
            <a:r>
              <a:rPr lang="en-US" sz="2400" b="1" dirty="0" err="1"/>
              <a:t>remplacement</a:t>
            </a:r>
            <a:r>
              <a:rPr lang="en-US" sz="2400" b="1" dirty="0"/>
              <a:t> des </a:t>
            </a:r>
            <a:r>
              <a:rPr lang="en-US" sz="2400" b="1" dirty="0" err="1"/>
              <a:t>lignes</a:t>
            </a:r>
            <a:r>
              <a:rPr lang="en-US" sz="2400" b="1" dirty="0"/>
              <a:t> de cache</a:t>
            </a:r>
            <a:br>
              <a:rPr lang="en-US" sz="2000" b="1" dirty="0"/>
            </a:br>
            <a:endParaRPr lang="fr-FR" sz="2000" dirty="0"/>
          </a:p>
        </p:txBody>
      </p:sp>
    </p:spTree>
    <p:extLst>
      <p:ext uri="{BB962C8B-B14F-4D97-AF65-F5344CB8AC3E}">
        <p14:creationId xmlns:p14="http://schemas.microsoft.com/office/powerpoint/2010/main" val="36993338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fr-FR"/>
          </a:p>
        </p:txBody>
      </p:sp>
      <p:sp>
        <p:nvSpPr>
          <p:cNvPr id="3" name="Title 2"/>
          <p:cNvSpPr>
            <a:spLocks noGrp="1"/>
          </p:cNvSpPr>
          <p:nvPr>
            <p:ph type="title"/>
          </p:nvPr>
        </p:nvSpPr>
        <p:spPr/>
        <p:txBody>
          <a:bodyPr/>
          <a:lstStyle/>
          <a:p>
            <a:r>
              <a:rPr lang="fr-FR" dirty="0"/>
              <a:t>La mémoire Virtuelle</a:t>
            </a:r>
          </a:p>
        </p:txBody>
      </p:sp>
    </p:spTree>
    <p:extLst>
      <p:ext uri="{BB962C8B-B14F-4D97-AF65-F5344CB8AC3E}">
        <p14:creationId xmlns:p14="http://schemas.microsoft.com/office/powerpoint/2010/main" val="6524033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La  </a:t>
            </a:r>
            <a:r>
              <a:rPr lang="en-US" dirty="0" err="1"/>
              <a:t>mémoire</a:t>
            </a:r>
            <a:r>
              <a:rPr lang="en-US" dirty="0"/>
              <a:t> </a:t>
            </a:r>
            <a:r>
              <a:rPr lang="en-US" dirty="0" err="1"/>
              <a:t>virtuelle</a:t>
            </a:r>
            <a:r>
              <a:rPr lang="en-US" dirty="0"/>
              <a:t> </a:t>
            </a:r>
            <a:r>
              <a:rPr lang="en-US" dirty="0" err="1"/>
              <a:t>est</a:t>
            </a:r>
            <a:r>
              <a:rPr lang="en-US" dirty="0"/>
              <a:t> </a:t>
            </a:r>
            <a:r>
              <a:rPr lang="en-US" dirty="0" err="1"/>
              <a:t>une</a:t>
            </a:r>
            <a:r>
              <a:rPr lang="en-US" dirty="0"/>
              <a:t> technique qui </a:t>
            </a:r>
            <a:r>
              <a:rPr lang="en-US" dirty="0" err="1"/>
              <a:t>permet</a:t>
            </a:r>
            <a:r>
              <a:rPr lang="en-US" dirty="0"/>
              <a:t> </a:t>
            </a:r>
            <a:r>
              <a:rPr lang="en-US" dirty="0" err="1"/>
              <a:t>d'exécuter</a:t>
            </a:r>
            <a:r>
              <a:rPr lang="en-US" dirty="0"/>
              <a:t> des </a:t>
            </a:r>
            <a:r>
              <a:rPr lang="en-US" dirty="0" err="1"/>
              <a:t>programmes</a:t>
            </a:r>
            <a:r>
              <a:rPr lang="en-US" dirty="0"/>
              <a:t> </a:t>
            </a:r>
            <a:r>
              <a:rPr lang="en-US" dirty="0" err="1"/>
              <a:t>dont</a:t>
            </a:r>
            <a:r>
              <a:rPr lang="en-US" dirty="0"/>
              <a:t>  la </a:t>
            </a:r>
            <a:r>
              <a:rPr lang="en-US" dirty="0" err="1"/>
              <a:t>taille</a:t>
            </a:r>
            <a:r>
              <a:rPr lang="en-US" dirty="0"/>
              <a:t> </a:t>
            </a:r>
            <a:r>
              <a:rPr lang="en-US" dirty="0" err="1"/>
              <a:t>excède</a:t>
            </a:r>
            <a:r>
              <a:rPr lang="en-US" dirty="0"/>
              <a:t> la </a:t>
            </a:r>
            <a:r>
              <a:rPr lang="en-US" dirty="0" err="1"/>
              <a:t>taille</a:t>
            </a:r>
            <a:r>
              <a:rPr lang="en-US" dirty="0"/>
              <a:t> de la </a:t>
            </a:r>
            <a:r>
              <a:rPr lang="en-US" dirty="0" err="1"/>
              <a:t>mémoire</a:t>
            </a:r>
            <a:r>
              <a:rPr lang="en-US" dirty="0"/>
              <a:t> </a:t>
            </a:r>
            <a:r>
              <a:rPr lang="en-US" dirty="0" err="1"/>
              <a:t>réelle</a:t>
            </a:r>
            <a:r>
              <a:rPr lang="en-US" dirty="0"/>
              <a:t>. </a:t>
            </a:r>
          </a:p>
          <a:p>
            <a:pPr lvl="1" algn="just"/>
            <a:r>
              <a:rPr lang="en-US" sz="2000" dirty="0" err="1">
                <a:solidFill>
                  <a:srgbClr val="0000FF"/>
                </a:solidFill>
              </a:rPr>
              <a:t>L'espace</a:t>
            </a:r>
            <a:r>
              <a:rPr lang="en-US" sz="2000" dirty="0">
                <a:solidFill>
                  <a:srgbClr val="0000FF"/>
                </a:solidFill>
              </a:rPr>
              <a:t> </a:t>
            </a:r>
            <a:r>
              <a:rPr lang="en-US" sz="2000" dirty="0" err="1">
                <a:solidFill>
                  <a:srgbClr val="0000FF"/>
                </a:solidFill>
              </a:rPr>
              <a:t>d'adressage</a:t>
            </a:r>
            <a:r>
              <a:rPr lang="en-US" sz="2000" dirty="0">
                <a:solidFill>
                  <a:srgbClr val="0000FF"/>
                </a:solidFill>
              </a:rPr>
              <a:t> d'un </a:t>
            </a:r>
            <a:r>
              <a:rPr lang="en-US" sz="2000" dirty="0" err="1">
                <a:solidFill>
                  <a:srgbClr val="0000FF"/>
                </a:solidFill>
              </a:rPr>
              <a:t>processus</a:t>
            </a:r>
            <a:r>
              <a:rPr lang="en-US" sz="2000" dirty="0">
                <a:solidFill>
                  <a:srgbClr val="0000FF"/>
                </a:solidFill>
              </a:rPr>
              <a:t>, </a:t>
            </a:r>
            <a:r>
              <a:rPr lang="en-US" sz="2000" dirty="0" err="1">
                <a:solidFill>
                  <a:srgbClr val="0000FF"/>
                </a:solidFill>
              </a:rPr>
              <a:t>généré</a:t>
            </a:r>
            <a:r>
              <a:rPr lang="en-US" sz="2000" dirty="0">
                <a:solidFill>
                  <a:srgbClr val="0000FF"/>
                </a:solidFill>
              </a:rPr>
              <a:t> par les </a:t>
            </a:r>
            <a:r>
              <a:rPr lang="en-US" sz="2000" dirty="0" err="1">
                <a:solidFill>
                  <a:srgbClr val="0000FF"/>
                </a:solidFill>
              </a:rPr>
              <a:t>compilateurs</a:t>
            </a:r>
            <a:r>
              <a:rPr lang="en-US" sz="2000" dirty="0">
                <a:solidFill>
                  <a:srgbClr val="0000FF"/>
                </a:solidFill>
              </a:rPr>
              <a:t> et les </a:t>
            </a:r>
            <a:r>
              <a:rPr lang="en-US" sz="2000" dirty="0" err="1">
                <a:solidFill>
                  <a:srgbClr val="0000FF"/>
                </a:solidFill>
              </a:rPr>
              <a:t>éditeurs</a:t>
            </a:r>
            <a:r>
              <a:rPr lang="en-US" sz="2000" dirty="0">
                <a:solidFill>
                  <a:srgbClr val="0000FF"/>
                </a:solidFill>
              </a:rPr>
              <a:t> de liens, </a:t>
            </a:r>
            <a:r>
              <a:rPr lang="en-US" sz="2000" dirty="0" err="1">
                <a:solidFill>
                  <a:srgbClr val="0000FF"/>
                </a:solidFill>
              </a:rPr>
              <a:t>constitue</a:t>
            </a:r>
            <a:r>
              <a:rPr lang="en-US" sz="2000" dirty="0">
                <a:solidFill>
                  <a:srgbClr val="0000FF"/>
                </a:solidFill>
              </a:rPr>
              <a:t> la </a:t>
            </a:r>
            <a:r>
              <a:rPr lang="en-US" sz="2000" dirty="0" err="1">
                <a:solidFill>
                  <a:srgbClr val="0000FF"/>
                </a:solidFill>
              </a:rPr>
              <a:t>mémoire</a:t>
            </a:r>
            <a:r>
              <a:rPr lang="en-US" sz="2000" dirty="0">
                <a:solidFill>
                  <a:srgbClr val="0000FF"/>
                </a:solidFill>
              </a:rPr>
              <a:t> </a:t>
            </a:r>
            <a:r>
              <a:rPr lang="en-US" sz="2000" dirty="0" err="1">
                <a:solidFill>
                  <a:srgbClr val="0000FF"/>
                </a:solidFill>
              </a:rPr>
              <a:t>virtuelle</a:t>
            </a:r>
            <a:r>
              <a:rPr lang="en-US" sz="2000" dirty="0">
                <a:solidFill>
                  <a:srgbClr val="0000FF"/>
                </a:solidFill>
              </a:rPr>
              <a:t> du </a:t>
            </a:r>
            <a:r>
              <a:rPr lang="en-US" sz="2000" dirty="0" err="1">
                <a:solidFill>
                  <a:srgbClr val="0000FF"/>
                </a:solidFill>
              </a:rPr>
              <a:t>processus</a:t>
            </a:r>
            <a:r>
              <a:rPr lang="en-US" sz="2000" dirty="0">
                <a:solidFill>
                  <a:srgbClr val="0000FF"/>
                </a:solidFill>
              </a:rPr>
              <a:t> </a:t>
            </a:r>
            <a:r>
              <a:rPr lang="en-US" sz="2000" dirty="0" err="1">
                <a:solidFill>
                  <a:srgbClr val="0000FF"/>
                </a:solidFill>
              </a:rPr>
              <a:t>ou</a:t>
            </a:r>
            <a:r>
              <a:rPr lang="en-US" sz="2000" dirty="0">
                <a:solidFill>
                  <a:srgbClr val="0000FF"/>
                </a:solidFill>
              </a:rPr>
              <a:t> </a:t>
            </a:r>
            <a:r>
              <a:rPr lang="en-US" sz="2000" dirty="0" err="1">
                <a:solidFill>
                  <a:srgbClr val="0000FF"/>
                </a:solidFill>
              </a:rPr>
              <a:t>espace</a:t>
            </a:r>
            <a:r>
              <a:rPr lang="en-US" sz="2000" dirty="0">
                <a:solidFill>
                  <a:srgbClr val="0000FF"/>
                </a:solidFill>
              </a:rPr>
              <a:t> </a:t>
            </a:r>
            <a:r>
              <a:rPr lang="en-US" sz="2000" dirty="0" err="1">
                <a:solidFill>
                  <a:srgbClr val="0000FF"/>
                </a:solidFill>
              </a:rPr>
              <a:t>d'adressage</a:t>
            </a:r>
            <a:r>
              <a:rPr lang="en-US" sz="2000" dirty="0">
                <a:solidFill>
                  <a:srgbClr val="0000FF"/>
                </a:solidFill>
              </a:rPr>
              <a:t> </a:t>
            </a:r>
            <a:r>
              <a:rPr lang="en-US" sz="2000" dirty="0" err="1">
                <a:solidFill>
                  <a:srgbClr val="0000FF"/>
                </a:solidFill>
              </a:rPr>
              <a:t>logique</a:t>
            </a:r>
            <a:r>
              <a:rPr lang="en-US" sz="2000" dirty="0">
                <a:solidFill>
                  <a:srgbClr val="0000FF"/>
                </a:solidFill>
              </a:rPr>
              <a:t>.</a:t>
            </a:r>
          </a:p>
          <a:p>
            <a:pPr lvl="1" algn="just"/>
            <a:r>
              <a:rPr lang="en-US" sz="2000" dirty="0">
                <a:solidFill>
                  <a:srgbClr val="0000FF"/>
                </a:solidFill>
              </a:rPr>
              <a:t>Avec des techniques </a:t>
            </a:r>
            <a:r>
              <a:rPr lang="en-US" sz="2000" dirty="0" err="1">
                <a:solidFill>
                  <a:srgbClr val="0000FF"/>
                </a:solidFill>
              </a:rPr>
              <a:t>adéquates</a:t>
            </a:r>
            <a:r>
              <a:rPr lang="en-US" sz="2000" dirty="0">
                <a:solidFill>
                  <a:srgbClr val="0000FF"/>
                </a:solidFill>
              </a:rPr>
              <a:t>, </a:t>
            </a:r>
            <a:r>
              <a:rPr lang="en-US" sz="2000" dirty="0" err="1">
                <a:solidFill>
                  <a:srgbClr val="0000FF"/>
                </a:solidFill>
              </a:rPr>
              <a:t>sa</a:t>
            </a:r>
            <a:r>
              <a:rPr lang="en-US" sz="2000" dirty="0">
                <a:solidFill>
                  <a:srgbClr val="0000FF"/>
                </a:solidFill>
              </a:rPr>
              <a:t> </a:t>
            </a:r>
            <a:r>
              <a:rPr lang="en-US" sz="2000" dirty="0" err="1">
                <a:solidFill>
                  <a:srgbClr val="0000FF"/>
                </a:solidFill>
              </a:rPr>
              <a:t>taille</a:t>
            </a:r>
            <a:r>
              <a:rPr lang="en-US" sz="2000" dirty="0">
                <a:solidFill>
                  <a:srgbClr val="0000FF"/>
                </a:solidFill>
              </a:rPr>
              <a:t> </a:t>
            </a:r>
            <a:r>
              <a:rPr lang="en-US" sz="2000" dirty="0" err="1">
                <a:solidFill>
                  <a:srgbClr val="0000FF"/>
                </a:solidFill>
              </a:rPr>
              <a:t>peut</a:t>
            </a:r>
            <a:r>
              <a:rPr lang="en-US" sz="2000" dirty="0">
                <a:solidFill>
                  <a:srgbClr val="0000FF"/>
                </a:solidFill>
              </a:rPr>
              <a:t> </a:t>
            </a:r>
            <a:r>
              <a:rPr lang="en-US" sz="2000" dirty="0" err="1">
                <a:solidFill>
                  <a:srgbClr val="0000FF"/>
                </a:solidFill>
              </a:rPr>
              <a:t>être</a:t>
            </a:r>
            <a:r>
              <a:rPr lang="en-US" sz="2000" dirty="0">
                <a:solidFill>
                  <a:srgbClr val="0000FF"/>
                </a:solidFill>
              </a:rPr>
              <a:t> </a:t>
            </a:r>
            <a:r>
              <a:rPr lang="en-US" sz="2000" dirty="0" err="1">
                <a:solidFill>
                  <a:srgbClr val="0000FF"/>
                </a:solidFill>
              </a:rPr>
              <a:t>supérieure</a:t>
            </a:r>
            <a:r>
              <a:rPr lang="en-US" sz="2000" dirty="0">
                <a:solidFill>
                  <a:srgbClr val="0000FF"/>
                </a:solidFill>
              </a:rPr>
              <a:t> </a:t>
            </a:r>
            <a:r>
              <a:rPr lang="en-US" sz="2000" dirty="0" err="1">
                <a:solidFill>
                  <a:srgbClr val="0000FF"/>
                </a:solidFill>
              </a:rPr>
              <a:t>à</a:t>
            </a:r>
            <a:r>
              <a:rPr lang="en-US" sz="2000" dirty="0">
                <a:solidFill>
                  <a:srgbClr val="0000FF"/>
                </a:solidFill>
              </a:rPr>
              <a:t> </a:t>
            </a:r>
            <a:r>
              <a:rPr lang="en-US" sz="2000" dirty="0" err="1">
                <a:solidFill>
                  <a:srgbClr val="0000FF"/>
                </a:solidFill>
              </a:rPr>
              <a:t>celle</a:t>
            </a:r>
            <a:r>
              <a:rPr lang="en-US" sz="2000" dirty="0">
                <a:solidFill>
                  <a:srgbClr val="0000FF"/>
                </a:solidFill>
              </a:rPr>
              <a:t> de la </a:t>
            </a:r>
            <a:r>
              <a:rPr lang="en-US" sz="2000" dirty="0" err="1">
                <a:solidFill>
                  <a:srgbClr val="0000FF"/>
                </a:solidFill>
              </a:rPr>
              <a:t>mémoire</a:t>
            </a:r>
            <a:r>
              <a:rPr lang="en-US" sz="2000" dirty="0">
                <a:solidFill>
                  <a:srgbClr val="0000FF"/>
                </a:solidFill>
              </a:rPr>
              <a:t> physique.</a:t>
            </a:r>
          </a:p>
          <a:p>
            <a:pPr lvl="1" algn="just"/>
            <a:endParaRPr lang="en-US" sz="2000" dirty="0">
              <a:solidFill>
                <a:srgbClr val="0000FF"/>
              </a:solidFill>
            </a:endParaRPr>
          </a:p>
          <a:p>
            <a:pPr algn="just"/>
            <a:r>
              <a:rPr lang="en-US" dirty="0" err="1"/>
              <a:t>Vue</a:t>
            </a:r>
            <a:r>
              <a:rPr lang="en-US" dirty="0"/>
              <a:t> “</a:t>
            </a:r>
            <a:r>
              <a:rPr lang="en-US" dirty="0" err="1"/>
              <a:t>idéale</a:t>
            </a:r>
            <a:r>
              <a:rPr lang="en-US" dirty="0"/>
              <a:t>” de la </a:t>
            </a:r>
            <a:r>
              <a:rPr lang="en-US" dirty="0" err="1"/>
              <a:t>mémoire</a:t>
            </a:r>
            <a:r>
              <a:rPr lang="en-US" dirty="0"/>
              <a:t>: sans les aspects </a:t>
            </a:r>
            <a:r>
              <a:rPr lang="en-US" dirty="0" err="1"/>
              <a:t>pénibles</a:t>
            </a:r>
            <a:r>
              <a:rPr lang="en-US" dirty="0"/>
              <a:t> pour les </a:t>
            </a:r>
            <a:r>
              <a:rPr lang="en-US" dirty="0" err="1"/>
              <a:t>programmeurs</a:t>
            </a:r>
            <a:r>
              <a:rPr lang="en-US" dirty="0"/>
              <a:t> de la </a:t>
            </a:r>
            <a:r>
              <a:rPr lang="en-US" dirty="0" err="1"/>
              <a:t>gestion</a:t>
            </a:r>
            <a:r>
              <a:rPr lang="en-US" dirty="0"/>
              <a:t> de la </a:t>
            </a:r>
            <a:r>
              <a:rPr lang="en-US" dirty="0" err="1"/>
              <a:t>mémoire</a:t>
            </a:r>
            <a:r>
              <a:rPr lang="en-US" dirty="0"/>
              <a:t>.</a:t>
            </a:r>
          </a:p>
          <a:p>
            <a:pPr algn="just"/>
            <a:endParaRPr lang="en-US" dirty="0"/>
          </a:p>
          <a:p>
            <a:pPr algn="just"/>
            <a:endParaRPr lang="en-US" sz="2100" dirty="0"/>
          </a:p>
        </p:txBody>
      </p:sp>
      <p:sp>
        <p:nvSpPr>
          <p:cNvPr id="3" name="Title 2"/>
          <p:cNvSpPr>
            <a:spLocks noGrp="1"/>
          </p:cNvSpPr>
          <p:nvPr>
            <p:ph type="title"/>
          </p:nvPr>
        </p:nvSpPr>
        <p:spPr/>
        <p:txBody>
          <a:bodyPr/>
          <a:lstStyle/>
          <a:p>
            <a:r>
              <a:rPr lang="fr-FR" dirty="0"/>
              <a:t>La mémoire virtuelle</a:t>
            </a:r>
          </a:p>
        </p:txBody>
      </p:sp>
    </p:spTree>
    <p:extLst>
      <p:ext uri="{BB962C8B-B14F-4D97-AF65-F5344CB8AC3E}">
        <p14:creationId xmlns:p14="http://schemas.microsoft.com/office/powerpoint/2010/main" val="10854643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fr-FR" dirty="0"/>
              <a:t>L’espace  d’adressage est structuré en un  ensemble d’unités  appelées </a:t>
            </a:r>
            <a:r>
              <a:rPr lang="fr-FR" b="1" dirty="0">
                <a:solidFill>
                  <a:srgbClr val="0000FF"/>
                </a:solidFill>
              </a:rPr>
              <a:t>pages</a:t>
            </a:r>
            <a:r>
              <a:rPr lang="fr-FR" b="1" dirty="0"/>
              <a:t> </a:t>
            </a:r>
            <a:r>
              <a:rPr lang="fr-FR" dirty="0"/>
              <a:t>ou </a:t>
            </a:r>
            <a:r>
              <a:rPr lang="fr-FR" b="1" dirty="0">
                <a:solidFill>
                  <a:srgbClr val="0000FF"/>
                </a:solidFill>
              </a:rPr>
              <a:t>segments</a:t>
            </a:r>
            <a:r>
              <a:rPr lang="fr-FR" dirty="0"/>
              <a:t>, qui peuvent être chargées séparément en mémoire.</a:t>
            </a:r>
          </a:p>
          <a:p>
            <a:pPr algn="just"/>
            <a:endParaRPr lang="fr-FR" dirty="0"/>
          </a:p>
          <a:p>
            <a:pPr algn="just"/>
            <a:r>
              <a:rPr lang="fr-FR" dirty="0"/>
              <a:t>L’ensemble de son espace d’adressage (</a:t>
            </a:r>
            <a:r>
              <a:rPr lang="fr-FR" dirty="0">
                <a:solidFill>
                  <a:srgbClr val="0000FF"/>
                </a:solidFill>
              </a:rPr>
              <a:t>mémoire virtuelle</a:t>
            </a:r>
            <a:r>
              <a:rPr lang="fr-FR" dirty="0"/>
              <a:t>) est stocké sur disque. </a:t>
            </a:r>
          </a:p>
          <a:p>
            <a:pPr algn="just"/>
            <a:endParaRPr lang="fr-FR" dirty="0"/>
          </a:p>
          <a:p>
            <a:pPr algn="just"/>
            <a:r>
              <a:rPr lang="fr-FR" dirty="0"/>
              <a:t>Pour exécuter un processus, le système d’exploitation charge en mémoire uniquement une ou quelques unités (pages ou segments) y compris celle qui contient le début du programme. </a:t>
            </a:r>
          </a:p>
          <a:p>
            <a:pPr algn="just"/>
            <a:endParaRPr lang="fr-FR" dirty="0"/>
          </a:p>
          <a:p>
            <a:pPr algn="just"/>
            <a:r>
              <a:rPr lang="fr-FR" dirty="0"/>
              <a:t>Lorsqu’un processus est en cours d’exécution, seule une partie de son espace d’adressage est en mémoire principale. Cette partie est dite </a:t>
            </a:r>
            <a:r>
              <a:rPr lang="fr-FR" dirty="0">
                <a:solidFill>
                  <a:srgbClr val="0000FF"/>
                </a:solidFill>
              </a:rPr>
              <a:t>résidante</a:t>
            </a:r>
            <a:r>
              <a:rPr lang="fr-FR" dirty="0"/>
              <a:t>. Les parties de cet espace d’adressage sont chargées en mémoire principale à la demande. </a:t>
            </a:r>
          </a:p>
          <a:p>
            <a:pPr algn="just"/>
            <a:endParaRPr lang="fr-FR" dirty="0"/>
          </a:p>
          <a:p>
            <a:endParaRPr lang="fr-FR" dirty="0"/>
          </a:p>
        </p:txBody>
      </p:sp>
      <p:sp>
        <p:nvSpPr>
          <p:cNvPr id="3" name="Title 2"/>
          <p:cNvSpPr>
            <a:spLocks noGrp="1"/>
          </p:cNvSpPr>
          <p:nvPr>
            <p:ph type="title"/>
          </p:nvPr>
        </p:nvSpPr>
        <p:spPr/>
        <p:txBody>
          <a:bodyPr/>
          <a:lstStyle/>
          <a:p>
            <a:r>
              <a:rPr lang="fr-FR" dirty="0"/>
              <a:t>La mémoire virtuelle</a:t>
            </a:r>
          </a:p>
        </p:txBody>
      </p:sp>
    </p:spTree>
    <p:extLst>
      <p:ext uri="{BB962C8B-B14F-4D97-AF65-F5344CB8AC3E}">
        <p14:creationId xmlns:p14="http://schemas.microsoft.com/office/powerpoint/2010/main" val="386325170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apture d’écran 2020-02-24 à 22.05.04.png"/>
          <p:cNvPicPr>
            <a:picLocks noGrp="1" noChangeAspect="1"/>
          </p:cNvPicPr>
          <p:nvPr>
            <p:ph sz="half" idx="1"/>
          </p:nvPr>
        </p:nvPicPr>
        <p:blipFill>
          <a:blip r:embed="rId2">
            <a:extLst>
              <a:ext uri="{28A0092B-C50C-407E-A947-70E740481C1C}">
                <a14:useLocalDpi xmlns:a14="http://schemas.microsoft.com/office/drawing/2010/main" val="0"/>
              </a:ext>
            </a:extLst>
          </a:blip>
          <a:srcRect t="-20399" b="-20399"/>
          <a:stretch>
            <a:fillRect/>
          </a:stretch>
        </p:blipFill>
        <p:spPr/>
      </p:pic>
      <p:sp>
        <p:nvSpPr>
          <p:cNvPr id="3" name="Content Placeholder 2"/>
          <p:cNvSpPr>
            <a:spLocks noGrp="1"/>
          </p:cNvSpPr>
          <p:nvPr>
            <p:ph sz="half" idx="2"/>
          </p:nvPr>
        </p:nvSpPr>
        <p:spPr/>
        <p:txBody>
          <a:bodyPr>
            <a:normAutofit/>
          </a:bodyPr>
          <a:lstStyle/>
          <a:p>
            <a:pPr algn="just"/>
            <a:r>
              <a:rPr lang="fr-FR" sz="2000" dirty="0"/>
              <a:t>Espace des adresses virtuelles et espace physique. </a:t>
            </a:r>
          </a:p>
          <a:p>
            <a:pPr algn="just"/>
            <a:endParaRPr lang="fr-FR" sz="2000" dirty="0"/>
          </a:p>
          <a:p>
            <a:pPr algn="just"/>
            <a:r>
              <a:rPr lang="fr-FR" sz="2000" dirty="0"/>
              <a:t>Le processus dans son espace virtuel continu comprend quatre pages : A, B, C et D. </a:t>
            </a:r>
          </a:p>
          <a:p>
            <a:pPr algn="just"/>
            <a:endParaRPr lang="fr-FR" sz="2000" dirty="0"/>
          </a:p>
          <a:p>
            <a:pPr algn="just"/>
            <a:r>
              <a:rPr lang="fr-FR" sz="2000" dirty="0"/>
              <a:t>Trois blocs sont situés dans la mémoire physique et un est sur le disque.</a:t>
            </a:r>
          </a:p>
          <a:p>
            <a:endParaRPr lang="fr-FR" dirty="0"/>
          </a:p>
        </p:txBody>
      </p:sp>
      <p:sp>
        <p:nvSpPr>
          <p:cNvPr id="4" name="Title 3"/>
          <p:cNvSpPr>
            <a:spLocks noGrp="1"/>
          </p:cNvSpPr>
          <p:nvPr>
            <p:ph type="title"/>
          </p:nvPr>
        </p:nvSpPr>
        <p:spPr/>
        <p:txBody>
          <a:bodyPr/>
          <a:lstStyle/>
          <a:p>
            <a:r>
              <a:rPr lang="fr-FR" dirty="0"/>
              <a:t>La mémoire virtuelle</a:t>
            </a:r>
          </a:p>
        </p:txBody>
      </p:sp>
    </p:spTree>
    <p:extLst>
      <p:ext uri="{BB962C8B-B14F-4D97-AF65-F5344CB8AC3E}">
        <p14:creationId xmlns:p14="http://schemas.microsoft.com/office/powerpoint/2010/main" val="1228980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fr-FR" dirty="0">
                <a:solidFill>
                  <a:srgbClr val="0000FF"/>
                </a:solidFill>
              </a:rPr>
              <a:t>La capacité mémoire: </a:t>
            </a:r>
            <a:r>
              <a:rPr lang="fr-FR" dirty="0"/>
              <a:t>Possibilité d’exécuter des processus dont la taille excède la taille de la RAM,</a:t>
            </a:r>
          </a:p>
          <a:p>
            <a:pPr algn="just"/>
            <a:endParaRPr lang="fr-FR" dirty="0">
              <a:solidFill>
                <a:srgbClr val="0000FF"/>
              </a:solidFill>
            </a:endParaRPr>
          </a:p>
          <a:p>
            <a:pPr algn="just"/>
            <a:r>
              <a:rPr lang="fr-FR" dirty="0">
                <a:solidFill>
                  <a:srgbClr val="0000FF"/>
                </a:solidFill>
              </a:rPr>
              <a:t>La cohabitation entre processus: </a:t>
            </a:r>
            <a:r>
              <a:rPr lang="fr-FR" dirty="0"/>
              <a:t>Eviter les conflits d’adressage entre les processus, exécuter un processus dans un espace d’adressage non continu (la mémoire est non disponible en un seul bloc mais elle est fragmentée),</a:t>
            </a:r>
          </a:p>
          <a:p>
            <a:pPr algn="just"/>
            <a:endParaRPr lang="fr-FR" dirty="0"/>
          </a:p>
          <a:p>
            <a:pPr algn="just"/>
            <a:r>
              <a:rPr lang="fr-FR" dirty="0">
                <a:solidFill>
                  <a:srgbClr val="0000FF"/>
                </a:solidFill>
              </a:rPr>
              <a:t>Contrôle de partage des informations entre processus: </a:t>
            </a:r>
            <a:r>
              <a:rPr lang="fr-FR" dirty="0"/>
              <a:t>protéger les processus les uns des autres entre autre le système d’exploitation </a:t>
            </a:r>
            <a:r>
              <a:rPr lang="mr-IN" dirty="0"/>
              <a:t>…</a:t>
            </a:r>
            <a:r>
              <a:rPr lang="fr-FR" dirty="0"/>
              <a:t> ou autoriser qu’une partie de la mémoire d’un processus soit partagée</a:t>
            </a:r>
            <a:r>
              <a:rPr lang="mr-IN" dirty="0"/>
              <a:t>…</a:t>
            </a:r>
            <a:r>
              <a:rPr lang="fr-FR" dirty="0"/>
              <a:t> </a:t>
            </a:r>
          </a:p>
          <a:p>
            <a:pPr algn="just"/>
            <a:endParaRPr lang="fr-FR" dirty="0"/>
          </a:p>
          <a:p>
            <a:pPr algn="just"/>
            <a:r>
              <a:rPr lang="fr-FR" dirty="0"/>
              <a:t> </a:t>
            </a:r>
            <a:r>
              <a:rPr lang="fr-FR" dirty="0">
                <a:solidFill>
                  <a:srgbClr val="0000FF"/>
                </a:solidFill>
                <a:hlinkClick r:id="rId2"/>
              </a:rPr>
              <a:t>Utilité de la mémoire virtuelle | Renaud Lachaize</a:t>
            </a:r>
            <a:endParaRPr lang="fr-FR" dirty="0">
              <a:solidFill>
                <a:srgbClr val="0000FF"/>
              </a:solidFill>
            </a:endParaRPr>
          </a:p>
        </p:txBody>
      </p:sp>
      <p:sp>
        <p:nvSpPr>
          <p:cNvPr id="3" name="Title 2"/>
          <p:cNvSpPr>
            <a:spLocks noGrp="1"/>
          </p:cNvSpPr>
          <p:nvPr>
            <p:ph type="title"/>
          </p:nvPr>
        </p:nvSpPr>
        <p:spPr/>
        <p:txBody>
          <a:bodyPr/>
          <a:lstStyle/>
          <a:p>
            <a:r>
              <a:rPr lang="fr-FR" dirty="0"/>
              <a:t>Les problèmes que traitent la mémoire virtuelle</a:t>
            </a:r>
          </a:p>
        </p:txBody>
      </p:sp>
    </p:spTree>
    <p:extLst>
      <p:ext uri="{BB962C8B-B14F-4D97-AF65-F5344CB8AC3E}">
        <p14:creationId xmlns:p14="http://schemas.microsoft.com/office/powerpoint/2010/main" val="17641037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3685" y="1719071"/>
            <a:ext cx="8655208" cy="4407408"/>
          </a:xfrm>
        </p:spPr>
        <p:txBody>
          <a:bodyPr>
            <a:normAutofit fontScale="77500" lnSpcReduction="20000"/>
          </a:bodyPr>
          <a:lstStyle/>
          <a:p>
            <a:pPr marL="776605" marR="591185" indent="-342900" algn="just">
              <a:lnSpc>
                <a:spcPct val="70000"/>
              </a:lnSpc>
              <a:tabLst>
                <a:tab pos="593090" algn="l"/>
              </a:tabLst>
            </a:pPr>
            <a:r>
              <a:rPr lang="en-US" dirty="0" err="1"/>
              <a:t>Utilisation</a:t>
            </a:r>
            <a:r>
              <a:rPr lang="en-US" dirty="0"/>
              <a:t> de la </a:t>
            </a:r>
            <a:r>
              <a:rPr lang="en-US" dirty="0" err="1"/>
              <a:t>mémoire</a:t>
            </a:r>
            <a:r>
              <a:rPr lang="en-US" dirty="0"/>
              <a:t> </a:t>
            </a:r>
            <a:r>
              <a:rPr lang="en-US" dirty="0" err="1"/>
              <a:t>secondaire</a:t>
            </a:r>
            <a:r>
              <a:rPr lang="en-US" dirty="0"/>
              <a:t>  «</a:t>
            </a:r>
            <a:r>
              <a:rPr lang="en-US" dirty="0" err="1"/>
              <a:t>comme</a:t>
            </a:r>
            <a:r>
              <a:rPr lang="en-US" dirty="0"/>
              <a:t> </a:t>
            </a:r>
            <a:r>
              <a:rPr lang="en-US" dirty="0" err="1"/>
              <a:t>si</a:t>
            </a:r>
            <a:r>
              <a:rPr lang="en-US" dirty="0"/>
              <a:t>» </a:t>
            </a:r>
            <a:r>
              <a:rPr lang="en-US" dirty="0" err="1"/>
              <a:t>c’était</a:t>
            </a:r>
            <a:r>
              <a:rPr lang="en-US" dirty="0"/>
              <a:t> de la </a:t>
            </a:r>
          </a:p>
          <a:p>
            <a:pPr marL="433705" marR="591185" indent="0" algn="just">
              <a:lnSpc>
                <a:spcPct val="70000"/>
              </a:lnSpc>
              <a:buNone/>
              <a:tabLst>
                <a:tab pos="593090" algn="l"/>
              </a:tabLst>
            </a:pPr>
            <a:r>
              <a:rPr lang="en-US" dirty="0" err="1"/>
              <a:t>Mémoire</a:t>
            </a:r>
            <a:r>
              <a:rPr lang="en-US" dirty="0"/>
              <a:t> </a:t>
            </a:r>
            <a:r>
              <a:rPr lang="en-US" dirty="0" err="1"/>
              <a:t>centrale</a:t>
            </a:r>
            <a:r>
              <a:rPr lang="en-US" dirty="0"/>
              <a:t>.</a:t>
            </a:r>
          </a:p>
          <a:p>
            <a:pPr marL="776605" marR="591185" indent="-342900">
              <a:lnSpc>
                <a:spcPct val="70000"/>
              </a:lnSpc>
              <a:tabLst>
                <a:tab pos="593090" algn="l"/>
              </a:tabLst>
            </a:pPr>
            <a:endParaRPr lang="en-US" dirty="0"/>
          </a:p>
          <a:p>
            <a:pPr marL="776605" indent="-342900">
              <a:tabLst>
                <a:tab pos="593090" algn="l"/>
              </a:tabLst>
            </a:pPr>
            <a:r>
              <a:rPr lang="en-US" dirty="0" err="1"/>
              <a:t>Disponible</a:t>
            </a:r>
            <a:r>
              <a:rPr lang="en-US" dirty="0"/>
              <a:t> </a:t>
            </a:r>
            <a:r>
              <a:rPr lang="en-US" dirty="0" err="1"/>
              <a:t>à</a:t>
            </a:r>
            <a:r>
              <a:rPr lang="en-US" dirty="0"/>
              <a:t> </a:t>
            </a:r>
            <a:r>
              <a:rPr lang="en-US" dirty="0" err="1"/>
              <a:t>partir</a:t>
            </a:r>
            <a:r>
              <a:rPr lang="en-US" dirty="0"/>
              <a:t> des 80386 et 68030</a:t>
            </a:r>
          </a:p>
          <a:p>
            <a:pPr marL="776605" indent="-342900">
              <a:tabLst>
                <a:tab pos="593090" algn="l"/>
              </a:tabLst>
            </a:pPr>
            <a:r>
              <a:rPr lang="en-US" dirty="0" err="1"/>
              <a:t>Gestion</a:t>
            </a:r>
            <a:r>
              <a:rPr lang="en-US" dirty="0"/>
              <a:t> se fait au </a:t>
            </a:r>
            <a:r>
              <a:rPr lang="en-US" dirty="0" err="1"/>
              <a:t>niveau</a:t>
            </a:r>
            <a:r>
              <a:rPr lang="en-US" dirty="0"/>
              <a:t> du </a:t>
            </a:r>
            <a:r>
              <a:rPr lang="en-US" dirty="0" err="1"/>
              <a:t>système</a:t>
            </a:r>
            <a:r>
              <a:rPr lang="en-US" dirty="0"/>
              <a:t> </a:t>
            </a:r>
            <a:r>
              <a:rPr lang="en-US" dirty="0" err="1"/>
              <a:t>d’exploitation</a:t>
            </a:r>
            <a:endParaRPr lang="en-US" dirty="0"/>
          </a:p>
          <a:p>
            <a:pPr marL="776605" indent="-342900">
              <a:tabLst>
                <a:tab pos="593090" algn="l"/>
              </a:tabLst>
            </a:pPr>
            <a:r>
              <a:rPr lang="en-US" dirty="0" err="1"/>
              <a:t>Système</a:t>
            </a:r>
            <a:r>
              <a:rPr lang="en-US" dirty="0"/>
              <a:t> de </a:t>
            </a:r>
            <a:r>
              <a:rPr lang="en-US" dirty="0" err="1"/>
              <a:t>gestion</a:t>
            </a:r>
            <a:r>
              <a:rPr lang="en-US" dirty="0"/>
              <a:t> de </a:t>
            </a:r>
            <a:r>
              <a:rPr lang="en-US" dirty="0" err="1"/>
              <a:t>mémoire</a:t>
            </a:r>
            <a:r>
              <a:rPr lang="en-US" dirty="0"/>
              <a:t> </a:t>
            </a:r>
            <a:r>
              <a:rPr lang="en-US" dirty="0" err="1"/>
              <a:t>virtuelle</a:t>
            </a:r>
            <a:r>
              <a:rPr lang="en-US" dirty="0"/>
              <a:t> </a:t>
            </a:r>
            <a:r>
              <a:rPr lang="en-US" dirty="0" err="1"/>
              <a:t>très</a:t>
            </a:r>
            <a:r>
              <a:rPr lang="en-US" dirty="0"/>
              <a:t> </a:t>
            </a:r>
            <a:r>
              <a:rPr lang="en-US" dirty="0" err="1"/>
              <a:t>sophistiqué</a:t>
            </a:r>
            <a:endParaRPr lang="en-US" dirty="0"/>
          </a:p>
          <a:p>
            <a:pPr marL="776605" indent="-342900">
              <a:tabLst>
                <a:tab pos="593090" algn="l"/>
              </a:tabLst>
            </a:pPr>
            <a:endParaRPr lang="en-US" dirty="0">
              <a:solidFill>
                <a:srgbClr val="0000FF"/>
              </a:solidFill>
            </a:endParaRPr>
          </a:p>
          <a:p>
            <a:pPr marL="688340">
              <a:lnSpc>
                <a:spcPts val="1195"/>
              </a:lnSpc>
              <a:spcBef>
                <a:spcPts val="5"/>
              </a:spcBef>
            </a:pPr>
            <a:r>
              <a:rPr lang="en-US" dirty="0">
                <a:solidFill>
                  <a:srgbClr val="0000FF"/>
                </a:solidFill>
              </a:rPr>
              <a:t>Pagination :</a:t>
            </a:r>
          </a:p>
          <a:p>
            <a:pPr marL="941705">
              <a:lnSpc>
                <a:spcPts val="1075"/>
              </a:lnSpc>
            </a:pPr>
            <a:r>
              <a:rPr lang="en-US" dirty="0"/>
              <a:t>mono </a:t>
            </a:r>
            <a:r>
              <a:rPr lang="en-US" dirty="0" err="1"/>
              <a:t>dimensionnelle</a:t>
            </a:r>
            <a:endParaRPr lang="en-US" dirty="0"/>
          </a:p>
          <a:p>
            <a:pPr marL="941705">
              <a:lnSpc>
                <a:spcPct val="100000"/>
              </a:lnSpc>
            </a:pPr>
            <a:r>
              <a:rPr lang="en-US" dirty="0" err="1"/>
              <a:t>mappage</a:t>
            </a:r>
            <a:r>
              <a:rPr lang="en-US" dirty="0"/>
              <a:t> de </a:t>
            </a:r>
            <a:r>
              <a:rPr lang="en-US" dirty="0" err="1"/>
              <a:t>l’espace</a:t>
            </a:r>
            <a:r>
              <a:rPr lang="en-US" dirty="0"/>
              <a:t> </a:t>
            </a:r>
            <a:r>
              <a:rPr lang="en-US" dirty="0" err="1"/>
              <a:t>d’adressage</a:t>
            </a:r>
            <a:r>
              <a:rPr lang="en-US" dirty="0"/>
              <a:t> </a:t>
            </a:r>
            <a:r>
              <a:rPr lang="en-US" dirty="0" err="1"/>
              <a:t>sur</a:t>
            </a:r>
            <a:r>
              <a:rPr lang="en-US" dirty="0"/>
              <a:t> la </a:t>
            </a:r>
            <a:r>
              <a:rPr lang="en-US" dirty="0" err="1"/>
              <a:t>mémoire</a:t>
            </a:r>
            <a:r>
              <a:rPr lang="en-US" dirty="0"/>
              <a:t> physique.</a:t>
            </a:r>
          </a:p>
          <a:p>
            <a:pPr marL="941705">
              <a:lnSpc>
                <a:spcPct val="100000"/>
              </a:lnSpc>
            </a:pPr>
            <a:endParaRPr lang="en-US" dirty="0"/>
          </a:p>
          <a:p>
            <a:pPr marL="1068070" marR="683260" indent="-127000">
              <a:lnSpc>
                <a:spcPct val="70000"/>
              </a:lnSpc>
              <a:spcBef>
                <a:spcPts val="325"/>
              </a:spcBef>
            </a:pPr>
            <a:r>
              <a:rPr lang="en-US" dirty="0"/>
              <a:t> Les zones </a:t>
            </a:r>
            <a:r>
              <a:rPr lang="en-US" dirty="0" err="1"/>
              <a:t>mémoires</a:t>
            </a:r>
            <a:r>
              <a:rPr lang="en-US" dirty="0"/>
              <a:t> </a:t>
            </a:r>
            <a:r>
              <a:rPr lang="en-US" dirty="0" err="1"/>
              <a:t>lues</a:t>
            </a:r>
            <a:r>
              <a:rPr lang="en-US" dirty="0"/>
              <a:t> </a:t>
            </a:r>
            <a:r>
              <a:rPr lang="en-US" dirty="0" err="1"/>
              <a:t>sur</a:t>
            </a:r>
            <a:r>
              <a:rPr lang="en-US" dirty="0"/>
              <a:t> la </a:t>
            </a:r>
            <a:r>
              <a:rPr lang="en-US" dirty="0" err="1"/>
              <a:t>mémoire</a:t>
            </a:r>
            <a:r>
              <a:rPr lang="en-US" dirty="0"/>
              <a:t> </a:t>
            </a:r>
            <a:r>
              <a:rPr lang="en-US" dirty="0" err="1"/>
              <a:t>secondaire</a:t>
            </a:r>
            <a:r>
              <a:rPr lang="en-US" dirty="0"/>
              <a:t>  </a:t>
            </a:r>
            <a:r>
              <a:rPr lang="en-US" dirty="0" err="1"/>
              <a:t>sont</a:t>
            </a:r>
            <a:r>
              <a:rPr lang="en-US" dirty="0"/>
              <a:t> le</a:t>
            </a:r>
          </a:p>
          <a:p>
            <a:pPr marL="941070" marR="683260" indent="0">
              <a:lnSpc>
                <a:spcPct val="70000"/>
              </a:lnSpc>
              <a:spcBef>
                <a:spcPts val="325"/>
              </a:spcBef>
              <a:buNone/>
            </a:pPr>
            <a:r>
              <a:rPr lang="en-US" dirty="0"/>
              <a:t>pages de 4Ko</a:t>
            </a:r>
          </a:p>
          <a:p>
            <a:pPr marL="1068070" marR="683260" indent="-127000">
              <a:lnSpc>
                <a:spcPct val="70000"/>
              </a:lnSpc>
              <a:spcBef>
                <a:spcPts val="325"/>
              </a:spcBef>
            </a:pPr>
            <a:endParaRPr lang="en-US" dirty="0"/>
          </a:p>
          <a:p>
            <a:pPr marL="688340">
              <a:lnSpc>
                <a:spcPts val="1195"/>
              </a:lnSpc>
              <a:spcBef>
                <a:spcPts val="5"/>
              </a:spcBef>
            </a:pPr>
            <a:r>
              <a:rPr lang="en-US" dirty="0">
                <a:solidFill>
                  <a:srgbClr val="0000FF"/>
                </a:solidFill>
              </a:rPr>
              <a:t>Segmentation :</a:t>
            </a:r>
          </a:p>
          <a:p>
            <a:pPr marL="941705">
              <a:lnSpc>
                <a:spcPts val="1075"/>
              </a:lnSpc>
            </a:pPr>
            <a:r>
              <a:rPr lang="en-US" dirty="0" err="1"/>
              <a:t>possibilité</a:t>
            </a:r>
            <a:r>
              <a:rPr lang="en-US" dirty="0"/>
              <a:t> </a:t>
            </a:r>
            <a:r>
              <a:rPr lang="en-US" dirty="0" err="1"/>
              <a:t>d’avoir</a:t>
            </a:r>
            <a:r>
              <a:rPr lang="en-US" dirty="0"/>
              <a:t> </a:t>
            </a:r>
            <a:r>
              <a:rPr lang="en-US" dirty="0" err="1"/>
              <a:t>plusieurs</a:t>
            </a:r>
            <a:r>
              <a:rPr lang="en-US" dirty="0"/>
              <a:t> </a:t>
            </a:r>
            <a:r>
              <a:rPr lang="en-US" dirty="0" err="1"/>
              <a:t>espaces</a:t>
            </a:r>
            <a:r>
              <a:rPr lang="en-US" dirty="0"/>
              <a:t> </a:t>
            </a:r>
            <a:r>
              <a:rPr lang="en-US" dirty="0" err="1"/>
              <a:t>d’adressage</a:t>
            </a:r>
            <a:r>
              <a:rPr lang="en-US" dirty="0"/>
              <a:t> </a:t>
            </a:r>
            <a:r>
              <a:rPr lang="en-US" dirty="0" err="1"/>
              <a:t>virtuels</a:t>
            </a:r>
            <a:endParaRPr lang="en-US" dirty="0"/>
          </a:p>
          <a:p>
            <a:pPr marL="941705">
              <a:lnSpc>
                <a:spcPct val="100000"/>
              </a:lnSpc>
            </a:pPr>
            <a:r>
              <a:rPr lang="en-US" dirty="0" err="1"/>
              <a:t>chaque</a:t>
            </a:r>
            <a:r>
              <a:rPr lang="en-US" dirty="0"/>
              <a:t> </a:t>
            </a:r>
            <a:r>
              <a:rPr lang="en-US" dirty="0" err="1"/>
              <a:t>espace</a:t>
            </a:r>
            <a:r>
              <a:rPr lang="en-US" dirty="0"/>
              <a:t> </a:t>
            </a:r>
            <a:r>
              <a:rPr lang="en-US" dirty="0" err="1"/>
              <a:t>est</a:t>
            </a:r>
            <a:r>
              <a:rPr lang="en-US" dirty="0"/>
              <a:t> </a:t>
            </a:r>
            <a:r>
              <a:rPr lang="en-US" dirty="0" err="1"/>
              <a:t>indépendant</a:t>
            </a:r>
            <a:r>
              <a:rPr lang="en-US" dirty="0"/>
              <a:t> : les segments</a:t>
            </a:r>
          </a:p>
          <a:p>
            <a:pPr marL="941705">
              <a:lnSpc>
                <a:spcPct val="100000"/>
              </a:lnSpc>
            </a:pPr>
            <a:r>
              <a:rPr lang="en-US" dirty="0"/>
              <a:t>les segments </a:t>
            </a:r>
            <a:r>
              <a:rPr lang="en-US" dirty="0" err="1"/>
              <a:t>sont</a:t>
            </a:r>
            <a:r>
              <a:rPr lang="en-US" dirty="0"/>
              <a:t> de </a:t>
            </a:r>
            <a:r>
              <a:rPr lang="en-US" dirty="0" err="1"/>
              <a:t>taille</a:t>
            </a:r>
            <a:r>
              <a:rPr lang="en-US" dirty="0"/>
              <a:t> variable (</a:t>
            </a:r>
            <a:r>
              <a:rPr lang="en-US" dirty="0" err="1"/>
              <a:t>limités</a:t>
            </a:r>
            <a:r>
              <a:rPr lang="en-US" dirty="0"/>
              <a:t> </a:t>
            </a:r>
            <a:r>
              <a:rPr lang="en-US" dirty="0" err="1"/>
              <a:t>à</a:t>
            </a:r>
            <a:r>
              <a:rPr lang="en-US" dirty="0"/>
              <a:t> 64k)</a:t>
            </a:r>
          </a:p>
          <a:p>
            <a:pPr marL="941705">
              <a:lnSpc>
                <a:spcPct val="100000"/>
              </a:lnSpc>
            </a:pPr>
            <a:endParaRPr lang="en-US" dirty="0"/>
          </a:p>
          <a:p>
            <a:pPr marL="1068070" marR="636270" indent="-127000">
              <a:lnSpc>
                <a:spcPct val="70000"/>
              </a:lnSpc>
              <a:spcBef>
                <a:spcPts val="325"/>
              </a:spcBef>
            </a:pPr>
            <a:r>
              <a:rPr lang="en-US" dirty="0"/>
              <a:t>Sur les </a:t>
            </a:r>
            <a:r>
              <a:rPr lang="en-US" dirty="0">
                <a:solidFill>
                  <a:srgbClr val="0000FF"/>
                </a:solidFill>
              </a:rPr>
              <a:t>80X86 </a:t>
            </a:r>
            <a:r>
              <a:rPr lang="en-US" dirty="0"/>
              <a:t>la segmentation </a:t>
            </a:r>
            <a:r>
              <a:rPr lang="en-US" dirty="0" err="1"/>
              <a:t>à</a:t>
            </a:r>
            <a:r>
              <a:rPr lang="en-US" dirty="0"/>
              <a:t> </a:t>
            </a:r>
            <a:r>
              <a:rPr lang="en-US" dirty="0" err="1"/>
              <a:t>été</a:t>
            </a:r>
            <a:r>
              <a:rPr lang="en-US" dirty="0"/>
              <a:t> </a:t>
            </a:r>
            <a:r>
              <a:rPr lang="en-US" dirty="0" err="1"/>
              <a:t>utilisée</a:t>
            </a:r>
            <a:r>
              <a:rPr lang="en-US" dirty="0"/>
              <a:t> pour </a:t>
            </a:r>
            <a:r>
              <a:rPr lang="en-US" dirty="0" err="1"/>
              <a:t>résoudre</a:t>
            </a:r>
            <a:r>
              <a:rPr lang="en-US" dirty="0"/>
              <a:t> le  </a:t>
            </a:r>
          </a:p>
          <a:p>
            <a:pPr marL="941070" marR="636270" indent="0">
              <a:lnSpc>
                <a:spcPct val="70000"/>
              </a:lnSpc>
              <a:spcBef>
                <a:spcPts val="325"/>
              </a:spcBef>
              <a:buNone/>
            </a:pPr>
            <a:r>
              <a:rPr lang="en-US" dirty="0" err="1"/>
              <a:t>problème</a:t>
            </a:r>
            <a:r>
              <a:rPr lang="en-US" dirty="0"/>
              <a:t> des </a:t>
            </a:r>
            <a:r>
              <a:rPr lang="en-US" dirty="0" err="1"/>
              <a:t>adresses</a:t>
            </a:r>
            <a:r>
              <a:rPr lang="en-US" dirty="0"/>
              <a:t> </a:t>
            </a:r>
            <a:r>
              <a:rPr lang="en-US" dirty="0" err="1"/>
              <a:t>sur</a:t>
            </a:r>
            <a:r>
              <a:rPr lang="en-US" dirty="0"/>
              <a:t> 20 bits</a:t>
            </a:r>
          </a:p>
          <a:p>
            <a:endParaRPr lang="fr-FR" dirty="0"/>
          </a:p>
        </p:txBody>
      </p:sp>
      <p:sp>
        <p:nvSpPr>
          <p:cNvPr id="3" name="Title 2"/>
          <p:cNvSpPr>
            <a:spLocks noGrp="1"/>
          </p:cNvSpPr>
          <p:nvPr>
            <p:ph type="title"/>
          </p:nvPr>
        </p:nvSpPr>
        <p:spPr/>
        <p:txBody>
          <a:bodyPr/>
          <a:lstStyle/>
          <a:p>
            <a:r>
              <a:rPr lang="en-US" dirty="0"/>
              <a:t>La </a:t>
            </a:r>
            <a:r>
              <a:rPr lang="en-US" dirty="0" err="1"/>
              <a:t>mémoire</a:t>
            </a:r>
            <a:r>
              <a:rPr lang="en-US" dirty="0"/>
              <a:t> </a:t>
            </a:r>
            <a:r>
              <a:rPr lang="en-US" dirty="0" err="1"/>
              <a:t>virtuelle</a:t>
            </a:r>
            <a:br>
              <a:rPr lang="en-US" dirty="0"/>
            </a:br>
            <a:endParaRPr lang="fr-FR" dirty="0"/>
          </a:p>
        </p:txBody>
      </p:sp>
    </p:spTree>
    <p:extLst>
      <p:ext uri="{BB962C8B-B14F-4D97-AF65-F5344CB8AC3E}">
        <p14:creationId xmlns:p14="http://schemas.microsoft.com/office/powerpoint/2010/main" val="20470099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apture d’écran 2020-02-24 à 22.12.49.png"/>
          <p:cNvPicPr>
            <a:picLocks noGrp="1" noChangeAspect="1"/>
          </p:cNvPicPr>
          <p:nvPr>
            <p:ph sz="half" idx="1"/>
          </p:nvPr>
        </p:nvPicPr>
        <p:blipFill>
          <a:blip r:embed="rId2">
            <a:extLst>
              <a:ext uri="{28A0092B-C50C-407E-A947-70E740481C1C}">
                <a14:useLocalDpi xmlns:a14="http://schemas.microsoft.com/office/drawing/2010/main" val="0"/>
              </a:ext>
            </a:extLst>
          </a:blip>
          <a:srcRect t="-52729" b="-52729"/>
          <a:stretch>
            <a:fillRect/>
          </a:stretch>
        </p:blipFill>
        <p:spPr>
          <a:xfrm>
            <a:off x="457200" y="1010121"/>
            <a:ext cx="4038600" cy="5656678"/>
          </a:xfrm>
        </p:spPr>
      </p:pic>
      <p:sp>
        <p:nvSpPr>
          <p:cNvPr id="3" name="Content Placeholder 2"/>
          <p:cNvSpPr>
            <a:spLocks noGrp="1"/>
          </p:cNvSpPr>
          <p:nvPr>
            <p:ph sz="half" idx="2"/>
          </p:nvPr>
        </p:nvSpPr>
        <p:spPr/>
        <p:txBody>
          <a:bodyPr>
            <a:normAutofit lnSpcReduction="10000"/>
          </a:bodyPr>
          <a:lstStyle/>
          <a:p>
            <a:pPr algn="just"/>
            <a:r>
              <a:rPr lang="fr-FR" sz="2100" dirty="0"/>
              <a:t>La mémoire virtuelle et la mémoire physique sont structurées en unités d’allocations appelés </a:t>
            </a:r>
            <a:r>
              <a:rPr lang="fr-FR" sz="2100" b="1" dirty="0">
                <a:solidFill>
                  <a:srgbClr val="0000FF"/>
                </a:solidFill>
              </a:rPr>
              <a:t>pages</a:t>
            </a:r>
            <a:r>
              <a:rPr lang="fr-FR" sz="2100" b="1" dirty="0"/>
              <a:t> </a:t>
            </a:r>
            <a:r>
              <a:rPr lang="fr-FR" sz="2100" dirty="0"/>
              <a:t>pour la mémoire virtuelle et </a:t>
            </a:r>
            <a:r>
              <a:rPr lang="fr-FR" sz="2100" dirty="0">
                <a:solidFill>
                  <a:srgbClr val="0000FF"/>
                </a:solidFill>
              </a:rPr>
              <a:t>cases ou </a:t>
            </a:r>
            <a:r>
              <a:rPr lang="fr-FR" sz="2100" b="1" dirty="0">
                <a:solidFill>
                  <a:srgbClr val="0000FF"/>
                </a:solidFill>
              </a:rPr>
              <a:t>cadres </a:t>
            </a:r>
            <a:r>
              <a:rPr lang="fr-FR" sz="2100" dirty="0"/>
              <a:t>pour la mémoire physique.</a:t>
            </a:r>
          </a:p>
          <a:p>
            <a:pPr algn="just"/>
            <a:r>
              <a:rPr lang="fr-FR" sz="2100" dirty="0"/>
              <a:t>La taille d’une </a:t>
            </a:r>
            <a:r>
              <a:rPr lang="fr-FR" sz="2100" dirty="0">
                <a:solidFill>
                  <a:srgbClr val="0000FF"/>
                </a:solidFill>
              </a:rPr>
              <a:t>page</a:t>
            </a:r>
            <a:r>
              <a:rPr lang="fr-FR" sz="2100" dirty="0"/>
              <a:t> est fixe et égale à celle d’un </a:t>
            </a:r>
            <a:r>
              <a:rPr lang="fr-FR" sz="2100" dirty="0">
                <a:solidFill>
                  <a:srgbClr val="0000FF"/>
                </a:solidFill>
              </a:rPr>
              <a:t>cadre</a:t>
            </a:r>
            <a:r>
              <a:rPr lang="fr-FR" sz="2100" dirty="0"/>
              <a:t>.</a:t>
            </a:r>
          </a:p>
          <a:p>
            <a:pPr algn="just"/>
            <a:r>
              <a:rPr lang="fr-FR" sz="2100" dirty="0"/>
              <a:t>Elle varie entre </a:t>
            </a:r>
            <a:r>
              <a:rPr lang="fr-FR" sz="2100" dirty="0">
                <a:solidFill>
                  <a:srgbClr val="0000FF"/>
                </a:solidFill>
              </a:rPr>
              <a:t>2 Ko </a:t>
            </a:r>
            <a:r>
              <a:rPr lang="fr-FR" sz="2100" dirty="0"/>
              <a:t>et </a:t>
            </a:r>
            <a:r>
              <a:rPr lang="fr-FR" sz="2100" dirty="0">
                <a:solidFill>
                  <a:srgbClr val="0000FF"/>
                </a:solidFill>
              </a:rPr>
              <a:t>16 Ko</a:t>
            </a:r>
            <a:r>
              <a:rPr lang="fr-FR" sz="2100" dirty="0"/>
              <a:t>. </a:t>
            </a:r>
            <a:r>
              <a:rPr lang="fr-FR" sz="2100" dirty="0">
                <a:solidFill>
                  <a:srgbClr val="0000FF"/>
                </a:solidFill>
              </a:rPr>
              <a:t>4 Ko </a:t>
            </a:r>
            <a:r>
              <a:rPr lang="fr-FR" sz="2100" dirty="0"/>
              <a:t>est une valeur typique assez répandue. </a:t>
            </a:r>
          </a:p>
          <a:p>
            <a:endParaRPr lang="fr-FR" dirty="0"/>
          </a:p>
        </p:txBody>
      </p:sp>
      <p:sp>
        <p:nvSpPr>
          <p:cNvPr id="4" name="Title 3"/>
          <p:cNvSpPr>
            <a:spLocks noGrp="1"/>
          </p:cNvSpPr>
          <p:nvPr>
            <p:ph type="title"/>
          </p:nvPr>
        </p:nvSpPr>
        <p:spPr/>
        <p:txBody>
          <a:bodyPr/>
          <a:lstStyle/>
          <a:p>
            <a:r>
              <a:rPr lang="fr-FR" dirty="0"/>
              <a:t>La pagination</a:t>
            </a:r>
          </a:p>
        </p:txBody>
      </p:sp>
    </p:spTree>
    <p:extLst>
      <p:ext uri="{BB962C8B-B14F-4D97-AF65-F5344CB8AC3E}">
        <p14:creationId xmlns:p14="http://schemas.microsoft.com/office/powerpoint/2010/main" val="11972822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endParaRPr lang="en-US" dirty="0"/>
          </a:p>
          <a:p>
            <a:pPr algn="just"/>
            <a:r>
              <a:rPr lang="en-US" dirty="0"/>
              <a:t>Les </a:t>
            </a:r>
            <a:r>
              <a:rPr lang="en-US" dirty="0" err="1">
                <a:solidFill>
                  <a:srgbClr val="0000FF"/>
                </a:solidFill>
              </a:rPr>
              <a:t>adresses</a:t>
            </a:r>
            <a:r>
              <a:rPr lang="en-US" dirty="0">
                <a:solidFill>
                  <a:srgbClr val="0000FF"/>
                </a:solidFill>
              </a:rPr>
              <a:t> </a:t>
            </a:r>
            <a:r>
              <a:rPr lang="en-US" dirty="0" err="1">
                <a:solidFill>
                  <a:srgbClr val="0000FF"/>
                </a:solidFill>
              </a:rPr>
              <a:t>virtuelles</a:t>
            </a:r>
            <a:r>
              <a:rPr lang="en-US" dirty="0"/>
              <a:t>, </a:t>
            </a:r>
            <a:r>
              <a:rPr lang="en-US" dirty="0" err="1"/>
              <a:t>générées</a:t>
            </a:r>
            <a:r>
              <a:rPr lang="en-US" dirty="0"/>
              <a:t> par les </a:t>
            </a:r>
            <a:r>
              <a:rPr lang="en-US" dirty="0" err="1"/>
              <a:t>compilateurs</a:t>
            </a:r>
            <a:r>
              <a:rPr lang="en-US" dirty="0"/>
              <a:t> et les </a:t>
            </a:r>
            <a:r>
              <a:rPr lang="en-US" dirty="0" err="1"/>
              <a:t>éditeurs</a:t>
            </a:r>
            <a:r>
              <a:rPr lang="en-US" dirty="0"/>
              <a:t> de liens, </a:t>
            </a:r>
            <a:r>
              <a:rPr lang="en-US" dirty="0" err="1"/>
              <a:t>sont</a:t>
            </a:r>
            <a:r>
              <a:rPr lang="en-US" dirty="0"/>
              <a:t> des couples </a:t>
            </a:r>
            <a:r>
              <a:rPr lang="en-US" dirty="0" err="1"/>
              <a:t>composés</a:t>
            </a:r>
            <a:r>
              <a:rPr lang="en-US" dirty="0"/>
              <a:t> d'un </a:t>
            </a:r>
            <a:r>
              <a:rPr lang="en-US" dirty="0" err="1">
                <a:solidFill>
                  <a:srgbClr val="0000FF"/>
                </a:solidFill>
              </a:rPr>
              <a:t>numéro</a:t>
            </a:r>
            <a:r>
              <a:rPr lang="en-US" dirty="0">
                <a:solidFill>
                  <a:srgbClr val="0000FF"/>
                </a:solidFill>
              </a:rPr>
              <a:t> de page</a:t>
            </a:r>
            <a:r>
              <a:rPr lang="en-US" dirty="0"/>
              <a:t> et d'un  </a:t>
            </a:r>
            <a:r>
              <a:rPr lang="en-US" dirty="0" err="1">
                <a:solidFill>
                  <a:srgbClr val="0000FF"/>
                </a:solidFill>
              </a:rPr>
              <a:t>déplacement</a:t>
            </a:r>
            <a:r>
              <a:rPr lang="en-US" dirty="0">
                <a:solidFill>
                  <a:srgbClr val="0000FF"/>
                </a:solidFill>
              </a:rPr>
              <a:t> </a:t>
            </a:r>
            <a:r>
              <a:rPr lang="en-US" dirty="0" err="1">
                <a:solidFill>
                  <a:srgbClr val="0000FF"/>
                </a:solidFill>
              </a:rPr>
              <a:t>relatif</a:t>
            </a:r>
            <a:r>
              <a:rPr lang="en-US" dirty="0">
                <a:solidFill>
                  <a:srgbClr val="0000FF"/>
                </a:solidFill>
              </a:rPr>
              <a:t> au début de la page</a:t>
            </a:r>
            <a:r>
              <a:rPr lang="en-US" dirty="0"/>
              <a:t>.</a:t>
            </a:r>
          </a:p>
          <a:p>
            <a:pPr algn="just"/>
            <a:endParaRPr lang="en-US" dirty="0"/>
          </a:p>
          <a:p>
            <a:pPr algn="just"/>
            <a:endParaRPr lang="en-US" dirty="0"/>
          </a:p>
          <a:p>
            <a:pPr algn="just"/>
            <a:r>
              <a:rPr lang="en-US" dirty="0"/>
              <a:t>Les </a:t>
            </a:r>
            <a:r>
              <a:rPr lang="en-US" dirty="0" err="1"/>
              <a:t>adresses</a:t>
            </a:r>
            <a:r>
              <a:rPr lang="en-US" dirty="0"/>
              <a:t> </a:t>
            </a:r>
            <a:r>
              <a:rPr lang="en-US" dirty="0" err="1"/>
              <a:t>virtuelles</a:t>
            </a:r>
            <a:r>
              <a:rPr lang="en-US" dirty="0"/>
              <a:t> </a:t>
            </a:r>
            <a:r>
              <a:rPr lang="en-US" dirty="0" err="1"/>
              <a:t>référencées</a:t>
            </a:r>
            <a:r>
              <a:rPr lang="en-US" dirty="0"/>
              <a:t> par </a:t>
            </a:r>
            <a:r>
              <a:rPr lang="en-US" dirty="0" err="1"/>
              <a:t>l'instruction</a:t>
            </a:r>
            <a:r>
              <a:rPr lang="en-US" dirty="0"/>
              <a:t> en </a:t>
            </a:r>
            <a:r>
              <a:rPr lang="en-US" dirty="0" err="1"/>
              <a:t>cours</a:t>
            </a:r>
            <a:r>
              <a:rPr lang="en-US" dirty="0"/>
              <a:t> </a:t>
            </a:r>
            <a:r>
              <a:rPr lang="en-US" dirty="0" err="1"/>
              <a:t>d'exécution</a:t>
            </a:r>
            <a:r>
              <a:rPr lang="en-US" dirty="0"/>
              <a:t> </a:t>
            </a:r>
            <a:r>
              <a:rPr lang="en-US" dirty="0" err="1"/>
              <a:t>doivent</a:t>
            </a:r>
            <a:r>
              <a:rPr lang="en-US" dirty="0"/>
              <a:t> </a:t>
            </a:r>
            <a:r>
              <a:rPr lang="en-US" dirty="0" err="1"/>
              <a:t>être</a:t>
            </a:r>
            <a:r>
              <a:rPr lang="en-US" dirty="0"/>
              <a:t> </a:t>
            </a:r>
            <a:r>
              <a:rPr lang="en-US" dirty="0" err="1"/>
              <a:t>converties</a:t>
            </a:r>
            <a:r>
              <a:rPr lang="en-US" dirty="0"/>
              <a:t> en </a:t>
            </a:r>
            <a:r>
              <a:rPr lang="en-US" dirty="0" err="1"/>
              <a:t>adresses</a:t>
            </a:r>
            <a:r>
              <a:rPr lang="en-US" dirty="0"/>
              <a:t> physiques. </a:t>
            </a:r>
            <a:r>
              <a:rPr lang="en-US" dirty="0" err="1"/>
              <a:t>Cette</a:t>
            </a:r>
            <a:r>
              <a:rPr lang="en-US" dirty="0"/>
              <a:t> conversion </a:t>
            </a:r>
            <a:r>
              <a:rPr lang="en-US" dirty="0" err="1"/>
              <a:t>d'adresse</a:t>
            </a:r>
            <a:r>
              <a:rPr lang="en-US" dirty="0"/>
              <a:t> </a:t>
            </a:r>
            <a:r>
              <a:rPr lang="en-US" dirty="0" err="1"/>
              <a:t>est</a:t>
            </a:r>
            <a:r>
              <a:rPr lang="en-US" dirty="0"/>
              <a:t>  </a:t>
            </a:r>
            <a:r>
              <a:rPr lang="en-US" dirty="0" err="1"/>
              <a:t>effectuée</a:t>
            </a:r>
            <a:r>
              <a:rPr lang="en-US" dirty="0"/>
              <a:t> </a:t>
            </a:r>
            <a:r>
              <a:rPr lang="en-US" dirty="0" err="1"/>
              <a:t>parle</a:t>
            </a:r>
            <a:r>
              <a:rPr lang="en-US" dirty="0"/>
              <a:t> </a:t>
            </a:r>
            <a:r>
              <a:rPr lang="en-US" dirty="0">
                <a:solidFill>
                  <a:srgbClr val="0000FF"/>
                </a:solidFill>
              </a:rPr>
              <a:t>MMU </a:t>
            </a:r>
            <a:r>
              <a:rPr lang="fr-FR" dirty="0">
                <a:solidFill>
                  <a:srgbClr val="0000FF"/>
                </a:solidFill>
              </a:rPr>
              <a:t>Unité de gestion de la mémoire</a:t>
            </a:r>
            <a:r>
              <a:rPr lang="en-US" dirty="0">
                <a:solidFill>
                  <a:srgbClr val="0000FF"/>
                </a:solidFill>
              </a:rPr>
              <a:t>, qui </a:t>
            </a:r>
            <a:r>
              <a:rPr lang="en-US" dirty="0" err="1">
                <a:solidFill>
                  <a:srgbClr val="0000FF"/>
                </a:solidFill>
              </a:rPr>
              <a:t>sont</a:t>
            </a:r>
            <a:r>
              <a:rPr lang="en-US" dirty="0">
                <a:solidFill>
                  <a:srgbClr val="0000FF"/>
                </a:solidFill>
              </a:rPr>
              <a:t> des circuits </a:t>
            </a:r>
            <a:r>
              <a:rPr lang="en-US" dirty="0" err="1">
                <a:solidFill>
                  <a:srgbClr val="0000FF"/>
                </a:solidFill>
              </a:rPr>
              <a:t>matériels</a:t>
            </a:r>
            <a:r>
              <a:rPr lang="en-US" dirty="0">
                <a:solidFill>
                  <a:srgbClr val="0000FF"/>
                </a:solidFill>
              </a:rPr>
              <a:t> de </a:t>
            </a:r>
            <a:r>
              <a:rPr lang="en-US" dirty="0" err="1">
                <a:solidFill>
                  <a:srgbClr val="0000FF"/>
                </a:solidFill>
              </a:rPr>
              <a:t>gestion</a:t>
            </a:r>
            <a:r>
              <a:rPr lang="en-US" dirty="0">
                <a:solidFill>
                  <a:srgbClr val="0000FF"/>
                </a:solidFill>
              </a:rPr>
              <a:t>.</a:t>
            </a:r>
          </a:p>
          <a:p>
            <a:pPr algn="just"/>
            <a:endParaRPr lang="en-US" dirty="0">
              <a:solidFill>
                <a:srgbClr val="0000FF"/>
              </a:solidFill>
            </a:endParaRPr>
          </a:p>
        </p:txBody>
      </p:sp>
      <p:sp>
        <p:nvSpPr>
          <p:cNvPr id="3" name="Title 2"/>
          <p:cNvSpPr>
            <a:spLocks noGrp="1"/>
          </p:cNvSpPr>
          <p:nvPr>
            <p:ph type="title"/>
          </p:nvPr>
        </p:nvSpPr>
        <p:spPr/>
        <p:txBody>
          <a:bodyPr/>
          <a:lstStyle/>
          <a:p>
            <a:r>
              <a:rPr lang="fr-FR" dirty="0"/>
              <a:t>La pagination</a:t>
            </a:r>
          </a:p>
        </p:txBody>
      </p:sp>
    </p:spTree>
    <p:extLst>
      <p:ext uri="{BB962C8B-B14F-4D97-AF65-F5344CB8AC3E}">
        <p14:creationId xmlns:p14="http://schemas.microsoft.com/office/powerpoint/2010/main" val="2545964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gn="just"/>
            <a:r>
              <a:rPr lang="fr-FR" dirty="0"/>
              <a:t>Le </a:t>
            </a:r>
            <a:r>
              <a:rPr lang="fr-FR" dirty="0">
                <a:solidFill>
                  <a:srgbClr val="0000FF"/>
                </a:solidFill>
              </a:rPr>
              <a:t>MMU</a:t>
            </a:r>
            <a:r>
              <a:rPr lang="fr-FR" dirty="0"/>
              <a:t> vérifie si l’adresse virtuelle reçue correspond à une adresse en mémoire physique. Si c’est le cas, le MMU transmet sur le bus de la mémoire l’adresse réelle, sinon il se produit un défaut de page. Un défaut de page provoque un déroutement (ou TRAP) dont le rôle est de ramener à partir du disque la page manquante référencée.</a:t>
            </a:r>
          </a:p>
          <a:p>
            <a:pPr algn="just"/>
            <a:endParaRPr lang="fr-FR" dirty="0"/>
          </a:p>
          <a:p>
            <a:pPr algn="just"/>
            <a:r>
              <a:rPr lang="fr-FR" dirty="0"/>
              <a:t> La correspondance entre les pages et les cases est mémorisée dans une table appelée </a:t>
            </a:r>
            <a:r>
              <a:rPr lang="fr-FR" dirty="0">
                <a:solidFill>
                  <a:srgbClr val="0000FF"/>
                </a:solidFill>
              </a:rPr>
              <a:t>Table de pages (TP)</a:t>
            </a:r>
            <a:r>
              <a:rPr lang="fr-FR" dirty="0"/>
              <a:t>. Le nombre d’entrées dans cette table est égal au nombre de pages virtuelles. </a:t>
            </a:r>
          </a:p>
          <a:p>
            <a:pPr algn="just"/>
            <a:endParaRPr lang="fr-FR" dirty="0"/>
          </a:p>
          <a:p>
            <a:pPr algn="just"/>
            <a:r>
              <a:rPr lang="fr-FR" dirty="0"/>
              <a:t>La Table de pages d’un processus doit être (en totalité ou en partie) en mémoire centrale lors de l’exécution du processus. Elle est nécessaire pour la conversion des adresses virtuelles en adresses physiques.</a:t>
            </a:r>
          </a:p>
          <a:p>
            <a:endParaRPr lang="fr-FR" dirty="0"/>
          </a:p>
        </p:txBody>
      </p:sp>
      <p:sp>
        <p:nvSpPr>
          <p:cNvPr id="3" name="Title 2"/>
          <p:cNvSpPr>
            <a:spLocks noGrp="1"/>
          </p:cNvSpPr>
          <p:nvPr>
            <p:ph type="title"/>
          </p:nvPr>
        </p:nvSpPr>
        <p:spPr/>
        <p:txBody>
          <a:bodyPr/>
          <a:lstStyle/>
          <a:p>
            <a:r>
              <a:rPr lang="fr-FR" dirty="0"/>
              <a:t>La pagination</a:t>
            </a:r>
          </a:p>
        </p:txBody>
      </p:sp>
    </p:spTree>
    <p:extLst>
      <p:ext uri="{BB962C8B-B14F-4D97-AF65-F5344CB8AC3E}">
        <p14:creationId xmlns:p14="http://schemas.microsoft.com/office/powerpoint/2010/main" val="621977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4228356" y="1719072"/>
            <a:ext cx="4458444" cy="4407408"/>
          </a:xfrm>
        </p:spPr>
        <p:txBody>
          <a:bodyPr>
            <a:noAutofit/>
          </a:bodyPr>
          <a:lstStyle/>
          <a:p>
            <a:pPr algn="just"/>
            <a:r>
              <a:rPr lang="en-US" sz="1400" dirty="0" err="1"/>
              <a:t>Soit</a:t>
            </a:r>
            <a:r>
              <a:rPr lang="en-US" sz="1400" dirty="0"/>
              <a:t> un </a:t>
            </a:r>
            <a:r>
              <a:rPr lang="en-US" sz="1400" dirty="0" err="1"/>
              <a:t>programme</a:t>
            </a:r>
            <a:r>
              <a:rPr lang="en-US" sz="1400" dirty="0"/>
              <a:t> de </a:t>
            </a:r>
            <a:r>
              <a:rPr lang="en-US" sz="1400" dirty="0">
                <a:solidFill>
                  <a:srgbClr val="0000FF"/>
                </a:solidFill>
              </a:rPr>
              <a:t>64Ko </a:t>
            </a:r>
            <a:r>
              <a:rPr lang="en-US" sz="1400" dirty="0" err="1"/>
              <a:t>sur</a:t>
            </a:r>
            <a:r>
              <a:rPr lang="en-US" sz="1400" dirty="0"/>
              <a:t> </a:t>
            </a:r>
            <a:r>
              <a:rPr lang="en-US" sz="1400" dirty="0" err="1"/>
              <a:t>une</a:t>
            </a:r>
            <a:r>
              <a:rPr lang="en-US" sz="1400" dirty="0"/>
              <a:t> machine </a:t>
            </a:r>
            <a:r>
              <a:rPr lang="en-US" sz="1400" dirty="0">
                <a:solidFill>
                  <a:srgbClr val="0000FF"/>
                </a:solidFill>
              </a:rPr>
              <a:t>32Ko </a:t>
            </a:r>
            <a:r>
              <a:rPr lang="en-US" sz="1400" dirty="0"/>
              <a:t>de </a:t>
            </a:r>
            <a:r>
              <a:rPr lang="en-US" sz="1400" dirty="0" err="1"/>
              <a:t>mémoire</a:t>
            </a:r>
            <a:r>
              <a:rPr lang="en-US" sz="1400" dirty="0"/>
              <a:t>. Son </a:t>
            </a:r>
            <a:r>
              <a:rPr lang="en-US" sz="1400" dirty="0" err="1"/>
              <a:t>espace</a:t>
            </a:r>
            <a:r>
              <a:rPr lang="en-US" sz="1400" dirty="0"/>
              <a:t> </a:t>
            </a:r>
            <a:r>
              <a:rPr lang="en-US" sz="1400" dirty="0" err="1"/>
              <a:t>d'adressage</a:t>
            </a:r>
            <a:r>
              <a:rPr lang="en-US" sz="1400" dirty="0"/>
              <a:t> </a:t>
            </a:r>
            <a:r>
              <a:rPr lang="en-US" sz="1400" dirty="0" err="1"/>
              <a:t>logique</a:t>
            </a:r>
            <a:r>
              <a:rPr lang="en-US" sz="1400" dirty="0"/>
              <a:t> </a:t>
            </a:r>
            <a:r>
              <a:rPr lang="en-US" sz="1400" dirty="0" err="1"/>
              <a:t>est</a:t>
            </a:r>
            <a:r>
              <a:rPr lang="en-US" sz="1400" dirty="0"/>
              <a:t> </a:t>
            </a:r>
            <a:r>
              <a:rPr lang="en-US" sz="1400" dirty="0" err="1"/>
              <a:t>sur</a:t>
            </a:r>
            <a:r>
              <a:rPr lang="en-US" sz="1400" dirty="0"/>
              <a:t> le </a:t>
            </a:r>
            <a:r>
              <a:rPr lang="en-US" sz="1400" dirty="0" err="1"/>
              <a:t>disque</a:t>
            </a:r>
            <a:r>
              <a:rPr lang="en-US" sz="1400" dirty="0"/>
              <a:t>. Il </a:t>
            </a:r>
            <a:r>
              <a:rPr lang="en-US" sz="1400" dirty="0" err="1"/>
              <a:t>est</a:t>
            </a:r>
            <a:r>
              <a:rPr lang="en-US" sz="1400" dirty="0"/>
              <a:t> </a:t>
            </a:r>
            <a:r>
              <a:rPr lang="en-US" sz="1400" dirty="0" err="1"/>
              <a:t>composé</a:t>
            </a:r>
            <a:r>
              <a:rPr lang="en-US" sz="1400" dirty="0"/>
              <a:t> de 16 pages de </a:t>
            </a:r>
            <a:r>
              <a:rPr lang="en-US" sz="1400" dirty="0">
                <a:solidFill>
                  <a:srgbClr val="0000FF"/>
                </a:solidFill>
              </a:rPr>
              <a:t>4 </a:t>
            </a:r>
            <a:r>
              <a:rPr lang="en-US" sz="1400" dirty="0" err="1">
                <a:solidFill>
                  <a:srgbClr val="0000FF"/>
                </a:solidFill>
              </a:rPr>
              <a:t>Ko</a:t>
            </a:r>
            <a:r>
              <a:rPr lang="en-US" sz="1400" dirty="0"/>
              <a:t>. </a:t>
            </a:r>
          </a:p>
          <a:p>
            <a:pPr algn="just"/>
            <a:endParaRPr lang="en-US" sz="1400" dirty="0"/>
          </a:p>
          <a:p>
            <a:pPr algn="just"/>
            <a:r>
              <a:rPr lang="fr-FR" sz="1400" dirty="0"/>
              <a:t>La mémoire physique est structurée en </a:t>
            </a:r>
            <a:r>
              <a:rPr lang="fr-FR" sz="1400" dirty="0">
                <a:solidFill>
                  <a:srgbClr val="0000FF"/>
                </a:solidFill>
              </a:rPr>
              <a:t>8 cadres de 4 Ko, </a:t>
            </a:r>
            <a:r>
              <a:rPr lang="en-US" sz="1400" dirty="0">
                <a:solidFill>
                  <a:srgbClr val="0000FF"/>
                </a:solidFill>
              </a:rPr>
              <a:t> </a:t>
            </a:r>
          </a:p>
          <a:p>
            <a:pPr algn="just"/>
            <a:endParaRPr lang="en-US" sz="1400" dirty="0"/>
          </a:p>
          <a:p>
            <a:pPr algn="just"/>
            <a:r>
              <a:rPr lang="en-US" sz="1400" dirty="0" err="1"/>
              <a:t>Quand</a:t>
            </a:r>
            <a:r>
              <a:rPr lang="en-US" sz="1400" dirty="0"/>
              <a:t> le </a:t>
            </a:r>
            <a:r>
              <a:rPr lang="en-US" sz="1400" dirty="0" err="1"/>
              <a:t>programme</a:t>
            </a:r>
            <a:r>
              <a:rPr lang="en-US" sz="1400" dirty="0"/>
              <a:t> </a:t>
            </a:r>
            <a:r>
              <a:rPr lang="en-US" sz="1400" dirty="0" err="1"/>
              <a:t>tente</a:t>
            </a:r>
            <a:r>
              <a:rPr lang="en-US" sz="1400" dirty="0"/>
              <a:t> </a:t>
            </a:r>
            <a:r>
              <a:rPr lang="en-US" sz="1400" dirty="0" err="1"/>
              <a:t>d'accéder</a:t>
            </a:r>
            <a:r>
              <a:rPr lang="en-US" sz="1400" dirty="0"/>
              <a:t> </a:t>
            </a:r>
            <a:r>
              <a:rPr lang="en-US" sz="1400" dirty="0" err="1"/>
              <a:t>à</a:t>
            </a:r>
            <a:r>
              <a:rPr lang="en-US" sz="1400" dirty="0"/>
              <a:t> </a:t>
            </a:r>
            <a:r>
              <a:rPr lang="en-US" sz="1400" dirty="0" err="1"/>
              <a:t>l'adresse</a:t>
            </a:r>
            <a:r>
              <a:rPr lang="en-US" sz="1400" dirty="0"/>
              <a:t> 0 avec </a:t>
            </a:r>
            <a:r>
              <a:rPr lang="en-US" sz="1400" dirty="0" err="1"/>
              <a:t>une</a:t>
            </a:r>
            <a:r>
              <a:rPr lang="en-US" sz="1400" dirty="0"/>
              <a:t> instruction </a:t>
            </a:r>
            <a:r>
              <a:rPr lang="en-US" sz="1400" dirty="0" err="1"/>
              <a:t>comme</a:t>
            </a:r>
            <a:r>
              <a:rPr lang="en-US" sz="1400" dirty="0"/>
              <a:t> </a:t>
            </a:r>
            <a:r>
              <a:rPr lang="en-US" sz="1400" dirty="0" err="1">
                <a:solidFill>
                  <a:srgbClr val="0000FF"/>
                </a:solidFill>
              </a:rPr>
              <a:t>movw</a:t>
            </a:r>
            <a:r>
              <a:rPr lang="en-US" sz="1400" dirty="0">
                <a:solidFill>
                  <a:srgbClr val="0000FF"/>
                </a:solidFill>
              </a:rPr>
              <a:t> $0,%eax</a:t>
            </a:r>
            <a:r>
              <a:rPr lang="en-US" sz="1400" dirty="0"/>
              <a:t>, </a:t>
            </a:r>
            <a:r>
              <a:rPr lang="en-US" sz="1400" dirty="0" err="1"/>
              <a:t>l'adresse</a:t>
            </a:r>
            <a:r>
              <a:rPr lang="en-US" sz="1400" dirty="0"/>
              <a:t> </a:t>
            </a:r>
            <a:r>
              <a:rPr lang="en-US" sz="1400" dirty="0" err="1"/>
              <a:t>virtuelle</a:t>
            </a:r>
            <a:r>
              <a:rPr lang="en-US" sz="1400" dirty="0"/>
              <a:t> 0 </a:t>
            </a:r>
            <a:r>
              <a:rPr lang="en-US" sz="1400" dirty="0" err="1"/>
              <a:t>est</a:t>
            </a:r>
            <a:r>
              <a:rPr lang="en-US" sz="1400" dirty="0"/>
              <a:t> </a:t>
            </a:r>
            <a:r>
              <a:rPr lang="en-US" sz="1400" dirty="0" err="1"/>
              <a:t>envoyée</a:t>
            </a:r>
            <a:r>
              <a:rPr lang="en-US" sz="1400" dirty="0"/>
              <a:t> au MMU.</a:t>
            </a:r>
          </a:p>
          <a:p>
            <a:pPr marL="45720" indent="0" algn="just">
              <a:buNone/>
            </a:pPr>
            <a:r>
              <a:rPr lang="en-US" sz="1400" dirty="0"/>
              <a:t> </a:t>
            </a:r>
          </a:p>
          <a:p>
            <a:pPr algn="just"/>
            <a:r>
              <a:rPr lang="en-US" sz="1400" dirty="0"/>
              <a:t>Le MMU </a:t>
            </a:r>
            <a:r>
              <a:rPr lang="en-US" sz="1400" dirty="0" err="1"/>
              <a:t>constate</a:t>
            </a:r>
            <a:r>
              <a:rPr lang="en-US" sz="1400" dirty="0"/>
              <a:t> </a:t>
            </a:r>
            <a:r>
              <a:rPr lang="en-US" sz="1400" dirty="0" err="1"/>
              <a:t>que</a:t>
            </a:r>
            <a:r>
              <a:rPr lang="en-US" sz="1400" dirty="0"/>
              <a:t> </a:t>
            </a:r>
            <a:r>
              <a:rPr lang="en-US" sz="1400" dirty="0" err="1"/>
              <a:t>cette</a:t>
            </a:r>
            <a:r>
              <a:rPr lang="en-US" sz="1400" dirty="0"/>
              <a:t> </a:t>
            </a:r>
            <a:r>
              <a:rPr lang="en-US" sz="1400" dirty="0" err="1"/>
              <a:t>adresse</a:t>
            </a:r>
            <a:r>
              <a:rPr lang="en-US" sz="1400" dirty="0"/>
              <a:t> se </a:t>
            </a:r>
            <a:r>
              <a:rPr lang="en-US" sz="1400" dirty="0" err="1"/>
              <a:t>trouve</a:t>
            </a:r>
            <a:r>
              <a:rPr lang="en-US" sz="1400" dirty="0"/>
              <a:t> </a:t>
            </a:r>
            <a:r>
              <a:rPr lang="en-US" sz="1400" dirty="0" err="1"/>
              <a:t>dans</a:t>
            </a:r>
            <a:r>
              <a:rPr lang="en-US" sz="1400" dirty="0"/>
              <a:t> la page 0 (0K- 4K), et la transformation </a:t>
            </a:r>
            <a:r>
              <a:rPr lang="en-US" sz="1400" dirty="0" err="1"/>
              <a:t>donne</a:t>
            </a:r>
            <a:r>
              <a:rPr lang="en-US" sz="1400" dirty="0"/>
              <a:t> la case 2 (8K- 12K) </a:t>
            </a:r>
            <a:r>
              <a:rPr lang="en-US" sz="1400" dirty="0" err="1"/>
              <a:t>dans</a:t>
            </a:r>
            <a:r>
              <a:rPr lang="en-US" sz="1400" dirty="0"/>
              <a:t> la </a:t>
            </a:r>
            <a:r>
              <a:rPr lang="en-US" sz="1400" dirty="0" err="1"/>
              <a:t>mémoire</a:t>
            </a:r>
            <a:r>
              <a:rPr lang="en-US" sz="1400" dirty="0"/>
              <a:t> physique. </a:t>
            </a:r>
            <a:r>
              <a:rPr lang="en-US" sz="1400" dirty="0" err="1"/>
              <a:t>Cette</a:t>
            </a:r>
            <a:r>
              <a:rPr lang="en-US" sz="1400" dirty="0"/>
              <a:t> </a:t>
            </a:r>
            <a:r>
              <a:rPr lang="en-US" sz="1400" dirty="0" err="1"/>
              <a:t>valeur</a:t>
            </a:r>
            <a:r>
              <a:rPr lang="en-US" sz="1400" dirty="0"/>
              <a:t> </a:t>
            </a:r>
            <a:r>
              <a:rPr lang="en-US" sz="1400" dirty="0">
                <a:solidFill>
                  <a:srgbClr val="0000FF"/>
                </a:solidFill>
              </a:rPr>
              <a:t>(8192) </a:t>
            </a:r>
            <a:r>
              <a:rPr lang="en-US" sz="1400" dirty="0" err="1"/>
              <a:t>est</a:t>
            </a:r>
            <a:r>
              <a:rPr lang="en-US" sz="1400" dirty="0"/>
              <a:t> </a:t>
            </a:r>
            <a:r>
              <a:rPr lang="en-US" sz="1400" dirty="0" err="1"/>
              <a:t>mise</a:t>
            </a:r>
            <a:r>
              <a:rPr lang="en-US" sz="1400" dirty="0"/>
              <a:t> </a:t>
            </a:r>
            <a:r>
              <a:rPr lang="en-US" sz="1400" dirty="0" err="1"/>
              <a:t>dans</a:t>
            </a:r>
            <a:r>
              <a:rPr lang="en-US" sz="1400" dirty="0"/>
              <a:t> le bus du </a:t>
            </a:r>
            <a:r>
              <a:rPr lang="en-US" sz="1400" dirty="0" err="1"/>
              <a:t>système</a:t>
            </a:r>
            <a:r>
              <a:rPr lang="en-US" sz="1400" dirty="0"/>
              <a:t>. </a:t>
            </a:r>
            <a:r>
              <a:rPr lang="en-US" sz="1400" dirty="0" err="1"/>
              <a:t>Ainsi</a:t>
            </a:r>
            <a:r>
              <a:rPr lang="en-US" sz="1400" dirty="0"/>
              <a:t> les </a:t>
            </a:r>
            <a:r>
              <a:rPr lang="en-US" sz="1400" dirty="0" err="1"/>
              <a:t>adresses</a:t>
            </a:r>
            <a:r>
              <a:rPr lang="en-US" sz="1400" dirty="0"/>
              <a:t> </a:t>
            </a:r>
            <a:r>
              <a:rPr lang="en-US" sz="1400" dirty="0" err="1"/>
              <a:t>virtuelles</a:t>
            </a:r>
            <a:r>
              <a:rPr lang="en-US" sz="1400" dirty="0"/>
              <a:t> entre 0 et 4095 </a:t>
            </a:r>
            <a:r>
              <a:rPr lang="en-US" sz="1400" dirty="0" err="1"/>
              <a:t>sont</a:t>
            </a:r>
            <a:r>
              <a:rPr lang="en-US" sz="1400" dirty="0"/>
              <a:t> </a:t>
            </a:r>
            <a:r>
              <a:rPr lang="en-US" sz="1400" dirty="0" err="1"/>
              <a:t>transformées</a:t>
            </a:r>
            <a:r>
              <a:rPr lang="en-US" sz="1400" dirty="0"/>
              <a:t> en </a:t>
            </a:r>
            <a:r>
              <a:rPr lang="en-US" sz="1400" dirty="0" err="1"/>
              <a:t>adresses</a:t>
            </a:r>
            <a:r>
              <a:rPr lang="en-US" sz="1400" dirty="0"/>
              <a:t> physiques comprises entre 8192 </a:t>
            </a:r>
            <a:r>
              <a:rPr lang="en-US" sz="1400" dirty="0" err="1"/>
              <a:t>à</a:t>
            </a:r>
            <a:r>
              <a:rPr lang="en-US" sz="1400" dirty="0"/>
              <a:t> 12287</a:t>
            </a:r>
            <a:r>
              <a:rPr lang="en-US" sz="1600" dirty="0"/>
              <a:t>.</a:t>
            </a:r>
            <a:endParaRPr lang="fr-FR" sz="1600" dirty="0"/>
          </a:p>
        </p:txBody>
      </p:sp>
      <p:sp>
        <p:nvSpPr>
          <p:cNvPr id="4" name="Title 3"/>
          <p:cNvSpPr>
            <a:spLocks noGrp="1"/>
          </p:cNvSpPr>
          <p:nvPr>
            <p:ph type="title"/>
          </p:nvPr>
        </p:nvSpPr>
        <p:spPr/>
        <p:txBody>
          <a:bodyPr/>
          <a:lstStyle/>
          <a:p>
            <a:r>
              <a:rPr lang="fr-FR" dirty="0"/>
              <a:t>Exemple</a:t>
            </a:r>
          </a:p>
        </p:txBody>
      </p:sp>
      <p:pic>
        <p:nvPicPr>
          <p:cNvPr id="7" name="Content Placeholder 6" descr="Capture d’écran 2020-02-24 à 22.27.56.png"/>
          <p:cNvPicPr>
            <a:picLocks noGrp="1" noChangeAspect="1"/>
          </p:cNvPicPr>
          <p:nvPr>
            <p:ph sz="half" idx="1"/>
          </p:nvPr>
        </p:nvPicPr>
        <p:blipFill>
          <a:blip r:embed="rId2">
            <a:extLst>
              <a:ext uri="{28A0092B-C50C-407E-A947-70E740481C1C}">
                <a14:useLocalDpi xmlns:a14="http://schemas.microsoft.com/office/drawing/2010/main" val="0"/>
              </a:ext>
            </a:extLst>
          </a:blip>
          <a:srcRect t="-18174" b="-18174"/>
          <a:stretch>
            <a:fillRect/>
          </a:stretch>
        </p:blipFill>
        <p:spPr>
          <a:xfrm>
            <a:off x="457200" y="1719072"/>
            <a:ext cx="3540256" cy="4407408"/>
          </a:xfrm>
        </p:spPr>
      </p:pic>
      <p:sp>
        <p:nvSpPr>
          <p:cNvPr id="8" name="TextBox 7"/>
          <p:cNvSpPr txBox="1"/>
          <p:nvPr/>
        </p:nvSpPr>
        <p:spPr>
          <a:xfrm>
            <a:off x="457200" y="6248320"/>
            <a:ext cx="4191000" cy="369332"/>
          </a:xfrm>
          <a:prstGeom prst="rect">
            <a:avLst/>
          </a:prstGeom>
          <a:noFill/>
        </p:spPr>
        <p:txBody>
          <a:bodyPr wrap="square" rtlCol="0">
            <a:spAutoFit/>
          </a:bodyPr>
          <a:lstStyle/>
          <a:p>
            <a:r>
              <a:rPr lang="fr-FR" dirty="0"/>
              <a:t>Unité de gestion de la mémoire (MMU)</a:t>
            </a:r>
          </a:p>
        </p:txBody>
      </p:sp>
    </p:spTree>
    <p:extLst>
      <p:ext uri="{BB962C8B-B14F-4D97-AF65-F5344CB8AC3E}">
        <p14:creationId xmlns:p14="http://schemas.microsoft.com/office/powerpoint/2010/main" val="5763985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 d’écran 2020-02-25 à 08.14.13.png"/>
          <p:cNvPicPr>
            <a:picLocks noGrp="1" noChangeAspect="1"/>
          </p:cNvPicPr>
          <p:nvPr>
            <p:ph idx="1"/>
          </p:nvPr>
        </p:nvPicPr>
        <p:blipFill>
          <a:blip r:embed="rId2">
            <a:extLst>
              <a:ext uri="{28A0092B-C50C-407E-A947-70E740481C1C}">
                <a14:useLocalDpi xmlns:a14="http://schemas.microsoft.com/office/drawing/2010/main" val="0"/>
              </a:ext>
            </a:extLst>
          </a:blip>
          <a:srcRect l="-22400" r="-22400"/>
          <a:stretch>
            <a:fillRect/>
          </a:stretch>
        </p:blipFill>
        <p:spPr>
          <a:xfrm>
            <a:off x="354367" y="1719071"/>
            <a:ext cx="8407893" cy="4407408"/>
          </a:xfrm>
        </p:spPr>
      </p:pic>
      <p:sp>
        <p:nvSpPr>
          <p:cNvPr id="3" name="Title 2"/>
          <p:cNvSpPr>
            <a:spLocks noGrp="1"/>
          </p:cNvSpPr>
          <p:nvPr>
            <p:ph type="title"/>
          </p:nvPr>
        </p:nvSpPr>
        <p:spPr/>
        <p:txBody>
          <a:bodyPr/>
          <a:lstStyle/>
          <a:p>
            <a:r>
              <a:rPr lang="fr-FR" dirty="0"/>
              <a:t>Exemple </a:t>
            </a:r>
          </a:p>
        </p:txBody>
      </p:sp>
      <p:sp>
        <p:nvSpPr>
          <p:cNvPr id="5" name="TextBox 4"/>
          <p:cNvSpPr txBox="1"/>
          <p:nvPr/>
        </p:nvSpPr>
        <p:spPr>
          <a:xfrm>
            <a:off x="254000" y="6029158"/>
            <a:ext cx="8622631" cy="584776"/>
          </a:xfrm>
          <a:prstGeom prst="rect">
            <a:avLst/>
          </a:prstGeom>
          <a:noFill/>
        </p:spPr>
        <p:txBody>
          <a:bodyPr wrap="square" rtlCol="0">
            <a:spAutoFit/>
          </a:bodyPr>
          <a:lstStyle/>
          <a:p>
            <a:r>
              <a:rPr lang="en-US" sz="1600" dirty="0" err="1"/>
              <a:t>L'adresse</a:t>
            </a:r>
            <a:r>
              <a:rPr lang="en-US" sz="1600" dirty="0"/>
              <a:t> </a:t>
            </a:r>
            <a:r>
              <a:rPr lang="en-US" sz="1600" dirty="0" err="1"/>
              <a:t>virtuelle</a:t>
            </a:r>
            <a:r>
              <a:rPr lang="en-US" sz="1600" dirty="0"/>
              <a:t> </a:t>
            </a:r>
            <a:r>
              <a:rPr lang="en-US" sz="1600" dirty="0" err="1"/>
              <a:t>est</a:t>
            </a:r>
            <a:r>
              <a:rPr lang="en-US" sz="1600" dirty="0"/>
              <a:t> </a:t>
            </a:r>
            <a:r>
              <a:rPr lang="en-US" sz="1600" dirty="0" err="1"/>
              <a:t>codée</a:t>
            </a:r>
            <a:r>
              <a:rPr lang="en-US" sz="1600" dirty="0"/>
              <a:t> </a:t>
            </a:r>
            <a:r>
              <a:rPr lang="en-US" sz="1600" dirty="0" err="1"/>
              <a:t>sur</a:t>
            </a:r>
            <a:r>
              <a:rPr lang="en-US" sz="1600" dirty="0"/>
              <a:t> 16 bits. Les 4 bits de </a:t>
            </a:r>
            <a:r>
              <a:rPr lang="en-US" sz="1600" dirty="0" err="1"/>
              <a:t>poids</a:t>
            </a:r>
            <a:r>
              <a:rPr lang="en-US" sz="1600" dirty="0"/>
              <a:t> fort </a:t>
            </a:r>
            <a:r>
              <a:rPr lang="en-US" sz="1600" dirty="0" err="1"/>
              <a:t>indiquent</a:t>
            </a:r>
            <a:r>
              <a:rPr lang="en-US" sz="1600" dirty="0"/>
              <a:t> le </a:t>
            </a:r>
            <a:r>
              <a:rPr lang="en-US" sz="1600" dirty="0" err="1"/>
              <a:t>numéro</a:t>
            </a:r>
            <a:r>
              <a:rPr lang="en-US" sz="1600" dirty="0"/>
              <a:t> de page, comprise entre 0 et 15. Les </a:t>
            </a:r>
            <a:r>
              <a:rPr lang="en-US" sz="1600" dirty="0" err="1"/>
              <a:t>autres</a:t>
            </a:r>
            <a:r>
              <a:rPr lang="en-US" sz="1600" dirty="0"/>
              <a:t> bits </a:t>
            </a:r>
            <a:r>
              <a:rPr lang="en-US" sz="1600" dirty="0" err="1"/>
              <a:t>donnent</a:t>
            </a:r>
            <a:r>
              <a:rPr lang="en-US" sz="1600" dirty="0"/>
              <a:t> le </a:t>
            </a:r>
            <a:r>
              <a:rPr lang="en-US" sz="1600" dirty="0" err="1"/>
              <a:t>déplacement</a:t>
            </a:r>
            <a:r>
              <a:rPr lang="en-US" sz="1600" dirty="0"/>
              <a:t> </a:t>
            </a:r>
            <a:r>
              <a:rPr lang="en-US" sz="1600" dirty="0" err="1"/>
              <a:t>dans</a:t>
            </a:r>
            <a:r>
              <a:rPr lang="en-US" sz="1600" dirty="0"/>
              <a:t> la page,</a:t>
            </a:r>
            <a:endParaRPr lang="fr-FR" sz="1600" dirty="0"/>
          </a:p>
        </p:txBody>
      </p:sp>
    </p:spTree>
    <p:extLst>
      <p:ext uri="{BB962C8B-B14F-4D97-AF65-F5344CB8AC3E}">
        <p14:creationId xmlns:p14="http://schemas.microsoft.com/office/powerpoint/2010/main" val="3763569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Grid.thmx</Template>
  <TotalTime>69425</TotalTime>
  <Words>7015</Words>
  <Application>Microsoft Macintosh PowerPoint</Application>
  <PresentationFormat>Affichage à l'écran (4:3)</PresentationFormat>
  <Paragraphs>927</Paragraphs>
  <Slides>97</Slides>
  <Notes>29</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97</vt:i4>
      </vt:variant>
    </vt:vector>
  </HeadingPairs>
  <TitlesOfParts>
    <vt:vector size="109" baseType="lpstr">
      <vt:lpstr>Arial</vt:lpstr>
      <vt:lpstr>Calibri</vt:lpstr>
      <vt:lpstr>ff14</vt:lpstr>
      <vt:lpstr>Franklin Gothic Medium</vt:lpstr>
      <vt:lpstr>Georgia</vt:lpstr>
      <vt:lpstr>Google Sans</vt:lpstr>
      <vt:lpstr>TeX Gyre Bonum</vt:lpstr>
      <vt:lpstr>Times New Roman</vt:lpstr>
      <vt:lpstr>ui-sans-serif</vt:lpstr>
      <vt:lpstr>Wingdings</vt:lpstr>
      <vt:lpstr>Wingdings 2</vt:lpstr>
      <vt:lpstr>Grid</vt:lpstr>
      <vt:lpstr>Micro-architecture des Processeurs</vt:lpstr>
      <vt:lpstr>Objectifs pédagogiques</vt:lpstr>
      <vt:lpstr>Types de données fondamentaux</vt:lpstr>
      <vt:lpstr>Ordre d’empilement lors de stockage sur plusieurs octets</vt:lpstr>
      <vt:lpstr>Systèmes Electroniques –Numériques </vt:lpstr>
      <vt:lpstr>Présentation PowerPoint</vt:lpstr>
      <vt:lpstr>Présentation PowerPoint</vt:lpstr>
      <vt:lpstr>L’HISTORIQUE DES TRANSISTORS ET DES PUCES </vt:lpstr>
      <vt:lpstr>Présentation PowerPoint</vt:lpstr>
      <vt:lpstr> Vue Macroscopique d’une puce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architecture Matérielle des Processeurs</vt:lpstr>
      <vt:lpstr> Carte mère </vt:lpstr>
      <vt:lpstr>Présentation PowerPoint</vt:lpstr>
      <vt:lpstr>Présentation PowerPoint</vt:lpstr>
      <vt:lpstr>L’horloge système des composants</vt:lpstr>
      <vt:lpstr>Carte mère - Structure</vt:lpstr>
      <vt:lpstr>Schéma bloc d'un ordinateur</vt:lpstr>
      <vt:lpstr>Le Bus </vt:lpstr>
      <vt:lpstr>Schéma bloc d'un ordinateur</vt:lpstr>
      <vt:lpstr>Caractéristiques Clés</vt:lpstr>
      <vt:lpstr>L'architecture multi-bus </vt:lpstr>
      <vt:lpstr>L'architecture multi-bus </vt:lpstr>
      <vt:lpstr>Evolutions des Chipset :  NorthBridge, SouthBridge  </vt:lpstr>
      <vt:lpstr>Présentation PowerPoint</vt:lpstr>
      <vt:lpstr>Présentation PowerPoint</vt:lpstr>
      <vt:lpstr>A retenir </vt:lpstr>
      <vt:lpstr>Présentation PowerPoint</vt:lpstr>
      <vt:lpstr>Architecture haute performance des bus</vt:lpstr>
      <vt:lpstr>Décomposition Fonctionnelle d’un ordinateur </vt:lpstr>
      <vt:lpstr>Fonctionnement des processeurs  Les mémoires  </vt:lpstr>
      <vt:lpstr>La mémoire</vt:lpstr>
      <vt:lpstr>La mémoire</vt:lpstr>
      <vt:lpstr>Définition: Mémoire</vt:lpstr>
      <vt:lpstr>Organisation d’une mémoire</vt:lpstr>
      <vt:lpstr>Organisation d’une mémoire</vt:lpstr>
      <vt:lpstr>Fonctionnement général d’une mémoire</vt:lpstr>
      <vt:lpstr>Caractéristiques des mémoires </vt:lpstr>
      <vt:lpstr>Caractéristiques des mémoires </vt:lpstr>
      <vt:lpstr>Caractéristiques des mémoires  Temps de Cycle</vt:lpstr>
      <vt:lpstr>Caractéristiques des mémoires </vt:lpstr>
      <vt:lpstr>Différents types de mémoires </vt:lpstr>
      <vt:lpstr>les mémoires vives: RAM</vt:lpstr>
      <vt:lpstr>les mémoires vives: RAM</vt:lpstr>
      <vt:lpstr>les mémoires vives: RAM</vt:lpstr>
      <vt:lpstr>les mémoires vives: RAM</vt:lpstr>
      <vt:lpstr>les mémoires vives: RAM</vt:lpstr>
      <vt:lpstr>Interfaçage microprocesseur/mémoire</vt:lpstr>
      <vt:lpstr>Interfaçage microprocesseur/mémoire</vt:lpstr>
      <vt:lpstr>Interfaçage microprocesseur/mémoire</vt:lpstr>
      <vt:lpstr>Interfaçage microprocesseur/mémoire</vt:lpstr>
      <vt:lpstr>Interfaçage microprocesseur/mémoire</vt:lpstr>
      <vt:lpstr>Interfaçage microprocesseur/mémoire</vt:lpstr>
      <vt:lpstr>Hiérarchie des mémoires</vt:lpstr>
      <vt:lpstr>Hiérarchie des mémoires</vt:lpstr>
      <vt:lpstr>Hiérarchie des mémoires</vt:lpstr>
      <vt:lpstr>Mémoires rapides: registres </vt:lpstr>
      <vt:lpstr>Mémoires rapides registres </vt:lpstr>
      <vt:lpstr>Mémoires rapides registres</vt:lpstr>
      <vt:lpstr>Mémoires rapides registres</vt:lpstr>
      <vt:lpstr>Mémoire cache et Mémoire Virtuelle</vt:lpstr>
      <vt:lpstr>Mémoire cache </vt:lpstr>
      <vt:lpstr>Mémoire </vt:lpstr>
      <vt:lpstr>Mémoire Cache </vt:lpstr>
      <vt:lpstr>Mémoire Cache </vt:lpstr>
      <vt:lpstr>Organisation en niveaux</vt:lpstr>
      <vt:lpstr>Accès par lignes mémoire</vt:lpstr>
      <vt:lpstr>Organisation du cache</vt:lpstr>
      <vt:lpstr>Défauts de cache </vt:lpstr>
      <vt:lpstr>politiques d'écriture</vt:lpstr>
      <vt:lpstr>politiques d'écriture</vt:lpstr>
      <vt:lpstr>Associativité</vt:lpstr>
      <vt:lpstr>Associativité</vt:lpstr>
      <vt:lpstr>Caches directs </vt:lpstr>
      <vt:lpstr>Exemple 1: Cache direct</vt:lpstr>
      <vt:lpstr>Exemple 2: Cache direct</vt:lpstr>
      <vt:lpstr>Cache pleinement associatif</vt:lpstr>
      <vt:lpstr>Cache  N-associatif</vt:lpstr>
      <vt:lpstr>Exemple: Cache  N-associatif </vt:lpstr>
      <vt:lpstr>Algorithmes de remplacement des lignes de cache </vt:lpstr>
      <vt:lpstr>La mémoire Virtuelle</vt:lpstr>
      <vt:lpstr>La mémoire virtuelle</vt:lpstr>
      <vt:lpstr>La mémoire virtuelle</vt:lpstr>
      <vt:lpstr>La mémoire virtuelle</vt:lpstr>
      <vt:lpstr>Les problèmes que traitent la mémoire virtuelle</vt:lpstr>
      <vt:lpstr>La mémoire virtuelle </vt:lpstr>
      <vt:lpstr>La pagination</vt:lpstr>
      <vt:lpstr>La pagination</vt:lpstr>
      <vt:lpstr>La pagination</vt:lpstr>
      <vt:lpstr>Exemple</vt:lpstr>
      <vt:lpstr>Exemple </vt:lpstr>
    </vt:vector>
  </TitlesOfParts>
  <Company>ENSA de Tanger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Houda Bel Mokadem</dc:creator>
  <cp:lastModifiedBy>Microsoft Office User</cp:lastModifiedBy>
  <cp:revision>213</cp:revision>
  <dcterms:created xsi:type="dcterms:W3CDTF">2015-02-06T07:54:31Z</dcterms:created>
  <dcterms:modified xsi:type="dcterms:W3CDTF">2024-12-06T12:28:32Z</dcterms:modified>
</cp:coreProperties>
</file>